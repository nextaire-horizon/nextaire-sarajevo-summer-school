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Lst>
  <p:notesMasterIdLst>
    <p:notesMasterId r:id="rId29"/>
  </p:notesMasterIdLst>
  <p:handoutMasterIdLst>
    <p:handoutMasterId r:id="rId30"/>
  </p:handoutMasterIdLst>
  <p:sldIdLst>
    <p:sldId id="256" r:id="rId5"/>
    <p:sldId id="257" r:id="rId6"/>
    <p:sldId id="336" r:id="rId7"/>
    <p:sldId id="284" r:id="rId8"/>
    <p:sldId id="337" r:id="rId9"/>
    <p:sldId id="338" r:id="rId10"/>
    <p:sldId id="339" r:id="rId11"/>
    <p:sldId id="340" r:id="rId12"/>
    <p:sldId id="341" r:id="rId13"/>
    <p:sldId id="342" r:id="rId14"/>
    <p:sldId id="343" r:id="rId15"/>
    <p:sldId id="344" r:id="rId16"/>
    <p:sldId id="345" r:id="rId17"/>
    <p:sldId id="346" r:id="rId18"/>
    <p:sldId id="348" r:id="rId19"/>
    <p:sldId id="355" r:id="rId20"/>
    <p:sldId id="349" r:id="rId21"/>
    <p:sldId id="350" r:id="rId22"/>
    <p:sldId id="351" r:id="rId23"/>
    <p:sldId id="352" r:id="rId24"/>
    <p:sldId id="353" r:id="rId25"/>
    <p:sldId id="354" r:id="rId26"/>
    <p:sldId id="347" r:id="rId27"/>
    <p:sldId id="278" r:id="rId28"/>
  </p:sldIdLst>
  <p:sldSz cx="18288000" cy="10287000"/>
  <p:notesSz cx="6858000" cy="9144000"/>
  <p:embeddedFontLst>
    <p:embeddedFont>
      <p:font typeface="Poppins" pitchFamily="2" charset="77"/>
      <p:regular r:id="rId31"/>
      <p:bold r:id="rId32"/>
      <p:italic r:id="rId33"/>
      <p:boldItalic r:id="rId34"/>
    </p:embeddedFont>
    <p:embeddedFont>
      <p:font typeface="Poppins Bold" pitchFamily="2" charset="77"/>
      <p:regular r:id="rId35"/>
      <p:bold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610"/>
    <a:srgbClr val="02464E"/>
    <a:srgbClr val="BDDDCF"/>
    <a:srgbClr val="CBD7BB"/>
    <a:srgbClr val="79EBB8"/>
    <a:srgbClr val="139944"/>
    <a:srgbClr val="018A26"/>
    <a:srgbClr val="5BA986"/>
    <a:srgbClr val="278364"/>
    <a:srgbClr val="0C16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922" autoAdjust="0"/>
    <p:restoredTop sz="94492" autoAdjust="0"/>
  </p:normalViewPr>
  <p:slideViewPr>
    <p:cSldViewPr>
      <p:cViewPr varScale="1">
        <p:scale>
          <a:sx n="71" d="100"/>
          <a:sy n="71" d="100"/>
        </p:scale>
        <p:origin x="192" y="2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font" Target="fonts/font5.fntdata"/><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323DEF-6D24-F83E-E7EF-56367F0260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21144002-6B61-79BD-5BC0-FC69727CEE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B3750E-CB5B-4335-AD9A-B2CEB03DA998}" type="datetimeFigureOut">
              <a:rPr lang="en-GB" smtClean="0"/>
              <a:t>08/09/2026</a:t>
            </a:fld>
            <a:endParaRPr lang="en-GB"/>
          </a:p>
        </p:txBody>
      </p:sp>
      <p:sp>
        <p:nvSpPr>
          <p:cNvPr id="4" name="Footer Placeholder 3">
            <a:extLst>
              <a:ext uri="{FF2B5EF4-FFF2-40B4-BE49-F238E27FC236}">
                <a16:creationId xmlns:a16="http://schemas.microsoft.com/office/drawing/2014/main" id="{D1EE6CD0-2883-BE00-7A37-AEBDDBEAB9E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70D67C0-55BA-BE84-7339-280D1F7D3C3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894DCB-B0B4-4202-A4B7-E085325358DC}" type="slidenum">
              <a:rPr lang="en-GB" smtClean="0"/>
              <a:t>‹#›</a:t>
            </a:fld>
            <a:endParaRPr lang="en-GB"/>
          </a:p>
        </p:txBody>
      </p:sp>
    </p:spTree>
    <p:extLst>
      <p:ext uri="{BB962C8B-B14F-4D97-AF65-F5344CB8AC3E}">
        <p14:creationId xmlns:p14="http://schemas.microsoft.com/office/powerpoint/2010/main" val="18614986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3964CB-DDF6-46BE-8177-760CEBCFC587}" type="datetimeFigureOut">
              <a:rPr lang="en-GB" smtClean="0"/>
              <a:t>08/09/2026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6E80D6-E494-40D6-93EE-412ACE24584E}" type="slidenum">
              <a:rPr lang="en-GB" smtClean="0"/>
              <a:t>‹#›</a:t>
            </a:fld>
            <a:endParaRPr lang="en-GB"/>
          </a:p>
        </p:txBody>
      </p:sp>
    </p:spTree>
    <p:extLst>
      <p:ext uri="{BB962C8B-B14F-4D97-AF65-F5344CB8AC3E}">
        <p14:creationId xmlns:p14="http://schemas.microsoft.com/office/powerpoint/2010/main" val="330459350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ES" dirty="0"/>
              <a:t>I wanted to start today with a quote from George Orwell where he once said “All issues are political issues”. Although will be using this in a slightly different context as to how George orifinally frame this. Hopefully this will become evident by the end of my presentation. </a:t>
            </a:r>
          </a:p>
        </p:txBody>
      </p:sp>
      <p:sp>
        <p:nvSpPr>
          <p:cNvPr id="4" name="Slide Number Placeholder 3"/>
          <p:cNvSpPr>
            <a:spLocks noGrp="1"/>
          </p:cNvSpPr>
          <p:nvPr>
            <p:ph type="sldNum" sz="quarter" idx="5"/>
          </p:nvPr>
        </p:nvSpPr>
        <p:spPr/>
        <p:txBody>
          <a:bodyPr/>
          <a:lstStyle/>
          <a:p>
            <a:fld id="{1F6E80D6-E494-40D6-93EE-412ACE24584E}" type="slidenum">
              <a:rPr lang="en-GB" smtClean="0"/>
              <a:t>3</a:t>
            </a:fld>
            <a:endParaRPr lang="en-GB"/>
          </a:p>
        </p:txBody>
      </p:sp>
    </p:spTree>
    <p:extLst>
      <p:ext uri="{BB962C8B-B14F-4D97-AF65-F5344CB8AC3E}">
        <p14:creationId xmlns:p14="http://schemas.microsoft.com/office/powerpoint/2010/main" val="372026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93.5 billion EUR have been invested in the 2021-2027 cycle of the Horizon Europe Research and Innovation programme. </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What can we do to ensure that this investment generates a positive impact on society? </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For me, this is one of the greatest challenges of working in European-funded projects. </a:t>
            </a:r>
          </a:p>
        </p:txBody>
      </p:sp>
      <p:sp>
        <p:nvSpPr>
          <p:cNvPr id="4" name="Slide Number Placeholder 3"/>
          <p:cNvSpPr>
            <a:spLocks noGrp="1"/>
          </p:cNvSpPr>
          <p:nvPr>
            <p:ph type="sldNum" sz="quarter" idx="5"/>
          </p:nvPr>
        </p:nvSpPr>
        <p:spPr/>
        <p:txBody>
          <a:bodyPr/>
          <a:lstStyle/>
          <a:p>
            <a:fld id="{1F6E80D6-E494-40D6-93EE-412ACE24584E}" type="slidenum">
              <a:rPr lang="en-GB" smtClean="0"/>
              <a:t>4</a:t>
            </a:fld>
            <a:endParaRPr lang="en-GB"/>
          </a:p>
        </p:txBody>
      </p:sp>
    </p:spTree>
    <p:extLst>
      <p:ext uri="{BB962C8B-B14F-4D97-AF65-F5344CB8AC3E}">
        <p14:creationId xmlns:p14="http://schemas.microsoft.com/office/powerpoint/2010/main" val="1397568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EA4D4-B99D-130E-4D22-B0E8EEC9D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9B2606-A3C6-4ABA-86CE-73ABAA19F3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539E53-0446-C218-542B-FA1A2BA58F7A}"/>
              </a:ext>
            </a:extLst>
          </p:cNvPr>
          <p:cNvSpPr>
            <a:spLocks noGrp="1"/>
          </p:cNvSpPr>
          <p:nvPr>
            <p:ph type="body" idx="1"/>
          </p:nvPr>
        </p:nvSpPr>
        <p:spPr/>
        <p:txBody>
          <a:bodyPr/>
          <a:lstStyle/>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An important point to keep in mind that this is 93.5 billion EUR of public money – it is our duty to ensure that things generates a positive impact for academia, civil society, industry, policy…. </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There is a tremendous amount of high-level research being carried out – great potential to achieve this positive impact. </a:t>
            </a: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One of the ways of ensuring that your results generate this positive change is through influencing policies with the evidence or results or solutions that you have generated. </a:t>
            </a: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16621ED-5A68-44C1-3BD5-BD9BD0472E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68324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2FF7F-7DCD-5A26-9ADB-9CAFCEE30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4CF73-DC04-8E4A-1D8F-FE3CE7DC0B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97EC60-D05A-9E85-3DBD-ED802D10DE70}"/>
              </a:ext>
            </a:extLst>
          </p:cNvPr>
          <p:cNvSpPr>
            <a:spLocks noGrp="1"/>
          </p:cNvSpPr>
          <p:nvPr>
            <p:ph type="body" idx="1"/>
          </p:nvPr>
        </p:nvSpPr>
        <p:spPr/>
        <p:txBody>
          <a:bodyPr/>
          <a:lstStyle/>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One of the ways of ensuring that your results generate this positive change is through influencing policies with the evidence or results or solutions that you have generated.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Today we will focus on policy – although we are fully aware that there are other ways of ensuring that the results from projects have the desired impact and last over time – for example contributions to standards / research papers.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We will do this in the scope of the Horizon Europe Research and innovation programme although a lot of these examples and ideas can be transferred to other </a:t>
            </a:r>
            <a:r>
              <a:rPr lang="nl-NL" sz="1200" kern="1200" dirty="0" err="1">
                <a:solidFill>
                  <a:schemeClr val="tx1"/>
                </a:solidFill>
                <a:effectLst/>
                <a:latin typeface="+mn-lt"/>
                <a:ea typeface="+mn-ea"/>
                <a:cs typeface="+mn-cs"/>
              </a:rPr>
              <a:t>initiatives</a:t>
            </a:r>
            <a:r>
              <a:rPr lang="nl-NL" sz="1200" kern="1200" dirty="0">
                <a:solidFill>
                  <a:schemeClr val="tx1"/>
                </a:solidFill>
                <a:effectLst/>
                <a:latin typeface="+mn-lt"/>
                <a:ea typeface="+mn-ea"/>
                <a:cs typeface="+mn-cs"/>
              </a:rPr>
              <a:t>.</a:t>
            </a: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4801F0D-A0E6-AC57-6170-334310FA7DC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43139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39DAA-B48C-AE0E-F5DB-5B3A3E1AE9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EAF353-48D1-9D39-608A-CCF00405C4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E4C83B-9A83-D5FF-B1DE-186C1C2CDDBF}"/>
              </a:ext>
            </a:extLst>
          </p:cNvPr>
          <p:cNvSpPr>
            <a:spLocks noGrp="1"/>
          </p:cNvSpPr>
          <p:nvPr>
            <p:ph type="body" idx="1"/>
          </p:nvPr>
        </p:nvSpPr>
        <p:spPr/>
        <p:txBody>
          <a:bodyPr/>
          <a:lstStyle/>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So how can we do this? How can we embed policy into our projects? </a:t>
            </a:r>
          </a:p>
        </p:txBody>
      </p:sp>
      <p:sp>
        <p:nvSpPr>
          <p:cNvPr id="4" name="Slide Number Placeholder 3">
            <a:extLst>
              <a:ext uri="{FF2B5EF4-FFF2-40B4-BE49-F238E27FC236}">
                <a16:creationId xmlns:a16="http://schemas.microsoft.com/office/drawing/2014/main" id="{4AF45D57-27E5-CA33-FFF3-4DBD50E37B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56514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E7D9D-6CC2-ABFB-F6EF-04FD07247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18D4AF-4D1C-3770-1B3E-5A626B72D6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09C72F-3D3C-EF8D-805D-48E2536D4211}"/>
              </a:ext>
            </a:extLst>
          </p:cNvPr>
          <p:cNvSpPr>
            <a:spLocks noGrp="1"/>
          </p:cNvSpPr>
          <p:nvPr>
            <p:ph type="body" idx="1"/>
          </p:nvPr>
        </p:nvSpPr>
        <p:spPr/>
        <p:txBody>
          <a:bodyPr/>
          <a:lstStyle/>
          <a:p>
            <a:pPr marL="171450" lvl="0" indent="-171450">
              <a:buFont typeface="Arial" panose="020B0604020202020204" pitchFamily="34" charset="0"/>
              <a:buChar char="•"/>
            </a:pPr>
            <a:r>
              <a:rPr lang="nl-NL" sz="1200" kern="1200" dirty="0">
                <a:solidFill>
                  <a:schemeClr val="tx1"/>
                </a:solidFill>
                <a:effectLst/>
                <a:latin typeface="+mn-lt"/>
                <a:ea typeface="+mn-ea"/>
                <a:cs typeface="+mn-cs"/>
              </a:rPr>
              <a:t>In order </a:t>
            </a:r>
            <a:r>
              <a:rPr lang="nl-NL" sz="1200" kern="1200" dirty="0" err="1">
                <a:solidFill>
                  <a:schemeClr val="tx1"/>
                </a:solidFill>
                <a:effectLst/>
                <a:latin typeface="+mn-lt"/>
                <a:ea typeface="+mn-ea"/>
                <a:cs typeface="+mn-cs"/>
              </a:rPr>
              <a:t>to</a:t>
            </a:r>
            <a:r>
              <a:rPr lang="nl-NL" sz="1200" kern="1200" dirty="0">
                <a:solidFill>
                  <a:schemeClr val="tx1"/>
                </a:solidFill>
                <a:effectLst/>
                <a:latin typeface="+mn-lt"/>
                <a:ea typeface="+mn-ea"/>
                <a:cs typeface="+mn-cs"/>
              </a:rPr>
              <a:t> do </a:t>
            </a:r>
            <a:r>
              <a:rPr lang="nl-NL" sz="1200" kern="1200" dirty="0" err="1">
                <a:solidFill>
                  <a:schemeClr val="tx1"/>
                </a:solidFill>
                <a:effectLst/>
                <a:latin typeface="+mn-lt"/>
                <a:ea typeface="+mn-ea"/>
                <a:cs typeface="+mn-cs"/>
              </a:rPr>
              <a:t>this</a:t>
            </a:r>
            <a:r>
              <a:rPr lang="nl-NL" sz="1200" kern="1200" dirty="0">
                <a:solidFill>
                  <a:schemeClr val="tx1"/>
                </a:solidFill>
                <a:effectLst/>
                <a:latin typeface="+mn-lt"/>
                <a:ea typeface="+mn-ea"/>
                <a:cs typeface="+mn-cs"/>
              </a:rPr>
              <a:t>, policy </a:t>
            </a:r>
            <a:r>
              <a:rPr lang="nl-NL" sz="1200" kern="1200" dirty="0" err="1">
                <a:solidFill>
                  <a:schemeClr val="tx1"/>
                </a:solidFill>
                <a:effectLst/>
                <a:latin typeface="+mn-lt"/>
                <a:ea typeface="+mn-ea"/>
                <a:cs typeface="+mn-cs"/>
              </a:rPr>
              <a:t>should</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be</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kept</a:t>
            </a:r>
            <a:r>
              <a:rPr lang="nl-NL" sz="1200" kern="1200" dirty="0">
                <a:solidFill>
                  <a:schemeClr val="tx1"/>
                </a:solidFill>
                <a:effectLst/>
                <a:latin typeface="+mn-lt"/>
                <a:ea typeface="+mn-ea"/>
                <a:cs typeface="+mn-cs"/>
              </a:rPr>
              <a:t> in mind </a:t>
            </a:r>
            <a:r>
              <a:rPr lang="nl-NL" sz="1200" kern="1200" dirty="0" err="1">
                <a:solidFill>
                  <a:schemeClr val="tx1"/>
                </a:solidFill>
                <a:effectLst/>
                <a:latin typeface="+mn-lt"/>
                <a:ea typeface="+mn-ea"/>
                <a:cs typeface="+mn-cs"/>
              </a:rPr>
              <a:t>during</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the</a:t>
            </a:r>
            <a:r>
              <a:rPr lang="nl-NL" sz="1200" kern="1200" dirty="0">
                <a:solidFill>
                  <a:schemeClr val="tx1"/>
                </a:solidFill>
                <a:effectLst/>
                <a:latin typeface="+mn-lt"/>
                <a:ea typeface="+mn-ea"/>
                <a:cs typeface="+mn-cs"/>
              </a:rPr>
              <a:t> project design at </a:t>
            </a:r>
            <a:r>
              <a:rPr lang="nl-NL" sz="1200" kern="1200" dirty="0" err="1">
                <a:solidFill>
                  <a:schemeClr val="tx1"/>
                </a:solidFill>
                <a:effectLst/>
                <a:latin typeface="+mn-lt"/>
                <a:ea typeface="+mn-ea"/>
                <a:cs typeface="+mn-cs"/>
              </a:rPr>
              <a:t>the</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proposal</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writing</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phase</a:t>
            </a:r>
            <a:r>
              <a:rPr lang="nl-NL"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nl-NL" sz="1200" kern="1200" dirty="0" err="1">
                <a:solidFill>
                  <a:schemeClr val="tx1"/>
                </a:solidFill>
                <a:effectLst/>
                <a:latin typeface="+mn-lt"/>
                <a:ea typeface="+mn-ea"/>
                <a:cs typeface="+mn-cs"/>
              </a:rPr>
              <a:t>This</a:t>
            </a:r>
            <a:r>
              <a:rPr lang="nl-NL" sz="1200" kern="1200" dirty="0">
                <a:solidFill>
                  <a:schemeClr val="tx1"/>
                </a:solidFill>
                <a:effectLst/>
                <a:latin typeface="+mn-lt"/>
                <a:ea typeface="+mn-ea"/>
                <a:cs typeface="+mn-cs"/>
              </a:rPr>
              <a:t> way, </a:t>
            </a:r>
            <a:r>
              <a:rPr lang="nl-NL" sz="1200" kern="1200" dirty="0" err="1">
                <a:solidFill>
                  <a:schemeClr val="tx1"/>
                </a:solidFill>
                <a:effectLst/>
                <a:latin typeface="+mn-lt"/>
                <a:ea typeface="+mn-ea"/>
                <a:cs typeface="+mn-cs"/>
              </a:rPr>
              <a:t>you</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will</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ensure</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that</a:t>
            </a:r>
            <a:r>
              <a:rPr lang="nl-NL" sz="1200" kern="1200" dirty="0">
                <a:solidFill>
                  <a:schemeClr val="tx1"/>
                </a:solidFill>
                <a:effectLst/>
                <a:latin typeface="+mn-lt"/>
                <a:ea typeface="+mn-ea"/>
                <a:cs typeface="+mn-cs"/>
              </a:rPr>
              <a:t> adequate resources are put </a:t>
            </a:r>
            <a:r>
              <a:rPr lang="nl-NL" sz="1200" kern="1200" dirty="0" err="1">
                <a:solidFill>
                  <a:schemeClr val="tx1"/>
                </a:solidFill>
                <a:effectLst/>
                <a:latin typeface="+mn-lt"/>
                <a:ea typeface="+mn-ea"/>
                <a:cs typeface="+mn-cs"/>
              </a:rPr>
              <a:t>into</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place</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to</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carry</a:t>
            </a:r>
            <a:r>
              <a:rPr lang="nl-NL" sz="1200" kern="1200" dirty="0">
                <a:solidFill>
                  <a:schemeClr val="tx1"/>
                </a:solidFill>
                <a:effectLst/>
                <a:latin typeface="+mn-lt"/>
                <a:ea typeface="+mn-ea"/>
                <a:cs typeface="+mn-cs"/>
              </a:rPr>
              <a:t> out </a:t>
            </a:r>
            <a:r>
              <a:rPr lang="nl-NL" sz="1200" kern="1200" dirty="0" err="1">
                <a:solidFill>
                  <a:schemeClr val="tx1"/>
                </a:solidFill>
                <a:effectLst/>
                <a:latin typeface="+mn-lt"/>
                <a:ea typeface="+mn-ea"/>
                <a:cs typeface="+mn-cs"/>
              </a:rPr>
              <a:t>this</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task</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and</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it</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isn’t</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just</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seen</a:t>
            </a:r>
            <a:r>
              <a:rPr lang="nl-NL" sz="1200" kern="1200" dirty="0">
                <a:solidFill>
                  <a:schemeClr val="tx1"/>
                </a:solidFill>
                <a:effectLst/>
                <a:latin typeface="+mn-lt"/>
                <a:ea typeface="+mn-ea"/>
                <a:cs typeface="+mn-cs"/>
              </a:rPr>
              <a:t> as </a:t>
            </a:r>
            <a:r>
              <a:rPr lang="nl-NL" sz="1200" kern="1200" dirty="0" err="1">
                <a:solidFill>
                  <a:schemeClr val="tx1"/>
                </a:solidFill>
                <a:effectLst/>
                <a:latin typeface="+mn-lt"/>
                <a:ea typeface="+mn-ea"/>
                <a:cs typeface="+mn-cs"/>
              </a:rPr>
              <a:t>an</a:t>
            </a:r>
            <a:r>
              <a:rPr lang="nl-NL" sz="1200" kern="1200" dirty="0">
                <a:solidFill>
                  <a:schemeClr val="tx1"/>
                </a:solidFill>
                <a:effectLst/>
                <a:latin typeface="+mn-lt"/>
                <a:ea typeface="+mn-ea"/>
                <a:cs typeface="+mn-cs"/>
              </a:rPr>
              <a:t> “</a:t>
            </a:r>
            <a:r>
              <a:rPr lang="nl-NL" sz="1200" kern="1200" dirty="0" err="1">
                <a:solidFill>
                  <a:schemeClr val="tx1"/>
                </a:solidFill>
                <a:effectLst/>
                <a:latin typeface="+mn-lt"/>
                <a:ea typeface="+mn-ea"/>
                <a:cs typeface="+mn-cs"/>
              </a:rPr>
              <a:t>add</a:t>
            </a:r>
            <a:r>
              <a:rPr lang="nl-NL" sz="1200" kern="1200" dirty="0">
                <a:solidFill>
                  <a:schemeClr val="tx1"/>
                </a:solidFill>
                <a:effectLst/>
                <a:latin typeface="+mn-lt"/>
                <a:ea typeface="+mn-ea"/>
                <a:cs typeface="+mn-cs"/>
              </a:rPr>
              <a:t> –on”</a:t>
            </a:r>
            <a:endParaRPr lang="en-E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2F4975F4-5381-B587-46FE-65E319BC56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31862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5209F-55E0-3DDA-B648-911966B94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BA974D-178D-E070-EB47-B40096310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BCD0DE-102F-BC07-A01F-A68D0710780D}"/>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Establish a policy team and ensure the involvement of representatives from the other main work packages in the project – particularly communication and dissemination and the scientific work packages.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Discuss what results will be generated and which could have an impact on policy.</a:t>
            </a:r>
            <a:endParaRPr lang="en-E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Brainstorm and identify potential political stakeholders:</a:t>
            </a:r>
            <a:endParaRPr lang="en-ES" sz="1200" kern="1200" dirty="0">
              <a:solidFill>
                <a:schemeClr val="tx1"/>
              </a:solidFill>
              <a:effectLst/>
              <a:latin typeface="+mn-lt"/>
              <a:ea typeface="+mn-ea"/>
              <a:cs typeface="+mn-cs"/>
            </a:endParaRPr>
          </a:p>
          <a:p>
            <a:pPr lvl="2"/>
            <a:r>
              <a:rPr lang="en-GB" sz="1200" kern="1200" dirty="0">
                <a:solidFill>
                  <a:schemeClr val="tx1"/>
                </a:solidFill>
                <a:effectLst/>
                <a:latin typeface="+mn-lt"/>
                <a:ea typeface="+mn-ea"/>
                <a:cs typeface="+mn-cs"/>
              </a:rPr>
              <a:t>Consider what level is most relevant to your project: </a:t>
            </a:r>
            <a:endParaRPr lang="en-ES" sz="1200" kern="1200" dirty="0">
              <a:solidFill>
                <a:schemeClr val="tx1"/>
              </a:solidFill>
              <a:effectLst/>
              <a:latin typeface="+mn-lt"/>
              <a:ea typeface="+mn-ea"/>
              <a:cs typeface="+mn-cs"/>
            </a:endParaRPr>
          </a:p>
          <a:p>
            <a:pPr lvl="3"/>
            <a:r>
              <a:rPr lang="en-GB" sz="1200" kern="1200" dirty="0">
                <a:solidFill>
                  <a:schemeClr val="tx1"/>
                </a:solidFill>
                <a:effectLst/>
                <a:latin typeface="+mn-lt"/>
                <a:ea typeface="+mn-ea"/>
                <a:cs typeface="+mn-cs"/>
              </a:rPr>
              <a:t>Local</a:t>
            </a:r>
            <a:endParaRPr lang="en-ES" sz="1200" kern="1200" dirty="0">
              <a:solidFill>
                <a:schemeClr val="tx1"/>
              </a:solidFill>
              <a:effectLst/>
              <a:latin typeface="+mn-lt"/>
              <a:ea typeface="+mn-ea"/>
              <a:cs typeface="+mn-cs"/>
            </a:endParaRPr>
          </a:p>
          <a:p>
            <a:pPr lvl="3"/>
            <a:r>
              <a:rPr lang="en-GB" sz="1200" kern="1200" dirty="0">
                <a:solidFill>
                  <a:schemeClr val="tx1"/>
                </a:solidFill>
                <a:effectLst/>
                <a:latin typeface="+mn-lt"/>
                <a:ea typeface="+mn-ea"/>
                <a:cs typeface="+mn-cs"/>
              </a:rPr>
              <a:t>Regional</a:t>
            </a:r>
            <a:endParaRPr lang="en-ES" sz="1200" kern="1200" dirty="0">
              <a:solidFill>
                <a:schemeClr val="tx1"/>
              </a:solidFill>
              <a:effectLst/>
              <a:latin typeface="+mn-lt"/>
              <a:ea typeface="+mn-ea"/>
              <a:cs typeface="+mn-cs"/>
            </a:endParaRPr>
          </a:p>
          <a:p>
            <a:pPr lvl="3"/>
            <a:r>
              <a:rPr lang="en-GB" sz="1200" kern="1200" dirty="0">
                <a:solidFill>
                  <a:schemeClr val="tx1"/>
                </a:solidFill>
                <a:effectLst/>
                <a:latin typeface="+mn-lt"/>
                <a:ea typeface="+mn-ea"/>
                <a:cs typeface="+mn-cs"/>
              </a:rPr>
              <a:t>National</a:t>
            </a:r>
            <a:endParaRPr lang="en-ES" sz="1200" kern="1200" dirty="0">
              <a:solidFill>
                <a:schemeClr val="tx1"/>
              </a:solidFill>
              <a:effectLst/>
              <a:latin typeface="+mn-lt"/>
              <a:ea typeface="+mn-ea"/>
              <a:cs typeface="+mn-cs"/>
            </a:endParaRPr>
          </a:p>
          <a:p>
            <a:pPr lvl="3"/>
            <a:r>
              <a:rPr lang="en-GB" sz="1200" kern="1200" dirty="0">
                <a:solidFill>
                  <a:schemeClr val="tx1"/>
                </a:solidFill>
                <a:effectLst/>
                <a:latin typeface="+mn-lt"/>
                <a:ea typeface="+mn-ea"/>
                <a:cs typeface="+mn-cs"/>
              </a:rPr>
              <a:t>EU</a:t>
            </a:r>
            <a:endParaRPr lang="en-ES" sz="1200" kern="1200" dirty="0">
              <a:solidFill>
                <a:schemeClr val="tx1"/>
              </a:solidFill>
              <a:effectLst/>
              <a:latin typeface="+mn-lt"/>
              <a:ea typeface="+mn-ea"/>
              <a:cs typeface="+mn-cs"/>
            </a:endParaRPr>
          </a:p>
          <a:p>
            <a:pPr lvl="3"/>
            <a:r>
              <a:rPr lang="en-GB" sz="1200" kern="1200" dirty="0">
                <a:solidFill>
                  <a:schemeClr val="tx1"/>
                </a:solidFill>
                <a:effectLst/>
                <a:latin typeface="+mn-lt"/>
                <a:ea typeface="+mn-ea"/>
                <a:cs typeface="+mn-cs"/>
              </a:rPr>
              <a:t>International</a:t>
            </a:r>
            <a:endParaRPr lang="en-E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Use your own network/reach out to project partners – any direct connections/low hanging fruit?</a:t>
            </a: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4CD61C3-88D7-4ADA-6E39-C441430540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98699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31178-8C8F-2973-80F7-DCCF5774CD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982B6-3016-06E1-A00A-3ED792CB0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D3C80F-D7FC-7586-77E8-AFEEA8E86BE9}"/>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Engage political stakeholders early: Ask what their needs are? Ask what the hot topics are? Identify any timelines for current policy initiatives. </a:t>
            </a:r>
            <a:endParaRPr lang="en-E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Plan regular engagement and feedback loops:</a:t>
            </a:r>
            <a:r>
              <a:rPr lang="en-ES" sz="1200" kern="1200" dirty="0">
                <a:solidFill>
                  <a:schemeClr val="tx1"/>
                </a:solidFill>
                <a:effectLst/>
                <a:latin typeface="+mn-lt"/>
                <a:ea typeface="+mn-ea"/>
                <a:cs typeface="+mn-cs"/>
              </a:rPr>
              <a: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What frequency can you reach out the policy stakeholders.</a:t>
            </a:r>
            <a:endParaRPr lang="en-ES"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Ask for feedback. </a:t>
            </a:r>
            <a:endParaRPr lang="en-ES"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Show how their input is begin considered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Ensure there is closure at the end of the process through the presentation of results and findings. </a:t>
            </a: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DF40BBA-593A-4B19-477F-E6304A9C184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10642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836C7-B39B-B23C-1D3E-436E3B1DF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76CA0-2986-07EF-77A2-F2E1FF9D7C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CD368F-4804-BB7F-27CC-0F8A447C16B3}"/>
              </a:ext>
            </a:extLst>
          </p:cNvPr>
          <p:cNvSpPr>
            <a:spLocks noGrp="1"/>
          </p:cNvSpPr>
          <p:nvPr>
            <p:ph type="body" idx="1"/>
          </p:nvPr>
        </p:nvSpPr>
        <p:spPr/>
        <p:txBody>
          <a:bodyPr/>
          <a:lstStyle/>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So how can we do this? How can we embed policy into our projects? </a:t>
            </a:r>
          </a:p>
        </p:txBody>
      </p:sp>
      <p:sp>
        <p:nvSpPr>
          <p:cNvPr id="4" name="Slide Number Placeholder 3">
            <a:extLst>
              <a:ext uri="{FF2B5EF4-FFF2-40B4-BE49-F238E27FC236}">
                <a16:creationId xmlns:a16="http://schemas.microsoft.com/office/drawing/2014/main" id="{27FACA62-1129-1373-0590-66B8D54334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90882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68B22-6B55-4097-C1D3-8B66D1989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55166F-4856-D06E-EDC8-8057912B94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6FA263-C6CF-FB5F-7E02-7F61AE25936F}"/>
              </a:ext>
            </a:extLst>
          </p:cNvPr>
          <p:cNvSpPr>
            <a:spLocks noGrp="1"/>
          </p:cNvSpPr>
          <p:nvPr>
            <p:ph type="body" idx="1"/>
          </p:nvPr>
        </p:nvSpPr>
        <p:spPr/>
        <p:txBody>
          <a:bodyPr/>
          <a:lstStyle/>
          <a:p>
            <a:pPr marL="171450" indent="-171450">
              <a:buFont typeface="Arial" panose="020B0604020202020204" pitchFamily="34" charset="0"/>
              <a:buChar char="•"/>
            </a:pPr>
            <a:r>
              <a:rPr lang="en-GB" sz="1200" kern="1200" dirty="0">
                <a:solidFill>
                  <a:schemeClr val="tx1"/>
                </a:solidFill>
                <a:effectLst/>
                <a:latin typeface="+mn-lt"/>
                <a:ea typeface="+mn-ea"/>
                <a:cs typeface="+mn-cs"/>
              </a:rPr>
              <a:t>Different policy documents should be chosen according to the results you have and the stakeholders you are reaching out to.</a:t>
            </a:r>
            <a:endParaRPr lang="en-ES"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White papers: </a:t>
            </a:r>
            <a:r>
              <a:rPr lang="en-ES" sz="1200" b="0" u="none" strike="noStrike" kern="1200" dirty="0">
                <a:solidFill>
                  <a:schemeClr val="tx1"/>
                </a:solidFill>
                <a:effectLst/>
                <a:latin typeface="+mn-lt"/>
                <a:ea typeface="+mn-ea"/>
                <a:cs typeface="+mn-cs"/>
              </a:rPr>
              <a:t>A </a:t>
            </a:r>
            <a:r>
              <a:rPr lang="en-ES" sz="1200" b="1" u="none" strike="noStrike" kern="1200" dirty="0">
                <a:solidFill>
                  <a:schemeClr val="tx1"/>
                </a:solidFill>
                <a:effectLst/>
                <a:latin typeface="+mn-lt"/>
                <a:ea typeface="+mn-ea"/>
                <a:cs typeface="+mn-cs"/>
              </a:rPr>
              <a:t>white paper</a:t>
            </a:r>
            <a:r>
              <a:rPr lang="en-ES" sz="1200" b="0" u="none" strike="noStrike" kern="1200" dirty="0">
                <a:solidFill>
                  <a:schemeClr val="tx1"/>
                </a:solidFill>
                <a:effectLst/>
                <a:latin typeface="+mn-lt"/>
                <a:ea typeface="+mn-ea"/>
                <a:cs typeface="+mn-cs"/>
              </a:rPr>
              <a:t> is an authoritative, in-depth report or guide that explains a complex issue and presents a specific solution or philosophy. It is designed to educate readers, help them solve a problem, or guide their decision-making process.</a:t>
            </a:r>
            <a:endParaRPr lang="en-E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mn-lt"/>
                <a:ea typeface="+mn-ea"/>
                <a:cs typeface="+mn-cs"/>
              </a:rPr>
              <a:t>Policy briefs</a:t>
            </a:r>
            <a:endParaRPr lang="en-E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GB" sz="1200" kern="1200" dirty="0">
                <a:solidFill>
                  <a:schemeClr val="tx1"/>
                </a:solidFill>
                <a:effectLst/>
                <a:latin typeface="+mn-lt"/>
                <a:ea typeface="+mn-ea"/>
                <a:cs typeface="+mn-cs"/>
              </a:rPr>
              <a:t>Recommendations</a:t>
            </a:r>
            <a:endParaRPr lang="en-ES" sz="1200" kern="1200" dirty="0">
              <a:solidFill>
                <a:schemeClr val="tx1"/>
              </a:solidFill>
              <a:effectLst/>
              <a:latin typeface="+mn-lt"/>
              <a:ea typeface="+mn-ea"/>
              <a:cs typeface="+mn-cs"/>
            </a:endParaRPr>
          </a:p>
          <a:p>
            <a:pPr lvl="0"/>
            <a:r>
              <a:rPr lang="en-GB" sz="1200" kern="1200" dirty="0">
                <a:solidFill>
                  <a:schemeClr val="tx1"/>
                </a:solidFill>
                <a:effectLst/>
                <a:latin typeface="+mn-lt"/>
                <a:ea typeface="+mn-ea"/>
                <a:cs typeface="+mn-cs"/>
              </a:rPr>
              <a:t>Structure is key: </a:t>
            </a:r>
            <a:endParaRPr lang="en-ES" sz="1200" kern="1200" dirty="0">
              <a:solidFill>
                <a:schemeClr val="tx1"/>
              </a:solidFill>
              <a:effectLst/>
              <a:latin typeface="+mn-lt"/>
              <a:ea typeface="+mn-ea"/>
              <a:cs typeface="+mn-cs"/>
            </a:endParaRPr>
          </a:p>
          <a:p>
            <a:pPr lvl="1"/>
            <a:r>
              <a:rPr lang="en-GB" sz="1200" kern="1200" dirty="0">
                <a:solidFill>
                  <a:schemeClr val="tx1"/>
                </a:solidFill>
                <a:effectLst/>
                <a:latin typeface="+mn-lt"/>
                <a:ea typeface="+mn-ea"/>
                <a:cs typeface="+mn-cs"/>
              </a:rPr>
              <a:t>Short to the point - Less is more</a:t>
            </a:r>
            <a:endParaRPr lang="en-ES" sz="1200" kern="1200" dirty="0">
              <a:solidFill>
                <a:schemeClr val="tx1"/>
              </a:solidFill>
              <a:effectLst/>
              <a:latin typeface="+mn-lt"/>
              <a:ea typeface="+mn-ea"/>
              <a:cs typeface="+mn-cs"/>
            </a:endParaRPr>
          </a:p>
          <a:p>
            <a:pPr lvl="1"/>
            <a:r>
              <a:rPr lang="en-GB" sz="1200" kern="1200" dirty="0">
                <a:solidFill>
                  <a:schemeClr val="tx1"/>
                </a:solidFill>
                <a:effectLst/>
                <a:latin typeface="+mn-lt"/>
                <a:ea typeface="+mn-ea"/>
                <a:cs typeface="+mn-cs"/>
              </a:rPr>
              <a:t>Visual where possible</a:t>
            </a:r>
            <a:endParaRPr lang="en-ES" sz="1200" kern="1200" dirty="0">
              <a:solidFill>
                <a:schemeClr val="tx1"/>
              </a:solidFill>
              <a:effectLst/>
              <a:latin typeface="+mn-lt"/>
              <a:ea typeface="+mn-ea"/>
              <a:cs typeface="+mn-cs"/>
            </a:endParaRPr>
          </a:p>
          <a:p>
            <a:pPr lvl="1"/>
            <a:r>
              <a:rPr lang="en-GB" sz="1200" kern="1200" dirty="0">
                <a:solidFill>
                  <a:schemeClr val="tx1"/>
                </a:solidFill>
                <a:effectLst/>
                <a:latin typeface="+mn-lt"/>
                <a:ea typeface="+mn-ea"/>
                <a:cs typeface="+mn-cs"/>
              </a:rPr>
              <a:t>Use statistics to highlights main results and messages. </a:t>
            </a: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E6ED85F-519B-B4B3-440D-E87B14E026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40723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B710E-6B3F-0C26-87EC-A02085080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1B5193-3A1A-7647-77A8-A56D2E1613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213A8-3883-8542-C383-35D868356AE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Events are a great way to engage representatives, gain feedback and present results. The type and format of events should be adapted to the results you have and the stakeholders you want to reach.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Webinars</a:t>
            </a:r>
            <a:endParaRPr lang="en-ES"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Round tables</a:t>
            </a:r>
            <a:endParaRPr lang="en-ES"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High level lunches</a:t>
            </a:r>
            <a:endParaRPr lang="en-ES"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Large-scale events – Summits</a:t>
            </a:r>
            <a:endParaRPr lang="en-ES"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Workshops at key conferences</a:t>
            </a:r>
            <a:endParaRPr lang="en-ES"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Events at the European Parliament</a:t>
            </a:r>
            <a:endParaRPr lang="en-E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F68FEEA-2063-5CBE-9B0D-751EC6DA425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69234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EA224-1BF7-AD03-C3DA-DD64DF751B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5FEA5-F3E1-3E59-ECEF-41EE0EF531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A25675-F7AA-C8DC-1270-421F1053573D}"/>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The timing of your engagement activities is key: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Large policy event too early in the project – not much to give</a:t>
            </a:r>
            <a:endParaRPr lang="en-ES"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Too late in the project – no time to adapt your findings according to input from stakeholders. </a:t>
            </a:r>
            <a:endParaRPr lang="en-ES"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If you are planning to do an event that involves MEPs – consider the political calendar – Luxembourg once a month. </a:t>
            </a:r>
            <a:endParaRPr lang="en-ES"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Same for events elsewhere – choose a month with less activity to maximise participation.</a:t>
            </a:r>
            <a:endParaRPr lang="en-ES" sz="1200" kern="1200" dirty="0">
              <a:solidFill>
                <a:schemeClr val="tx1"/>
              </a:solidFill>
              <a:effectLst/>
              <a:latin typeface="+mn-lt"/>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200" kern="1200" dirty="0">
                <a:solidFill>
                  <a:schemeClr val="tx1"/>
                </a:solidFill>
                <a:effectLst/>
                <a:latin typeface="+mn-lt"/>
                <a:ea typeface="+mn-ea"/>
                <a:cs typeface="+mn-cs"/>
              </a:rPr>
              <a:t>If you want to organise a side event at a conference – when does the call open? </a:t>
            </a:r>
            <a:endParaRPr lang="en-E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8EF2402-A75D-55B9-0FC8-6C79B2B425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12847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8CB7A-A3FA-B873-AC26-BD649488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47E7A-128A-B9B0-A1AC-E2E7B21595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CA55B7-A5C9-9459-47CE-D54B50FE94A9}"/>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09C06AF-C0D4-ACE2-E02C-3B286D63681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05476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F4892-9484-4182-2EDA-4CA4C9F8D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56255A-BCE4-A7AC-DCC4-CF808DA624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F2C43-E1A5-4D18-B08E-A8C519C8A1B5}"/>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73FAB95-00C3-E06F-644B-8FE8FB9BBED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106227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896B7-1DD1-107D-0349-1BDE7AC6EB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0DE271-4BE1-52F4-B9CA-043E0D95A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0FCDB2-4397-C033-D684-28695F21FB40}"/>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4C3F48DF-B16C-963D-C2D3-8D7A068F06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41255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1FB2D-64AC-93CA-3D2C-6374FEB72D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2A14A-A3A2-7364-0165-159AD759F1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9569F7-F9F9-176F-ACFB-6916F6D570C3}"/>
              </a:ext>
            </a:extLst>
          </p:cNvPr>
          <p:cNvSpPr>
            <a:spLocks noGrp="1"/>
          </p:cNvSpPr>
          <p:nvPr>
            <p:ph type="body" idx="1"/>
          </p:nvPr>
        </p:nvSpPr>
        <p:spPr/>
        <p:txBody>
          <a:bodyPr/>
          <a:lstStyle/>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3A8EDD8-4BCA-C9D7-AB8D-7F100166D3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976262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427B4-14A5-1CB2-84A9-0EB6C3B86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BA5D5A-2BD9-4778-B38C-21E201911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FF0FF6-3811-71D7-3BB2-157FB23F85EA}"/>
              </a:ext>
            </a:extLst>
          </p:cNvPr>
          <p:cNvSpPr>
            <a:spLocks noGrp="1"/>
          </p:cNvSpPr>
          <p:nvPr>
            <p:ph type="body" idx="1"/>
          </p:nvPr>
        </p:nvSpPr>
        <p:spPr/>
        <p:txBody>
          <a:bodyPr/>
          <a:lstStyle/>
          <a:p>
            <a:endParaRPr lang="en-ES" dirty="0"/>
          </a:p>
        </p:txBody>
      </p:sp>
      <p:sp>
        <p:nvSpPr>
          <p:cNvPr id="4" name="Slide Number Placeholder 3">
            <a:extLst>
              <a:ext uri="{FF2B5EF4-FFF2-40B4-BE49-F238E27FC236}">
                <a16:creationId xmlns:a16="http://schemas.microsoft.com/office/drawing/2014/main" id="{4B03D51B-A022-51EF-E6B5-A06DDF99855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66472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EE618-F7E5-A531-7F0B-F15548CD3A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319C9B-7D66-3558-F596-5D1442C16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EAAE6-8EF3-350F-0783-1F6BCC13E886}"/>
              </a:ext>
            </a:extLst>
          </p:cNvPr>
          <p:cNvSpPr>
            <a:spLocks noGrp="1"/>
          </p:cNvSpPr>
          <p:nvPr>
            <p:ph type="body" idx="1"/>
          </p:nvPr>
        </p:nvSpPr>
        <p:spPr/>
        <p:txBody>
          <a:bodyPr/>
          <a:lstStyle/>
          <a:p>
            <a:endParaRPr lang="en-ES" dirty="0"/>
          </a:p>
        </p:txBody>
      </p:sp>
      <p:sp>
        <p:nvSpPr>
          <p:cNvPr id="4" name="Slide Number Placeholder 3">
            <a:extLst>
              <a:ext uri="{FF2B5EF4-FFF2-40B4-BE49-F238E27FC236}">
                <a16:creationId xmlns:a16="http://schemas.microsoft.com/office/drawing/2014/main" id="{7CAAAC92-833C-7911-C954-57FCDB8D88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589109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DDF7-5E1F-DE4D-E4B3-5EE13FCAC0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93D0E-9DD2-3CB0-8CD2-66763D2D5C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034BD6-DF29-0597-F717-CC0118DFD611}"/>
              </a:ext>
            </a:extLst>
          </p:cNvPr>
          <p:cNvSpPr>
            <a:spLocks noGrp="1"/>
          </p:cNvSpPr>
          <p:nvPr>
            <p:ph type="body" idx="1"/>
          </p:nvPr>
        </p:nvSpPr>
        <p:spPr/>
        <p:txBody>
          <a:bodyPr/>
          <a:lstStyle/>
          <a:p>
            <a:endParaRPr lang="en-ES" dirty="0"/>
          </a:p>
        </p:txBody>
      </p:sp>
      <p:sp>
        <p:nvSpPr>
          <p:cNvPr id="4" name="Slide Number Placeholder 3">
            <a:extLst>
              <a:ext uri="{FF2B5EF4-FFF2-40B4-BE49-F238E27FC236}">
                <a16:creationId xmlns:a16="http://schemas.microsoft.com/office/drawing/2014/main" id="{5D546D2D-7855-2A2E-45B8-60E89BD54B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096360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08AED-48CF-8E29-5BBA-B21F63FF0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F4D02-0B00-7F9A-7DFB-786F3964DB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01EC8-20B7-AEF6-2B50-7B565B22ACB6}"/>
              </a:ext>
            </a:extLst>
          </p:cNvPr>
          <p:cNvSpPr>
            <a:spLocks noGrp="1"/>
          </p:cNvSpPr>
          <p:nvPr>
            <p:ph type="body" idx="1"/>
          </p:nvPr>
        </p:nvSpPr>
        <p:spPr/>
        <p:txBody>
          <a:bodyPr/>
          <a:lstStyle/>
          <a:p>
            <a:endParaRPr lang="en-ES" dirty="0"/>
          </a:p>
        </p:txBody>
      </p:sp>
      <p:sp>
        <p:nvSpPr>
          <p:cNvPr id="4" name="Slide Number Placeholder 3">
            <a:extLst>
              <a:ext uri="{FF2B5EF4-FFF2-40B4-BE49-F238E27FC236}">
                <a16:creationId xmlns:a16="http://schemas.microsoft.com/office/drawing/2014/main" id="{00A2DFFB-73FF-E956-BD26-4A256739B4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54580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256C5-9D46-1FA8-E7EF-DCD2EBE8C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14F3D-5C81-90EE-A517-807ADFEA3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1E2D44-2E9A-3B5A-BDAE-DAFF00AAA170}"/>
              </a:ext>
            </a:extLst>
          </p:cNvPr>
          <p:cNvSpPr>
            <a:spLocks noGrp="1"/>
          </p:cNvSpPr>
          <p:nvPr>
            <p:ph type="body" idx="1"/>
          </p:nvPr>
        </p:nvSpPr>
        <p:spPr/>
        <p:txBody>
          <a:bodyPr/>
          <a:lstStyle/>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Collaboration between different stakeholders is key – bridge between scientific and policy/comms teams and everyone in between. </a:t>
            </a: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Policy impact should be a consideration from the get-go and not just an afterthought. </a:t>
            </a: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Policy engagement goes beyond dissemination – it takes results that have been disseminated and ensures that they reach the right policymakers in the correct format at the correct time. </a:t>
            </a: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mn-lt"/>
                <a:ea typeface="+mn-ea"/>
                <a:cs typeface="+mn-cs"/>
              </a:rPr>
              <a:t>Be flexible – Policy design often follows its own timetable – be willing to adapt if you can influence a policy. </a:t>
            </a:r>
            <a:endParaRPr lang="en-ES" sz="120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ES" sz="1200" kern="1200" dirty="0">
              <a:solidFill>
                <a:schemeClr val="tx1"/>
              </a:solidFill>
              <a:effectLst/>
              <a:latin typeface="+mn-lt"/>
              <a:ea typeface="+mn-ea"/>
              <a:cs typeface="+mn-cs"/>
            </a:endParaRPr>
          </a:p>
          <a:p>
            <a:pPr marL="171450" lvl="0" indent="-171450">
              <a:buFont typeface="Arial" panose="020B0604020202020204" pitchFamily="34" charset="0"/>
              <a:buChar char="•"/>
            </a:pPr>
            <a:endParaRPr lang="en-GB"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705157D-C051-B063-0511-F00030FB64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6E80D6-E494-40D6-93EE-412ACE24584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5845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2.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6.jpeg"/><Relationship Id="rId2" Type="http://schemas.openxmlformats.org/officeDocument/2006/relationships/image" Target="../media/image19.jpeg"/><Relationship Id="rId1" Type="http://schemas.openxmlformats.org/officeDocument/2006/relationships/slideMaster" Target="../slideMasters/slideMaster1.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png"/><Relationship Id="rId4" Type="http://schemas.openxmlformats.org/officeDocument/2006/relationships/image" Target="../media/image2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24.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5BF79-C93E-46E4-B94F-690D14F7F6C4}" type="datetime1">
              <a:rPr lang="en-US" smtClean="0"/>
              <a:t>9/8/26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3EE1A-8B1A-C616-CFD3-3514FEC5D6C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4A11239C-96AE-42FC-9EC6-61CC8B3F6C34}" type="datetime1">
              <a:rPr lang="en-US" smtClean="0"/>
              <a:t>9/8/26</a:t>
            </a:fld>
            <a:endParaRPr lang="en-US"/>
          </a:p>
        </p:txBody>
      </p:sp>
      <p:sp>
        <p:nvSpPr>
          <p:cNvPr id="4" name="Footer Placeholder 3">
            <a:extLst>
              <a:ext uri="{FF2B5EF4-FFF2-40B4-BE49-F238E27FC236}">
                <a16:creationId xmlns:a16="http://schemas.microsoft.com/office/drawing/2014/main" id="{1AA86F6D-876E-C855-F8E4-40CFF4C850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722DE-50C8-B0CF-A377-740BE0ECB8D8}"/>
              </a:ext>
            </a:extLst>
          </p:cNvPr>
          <p:cNvSpPr>
            <a:spLocks noGrp="1"/>
          </p:cNvSpPr>
          <p:nvPr>
            <p:ph type="sldNum" sz="quarter" idx="12"/>
          </p:nvPr>
        </p:nvSpPr>
        <p:spPr/>
        <p:txBody>
          <a:bodyPr/>
          <a:lstStyle/>
          <a:p>
            <a:fld id="{B6F15528-21DE-4FAA-801E-634DDDAF4B2B}" type="slidenum">
              <a:rPr lang="en-US" smtClean="0"/>
              <a:pPr/>
              <a:t>‹#›</a:t>
            </a:fld>
            <a:endParaRPr lang="en-US"/>
          </a:p>
        </p:txBody>
      </p:sp>
      <p:sp>
        <p:nvSpPr>
          <p:cNvPr id="7" name="Online Image Placeholder 6">
            <a:extLst>
              <a:ext uri="{FF2B5EF4-FFF2-40B4-BE49-F238E27FC236}">
                <a16:creationId xmlns:a16="http://schemas.microsoft.com/office/drawing/2014/main" id="{0FC85BAA-B81E-B08C-B1D9-46AC6E250770}"/>
              </a:ext>
            </a:extLst>
          </p:cNvPr>
          <p:cNvSpPr>
            <a:spLocks noGrp="1"/>
          </p:cNvSpPr>
          <p:nvPr>
            <p:ph type="clipArt" sz="quarter" idx="13"/>
          </p:nvPr>
        </p:nvSpPr>
        <p:spPr>
          <a:xfrm>
            <a:off x="0" y="13032"/>
            <a:ext cx="18288000" cy="10287000"/>
          </a:xfrm>
        </p:spPr>
        <p:txBody>
          <a:bodyPr/>
          <a:lstStyle/>
          <a:p>
            <a:endParaRPr lang="en-GB"/>
          </a:p>
        </p:txBody>
      </p:sp>
      <p:pic>
        <p:nvPicPr>
          <p:cNvPr id="9" name="Picture 8">
            <a:extLst>
              <a:ext uri="{FF2B5EF4-FFF2-40B4-BE49-F238E27FC236}">
                <a16:creationId xmlns:a16="http://schemas.microsoft.com/office/drawing/2014/main" id="{AE4D051E-FD15-3EE9-CF0A-EBB76004070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8288000" cy="10265664"/>
          </a:xfrm>
          <a:prstGeom prst="rect">
            <a:avLst/>
          </a:prstGeom>
        </p:spPr>
      </p:pic>
      <p:pic>
        <p:nvPicPr>
          <p:cNvPr id="8" name="Picture 7">
            <a:extLst>
              <a:ext uri="{FF2B5EF4-FFF2-40B4-BE49-F238E27FC236}">
                <a16:creationId xmlns:a16="http://schemas.microsoft.com/office/drawing/2014/main" id="{D1CFC005-3159-3F37-F0BF-BA768A15EF6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0"/>
            <a:ext cx="18288000" cy="10300032"/>
          </a:xfrm>
          <a:prstGeom prst="rect">
            <a:avLst/>
          </a:prstGeom>
        </p:spPr>
      </p:pic>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3" name="Picture 12">
            <a:extLst>
              <a:ext uri="{FF2B5EF4-FFF2-40B4-BE49-F238E27FC236}">
                <a16:creationId xmlns:a16="http://schemas.microsoft.com/office/drawing/2014/main" id="{55903C8F-59E1-3CE9-3F7F-44E040F262B6}"/>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7051209" y="109863"/>
            <a:ext cx="3271181" cy="2615550"/>
          </a:xfrm>
          <a:prstGeom prst="rect">
            <a:avLst/>
          </a:prstGeom>
        </p:spPr>
      </p:pic>
      <p:sp>
        <p:nvSpPr>
          <p:cNvPr id="15" name="TextBox 13">
            <a:extLst>
              <a:ext uri="{FF2B5EF4-FFF2-40B4-BE49-F238E27FC236}">
                <a16:creationId xmlns:a16="http://schemas.microsoft.com/office/drawing/2014/main" id="{AA753E9F-8557-95B5-2691-4FC61C0B560D}"/>
              </a:ext>
            </a:extLst>
          </p:cNvPr>
          <p:cNvSpPr txBox="1"/>
          <p:nvPr userDrawn="1"/>
        </p:nvSpPr>
        <p:spPr>
          <a:xfrm>
            <a:off x="3076831" y="3543816"/>
            <a:ext cx="12134338" cy="2133084"/>
          </a:xfrm>
          <a:prstGeom prst="rect">
            <a:avLst/>
          </a:prstGeom>
        </p:spPr>
        <p:txBody>
          <a:bodyPr lIns="0" tIns="0" rIns="0" bIns="0" rtlCol="0" anchor="t">
            <a:spAutoFit/>
          </a:bodyPr>
          <a:lstStyle/>
          <a:p>
            <a:pPr algn="ctr">
              <a:lnSpc>
                <a:spcPts val="17542"/>
              </a:lnSpc>
            </a:pPr>
            <a:r>
              <a:rPr lang="en-US" sz="12530">
                <a:solidFill>
                  <a:srgbClr val="FFFFFF"/>
                </a:solidFill>
                <a:latin typeface="Poppins"/>
                <a:ea typeface="Poppins"/>
                <a:cs typeface="Poppins"/>
                <a:sym typeface="Poppins"/>
              </a:rPr>
              <a:t>Next</a:t>
            </a:r>
            <a:r>
              <a:rPr lang="en-US" sz="12530" b="1">
                <a:solidFill>
                  <a:srgbClr val="FFFFFF"/>
                </a:solidFill>
                <a:latin typeface="Poppins Bold"/>
                <a:ea typeface="Poppins Bold"/>
                <a:cs typeface="Poppins Bold"/>
                <a:sym typeface="Poppins Bold"/>
              </a:rPr>
              <a:t>AIRE</a:t>
            </a:r>
            <a:endParaRPr lang="en-US" sz="12530" b="1" dirty="0">
              <a:solidFill>
                <a:srgbClr val="FFFFFF"/>
              </a:solidFill>
              <a:latin typeface="Poppins Bold"/>
              <a:ea typeface="Poppins Bold"/>
              <a:cs typeface="Poppins Bold"/>
              <a:sym typeface="Poppins Bold"/>
            </a:endParaRPr>
          </a:p>
        </p:txBody>
      </p:sp>
      <p:sp>
        <p:nvSpPr>
          <p:cNvPr id="16" name="TextBox 14">
            <a:extLst>
              <a:ext uri="{FF2B5EF4-FFF2-40B4-BE49-F238E27FC236}">
                <a16:creationId xmlns:a16="http://schemas.microsoft.com/office/drawing/2014/main" id="{3D18B3F2-20D9-5408-D860-83200EED783F}"/>
              </a:ext>
            </a:extLst>
          </p:cNvPr>
          <p:cNvSpPr txBox="1"/>
          <p:nvPr userDrawn="1"/>
        </p:nvSpPr>
        <p:spPr>
          <a:xfrm>
            <a:off x="2869148" y="5929658"/>
            <a:ext cx="12549704" cy="509242"/>
          </a:xfrm>
          <a:prstGeom prst="rect">
            <a:avLst/>
          </a:prstGeom>
        </p:spPr>
        <p:txBody>
          <a:bodyPr wrap="square" lIns="0" tIns="0" rIns="0" bIns="0" rtlCol="0" anchor="t">
            <a:spAutoFit/>
          </a:bodyPr>
          <a:lstStyle/>
          <a:p>
            <a:pPr algn="ctr">
              <a:lnSpc>
                <a:spcPts val="4111"/>
              </a:lnSpc>
            </a:pPr>
            <a:r>
              <a:rPr lang="en-US" sz="3200">
                <a:solidFill>
                  <a:srgbClr val="FFFFFF"/>
                </a:solidFill>
                <a:latin typeface="Poppins"/>
                <a:ea typeface="Poppins"/>
                <a:cs typeface="Poppins"/>
                <a:sym typeface="Poppins"/>
              </a:rPr>
              <a:t>Next Generation AI Researchers for Air Quality Excellence</a:t>
            </a:r>
          </a:p>
        </p:txBody>
      </p:sp>
    </p:spTree>
    <p:extLst>
      <p:ext uri="{BB962C8B-B14F-4D97-AF65-F5344CB8AC3E}">
        <p14:creationId xmlns:p14="http://schemas.microsoft.com/office/powerpoint/2010/main" val="3527707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3EE1A-8B1A-C616-CFD3-3514FEC5D6C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FFB07C36-456A-4703-B8BA-956A57E9A5E7}" type="datetime1">
              <a:rPr lang="en-US" smtClean="0"/>
              <a:t>9/8/26</a:t>
            </a:fld>
            <a:endParaRPr lang="en-US"/>
          </a:p>
        </p:txBody>
      </p:sp>
      <p:sp>
        <p:nvSpPr>
          <p:cNvPr id="4" name="Footer Placeholder 3">
            <a:extLst>
              <a:ext uri="{FF2B5EF4-FFF2-40B4-BE49-F238E27FC236}">
                <a16:creationId xmlns:a16="http://schemas.microsoft.com/office/drawing/2014/main" id="{1AA86F6D-876E-C855-F8E4-40CFF4C850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722DE-50C8-B0CF-A377-740BE0ECB8D8}"/>
              </a:ext>
            </a:extLst>
          </p:cNvPr>
          <p:cNvSpPr>
            <a:spLocks noGrp="1"/>
          </p:cNvSpPr>
          <p:nvPr>
            <p:ph type="sldNum" sz="quarter" idx="12"/>
          </p:nvPr>
        </p:nvSpPr>
        <p:spPr/>
        <p:txBody>
          <a:bodyPr/>
          <a:lstStyle/>
          <a:p>
            <a:fld id="{B6F15528-21DE-4FAA-801E-634DDDAF4B2B}" type="slidenum">
              <a:rPr lang="en-US" smtClean="0"/>
              <a:pPr/>
              <a:t>‹#›</a:t>
            </a:fld>
            <a:endParaRPr lang="en-US"/>
          </a:p>
        </p:txBody>
      </p:sp>
      <p:pic>
        <p:nvPicPr>
          <p:cNvPr id="6" name="Picture 5">
            <a:extLst>
              <a:ext uri="{FF2B5EF4-FFF2-40B4-BE49-F238E27FC236}">
                <a16:creationId xmlns:a16="http://schemas.microsoft.com/office/drawing/2014/main" id="{1472D2B1-3B10-6055-AAC0-726A999C5E1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267" y="-17787"/>
            <a:ext cx="8943607" cy="10065368"/>
          </a:xfrm>
          <a:prstGeom prst="rect">
            <a:avLst/>
          </a:prstGeom>
        </p:spPr>
      </p:pic>
      <p:sp>
        <p:nvSpPr>
          <p:cNvPr id="7" name="Online Image Placeholder 6">
            <a:extLst>
              <a:ext uri="{FF2B5EF4-FFF2-40B4-BE49-F238E27FC236}">
                <a16:creationId xmlns:a16="http://schemas.microsoft.com/office/drawing/2014/main" id="{0FC85BAA-B81E-B08C-B1D9-46AC6E250770}"/>
              </a:ext>
            </a:extLst>
          </p:cNvPr>
          <p:cNvSpPr>
            <a:spLocks noGrp="1"/>
          </p:cNvSpPr>
          <p:nvPr>
            <p:ph type="clipArt" sz="quarter" idx="13"/>
          </p:nvPr>
        </p:nvSpPr>
        <p:spPr>
          <a:xfrm>
            <a:off x="15240" y="-17787"/>
            <a:ext cx="18288000" cy="10287000"/>
          </a:xfrm>
        </p:spPr>
        <p:txBody>
          <a:bodyPr/>
          <a:lstStyle/>
          <a:p>
            <a:endParaRPr lang="en-GB"/>
          </a:p>
        </p:txBody>
      </p:sp>
      <p:pic>
        <p:nvPicPr>
          <p:cNvPr id="8" name="Picture 7">
            <a:extLst>
              <a:ext uri="{FF2B5EF4-FFF2-40B4-BE49-F238E27FC236}">
                <a16:creationId xmlns:a16="http://schemas.microsoft.com/office/drawing/2014/main" id="{D1CFC005-3159-3F37-F0BF-BA768A15EF6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5240" y="-13032"/>
            <a:ext cx="18288000" cy="10300032"/>
          </a:xfrm>
          <a:prstGeom prst="rect">
            <a:avLst/>
          </a:prstGeom>
        </p:spPr>
      </p:pic>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sp>
        <p:nvSpPr>
          <p:cNvPr id="10" name="Freeform 11">
            <a:extLst>
              <a:ext uri="{FF2B5EF4-FFF2-40B4-BE49-F238E27FC236}">
                <a16:creationId xmlns:a16="http://schemas.microsoft.com/office/drawing/2014/main" id="{963A73CE-5D55-AFA4-33B1-D6FE4ED7AEC3}"/>
              </a:ext>
            </a:extLst>
          </p:cNvPr>
          <p:cNvSpPr/>
          <p:nvPr userDrawn="1"/>
        </p:nvSpPr>
        <p:spPr>
          <a:xfrm>
            <a:off x="10896600" y="925220"/>
            <a:ext cx="2860324" cy="2284778"/>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l-GR"/>
          </a:p>
        </p:txBody>
      </p:sp>
      <p:sp>
        <p:nvSpPr>
          <p:cNvPr id="15" name="TextBox 13">
            <a:extLst>
              <a:ext uri="{FF2B5EF4-FFF2-40B4-BE49-F238E27FC236}">
                <a16:creationId xmlns:a16="http://schemas.microsoft.com/office/drawing/2014/main" id="{AA753E9F-8557-95B5-2691-4FC61C0B560D}"/>
              </a:ext>
            </a:extLst>
          </p:cNvPr>
          <p:cNvSpPr txBox="1"/>
          <p:nvPr userDrawn="1"/>
        </p:nvSpPr>
        <p:spPr>
          <a:xfrm>
            <a:off x="6537960" y="3320814"/>
            <a:ext cx="12134338" cy="2133084"/>
          </a:xfrm>
          <a:prstGeom prst="rect">
            <a:avLst/>
          </a:prstGeom>
        </p:spPr>
        <p:txBody>
          <a:bodyPr lIns="0" tIns="0" rIns="0" bIns="0" rtlCol="0" anchor="t">
            <a:spAutoFit/>
          </a:bodyPr>
          <a:lstStyle/>
          <a:p>
            <a:pPr algn="ctr">
              <a:lnSpc>
                <a:spcPts val="17542"/>
              </a:lnSpc>
            </a:pPr>
            <a:r>
              <a:rPr lang="en-US" sz="12530">
                <a:solidFill>
                  <a:srgbClr val="FFFFFF"/>
                </a:solidFill>
                <a:latin typeface="Poppins"/>
                <a:ea typeface="Poppins"/>
                <a:cs typeface="Poppins"/>
                <a:sym typeface="Poppins"/>
              </a:rPr>
              <a:t>Next</a:t>
            </a:r>
            <a:r>
              <a:rPr lang="en-US" sz="12530" b="1">
                <a:solidFill>
                  <a:srgbClr val="FFFFFF"/>
                </a:solidFill>
                <a:latin typeface="Poppins Bold"/>
                <a:ea typeface="Poppins Bold"/>
                <a:cs typeface="Poppins Bold"/>
                <a:sym typeface="Poppins Bold"/>
              </a:rPr>
              <a:t>AIRE</a:t>
            </a:r>
            <a:endParaRPr lang="en-US" sz="12530" b="1" dirty="0">
              <a:solidFill>
                <a:srgbClr val="FFFFFF"/>
              </a:solidFill>
              <a:latin typeface="Poppins Bold"/>
              <a:ea typeface="Poppins Bold"/>
              <a:cs typeface="Poppins Bold"/>
              <a:sym typeface="Poppins Bold"/>
            </a:endParaRPr>
          </a:p>
        </p:txBody>
      </p:sp>
      <p:sp>
        <p:nvSpPr>
          <p:cNvPr id="16" name="TextBox 14">
            <a:extLst>
              <a:ext uri="{FF2B5EF4-FFF2-40B4-BE49-F238E27FC236}">
                <a16:creationId xmlns:a16="http://schemas.microsoft.com/office/drawing/2014/main" id="{3D18B3F2-20D9-5408-D860-83200EED783F}"/>
              </a:ext>
            </a:extLst>
          </p:cNvPr>
          <p:cNvSpPr txBox="1"/>
          <p:nvPr userDrawn="1"/>
        </p:nvSpPr>
        <p:spPr>
          <a:xfrm>
            <a:off x="9068515" y="5675530"/>
            <a:ext cx="7195553" cy="1035027"/>
          </a:xfrm>
          <a:prstGeom prst="rect">
            <a:avLst/>
          </a:prstGeom>
          <a:ln>
            <a:noFill/>
          </a:ln>
        </p:spPr>
        <p:txBody>
          <a:bodyPr wrap="square" lIns="0" tIns="0" rIns="0" bIns="0" rtlCol="0" anchor="t">
            <a:spAutoFit/>
          </a:bodyPr>
          <a:lstStyle/>
          <a:p>
            <a:pPr algn="ctr">
              <a:lnSpc>
                <a:spcPts val="4111"/>
              </a:lnSpc>
            </a:pPr>
            <a:r>
              <a:rPr lang="en-US" sz="3200">
                <a:solidFill>
                  <a:srgbClr val="FFFFFF"/>
                </a:solidFill>
                <a:latin typeface="Poppins"/>
                <a:ea typeface="Poppins"/>
                <a:cs typeface="Poppins"/>
                <a:sym typeface="Poppins"/>
              </a:rPr>
              <a:t>Next Generation AI Researchers for Air Quality Excellence</a:t>
            </a:r>
          </a:p>
        </p:txBody>
      </p:sp>
      <p:sp>
        <p:nvSpPr>
          <p:cNvPr id="11" name="Freeform 11">
            <a:extLst>
              <a:ext uri="{FF2B5EF4-FFF2-40B4-BE49-F238E27FC236}">
                <a16:creationId xmlns:a16="http://schemas.microsoft.com/office/drawing/2014/main" id="{1AEC3FE6-1D42-AE05-1782-368C09A240CD}"/>
              </a:ext>
            </a:extLst>
          </p:cNvPr>
          <p:cNvSpPr/>
          <p:nvPr userDrawn="1"/>
        </p:nvSpPr>
        <p:spPr>
          <a:xfrm>
            <a:off x="11705969" y="3338601"/>
            <a:ext cx="6781800" cy="7399625"/>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6" cstate="email">
              <a:alphaModFix amt="20000"/>
              <a:extLst>
                <a:ext uri="{28A0092B-C50C-407E-A947-70E740481C1C}">
                  <a14:useLocalDpi xmlns:a14="http://schemas.microsoft.com/office/drawing/2010/main"/>
                </a:ext>
              </a:extLst>
            </a:blip>
            <a:stretch>
              <a:fillRect/>
            </a:stretch>
          </a:blipFill>
        </p:spPr>
        <p:txBody>
          <a:bodyPr/>
          <a:lstStyle/>
          <a:p>
            <a:endParaRPr lang="el-GR"/>
          </a:p>
        </p:txBody>
      </p:sp>
    </p:spTree>
    <p:extLst>
      <p:ext uri="{BB962C8B-B14F-4D97-AF65-F5344CB8AC3E}">
        <p14:creationId xmlns:p14="http://schemas.microsoft.com/office/powerpoint/2010/main" val="43344620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25001BCC-4B99-4F75-8CC4-5A07FBDE5D30}" type="datetime1">
              <a:rPr lang="en-US" smtClean="0"/>
              <a:t>9/8/26</a:t>
            </a:fld>
            <a:endParaRPr lang="en-US"/>
          </a:p>
        </p:txBody>
      </p:sp>
      <p:sp>
        <p:nvSpPr>
          <p:cNvPr id="9" name="Freeform 3">
            <a:extLst>
              <a:ext uri="{FF2B5EF4-FFF2-40B4-BE49-F238E27FC236}">
                <a16:creationId xmlns:a16="http://schemas.microsoft.com/office/drawing/2014/main" id="{FA73A885-947B-FED1-5595-BF0CB9DA2269}"/>
              </a:ext>
            </a:extLst>
          </p:cNvPr>
          <p:cNvSpPr/>
          <p:nvPr userDrawn="1"/>
        </p:nvSpPr>
        <p:spPr>
          <a:xfrm>
            <a:off x="0" y="1555472"/>
            <a:ext cx="6254109" cy="8739148"/>
          </a:xfrm>
          <a:custGeom>
            <a:avLst/>
            <a:gdLst/>
            <a:ahLst/>
            <a:cxnLst/>
            <a:rect l="l" t="t" r="r" b="b"/>
            <a:pathLst>
              <a:path w="4544332" h="6350000">
                <a:moveTo>
                  <a:pt x="0" y="0"/>
                </a:moveTo>
                <a:lnTo>
                  <a:pt x="0" y="6350000"/>
                </a:lnTo>
                <a:lnTo>
                  <a:pt x="4544332" y="6350000"/>
                </a:lnTo>
                <a:cubicBezTo>
                  <a:pt x="4544332" y="2843530"/>
                  <a:pt x="2509380" y="0"/>
                  <a:pt x="0" y="0"/>
                </a:cubicBez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l-GR"/>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Tree>
    <p:extLst>
      <p:ext uri="{BB962C8B-B14F-4D97-AF65-F5344CB8AC3E}">
        <p14:creationId xmlns:p14="http://schemas.microsoft.com/office/powerpoint/2010/main" val="52470759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2_Custom Layout">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
        <p:nvSpPr>
          <p:cNvPr id="2" name="Freeform 4">
            <a:extLst>
              <a:ext uri="{FF2B5EF4-FFF2-40B4-BE49-F238E27FC236}">
                <a16:creationId xmlns:a16="http://schemas.microsoft.com/office/drawing/2014/main" id="{E2272AE0-341C-9DAD-408A-A227D590CCD5}"/>
              </a:ext>
            </a:extLst>
          </p:cNvPr>
          <p:cNvSpPr/>
          <p:nvPr userDrawn="1"/>
        </p:nvSpPr>
        <p:spPr>
          <a:xfrm>
            <a:off x="5334000" y="0"/>
            <a:ext cx="20391119" cy="10287000"/>
          </a:xfrm>
          <a:prstGeom prst="flowChartExtract">
            <a:avLst/>
          </a:prstGeom>
          <a:blipFill>
            <a:blip r:embed="rId3" cstate="email">
              <a:extLst>
                <a:ext uri="{28A0092B-C50C-407E-A947-70E740481C1C}">
                  <a14:useLocalDpi xmlns:a14="http://schemas.microsoft.com/office/drawing/2010/main"/>
                </a:ext>
              </a:extLst>
            </a:blip>
            <a:srcRect/>
            <a:stretch>
              <a:fillRect r="36473"/>
            </a:stretch>
          </a:blipFill>
        </p:spPr>
        <p:txBody>
          <a:bodyPr/>
          <a:lstStyle/>
          <a:p>
            <a:endParaRPr lang="el-GR"/>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4252098" y="9182100"/>
            <a:ext cx="4035902" cy="896190"/>
          </a:xfrm>
          <a:prstGeom prst="rect">
            <a:avLst/>
          </a:prstGeom>
        </p:spPr>
      </p:pic>
    </p:spTree>
    <p:extLst>
      <p:ext uri="{BB962C8B-B14F-4D97-AF65-F5344CB8AC3E}">
        <p14:creationId xmlns:p14="http://schemas.microsoft.com/office/powerpoint/2010/main" val="88109862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Custom Layout">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B58BE68E-1A4A-4322-8BAF-237E971FA78D}" type="datetime1">
              <a:rPr lang="en-US" smtClean="0"/>
              <a:t>9/8/26</a:t>
            </a:fld>
            <a:endParaRPr lang="en-US"/>
          </a:p>
        </p:txBody>
      </p:sp>
      <p:grpSp>
        <p:nvGrpSpPr>
          <p:cNvPr id="4" name="Group 2">
            <a:extLst>
              <a:ext uri="{FF2B5EF4-FFF2-40B4-BE49-F238E27FC236}">
                <a16:creationId xmlns:a16="http://schemas.microsoft.com/office/drawing/2014/main" id="{33C29D15-A5F6-6048-E6D5-D7B2F1F877F9}"/>
              </a:ext>
            </a:extLst>
          </p:cNvPr>
          <p:cNvGrpSpPr/>
          <p:nvPr userDrawn="1"/>
        </p:nvGrpSpPr>
        <p:grpSpPr>
          <a:xfrm>
            <a:off x="-217170" y="1638381"/>
            <a:ext cx="9019485" cy="9019485"/>
            <a:chOff x="0" y="0"/>
            <a:chExt cx="6350000" cy="6350000"/>
          </a:xfrm>
        </p:grpSpPr>
        <p:sp>
          <p:nvSpPr>
            <p:cNvPr id="5" name="Freeform 3">
              <a:extLst>
                <a:ext uri="{FF2B5EF4-FFF2-40B4-BE49-F238E27FC236}">
                  <a16:creationId xmlns:a16="http://schemas.microsoft.com/office/drawing/2014/main" id="{D656A311-2087-B570-42EA-23DC97085F28}"/>
                </a:ext>
              </a:extLst>
            </p:cNvPr>
            <p:cNvSpPr/>
            <p:nvPr/>
          </p:nvSpPr>
          <p:spPr>
            <a:xfrm>
              <a:off x="0" y="0"/>
              <a:ext cx="6350000" cy="6350000"/>
            </a:xfrm>
            <a:custGeom>
              <a:avLst/>
              <a:gdLst/>
              <a:ahLst/>
              <a:cxnLst/>
              <a:rect l="l" t="t" r="r" b="b"/>
              <a:pathLst>
                <a:path w="6350000" h="6350000">
                  <a:moveTo>
                    <a:pt x="0" y="0"/>
                  </a:moveTo>
                  <a:lnTo>
                    <a:pt x="0" y="6350000"/>
                  </a:lnTo>
                  <a:lnTo>
                    <a:pt x="6350000" y="6350000"/>
                  </a:lnTo>
                  <a:cubicBezTo>
                    <a:pt x="6350000" y="2843530"/>
                    <a:pt x="3506470" y="0"/>
                    <a:pt x="0" y="0"/>
                  </a:cubicBezTo>
                  <a:close/>
                </a:path>
              </a:pathLst>
            </a:custGeom>
            <a:blipFill>
              <a:blip r:embed="rId2" cstate="email">
                <a:alphaModFix amt="75000"/>
                <a:extLst>
                  <a:ext uri="{28A0092B-C50C-407E-A947-70E740481C1C}">
                    <a14:useLocalDpi xmlns:a14="http://schemas.microsoft.com/office/drawing/2010/main"/>
                  </a:ext>
                </a:extLst>
              </a:blip>
              <a:stretch>
                <a:fillRect/>
              </a:stretch>
            </a:blipFill>
          </p:spPr>
          <p:txBody>
            <a:bodyPr/>
            <a:lstStyle/>
            <a:p>
              <a:endParaRPr lang="el-GR"/>
            </a:p>
          </p:txBody>
        </p:sp>
      </p:gr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Tree>
    <p:extLst>
      <p:ext uri="{BB962C8B-B14F-4D97-AF65-F5344CB8AC3E}">
        <p14:creationId xmlns:p14="http://schemas.microsoft.com/office/powerpoint/2010/main" val="345809447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288000" cy="1257299"/>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grpSp>
        <p:nvGrpSpPr>
          <p:cNvPr id="2" name="Group 20">
            <a:extLst>
              <a:ext uri="{FF2B5EF4-FFF2-40B4-BE49-F238E27FC236}">
                <a16:creationId xmlns:a16="http://schemas.microsoft.com/office/drawing/2014/main" id="{AE77915C-58F5-66DE-C7DA-B914631DBF32}"/>
              </a:ext>
            </a:extLst>
          </p:cNvPr>
          <p:cNvGrpSpPr/>
          <p:nvPr userDrawn="1"/>
        </p:nvGrpSpPr>
        <p:grpSpPr>
          <a:xfrm>
            <a:off x="12806460" y="541466"/>
            <a:ext cx="5481540" cy="9745534"/>
            <a:chOff x="0" y="0"/>
            <a:chExt cx="3571665" cy="6350000"/>
          </a:xfrm>
        </p:grpSpPr>
        <p:sp>
          <p:nvSpPr>
            <p:cNvPr id="4" name="Freeform 21">
              <a:extLst>
                <a:ext uri="{FF2B5EF4-FFF2-40B4-BE49-F238E27FC236}">
                  <a16:creationId xmlns:a16="http://schemas.microsoft.com/office/drawing/2014/main" id="{5E78CA94-BA02-F0AA-307E-BFA60F320CE0}"/>
                </a:ext>
              </a:extLst>
            </p:cNvPr>
            <p:cNvSpPr/>
            <p:nvPr/>
          </p:nvSpPr>
          <p:spPr>
            <a:xfrm>
              <a:off x="0" y="0"/>
              <a:ext cx="3571665" cy="6350000"/>
            </a:xfrm>
            <a:custGeom>
              <a:avLst/>
              <a:gdLst/>
              <a:ahLst/>
              <a:cxnLst/>
              <a:rect l="l" t="t" r="r" b="b"/>
              <a:pathLst>
                <a:path w="3571665" h="6350000">
                  <a:moveTo>
                    <a:pt x="3571665" y="0"/>
                  </a:moveTo>
                  <a:lnTo>
                    <a:pt x="3571665" y="6350000"/>
                  </a:lnTo>
                  <a:lnTo>
                    <a:pt x="0" y="6350000"/>
                  </a:lnTo>
                  <a:lnTo>
                    <a:pt x="0" y="4433570"/>
                  </a:lnTo>
                  <a:cubicBezTo>
                    <a:pt x="0" y="1985010"/>
                    <a:pt x="1599115" y="0"/>
                    <a:pt x="3571665" y="0"/>
                  </a:cubicBez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l-GR"/>
            </a:p>
          </p:txBody>
        </p:sp>
      </p:grpSp>
    </p:spTree>
    <p:extLst>
      <p:ext uri="{BB962C8B-B14F-4D97-AF65-F5344CB8AC3E}">
        <p14:creationId xmlns:p14="http://schemas.microsoft.com/office/powerpoint/2010/main" val="79962119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3_Custom Layout">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07FDC6-9BDE-6AE3-B330-405883C1FD0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8288000" cy="10287000"/>
          </a:xfrm>
          <a:prstGeom prst="rect">
            <a:avLst/>
          </a:prstGeom>
        </p:spPr>
      </p:pic>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288000" cy="1257299"/>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Tree>
    <p:extLst>
      <p:ext uri="{BB962C8B-B14F-4D97-AF65-F5344CB8AC3E}">
        <p14:creationId xmlns:p14="http://schemas.microsoft.com/office/powerpoint/2010/main" val="64488302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ustom Layout">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A3A6BB43-E16D-4909-B705-10F3C312386B}" type="datetime1">
              <a:rPr lang="en-US" smtClean="0"/>
              <a:t>9/8/26</a:t>
            </a:fld>
            <a:endParaRPr lang="en-US"/>
          </a:p>
        </p:txBody>
      </p:sp>
      <p:sp>
        <p:nvSpPr>
          <p:cNvPr id="5" name="Rectangle 4">
            <a:extLst>
              <a:ext uri="{FF2B5EF4-FFF2-40B4-BE49-F238E27FC236}">
                <a16:creationId xmlns:a16="http://schemas.microsoft.com/office/drawing/2014/main" id="{D3606D58-4995-A0BF-8DB7-4C939F579B54}"/>
              </a:ext>
            </a:extLst>
          </p:cNvPr>
          <p:cNvSpPr/>
          <p:nvPr userDrawn="1"/>
        </p:nvSpPr>
        <p:spPr>
          <a:xfrm>
            <a:off x="0" y="6494784"/>
            <a:ext cx="18288000" cy="3792216"/>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grpSp>
        <p:nvGrpSpPr>
          <p:cNvPr id="6" name="Group 5">
            <a:extLst>
              <a:ext uri="{FF2B5EF4-FFF2-40B4-BE49-F238E27FC236}">
                <a16:creationId xmlns:a16="http://schemas.microsoft.com/office/drawing/2014/main" id="{B14D5DDD-850C-E3D5-089F-946B31AA6E4F}"/>
              </a:ext>
            </a:extLst>
          </p:cNvPr>
          <p:cNvGrpSpPr/>
          <p:nvPr userDrawn="1"/>
        </p:nvGrpSpPr>
        <p:grpSpPr>
          <a:xfrm>
            <a:off x="2243781" y="4802337"/>
            <a:ext cx="3044498" cy="3044498"/>
            <a:chOff x="0" y="0"/>
            <a:chExt cx="812800" cy="812800"/>
          </a:xfrm>
        </p:grpSpPr>
        <p:sp>
          <p:nvSpPr>
            <p:cNvPr id="7" name="Freeform 6">
              <a:extLst>
                <a:ext uri="{FF2B5EF4-FFF2-40B4-BE49-F238E27FC236}">
                  <a16:creationId xmlns:a16="http://schemas.microsoft.com/office/drawing/2014/main" id="{75832B86-816F-4E35-739E-4E4D8720A793}"/>
                </a:ext>
              </a:extLst>
            </p:cNvPr>
            <p:cNvSpPr/>
            <p:nvPr/>
          </p:nvSpPr>
          <p:spPr>
            <a:xfrm>
              <a:off x="0" y="0"/>
              <a:ext cx="812800" cy="812800"/>
            </a:xfrm>
            <a:custGeom>
              <a:avLst/>
              <a:gdLst/>
              <a:ahLst/>
              <a:cxnLst/>
              <a:rect l="l" t="t" r="r" b="b"/>
              <a:pathLst>
                <a:path w="812800" h="812800">
                  <a:moveTo>
                    <a:pt x="58487" y="0"/>
                  </a:moveTo>
                  <a:lnTo>
                    <a:pt x="754313" y="0"/>
                  </a:lnTo>
                  <a:cubicBezTo>
                    <a:pt x="769825" y="0"/>
                    <a:pt x="784701" y="6162"/>
                    <a:pt x="795670" y="17131"/>
                  </a:cubicBezTo>
                  <a:cubicBezTo>
                    <a:pt x="806638" y="28099"/>
                    <a:pt x="812800" y="42975"/>
                    <a:pt x="812800" y="58487"/>
                  </a:cubicBezTo>
                  <a:lnTo>
                    <a:pt x="812800" y="754313"/>
                  </a:lnTo>
                  <a:cubicBezTo>
                    <a:pt x="812800" y="769825"/>
                    <a:pt x="806638" y="784701"/>
                    <a:pt x="795670" y="795670"/>
                  </a:cubicBezTo>
                  <a:cubicBezTo>
                    <a:pt x="784701" y="806638"/>
                    <a:pt x="769825" y="812800"/>
                    <a:pt x="754313" y="812800"/>
                  </a:cubicBezTo>
                  <a:lnTo>
                    <a:pt x="58487" y="812800"/>
                  </a:lnTo>
                  <a:cubicBezTo>
                    <a:pt x="42975" y="812800"/>
                    <a:pt x="28099" y="806638"/>
                    <a:pt x="17131" y="795670"/>
                  </a:cubicBezTo>
                  <a:cubicBezTo>
                    <a:pt x="6162" y="784701"/>
                    <a:pt x="0" y="769825"/>
                    <a:pt x="0" y="754313"/>
                  </a:cubicBezTo>
                  <a:lnTo>
                    <a:pt x="0" y="58487"/>
                  </a:lnTo>
                  <a:cubicBezTo>
                    <a:pt x="0" y="42975"/>
                    <a:pt x="6162" y="28099"/>
                    <a:pt x="17131" y="17131"/>
                  </a:cubicBezTo>
                  <a:cubicBezTo>
                    <a:pt x="28099" y="6162"/>
                    <a:pt x="42975" y="0"/>
                    <a:pt x="58487" y="0"/>
                  </a:cubicBez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l-GR"/>
            </a:p>
          </p:txBody>
        </p:sp>
      </p:grpSp>
      <p:grpSp>
        <p:nvGrpSpPr>
          <p:cNvPr id="10" name="Group 9">
            <a:extLst>
              <a:ext uri="{FF2B5EF4-FFF2-40B4-BE49-F238E27FC236}">
                <a16:creationId xmlns:a16="http://schemas.microsoft.com/office/drawing/2014/main" id="{E47445D5-D8D6-6336-54B5-EDD6B53E34E3}"/>
              </a:ext>
            </a:extLst>
          </p:cNvPr>
          <p:cNvGrpSpPr/>
          <p:nvPr userDrawn="1"/>
        </p:nvGrpSpPr>
        <p:grpSpPr>
          <a:xfrm>
            <a:off x="12911781" y="4798394"/>
            <a:ext cx="3044498" cy="3044498"/>
            <a:chOff x="0" y="0"/>
            <a:chExt cx="812800" cy="812800"/>
          </a:xfrm>
        </p:grpSpPr>
        <p:sp>
          <p:nvSpPr>
            <p:cNvPr id="11" name="Freeform 10">
              <a:extLst>
                <a:ext uri="{FF2B5EF4-FFF2-40B4-BE49-F238E27FC236}">
                  <a16:creationId xmlns:a16="http://schemas.microsoft.com/office/drawing/2014/main" id="{E1B8107B-4159-A752-2A6F-923937A45B95}"/>
                </a:ext>
              </a:extLst>
            </p:cNvPr>
            <p:cNvSpPr/>
            <p:nvPr/>
          </p:nvSpPr>
          <p:spPr>
            <a:xfrm>
              <a:off x="0" y="0"/>
              <a:ext cx="812800" cy="812800"/>
            </a:xfrm>
            <a:custGeom>
              <a:avLst/>
              <a:gdLst/>
              <a:ahLst/>
              <a:cxnLst/>
              <a:rect l="l" t="t" r="r" b="b"/>
              <a:pathLst>
                <a:path w="812800" h="812800">
                  <a:moveTo>
                    <a:pt x="58487" y="0"/>
                  </a:moveTo>
                  <a:lnTo>
                    <a:pt x="754313" y="0"/>
                  </a:lnTo>
                  <a:cubicBezTo>
                    <a:pt x="769825" y="0"/>
                    <a:pt x="784701" y="6162"/>
                    <a:pt x="795670" y="17131"/>
                  </a:cubicBezTo>
                  <a:cubicBezTo>
                    <a:pt x="806638" y="28099"/>
                    <a:pt x="812800" y="42975"/>
                    <a:pt x="812800" y="58487"/>
                  </a:cubicBezTo>
                  <a:lnTo>
                    <a:pt x="812800" y="754313"/>
                  </a:lnTo>
                  <a:cubicBezTo>
                    <a:pt x="812800" y="769825"/>
                    <a:pt x="806638" y="784701"/>
                    <a:pt x="795670" y="795670"/>
                  </a:cubicBezTo>
                  <a:cubicBezTo>
                    <a:pt x="784701" y="806638"/>
                    <a:pt x="769825" y="812800"/>
                    <a:pt x="754313" y="812800"/>
                  </a:cubicBezTo>
                  <a:lnTo>
                    <a:pt x="58487" y="812800"/>
                  </a:lnTo>
                  <a:cubicBezTo>
                    <a:pt x="42975" y="812800"/>
                    <a:pt x="28099" y="806638"/>
                    <a:pt x="17131" y="795670"/>
                  </a:cubicBezTo>
                  <a:cubicBezTo>
                    <a:pt x="6162" y="784701"/>
                    <a:pt x="0" y="769825"/>
                    <a:pt x="0" y="754313"/>
                  </a:cubicBezTo>
                  <a:lnTo>
                    <a:pt x="0" y="58487"/>
                  </a:lnTo>
                  <a:cubicBezTo>
                    <a:pt x="0" y="42975"/>
                    <a:pt x="6162" y="28099"/>
                    <a:pt x="17131" y="17131"/>
                  </a:cubicBezTo>
                  <a:cubicBezTo>
                    <a:pt x="28099" y="6162"/>
                    <a:pt x="42975" y="0"/>
                    <a:pt x="58487" y="0"/>
                  </a:cubicBez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l-GR"/>
            </a:p>
          </p:txBody>
        </p:sp>
      </p:grpSp>
      <p:grpSp>
        <p:nvGrpSpPr>
          <p:cNvPr id="15" name="Group 14">
            <a:extLst>
              <a:ext uri="{FF2B5EF4-FFF2-40B4-BE49-F238E27FC236}">
                <a16:creationId xmlns:a16="http://schemas.microsoft.com/office/drawing/2014/main" id="{67BF38E9-5C83-1950-5E84-09CD9738214E}"/>
              </a:ext>
            </a:extLst>
          </p:cNvPr>
          <p:cNvGrpSpPr/>
          <p:nvPr userDrawn="1"/>
        </p:nvGrpSpPr>
        <p:grpSpPr>
          <a:xfrm>
            <a:off x="7562541" y="4800724"/>
            <a:ext cx="3044498" cy="3046111"/>
            <a:chOff x="9601200" y="4149039"/>
            <a:chExt cx="3044498" cy="2922843"/>
          </a:xfrm>
        </p:grpSpPr>
        <p:grpSp>
          <p:nvGrpSpPr>
            <p:cNvPr id="8" name="Group 7">
              <a:extLst>
                <a:ext uri="{FF2B5EF4-FFF2-40B4-BE49-F238E27FC236}">
                  <a16:creationId xmlns:a16="http://schemas.microsoft.com/office/drawing/2014/main" id="{4003CE0B-E8E0-B705-414C-24C924BDF831}"/>
                </a:ext>
              </a:extLst>
            </p:cNvPr>
            <p:cNvGrpSpPr/>
            <p:nvPr userDrawn="1"/>
          </p:nvGrpSpPr>
          <p:grpSpPr>
            <a:xfrm>
              <a:off x="9601200" y="4149039"/>
              <a:ext cx="3044498" cy="2922843"/>
              <a:chOff x="0" y="0"/>
              <a:chExt cx="812800" cy="812800"/>
            </a:xfrm>
          </p:grpSpPr>
          <p:sp>
            <p:nvSpPr>
              <p:cNvPr id="9" name="Freeform 8">
                <a:extLst>
                  <a:ext uri="{FF2B5EF4-FFF2-40B4-BE49-F238E27FC236}">
                    <a16:creationId xmlns:a16="http://schemas.microsoft.com/office/drawing/2014/main" id="{E8448F53-CA56-01A5-B7F3-DE10F7E2075A}"/>
                  </a:ext>
                </a:extLst>
              </p:cNvPr>
              <p:cNvSpPr/>
              <p:nvPr/>
            </p:nvSpPr>
            <p:spPr>
              <a:xfrm>
                <a:off x="0" y="0"/>
                <a:ext cx="812800" cy="812800"/>
              </a:xfrm>
              <a:custGeom>
                <a:avLst/>
                <a:gdLst/>
                <a:ahLst/>
                <a:cxnLst/>
                <a:rect l="l" t="t" r="r" b="b"/>
                <a:pathLst>
                  <a:path w="812800" h="812800">
                    <a:moveTo>
                      <a:pt x="63316" y="0"/>
                    </a:moveTo>
                    <a:lnTo>
                      <a:pt x="749484" y="0"/>
                    </a:lnTo>
                    <a:cubicBezTo>
                      <a:pt x="766277" y="0"/>
                      <a:pt x="782381" y="6671"/>
                      <a:pt x="794255" y="18545"/>
                    </a:cubicBezTo>
                    <a:cubicBezTo>
                      <a:pt x="806129" y="30419"/>
                      <a:pt x="812800" y="46523"/>
                      <a:pt x="812800" y="63316"/>
                    </a:cubicBezTo>
                    <a:lnTo>
                      <a:pt x="812800" y="749484"/>
                    </a:lnTo>
                    <a:cubicBezTo>
                      <a:pt x="812800" y="766277"/>
                      <a:pt x="806129" y="782381"/>
                      <a:pt x="794255" y="794255"/>
                    </a:cubicBezTo>
                    <a:cubicBezTo>
                      <a:pt x="782381" y="806129"/>
                      <a:pt x="766277" y="812800"/>
                      <a:pt x="749484" y="812800"/>
                    </a:cubicBezTo>
                    <a:lnTo>
                      <a:pt x="63316" y="812800"/>
                    </a:lnTo>
                    <a:cubicBezTo>
                      <a:pt x="46523" y="812800"/>
                      <a:pt x="30419" y="806129"/>
                      <a:pt x="18545" y="794255"/>
                    </a:cubicBezTo>
                    <a:cubicBezTo>
                      <a:pt x="6671" y="782381"/>
                      <a:pt x="0" y="766277"/>
                      <a:pt x="0" y="749484"/>
                    </a:cubicBezTo>
                    <a:lnTo>
                      <a:pt x="0" y="63316"/>
                    </a:lnTo>
                    <a:cubicBezTo>
                      <a:pt x="0" y="46523"/>
                      <a:pt x="6671" y="30419"/>
                      <a:pt x="18545" y="18545"/>
                    </a:cubicBezTo>
                    <a:cubicBezTo>
                      <a:pt x="30419" y="6671"/>
                      <a:pt x="46523" y="0"/>
                      <a:pt x="63316" y="0"/>
                    </a:cubicBez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endParaRPr lang="el-GR"/>
              </a:p>
            </p:txBody>
          </p:sp>
        </p:grpSp>
        <p:sp>
          <p:nvSpPr>
            <p:cNvPr id="13" name="Rectangle 12">
              <a:extLst>
                <a:ext uri="{FF2B5EF4-FFF2-40B4-BE49-F238E27FC236}">
                  <a16:creationId xmlns:a16="http://schemas.microsoft.com/office/drawing/2014/main" id="{E8237E87-9726-1D7E-D830-7E7564A61D87}"/>
                </a:ext>
              </a:extLst>
            </p:cNvPr>
            <p:cNvSpPr/>
            <p:nvPr userDrawn="1"/>
          </p:nvSpPr>
          <p:spPr>
            <a:xfrm>
              <a:off x="9616440" y="4351487"/>
              <a:ext cx="842661" cy="450850"/>
            </a:xfrm>
            <a:prstGeom prst="rect">
              <a:avLst/>
            </a:prstGeom>
            <a:solidFill>
              <a:srgbClr val="0006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7199551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4_Custom Layout">
    <p:bg>
      <p:bgRef idx="1001">
        <a:schemeClr val="bg1"/>
      </p:bgRef>
    </p:bg>
    <p:spTree>
      <p:nvGrpSpPr>
        <p:cNvPr id="1" name=""/>
        <p:cNvGrpSpPr/>
        <p:nvPr/>
      </p:nvGrpSpPr>
      <p:grpSpPr>
        <a:xfrm>
          <a:off x="0" y="0"/>
          <a:ext cx="0" cy="0"/>
          <a:chOff x="0" y="0"/>
          <a:chExt cx="0" cy="0"/>
        </a:xfrm>
      </p:grpSpPr>
      <p:sp>
        <p:nvSpPr>
          <p:cNvPr id="6" name="Freeform 4">
            <a:extLst>
              <a:ext uri="{FF2B5EF4-FFF2-40B4-BE49-F238E27FC236}">
                <a16:creationId xmlns:a16="http://schemas.microsoft.com/office/drawing/2014/main" id="{573948BD-6543-7A38-1A57-C3758689B1CF}"/>
              </a:ext>
            </a:extLst>
          </p:cNvPr>
          <p:cNvSpPr/>
          <p:nvPr userDrawn="1"/>
        </p:nvSpPr>
        <p:spPr>
          <a:xfrm>
            <a:off x="1" y="0"/>
            <a:ext cx="18288000" cy="10287000"/>
          </a:xfrm>
          <a:custGeom>
            <a:avLst/>
            <a:gdLst/>
            <a:ahLst/>
            <a:cxnLst/>
            <a:rect l="l" t="t" r="r" b="b"/>
            <a:pathLst>
              <a:path w="20198727" h="13465818">
                <a:moveTo>
                  <a:pt x="0" y="0"/>
                </a:moveTo>
                <a:lnTo>
                  <a:pt x="20198727" y="0"/>
                </a:lnTo>
                <a:lnTo>
                  <a:pt x="20198727" y="13465819"/>
                </a:lnTo>
                <a:lnTo>
                  <a:pt x="0" y="13465819"/>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l-GR"/>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sp>
        <p:nvSpPr>
          <p:cNvPr id="7" name="Freeform 11">
            <a:extLst>
              <a:ext uri="{FF2B5EF4-FFF2-40B4-BE49-F238E27FC236}">
                <a16:creationId xmlns:a16="http://schemas.microsoft.com/office/drawing/2014/main" id="{0AEAF7D9-ADC4-49A0-9DA9-7783245CAC9B}"/>
              </a:ext>
            </a:extLst>
          </p:cNvPr>
          <p:cNvSpPr/>
          <p:nvPr userDrawn="1"/>
        </p:nvSpPr>
        <p:spPr>
          <a:xfrm>
            <a:off x="-381000" y="-38100"/>
            <a:ext cx="2179610" cy="1741035"/>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l-GR"/>
          </a:p>
        </p:txBody>
      </p:sp>
    </p:spTree>
    <p:extLst>
      <p:ext uri="{BB962C8B-B14F-4D97-AF65-F5344CB8AC3E}">
        <p14:creationId xmlns:p14="http://schemas.microsoft.com/office/powerpoint/2010/main" val="360862866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ustom Layout">
    <p:bg>
      <p:bgRef idx="1001">
        <a:schemeClr val="bg1"/>
      </p:bgRef>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803FD400-28F7-6F22-DE86-998BFBEDF074}"/>
              </a:ext>
            </a:extLst>
          </p:cNvPr>
          <p:cNvSpPr/>
          <p:nvPr userDrawn="1"/>
        </p:nvSpPr>
        <p:spPr>
          <a:xfrm rot="-5400000">
            <a:off x="3989072" y="-4011932"/>
            <a:ext cx="10309860" cy="18288003"/>
          </a:xfrm>
          <a:custGeom>
            <a:avLst/>
            <a:gdLst/>
            <a:ahLst/>
            <a:cxnLst/>
            <a:rect l="l" t="t" r="r" b="b"/>
            <a:pathLst>
              <a:path w="12590962" h="18886443">
                <a:moveTo>
                  <a:pt x="0" y="0"/>
                </a:moveTo>
                <a:lnTo>
                  <a:pt x="12590962" y="0"/>
                </a:lnTo>
                <a:lnTo>
                  <a:pt x="12590962" y="18886443"/>
                </a:lnTo>
                <a:lnTo>
                  <a:pt x="0" y="18886443"/>
                </a:lnTo>
                <a:lnTo>
                  <a:pt x="0" y="0"/>
                </a:lnTo>
                <a:close/>
              </a:path>
            </a:pathLst>
          </a:custGeom>
          <a:blipFill>
            <a:blip r:embed="rId2" cstate="email">
              <a:alphaModFix/>
              <a:extLst>
                <a:ext uri="{28A0092B-C50C-407E-A947-70E740481C1C}">
                  <a14:useLocalDpi xmlns:a14="http://schemas.microsoft.com/office/drawing/2010/main"/>
                </a:ext>
              </a:extLst>
            </a:blip>
            <a:stretch>
              <a:fillRect/>
            </a:stretch>
          </a:blipFill>
        </p:spPr>
        <p:txBody>
          <a:bodyPr/>
          <a:lstStyle/>
          <a:p>
            <a:endParaRPr lang="el-GR"/>
          </a:p>
        </p:txBody>
      </p:sp>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83BBD6BA-554C-4DDB-80F8-8F83FFE9CA97}" type="datetime1">
              <a:rPr lang="en-US" smtClean="0"/>
              <a:t>9/8/26</a:t>
            </a:fld>
            <a:endParaRPr lang="en-US"/>
          </a:p>
        </p:txBody>
      </p:sp>
      <p:pic>
        <p:nvPicPr>
          <p:cNvPr id="4" name="Picture 3">
            <a:extLst>
              <a:ext uri="{FF2B5EF4-FFF2-40B4-BE49-F238E27FC236}">
                <a16:creationId xmlns:a16="http://schemas.microsoft.com/office/drawing/2014/main" id="{FE4F7E55-1DB2-C0AF-3876-1821F53D1CC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0"/>
            <a:ext cx="18288000" cy="10300032"/>
          </a:xfrm>
          <a:prstGeom prst="rect">
            <a:avLst/>
          </a:prstGeom>
        </p:spPr>
      </p:pic>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sp>
        <p:nvSpPr>
          <p:cNvPr id="20" name="Rectangle: Rounded Corners 19">
            <a:extLst>
              <a:ext uri="{FF2B5EF4-FFF2-40B4-BE49-F238E27FC236}">
                <a16:creationId xmlns:a16="http://schemas.microsoft.com/office/drawing/2014/main" id="{77FD2C28-FE9D-044B-3D88-B8377B57DB85}"/>
              </a:ext>
            </a:extLst>
          </p:cNvPr>
          <p:cNvSpPr/>
          <p:nvPr userDrawn="1"/>
        </p:nvSpPr>
        <p:spPr>
          <a:xfrm>
            <a:off x="1931498" y="3965417"/>
            <a:ext cx="3740699" cy="522366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B14D5DDD-850C-E3D5-089F-946B31AA6E4F}"/>
              </a:ext>
            </a:extLst>
          </p:cNvPr>
          <p:cNvGrpSpPr/>
          <p:nvPr userDrawn="1"/>
        </p:nvGrpSpPr>
        <p:grpSpPr>
          <a:xfrm>
            <a:off x="2243781" y="4802337"/>
            <a:ext cx="3044498" cy="3044498"/>
            <a:chOff x="0" y="0"/>
            <a:chExt cx="812800" cy="812800"/>
          </a:xfrm>
        </p:grpSpPr>
        <p:sp>
          <p:nvSpPr>
            <p:cNvPr id="7" name="Freeform 6">
              <a:extLst>
                <a:ext uri="{FF2B5EF4-FFF2-40B4-BE49-F238E27FC236}">
                  <a16:creationId xmlns:a16="http://schemas.microsoft.com/office/drawing/2014/main" id="{75832B86-816F-4E35-739E-4E4D8720A793}"/>
                </a:ext>
              </a:extLst>
            </p:cNvPr>
            <p:cNvSpPr/>
            <p:nvPr/>
          </p:nvSpPr>
          <p:spPr>
            <a:xfrm>
              <a:off x="0" y="0"/>
              <a:ext cx="812800" cy="812800"/>
            </a:xfrm>
            <a:custGeom>
              <a:avLst/>
              <a:gdLst/>
              <a:ahLst/>
              <a:cxnLst/>
              <a:rect l="l" t="t" r="r" b="b"/>
              <a:pathLst>
                <a:path w="812800" h="812800">
                  <a:moveTo>
                    <a:pt x="58487" y="0"/>
                  </a:moveTo>
                  <a:lnTo>
                    <a:pt x="754313" y="0"/>
                  </a:lnTo>
                  <a:cubicBezTo>
                    <a:pt x="769825" y="0"/>
                    <a:pt x="784701" y="6162"/>
                    <a:pt x="795670" y="17131"/>
                  </a:cubicBezTo>
                  <a:cubicBezTo>
                    <a:pt x="806638" y="28099"/>
                    <a:pt x="812800" y="42975"/>
                    <a:pt x="812800" y="58487"/>
                  </a:cubicBezTo>
                  <a:lnTo>
                    <a:pt x="812800" y="754313"/>
                  </a:lnTo>
                  <a:cubicBezTo>
                    <a:pt x="812800" y="769825"/>
                    <a:pt x="806638" y="784701"/>
                    <a:pt x="795670" y="795670"/>
                  </a:cubicBezTo>
                  <a:cubicBezTo>
                    <a:pt x="784701" y="806638"/>
                    <a:pt x="769825" y="812800"/>
                    <a:pt x="754313" y="812800"/>
                  </a:cubicBezTo>
                  <a:lnTo>
                    <a:pt x="58487" y="812800"/>
                  </a:lnTo>
                  <a:cubicBezTo>
                    <a:pt x="42975" y="812800"/>
                    <a:pt x="28099" y="806638"/>
                    <a:pt x="17131" y="795670"/>
                  </a:cubicBezTo>
                  <a:cubicBezTo>
                    <a:pt x="6162" y="784701"/>
                    <a:pt x="0" y="769825"/>
                    <a:pt x="0" y="754313"/>
                  </a:cubicBezTo>
                  <a:lnTo>
                    <a:pt x="0" y="58487"/>
                  </a:lnTo>
                  <a:cubicBezTo>
                    <a:pt x="0" y="42975"/>
                    <a:pt x="6162" y="28099"/>
                    <a:pt x="17131" y="17131"/>
                  </a:cubicBezTo>
                  <a:cubicBezTo>
                    <a:pt x="28099" y="6162"/>
                    <a:pt x="42975" y="0"/>
                    <a:pt x="58487" y="0"/>
                  </a:cubicBezTo>
                  <a:close/>
                </a:path>
              </a:pathLst>
            </a:custGeom>
            <a:blipFill>
              <a:blip r:embed="rId5" cstate="email">
                <a:extLst>
                  <a:ext uri="{28A0092B-C50C-407E-A947-70E740481C1C}">
                    <a14:useLocalDpi xmlns:a14="http://schemas.microsoft.com/office/drawing/2010/main"/>
                  </a:ext>
                </a:extLst>
              </a:blip>
              <a:stretch>
                <a:fillRect/>
              </a:stretch>
            </a:blipFill>
          </p:spPr>
          <p:txBody>
            <a:bodyPr/>
            <a:lstStyle/>
            <a:p>
              <a:endParaRPr lang="el-GR"/>
            </a:p>
          </p:txBody>
        </p:sp>
      </p:grpSp>
      <p:sp>
        <p:nvSpPr>
          <p:cNvPr id="22" name="Rectangle: Rounded Corners 21">
            <a:extLst>
              <a:ext uri="{FF2B5EF4-FFF2-40B4-BE49-F238E27FC236}">
                <a16:creationId xmlns:a16="http://schemas.microsoft.com/office/drawing/2014/main" id="{C10DAFA7-7298-5A98-EC85-1AB3FB6C201B}"/>
              </a:ext>
            </a:extLst>
          </p:cNvPr>
          <p:cNvSpPr/>
          <p:nvPr userDrawn="1"/>
        </p:nvSpPr>
        <p:spPr>
          <a:xfrm>
            <a:off x="12497382" y="3965417"/>
            <a:ext cx="3740699" cy="522366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Rounded Corners 20">
            <a:extLst>
              <a:ext uri="{FF2B5EF4-FFF2-40B4-BE49-F238E27FC236}">
                <a16:creationId xmlns:a16="http://schemas.microsoft.com/office/drawing/2014/main" id="{0E96E066-0844-5673-644D-922AE47FAA9D}"/>
              </a:ext>
            </a:extLst>
          </p:cNvPr>
          <p:cNvSpPr/>
          <p:nvPr userDrawn="1"/>
        </p:nvSpPr>
        <p:spPr>
          <a:xfrm>
            <a:off x="7214440" y="3955589"/>
            <a:ext cx="3740699" cy="522366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 name="Group 9">
            <a:extLst>
              <a:ext uri="{FF2B5EF4-FFF2-40B4-BE49-F238E27FC236}">
                <a16:creationId xmlns:a16="http://schemas.microsoft.com/office/drawing/2014/main" id="{E47445D5-D8D6-6336-54B5-EDD6B53E34E3}"/>
              </a:ext>
            </a:extLst>
          </p:cNvPr>
          <p:cNvGrpSpPr/>
          <p:nvPr userDrawn="1"/>
        </p:nvGrpSpPr>
        <p:grpSpPr>
          <a:xfrm>
            <a:off x="12911781" y="4798394"/>
            <a:ext cx="3044498" cy="3044498"/>
            <a:chOff x="0" y="0"/>
            <a:chExt cx="812800" cy="812800"/>
          </a:xfrm>
        </p:grpSpPr>
        <p:sp>
          <p:nvSpPr>
            <p:cNvPr id="11" name="Freeform 10">
              <a:extLst>
                <a:ext uri="{FF2B5EF4-FFF2-40B4-BE49-F238E27FC236}">
                  <a16:creationId xmlns:a16="http://schemas.microsoft.com/office/drawing/2014/main" id="{E1B8107B-4159-A752-2A6F-923937A45B95}"/>
                </a:ext>
              </a:extLst>
            </p:cNvPr>
            <p:cNvSpPr/>
            <p:nvPr/>
          </p:nvSpPr>
          <p:spPr>
            <a:xfrm>
              <a:off x="0" y="0"/>
              <a:ext cx="812800" cy="812800"/>
            </a:xfrm>
            <a:custGeom>
              <a:avLst/>
              <a:gdLst/>
              <a:ahLst/>
              <a:cxnLst/>
              <a:rect l="l" t="t" r="r" b="b"/>
              <a:pathLst>
                <a:path w="812800" h="812800">
                  <a:moveTo>
                    <a:pt x="58487" y="0"/>
                  </a:moveTo>
                  <a:lnTo>
                    <a:pt x="754313" y="0"/>
                  </a:lnTo>
                  <a:cubicBezTo>
                    <a:pt x="769825" y="0"/>
                    <a:pt x="784701" y="6162"/>
                    <a:pt x="795670" y="17131"/>
                  </a:cubicBezTo>
                  <a:cubicBezTo>
                    <a:pt x="806638" y="28099"/>
                    <a:pt x="812800" y="42975"/>
                    <a:pt x="812800" y="58487"/>
                  </a:cubicBezTo>
                  <a:lnTo>
                    <a:pt x="812800" y="754313"/>
                  </a:lnTo>
                  <a:cubicBezTo>
                    <a:pt x="812800" y="769825"/>
                    <a:pt x="806638" y="784701"/>
                    <a:pt x="795670" y="795670"/>
                  </a:cubicBezTo>
                  <a:cubicBezTo>
                    <a:pt x="784701" y="806638"/>
                    <a:pt x="769825" y="812800"/>
                    <a:pt x="754313" y="812800"/>
                  </a:cubicBezTo>
                  <a:lnTo>
                    <a:pt x="58487" y="812800"/>
                  </a:lnTo>
                  <a:cubicBezTo>
                    <a:pt x="42975" y="812800"/>
                    <a:pt x="28099" y="806638"/>
                    <a:pt x="17131" y="795670"/>
                  </a:cubicBezTo>
                  <a:cubicBezTo>
                    <a:pt x="6162" y="784701"/>
                    <a:pt x="0" y="769825"/>
                    <a:pt x="0" y="754313"/>
                  </a:cubicBezTo>
                  <a:lnTo>
                    <a:pt x="0" y="58487"/>
                  </a:lnTo>
                  <a:cubicBezTo>
                    <a:pt x="0" y="42975"/>
                    <a:pt x="6162" y="28099"/>
                    <a:pt x="17131" y="17131"/>
                  </a:cubicBezTo>
                  <a:cubicBezTo>
                    <a:pt x="28099" y="6162"/>
                    <a:pt x="42975" y="0"/>
                    <a:pt x="58487" y="0"/>
                  </a:cubicBezTo>
                  <a:close/>
                </a:path>
              </a:pathLst>
            </a:custGeom>
            <a:blipFill>
              <a:blip r:embed="rId6" cstate="email">
                <a:extLst>
                  <a:ext uri="{28A0092B-C50C-407E-A947-70E740481C1C}">
                    <a14:useLocalDpi xmlns:a14="http://schemas.microsoft.com/office/drawing/2010/main"/>
                  </a:ext>
                </a:extLst>
              </a:blip>
              <a:stretch>
                <a:fillRect/>
              </a:stretch>
            </a:blipFill>
          </p:spPr>
          <p:txBody>
            <a:bodyPr/>
            <a:lstStyle/>
            <a:p>
              <a:endParaRPr lang="el-GR"/>
            </a:p>
          </p:txBody>
        </p:sp>
      </p:grpSp>
      <p:grpSp>
        <p:nvGrpSpPr>
          <p:cNvPr id="15" name="Group 14">
            <a:extLst>
              <a:ext uri="{FF2B5EF4-FFF2-40B4-BE49-F238E27FC236}">
                <a16:creationId xmlns:a16="http://schemas.microsoft.com/office/drawing/2014/main" id="{67BF38E9-5C83-1950-5E84-09CD9738214E}"/>
              </a:ext>
            </a:extLst>
          </p:cNvPr>
          <p:cNvGrpSpPr/>
          <p:nvPr userDrawn="1"/>
        </p:nvGrpSpPr>
        <p:grpSpPr>
          <a:xfrm>
            <a:off x="7562541" y="4800724"/>
            <a:ext cx="3044498" cy="3046111"/>
            <a:chOff x="9601200" y="4149039"/>
            <a:chExt cx="3044498" cy="2922843"/>
          </a:xfrm>
        </p:grpSpPr>
        <p:grpSp>
          <p:nvGrpSpPr>
            <p:cNvPr id="8" name="Group 7">
              <a:extLst>
                <a:ext uri="{FF2B5EF4-FFF2-40B4-BE49-F238E27FC236}">
                  <a16:creationId xmlns:a16="http://schemas.microsoft.com/office/drawing/2014/main" id="{4003CE0B-E8E0-B705-414C-24C924BDF831}"/>
                </a:ext>
              </a:extLst>
            </p:cNvPr>
            <p:cNvGrpSpPr/>
            <p:nvPr userDrawn="1"/>
          </p:nvGrpSpPr>
          <p:grpSpPr>
            <a:xfrm>
              <a:off x="9601200" y="4149039"/>
              <a:ext cx="3044498" cy="2922843"/>
              <a:chOff x="0" y="0"/>
              <a:chExt cx="812800" cy="812800"/>
            </a:xfrm>
          </p:grpSpPr>
          <p:sp>
            <p:nvSpPr>
              <p:cNvPr id="9" name="Freeform 8">
                <a:extLst>
                  <a:ext uri="{FF2B5EF4-FFF2-40B4-BE49-F238E27FC236}">
                    <a16:creationId xmlns:a16="http://schemas.microsoft.com/office/drawing/2014/main" id="{E8448F53-CA56-01A5-B7F3-DE10F7E2075A}"/>
                  </a:ext>
                </a:extLst>
              </p:cNvPr>
              <p:cNvSpPr/>
              <p:nvPr/>
            </p:nvSpPr>
            <p:spPr>
              <a:xfrm>
                <a:off x="0" y="0"/>
                <a:ext cx="812800" cy="812800"/>
              </a:xfrm>
              <a:custGeom>
                <a:avLst/>
                <a:gdLst/>
                <a:ahLst/>
                <a:cxnLst/>
                <a:rect l="l" t="t" r="r" b="b"/>
                <a:pathLst>
                  <a:path w="812800" h="812800">
                    <a:moveTo>
                      <a:pt x="63316" y="0"/>
                    </a:moveTo>
                    <a:lnTo>
                      <a:pt x="749484" y="0"/>
                    </a:lnTo>
                    <a:cubicBezTo>
                      <a:pt x="766277" y="0"/>
                      <a:pt x="782381" y="6671"/>
                      <a:pt x="794255" y="18545"/>
                    </a:cubicBezTo>
                    <a:cubicBezTo>
                      <a:pt x="806129" y="30419"/>
                      <a:pt x="812800" y="46523"/>
                      <a:pt x="812800" y="63316"/>
                    </a:cubicBezTo>
                    <a:lnTo>
                      <a:pt x="812800" y="749484"/>
                    </a:lnTo>
                    <a:cubicBezTo>
                      <a:pt x="812800" y="766277"/>
                      <a:pt x="806129" y="782381"/>
                      <a:pt x="794255" y="794255"/>
                    </a:cubicBezTo>
                    <a:cubicBezTo>
                      <a:pt x="782381" y="806129"/>
                      <a:pt x="766277" y="812800"/>
                      <a:pt x="749484" y="812800"/>
                    </a:cubicBezTo>
                    <a:lnTo>
                      <a:pt x="63316" y="812800"/>
                    </a:lnTo>
                    <a:cubicBezTo>
                      <a:pt x="46523" y="812800"/>
                      <a:pt x="30419" y="806129"/>
                      <a:pt x="18545" y="794255"/>
                    </a:cubicBezTo>
                    <a:cubicBezTo>
                      <a:pt x="6671" y="782381"/>
                      <a:pt x="0" y="766277"/>
                      <a:pt x="0" y="749484"/>
                    </a:cubicBezTo>
                    <a:lnTo>
                      <a:pt x="0" y="63316"/>
                    </a:lnTo>
                    <a:cubicBezTo>
                      <a:pt x="0" y="46523"/>
                      <a:pt x="6671" y="30419"/>
                      <a:pt x="18545" y="18545"/>
                    </a:cubicBezTo>
                    <a:cubicBezTo>
                      <a:pt x="30419" y="6671"/>
                      <a:pt x="46523" y="0"/>
                      <a:pt x="63316" y="0"/>
                    </a:cubicBezTo>
                    <a:close/>
                  </a:path>
                </a:pathLst>
              </a:custGeom>
              <a:blipFill>
                <a:blip r:embed="rId7" cstate="email">
                  <a:extLst>
                    <a:ext uri="{28A0092B-C50C-407E-A947-70E740481C1C}">
                      <a14:useLocalDpi xmlns:a14="http://schemas.microsoft.com/office/drawing/2010/main"/>
                    </a:ext>
                  </a:extLst>
                </a:blip>
                <a:stretch>
                  <a:fillRect/>
                </a:stretch>
              </a:blipFill>
            </p:spPr>
            <p:txBody>
              <a:bodyPr/>
              <a:lstStyle/>
              <a:p>
                <a:endParaRPr lang="el-GR"/>
              </a:p>
            </p:txBody>
          </p:sp>
        </p:grpSp>
        <p:sp>
          <p:nvSpPr>
            <p:cNvPr id="13" name="Rectangle 12">
              <a:extLst>
                <a:ext uri="{FF2B5EF4-FFF2-40B4-BE49-F238E27FC236}">
                  <a16:creationId xmlns:a16="http://schemas.microsoft.com/office/drawing/2014/main" id="{E8237E87-9726-1D7E-D830-7E7564A61D87}"/>
                </a:ext>
              </a:extLst>
            </p:cNvPr>
            <p:cNvSpPr/>
            <p:nvPr userDrawn="1"/>
          </p:nvSpPr>
          <p:spPr>
            <a:xfrm>
              <a:off x="9616440" y="4351487"/>
              <a:ext cx="842661" cy="450850"/>
            </a:xfrm>
            <a:prstGeom prst="rect">
              <a:avLst/>
            </a:prstGeom>
            <a:solidFill>
              <a:srgbClr val="0006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6" name="Freeform 11">
            <a:extLst>
              <a:ext uri="{FF2B5EF4-FFF2-40B4-BE49-F238E27FC236}">
                <a16:creationId xmlns:a16="http://schemas.microsoft.com/office/drawing/2014/main" id="{578061C8-C3CC-455C-3B74-C08EB3728E81}"/>
              </a:ext>
            </a:extLst>
          </p:cNvPr>
          <p:cNvSpPr/>
          <p:nvPr userDrawn="1"/>
        </p:nvSpPr>
        <p:spPr>
          <a:xfrm>
            <a:off x="-381000" y="-38100"/>
            <a:ext cx="2179610" cy="1741035"/>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8" cstate="email">
              <a:extLst>
                <a:ext uri="{28A0092B-C50C-407E-A947-70E740481C1C}">
                  <a14:useLocalDpi xmlns:a14="http://schemas.microsoft.com/office/drawing/2010/main"/>
                </a:ext>
              </a:extLst>
            </a:blip>
            <a:stretch>
              <a:fillRect/>
            </a:stretch>
          </a:blipFill>
        </p:spPr>
        <p:txBody>
          <a:bodyPr/>
          <a:lstStyle/>
          <a:p>
            <a:endParaRPr lang="el-GR"/>
          </a:p>
        </p:txBody>
      </p:sp>
    </p:spTree>
    <p:extLst>
      <p:ext uri="{BB962C8B-B14F-4D97-AF65-F5344CB8AC3E}">
        <p14:creationId xmlns:p14="http://schemas.microsoft.com/office/powerpoint/2010/main" val="279296205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288000" cy="1257299"/>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
        <p:nvSpPr>
          <p:cNvPr id="10" name="Freeform 11">
            <a:extLst>
              <a:ext uri="{FF2B5EF4-FFF2-40B4-BE49-F238E27FC236}">
                <a16:creationId xmlns:a16="http://schemas.microsoft.com/office/drawing/2014/main" id="{D1682B63-6C1E-8144-8AC2-C471C71E1736}"/>
              </a:ext>
            </a:extLst>
          </p:cNvPr>
          <p:cNvSpPr/>
          <p:nvPr userDrawn="1"/>
        </p:nvSpPr>
        <p:spPr>
          <a:xfrm>
            <a:off x="8839200" y="4076700"/>
            <a:ext cx="10992661" cy="4953000"/>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4" cstate="email">
              <a:duotone>
                <a:prstClr val="black"/>
                <a:srgbClr val="02464E">
                  <a:tint val="45000"/>
                  <a:satMod val="400000"/>
                </a:srgbClr>
              </a:duotone>
              <a:extLst>
                <a:ext uri="{28A0092B-C50C-407E-A947-70E740481C1C}">
                  <a14:useLocalDpi xmlns:a14="http://schemas.microsoft.com/office/drawing/2010/main"/>
                </a:ext>
              </a:extLst>
            </a:blip>
            <a:stretch>
              <a:fillRect/>
            </a:stretch>
          </a:blipFill>
        </p:spPr>
        <p:txBody>
          <a:bodyPr/>
          <a:lstStyle/>
          <a:p>
            <a:endParaRPr lang="el-GR"/>
          </a:p>
        </p:txBody>
      </p:sp>
    </p:spTree>
    <p:extLst>
      <p:ext uri="{BB962C8B-B14F-4D97-AF65-F5344CB8AC3E}">
        <p14:creationId xmlns:p14="http://schemas.microsoft.com/office/powerpoint/2010/main" val="229805399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bg>
      <p:bgRef idx="1001">
        <a:schemeClr val="bg1"/>
      </p:bgRef>
    </p:bg>
    <p:spTree>
      <p:nvGrpSpPr>
        <p:cNvPr id="1" name=""/>
        <p:cNvGrpSpPr/>
        <p:nvPr/>
      </p:nvGrpSpPr>
      <p:grpSpPr>
        <a:xfrm>
          <a:off x="0" y="0"/>
          <a:ext cx="0" cy="0"/>
          <a:chOff x="0" y="0"/>
          <a:chExt cx="0" cy="0"/>
        </a:xfrm>
      </p:grpSpPr>
      <p:sp>
        <p:nvSpPr>
          <p:cNvPr id="6" name="Freeform 4">
            <a:extLst>
              <a:ext uri="{FF2B5EF4-FFF2-40B4-BE49-F238E27FC236}">
                <a16:creationId xmlns:a16="http://schemas.microsoft.com/office/drawing/2014/main" id="{573948BD-6543-7A38-1A57-C3758689B1CF}"/>
              </a:ext>
            </a:extLst>
          </p:cNvPr>
          <p:cNvSpPr/>
          <p:nvPr userDrawn="1"/>
        </p:nvSpPr>
        <p:spPr>
          <a:xfrm>
            <a:off x="1" y="0"/>
            <a:ext cx="18288000" cy="10287000"/>
          </a:xfrm>
          <a:custGeom>
            <a:avLst/>
            <a:gdLst/>
            <a:ahLst/>
            <a:cxnLst/>
            <a:rect l="l" t="t" r="r" b="b"/>
            <a:pathLst>
              <a:path w="20198727" h="13465818">
                <a:moveTo>
                  <a:pt x="0" y="0"/>
                </a:moveTo>
                <a:lnTo>
                  <a:pt x="20198727" y="0"/>
                </a:lnTo>
                <a:lnTo>
                  <a:pt x="20198727" y="13465819"/>
                </a:lnTo>
                <a:lnTo>
                  <a:pt x="0" y="13465819"/>
                </a:lnTo>
                <a:lnTo>
                  <a:pt x="0" y="0"/>
                </a:lnTo>
                <a:close/>
              </a:path>
            </a:pathLst>
          </a:custGeom>
          <a:blipFill>
            <a:blip r:embed="rId2" cstate="email">
              <a:alphaModFix amt="44000"/>
              <a:extLst>
                <a:ext uri="{28A0092B-C50C-407E-A947-70E740481C1C}">
                  <a14:useLocalDpi xmlns:a14="http://schemas.microsoft.com/office/drawing/2010/main"/>
                </a:ext>
              </a:extLst>
            </a:blip>
            <a:stretch>
              <a:fillRect/>
            </a:stretch>
          </a:blipFill>
        </p:spPr>
        <p:txBody>
          <a:bodyPr/>
          <a:lstStyle/>
          <a:p>
            <a:endParaRPr lang="el-GR"/>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sp>
        <p:nvSpPr>
          <p:cNvPr id="7" name="Freeform 11">
            <a:extLst>
              <a:ext uri="{FF2B5EF4-FFF2-40B4-BE49-F238E27FC236}">
                <a16:creationId xmlns:a16="http://schemas.microsoft.com/office/drawing/2014/main" id="{0AEAF7D9-ADC4-49A0-9DA9-7783245CAC9B}"/>
              </a:ext>
            </a:extLst>
          </p:cNvPr>
          <p:cNvSpPr/>
          <p:nvPr userDrawn="1"/>
        </p:nvSpPr>
        <p:spPr>
          <a:xfrm>
            <a:off x="-381000" y="-38100"/>
            <a:ext cx="2179610" cy="1741035"/>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4" cstate="email">
              <a:extLst>
                <a:ext uri="{28A0092B-C50C-407E-A947-70E740481C1C}">
                  <a14:useLocalDpi xmlns:a14="http://schemas.microsoft.com/office/drawing/2010/main"/>
                </a:ext>
              </a:extLst>
            </a:blip>
            <a:stretch>
              <a:fillRect/>
            </a:stretch>
          </a:blipFill>
        </p:spPr>
        <p:txBody>
          <a:bodyPr/>
          <a:lstStyle/>
          <a:p>
            <a:endParaRPr lang="el-GR"/>
          </a:p>
        </p:txBody>
      </p:sp>
    </p:spTree>
    <p:extLst>
      <p:ext uri="{BB962C8B-B14F-4D97-AF65-F5344CB8AC3E}">
        <p14:creationId xmlns:p14="http://schemas.microsoft.com/office/powerpoint/2010/main" val="49578745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288000" cy="1257299"/>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
        <p:nvSpPr>
          <p:cNvPr id="3" name="Hexagon 2">
            <a:extLst>
              <a:ext uri="{FF2B5EF4-FFF2-40B4-BE49-F238E27FC236}">
                <a16:creationId xmlns:a16="http://schemas.microsoft.com/office/drawing/2014/main" id="{A1CE02BE-54DF-B836-6301-C0351D5BEB32}"/>
              </a:ext>
            </a:extLst>
          </p:cNvPr>
          <p:cNvSpPr/>
          <p:nvPr userDrawn="1"/>
        </p:nvSpPr>
        <p:spPr>
          <a:xfrm rot="2132267">
            <a:off x="16392396" y="3061738"/>
            <a:ext cx="3109848" cy="2602118"/>
          </a:xfrm>
          <a:prstGeom prst="hexagon">
            <a:avLst>
              <a:gd name="adj" fmla="val 35893"/>
              <a:gd name="vf" fmla="val 115470"/>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Hexagon 3">
            <a:extLst>
              <a:ext uri="{FF2B5EF4-FFF2-40B4-BE49-F238E27FC236}">
                <a16:creationId xmlns:a16="http://schemas.microsoft.com/office/drawing/2014/main" id="{4B7F180F-EBEC-3D13-BF6C-6C186C2426D4}"/>
              </a:ext>
            </a:extLst>
          </p:cNvPr>
          <p:cNvSpPr/>
          <p:nvPr userDrawn="1"/>
        </p:nvSpPr>
        <p:spPr>
          <a:xfrm rot="2202666">
            <a:off x="15772524" y="1603956"/>
            <a:ext cx="1986938" cy="1662764"/>
          </a:xfrm>
          <a:prstGeom prst="hexagon">
            <a:avLst>
              <a:gd name="adj" fmla="val 33340"/>
              <a:gd name="vf" fmla="val 115470"/>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D526B01A-0E1C-BCE6-2FE0-BD5B8ECDD61A}"/>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a:fillRect/>
          </a:stretch>
        </p:blipFill>
        <p:spPr>
          <a:xfrm>
            <a:off x="14547520" y="5166360"/>
            <a:ext cx="4097103" cy="3729068"/>
          </a:xfrm>
          <a:prstGeom prst="pentagon">
            <a:avLst/>
          </a:prstGeom>
        </p:spPr>
      </p:pic>
      <p:pic>
        <p:nvPicPr>
          <p:cNvPr id="7" name="Picture 6">
            <a:extLst>
              <a:ext uri="{FF2B5EF4-FFF2-40B4-BE49-F238E27FC236}">
                <a16:creationId xmlns:a16="http://schemas.microsoft.com/office/drawing/2014/main" id="{505A45C1-F571-B0AA-6FFE-108ACEC289E0}"/>
              </a:ext>
            </a:extLst>
          </p:cNvPr>
          <p:cNvPicPr>
            <a:picLocks noChangeAspect="1"/>
          </p:cNvPicPr>
          <p:nvPr userDrawn="1"/>
        </p:nvPicPr>
        <p:blipFill>
          <a:blip r:embed="rId5" cstate="email">
            <a:extLst>
              <a:ext uri="{28A0092B-C50C-407E-A947-70E740481C1C}">
                <a14:useLocalDpi xmlns:a14="http://schemas.microsoft.com/office/drawing/2010/main"/>
              </a:ext>
            </a:extLst>
          </a:blip>
          <a:srcRect/>
          <a:stretch>
            <a:fillRect/>
          </a:stretch>
        </p:blipFill>
        <p:spPr>
          <a:xfrm rot="2078217">
            <a:off x="16998354" y="527104"/>
            <a:ext cx="1460052" cy="1273428"/>
          </a:xfrm>
          <a:prstGeom prst="pentagon">
            <a:avLst/>
          </a:prstGeom>
        </p:spPr>
      </p:pic>
    </p:spTree>
    <p:extLst>
      <p:ext uri="{BB962C8B-B14F-4D97-AF65-F5344CB8AC3E}">
        <p14:creationId xmlns:p14="http://schemas.microsoft.com/office/powerpoint/2010/main" val="1006412230"/>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516600" cy="1257300"/>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Tree>
    <p:extLst>
      <p:ext uri="{BB962C8B-B14F-4D97-AF65-F5344CB8AC3E}">
        <p14:creationId xmlns:p14="http://schemas.microsoft.com/office/powerpoint/2010/main" val="500672662"/>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516600" cy="1257300"/>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Tree>
    <p:extLst>
      <p:ext uri="{BB962C8B-B14F-4D97-AF65-F5344CB8AC3E}">
        <p14:creationId xmlns:p14="http://schemas.microsoft.com/office/powerpoint/2010/main" val="143620773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4B8C0E06-B361-4987-9FD9-1A2641C05328}" type="datetime1">
              <a:rPr lang="en-US" smtClean="0"/>
              <a:t>9/8/26</a:t>
            </a:fld>
            <a:endParaRPr lang="en-US"/>
          </a:p>
        </p:txBody>
      </p:sp>
      <p:sp>
        <p:nvSpPr>
          <p:cNvPr id="4" name="Footer Placeholder 3">
            <a:extLst>
              <a:ext uri="{FF2B5EF4-FFF2-40B4-BE49-F238E27FC236}">
                <a16:creationId xmlns:a16="http://schemas.microsoft.com/office/drawing/2014/main" id="{1AA86F6D-876E-C855-F8E4-40CFF4C850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722DE-50C8-B0CF-A377-740BE0ECB8D8}"/>
              </a:ext>
            </a:extLst>
          </p:cNvPr>
          <p:cNvSpPr>
            <a:spLocks noGrp="1"/>
          </p:cNvSpPr>
          <p:nvPr>
            <p:ph type="sldNum" sz="quarter" idx="12"/>
          </p:nvPr>
        </p:nvSpPr>
        <p:spPr/>
        <p:txBody>
          <a:bodyPr/>
          <a:lstStyle/>
          <a:p>
            <a:fld id="{B6F15528-21DE-4FAA-801E-634DDDAF4B2B}" type="slidenum">
              <a:rPr lang="en-US" smtClean="0"/>
              <a:pPr/>
              <a:t>‹#›</a:t>
            </a:fld>
            <a:endParaRPr lang="en-US"/>
          </a:p>
        </p:txBody>
      </p:sp>
      <p:pic>
        <p:nvPicPr>
          <p:cNvPr id="9" name="Picture 8">
            <a:extLst>
              <a:ext uri="{FF2B5EF4-FFF2-40B4-BE49-F238E27FC236}">
                <a16:creationId xmlns:a16="http://schemas.microsoft.com/office/drawing/2014/main" id="{AE4D051E-FD15-3EE9-CF0A-EBB76004070C}"/>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0" y="0"/>
            <a:ext cx="18288000" cy="10287000"/>
          </a:xfrm>
          <a:prstGeom prst="rect">
            <a:avLst/>
          </a:prstGeom>
        </p:spPr>
      </p:pic>
      <p:sp>
        <p:nvSpPr>
          <p:cNvPr id="14" name="Rectangle 13">
            <a:extLst>
              <a:ext uri="{FF2B5EF4-FFF2-40B4-BE49-F238E27FC236}">
                <a16:creationId xmlns:a16="http://schemas.microsoft.com/office/drawing/2014/main" id="{13A4CA1F-3890-D6BF-56BD-3B67D35ABF61}"/>
              </a:ext>
            </a:extLst>
          </p:cNvPr>
          <p:cNvSpPr/>
          <p:nvPr userDrawn="1"/>
        </p:nvSpPr>
        <p:spPr>
          <a:xfrm>
            <a:off x="0" y="9029700"/>
            <a:ext cx="18516600" cy="1257300"/>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6" name="Picture 5">
            <a:extLst>
              <a:ext uri="{FF2B5EF4-FFF2-40B4-BE49-F238E27FC236}">
                <a16:creationId xmlns:a16="http://schemas.microsoft.com/office/drawing/2014/main" id="{76B036AC-BB8C-0AD3-F326-0F902DB9D9A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29571" y="0"/>
            <a:ext cx="2051981" cy="1640710"/>
          </a:xfrm>
          <a:prstGeom prst="rect">
            <a:avLst/>
          </a:prstGeom>
        </p:spPr>
      </p:pic>
    </p:spTree>
    <p:extLst>
      <p:ext uri="{BB962C8B-B14F-4D97-AF65-F5344CB8AC3E}">
        <p14:creationId xmlns:p14="http://schemas.microsoft.com/office/powerpoint/2010/main" val="29097945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Custom Layout">
    <p:bg>
      <p:bgRef idx="1001">
        <a:schemeClr val="bg1"/>
      </p:bgRef>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CFF35AE2-98FD-AAC4-5B46-ABBA896419A3}"/>
              </a:ext>
            </a:extLst>
          </p:cNvPr>
          <p:cNvSpPr/>
          <p:nvPr userDrawn="1"/>
        </p:nvSpPr>
        <p:spPr>
          <a:xfrm>
            <a:off x="0" y="0"/>
            <a:ext cx="18288000" cy="7395807"/>
          </a:xfrm>
          <a:custGeom>
            <a:avLst/>
            <a:gdLst/>
            <a:ahLst/>
            <a:cxnLst/>
            <a:rect l="l" t="t" r="r" b="b"/>
            <a:pathLst>
              <a:path w="18194019" h="11512089">
                <a:moveTo>
                  <a:pt x="0" y="0"/>
                </a:moveTo>
                <a:lnTo>
                  <a:pt x="18194020" y="0"/>
                </a:lnTo>
                <a:lnTo>
                  <a:pt x="18194020" y="11512088"/>
                </a:lnTo>
                <a:lnTo>
                  <a:pt x="0" y="11512088"/>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l-GR"/>
          </a:p>
        </p:txBody>
      </p:sp>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516600" cy="1257300"/>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28600" y="9202112"/>
            <a:ext cx="4035902" cy="896190"/>
          </a:xfrm>
          <a:prstGeom prst="rect">
            <a:avLst/>
          </a:prstGeom>
        </p:spPr>
      </p:pic>
      <p:pic>
        <p:nvPicPr>
          <p:cNvPr id="4" name="Picture 3">
            <a:extLst>
              <a:ext uri="{FF2B5EF4-FFF2-40B4-BE49-F238E27FC236}">
                <a16:creationId xmlns:a16="http://schemas.microsoft.com/office/drawing/2014/main" id="{CA3035AC-0941-D2D7-D9A0-D851459A13C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059504" y="7395807"/>
            <a:ext cx="2168991" cy="1734268"/>
          </a:xfrm>
          <a:prstGeom prst="rect">
            <a:avLst/>
          </a:prstGeom>
        </p:spPr>
      </p:pic>
      <p:sp>
        <p:nvSpPr>
          <p:cNvPr id="3" name="TextBox 2">
            <a:extLst>
              <a:ext uri="{FF2B5EF4-FFF2-40B4-BE49-F238E27FC236}">
                <a16:creationId xmlns:a16="http://schemas.microsoft.com/office/drawing/2014/main" id="{119ECCCB-2341-1410-65AF-0D5EB0720C47}"/>
              </a:ext>
            </a:extLst>
          </p:cNvPr>
          <p:cNvSpPr txBox="1"/>
          <p:nvPr userDrawn="1"/>
        </p:nvSpPr>
        <p:spPr>
          <a:xfrm>
            <a:off x="8802806" y="4688006"/>
            <a:ext cx="914400" cy="914400"/>
          </a:xfrm>
          <a:prstGeom prst="rect">
            <a:avLst/>
          </a:prstGeom>
          <a:noFill/>
        </p:spPr>
        <p:txBody>
          <a:bodyPr wrap="square" rtlCol="0">
            <a:spAutoFit/>
          </a:bodyPr>
          <a:lstStyle/>
          <a:p>
            <a:endParaRPr lang="el-GR"/>
          </a:p>
        </p:txBody>
      </p:sp>
    </p:spTree>
    <p:extLst>
      <p:ext uri="{BB962C8B-B14F-4D97-AF65-F5344CB8AC3E}">
        <p14:creationId xmlns:p14="http://schemas.microsoft.com/office/powerpoint/2010/main" val="306654528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B35E8F-E06E-4E25-ACD7-59446347D123}" type="datetime1">
              <a:rPr lang="en-US" smtClean="0"/>
              <a:t>9/8/26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5" r:id="rId1"/>
    <p:sldLayoutId id="2147483660" r:id="rId2"/>
    <p:sldLayoutId id="2147483661" r:id="rId3"/>
    <p:sldLayoutId id="2147483662" r:id="rId4"/>
    <p:sldLayoutId id="2147483672" r:id="rId5"/>
    <p:sldLayoutId id="2147483663" r:id="rId6"/>
    <p:sldLayoutId id="2147483664" r:id="rId7"/>
    <p:sldLayoutId id="2147483673" r:id="rId8"/>
    <p:sldLayoutId id="2147483665" r:id="rId9"/>
    <p:sldLayoutId id="2147483674" r:id="rId10"/>
    <p:sldLayoutId id="2147483667" r:id="rId11"/>
    <p:sldLayoutId id="2147483668" r:id="rId12"/>
    <p:sldLayoutId id="2147483666" r:id="rId13"/>
    <p:sldLayoutId id="2147483669" r:id="rId14"/>
    <p:sldLayoutId id="2147483670" r:id="rId15"/>
    <p:sldLayoutId id="2147483675" r:id="rId16"/>
    <p:sldLayoutId id="2147483671" r:id="rId17"/>
    <p:sldLayoutId id="214748367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svg"/><Relationship Id="rId1" Type="http://schemas.openxmlformats.org/officeDocument/2006/relationships/slideLayout" Target="../slideLayouts/slideLayout18.xml"/><Relationship Id="rId5" Type="http://schemas.openxmlformats.org/officeDocument/2006/relationships/image" Target="../media/image37.svg"/><Relationship Id="rId4"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A0042B-E0E6-F5B1-746E-86B8CD40BD88}"/>
              </a:ext>
            </a:extLst>
          </p:cNvPr>
          <p:cNvSpPr txBox="1"/>
          <p:nvPr/>
        </p:nvSpPr>
        <p:spPr>
          <a:xfrm>
            <a:off x="7543800" y="6743700"/>
            <a:ext cx="10448886" cy="3323987"/>
          </a:xfrm>
          <a:prstGeom prst="rect">
            <a:avLst/>
          </a:prstGeom>
          <a:noFill/>
        </p:spPr>
        <p:txBody>
          <a:bodyPr wrap="none" rtlCol="0">
            <a:spAutoFit/>
          </a:bodyPr>
          <a:lstStyle/>
          <a:p>
            <a:r>
              <a:rPr lang="en-ES" sz="6000" b="1" dirty="0"/>
              <a:t>NextAIRE Summer School</a:t>
            </a:r>
          </a:p>
          <a:p>
            <a:r>
              <a:rPr lang="en-ES" sz="6000" b="1" dirty="0"/>
              <a:t>“Translating Science Into Policy”</a:t>
            </a:r>
          </a:p>
          <a:p>
            <a:r>
              <a:rPr lang="en-ES" sz="3000" dirty="0"/>
              <a:t>Sarajevo, Tuesday 8th of September, 2026</a:t>
            </a:r>
          </a:p>
          <a:p>
            <a:endParaRPr lang="en-ES" sz="3000" dirty="0"/>
          </a:p>
          <a:p>
            <a:r>
              <a:rPr lang="en-ES" sz="3000" dirty="0"/>
              <a:t>Jon Matthew Switters – The Lisbon Council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6A944-1257-F362-BBFE-AF53F35BD4CC}"/>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1075FC5-8CF1-77DF-7531-E25774CA8DC1}"/>
              </a:ext>
            </a:extLst>
          </p:cNvPr>
          <p:cNvSpPr/>
          <p:nvPr/>
        </p:nvSpPr>
        <p:spPr>
          <a:xfrm>
            <a:off x="685800" y="1562100"/>
            <a:ext cx="184404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r>
              <a:rPr lang="en-GB" sz="7500" dirty="0">
                <a:solidFill>
                  <a:srgbClr val="02464E"/>
                </a:solidFill>
                <a:latin typeface="Poppins" panose="00000500000000000000" pitchFamily="2" charset="0"/>
                <a:cs typeface="Poppins" panose="00000500000000000000" pitchFamily="2" charset="0"/>
              </a:rPr>
              <a:t>“All issues are political issues…………” </a:t>
            </a:r>
          </a:p>
          <a:p>
            <a:endParaRPr lang="en-GB" sz="2800" dirty="0">
              <a:solidFill>
                <a:srgbClr val="02464E"/>
              </a:solidFill>
              <a:latin typeface="Poppins" panose="00000500000000000000" pitchFamily="2" charset="0"/>
              <a:cs typeface="Poppins" panose="00000500000000000000" pitchFamily="2" charset="0"/>
            </a:endParaRPr>
          </a:p>
          <a:p>
            <a:r>
              <a:rPr lang="en-GB" sz="2800" dirty="0">
                <a:solidFill>
                  <a:srgbClr val="02464E"/>
                </a:solidFill>
                <a:latin typeface="Poppins" panose="00000500000000000000" pitchFamily="2" charset="0"/>
                <a:cs typeface="Poppins" panose="00000500000000000000" pitchFamily="2" charset="0"/>
              </a:rPr>
              <a:t>- George Orwell</a:t>
            </a:r>
          </a:p>
        </p:txBody>
      </p:sp>
    </p:spTree>
    <p:extLst>
      <p:ext uri="{BB962C8B-B14F-4D97-AF65-F5344CB8AC3E}">
        <p14:creationId xmlns:p14="http://schemas.microsoft.com/office/powerpoint/2010/main" val="7829185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0D495B7-93D6-657F-9FF7-0542A710F696}"/>
              </a:ext>
            </a:extLst>
          </p:cNvPr>
          <p:cNvSpPr/>
          <p:nvPr/>
        </p:nvSpPr>
        <p:spPr>
          <a:xfrm>
            <a:off x="685800" y="2095500"/>
            <a:ext cx="94488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457200" indent="-457200">
              <a:buFont typeface="Arial" panose="020B0604020202020204" pitchFamily="34" charset="0"/>
              <a:buChar char="•"/>
            </a:pPr>
            <a:r>
              <a:rPr lang="en-GB" sz="4000" b="1" noProof="0" dirty="0">
                <a:solidFill>
                  <a:srgbClr val="02464E"/>
                </a:solidFill>
                <a:latin typeface="Poppins" panose="00000500000000000000" pitchFamily="2" charset="0"/>
                <a:cs typeface="Poppins" panose="00000500000000000000" pitchFamily="2" charset="0"/>
              </a:rPr>
              <a:t>93.5 billion EUR </a:t>
            </a:r>
            <a:r>
              <a:rPr lang="en-GB" sz="4000" noProof="0" dirty="0">
                <a:solidFill>
                  <a:srgbClr val="02464E"/>
                </a:solidFill>
                <a:latin typeface="Poppins" panose="00000500000000000000" pitchFamily="2" charset="0"/>
                <a:cs typeface="Poppins" panose="00000500000000000000" pitchFamily="2" charset="0"/>
              </a:rPr>
              <a:t>invested from 2021-2027 in the Horizon Europe R&amp;I Programme.</a:t>
            </a:r>
          </a:p>
          <a:p>
            <a:endParaRPr lang="en-GB" sz="4000" noProof="0" dirty="0">
              <a:solidFill>
                <a:srgbClr val="02464E"/>
              </a:solidFill>
              <a:latin typeface="Poppins" panose="00000500000000000000" pitchFamily="2" charset="0"/>
              <a:cs typeface="Poppins" panose="00000500000000000000" pitchFamily="2" charset="0"/>
            </a:endParaRPr>
          </a:p>
          <a:p>
            <a:pPr marL="457200" indent="-457200">
              <a:buFont typeface="Arial" panose="020B0604020202020204" pitchFamily="34" charset="0"/>
              <a:buChar char="•"/>
            </a:pPr>
            <a:r>
              <a:rPr lang="en-GB" sz="4000" dirty="0">
                <a:solidFill>
                  <a:srgbClr val="02464E"/>
                </a:solidFill>
                <a:latin typeface="Poppins" panose="00000500000000000000" pitchFamily="2" charset="0"/>
                <a:cs typeface="Poppins" panose="00000500000000000000" pitchFamily="2" charset="0"/>
              </a:rPr>
              <a:t>How can we ensure that results generated through this investment </a:t>
            </a:r>
            <a:r>
              <a:rPr lang="en-GB" sz="4000" b="1" dirty="0">
                <a:solidFill>
                  <a:srgbClr val="02464E"/>
                </a:solidFill>
                <a:latin typeface="Poppins" panose="00000500000000000000" pitchFamily="2" charset="0"/>
                <a:cs typeface="Poppins" panose="00000500000000000000" pitchFamily="2" charset="0"/>
              </a:rPr>
              <a:t>do not </a:t>
            </a:r>
            <a:r>
              <a:rPr lang="en-GB" sz="4000" dirty="0">
                <a:solidFill>
                  <a:srgbClr val="02464E"/>
                </a:solidFill>
                <a:latin typeface="Poppins" panose="00000500000000000000" pitchFamily="2" charset="0"/>
                <a:cs typeface="Poppins" panose="00000500000000000000" pitchFamily="2" charset="0"/>
              </a:rPr>
              <a:t>simply sit on the shelf?</a:t>
            </a:r>
            <a:endParaRPr lang="en-GB" sz="4000" noProof="0" dirty="0">
              <a:solidFill>
                <a:srgbClr val="02464E"/>
              </a:solidFill>
              <a:latin typeface="Poppins" panose="00000500000000000000" pitchFamily="2" charset="0"/>
              <a:cs typeface="Poppins" panose="00000500000000000000" pitchFamily="2" charset="0"/>
            </a:endParaRPr>
          </a:p>
        </p:txBody>
      </p:sp>
      <p:sp>
        <p:nvSpPr>
          <p:cNvPr id="3" name="TextBox 8">
            <a:extLst>
              <a:ext uri="{FF2B5EF4-FFF2-40B4-BE49-F238E27FC236}">
                <a16:creationId xmlns:a16="http://schemas.microsoft.com/office/drawing/2014/main" id="{99B03730-CBAB-FF0C-351C-265988FF784B}"/>
              </a:ext>
            </a:extLst>
          </p:cNvPr>
          <p:cNvSpPr txBox="1"/>
          <p:nvPr/>
        </p:nvSpPr>
        <p:spPr>
          <a:xfrm>
            <a:off x="914400" y="768842"/>
            <a:ext cx="16687800" cy="1036822"/>
          </a:xfrm>
          <a:prstGeom prst="rect">
            <a:avLst/>
          </a:prstGeom>
        </p:spPr>
        <p:txBody>
          <a:bodyPr wrap="square" lIns="0" tIns="0" rIns="0" bIns="0" rtlCol="0" anchor="t">
            <a:spAutoFit/>
          </a:bodyPr>
          <a:lstStyle/>
          <a:p>
            <a:pPr algn="r">
              <a:lnSpc>
                <a:spcPts val="7920"/>
              </a:lnSpc>
            </a:pPr>
            <a:r>
              <a:rPr lang="en-US" sz="7200" b="1" dirty="0">
                <a:solidFill>
                  <a:srgbClr val="02464E"/>
                </a:solidFill>
                <a:latin typeface="Poppins Bold"/>
                <a:ea typeface="Poppins Bold"/>
                <a:cs typeface="Poppins Bold"/>
                <a:sym typeface="Poppins Bold"/>
              </a:rPr>
              <a:t>The Challenge</a:t>
            </a:r>
          </a:p>
        </p:txBody>
      </p:sp>
      <p:pic>
        <p:nvPicPr>
          <p:cNvPr id="5" name="Picture 4">
            <a:extLst>
              <a:ext uri="{FF2B5EF4-FFF2-40B4-BE49-F238E27FC236}">
                <a16:creationId xmlns:a16="http://schemas.microsoft.com/office/drawing/2014/main" id="{CE2CB6AB-DF46-100F-C274-BE987717F51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515600" y="2400300"/>
            <a:ext cx="7772400" cy="5181600"/>
          </a:xfrm>
          <a:prstGeom prst="rect">
            <a:avLst/>
          </a:prstGeom>
        </p:spPr>
      </p:pic>
      <p:sp>
        <p:nvSpPr>
          <p:cNvPr id="7" name="TextBox 6">
            <a:extLst>
              <a:ext uri="{FF2B5EF4-FFF2-40B4-BE49-F238E27FC236}">
                <a16:creationId xmlns:a16="http://schemas.microsoft.com/office/drawing/2014/main" id="{471FEA26-B280-570C-3BC7-6206CA71CFB0}"/>
              </a:ext>
            </a:extLst>
          </p:cNvPr>
          <p:cNvSpPr txBox="1"/>
          <p:nvPr/>
        </p:nvSpPr>
        <p:spPr>
          <a:xfrm>
            <a:off x="11658600" y="7782551"/>
            <a:ext cx="5486400" cy="369332"/>
          </a:xfrm>
          <a:prstGeom prst="rect">
            <a:avLst/>
          </a:prstGeom>
          <a:noFill/>
        </p:spPr>
        <p:txBody>
          <a:bodyPr wrap="square">
            <a:spAutoFit/>
          </a:bodyPr>
          <a:lstStyle/>
          <a:p>
            <a:r>
              <a:rPr lang="en-ES" dirty="0">
                <a:solidFill>
                  <a:srgbClr val="000610"/>
                </a:solidFill>
              </a:rPr>
              <a:t>Source: AI-generated image, OpenAI ChatGPT, 2026.</a:t>
            </a:r>
          </a:p>
        </p:txBody>
      </p:sp>
    </p:spTree>
    <p:extLst>
      <p:ext uri="{BB962C8B-B14F-4D97-AF65-F5344CB8AC3E}">
        <p14:creationId xmlns:p14="http://schemas.microsoft.com/office/powerpoint/2010/main" val="3410752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743E7-425D-D2D0-68DD-3B00790CC631}"/>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EEAA1F0-8354-055F-E2EC-FE480F97CAC6}"/>
              </a:ext>
            </a:extLst>
          </p:cNvPr>
          <p:cNvSpPr/>
          <p:nvPr/>
        </p:nvSpPr>
        <p:spPr>
          <a:xfrm>
            <a:off x="6400800" y="1831323"/>
            <a:ext cx="11919857"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4000" dirty="0">
                <a:solidFill>
                  <a:srgbClr val="02464E"/>
                </a:solidFill>
                <a:latin typeface="Poppins" panose="00000500000000000000" pitchFamily="2" charset="0"/>
                <a:cs typeface="Poppins" panose="00000500000000000000" pitchFamily="2" charset="0"/>
              </a:rPr>
              <a:t>Large investment of money = duty to provide Return on Investment (</a:t>
            </a:r>
            <a:r>
              <a:rPr lang="en-GB" sz="4000" dirty="0" err="1">
                <a:solidFill>
                  <a:srgbClr val="02464E"/>
                </a:solidFill>
                <a:latin typeface="Poppins" panose="00000500000000000000" pitchFamily="2" charset="0"/>
                <a:cs typeface="Poppins" panose="00000500000000000000" pitchFamily="2" charset="0"/>
              </a:rPr>
              <a:t>RoI</a:t>
            </a:r>
            <a:r>
              <a:rPr lang="en-GB" sz="4000" dirty="0">
                <a:solidFill>
                  <a:srgbClr val="02464E"/>
                </a:solidFill>
                <a:latin typeface="Poppins" panose="00000500000000000000" pitchFamily="2" charset="0"/>
                <a:cs typeface="Poppins" panose="00000500000000000000" pitchFamily="2" charset="0"/>
              </a:rPr>
              <a:t>) </a:t>
            </a:r>
            <a:endParaRPr kumimoji="0" lang="en-GB" sz="400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Large amount of high-level research = Tremendous potential to generate positive change.</a:t>
            </a:r>
          </a:p>
        </p:txBody>
      </p:sp>
      <p:sp>
        <p:nvSpPr>
          <p:cNvPr id="3" name="TextBox 8">
            <a:extLst>
              <a:ext uri="{FF2B5EF4-FFF2-40B4-BE49-F238E27FC236}">
                <a16:creationId xmlns:a16="http://schemas.microsoft.com/office/drawing/2014/main" id="{43C4CEA0-43F1-D602-8BEE-C40F84EF9153}"/>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Why Is </a:t>
            </a:r>
            <a:r>
              <a:rPr lang="en-US" sz="7200" b="1" dirty="0">
                <a:solidFill>
                  <a:srgbClr val="02464E"/>
                </a:solidFill>
                <a:latin typeface="Poppins Bold"/>
                <a:ea typeface="Poppins Bold"/>
                <a:cs typeface="Poppins Bold"/>
                <a:sym typeface="Poppins Bold"/>
              </a:rPr>
              <a:t>T</a:t>
            </a: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his Important? </a:t>
            </a:r>
          </a:p>
        </p:txBody>
      </p:sp>
      <p:sp>
        <p:nvSpPr>
          <p:cNvPr id="6" name="TextBox 5">
            <a:extLst>
              <a:ext uri="{FF2B5EF4-FFF2-40B4-BE49-F238E27FC236}">
                <a16:creationId xmlns:a16="http://schemas.microsoft.com/office/drawing/2014/main" id="{A881EC43-1593-715C-AA98-B2F38C0635F0}"/>
              </a:ext>
            </a:extLst>
          </p:cNvPr>
          <p:cNvSpPr txBox="1"/>
          <p:nvPr/>
        </p:nvSpPr>
        <p:spPr>
          <a:xfrm>
            <a:off x="558922" y="8322607"/>
            <a:ext cx="4736840" cy="369332"/>
          </a:xfrm>
          <a:prstGeom prst="rect">
            <a:avLst/>
          </a:prstGeom>
          <a:noFill/>
        </p:spPr>
        <p:txBody>
          <a:bodyPr wrap="square">
            <a:spAutoFit/>
          </a:bodyPr>
          <a:lstStyle/>
          <a:p>
            <a:r>
              <a:rPr lang="en-ES" dirty="0">
                <a:solidFill>
                  <a:srgbClr val="000610"/>
                </a:solidFill>
              </a:rPr>
              <a:t>Source: Image by rawpixel.com on Magnific</a:t>
            </a:r>
          </a:p>
        </p:txBody>
      </p:sp>
      <p:pic>
        <p:nvPicPr>
          <p:cNvPr id="9" name="Picture 8">
            <a:extLst>
              <a:ext uri="{FF2B5EF4-FFF2-40B4-BE49-F238E27FC236}">
                <a16:creationId xmlns:a16="http://schemas.microsoft.com/office/drawing/2014/main" id="{FC81E0F1-1629-CAEF-8DFD-A687848C922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2010459"/>
            <a:ext cx="5854685" cy="6141424"/>
          </a:xfrm>
          <a:prstGeom prst="rect">
            <a:avLst/>
          </a:prstGeom>
        </p:spPr>
      </p:pic>
    </p:spTree>
    <p:extLst>
      <p:ext uri="{BB962C8B-B14F-4D97-AF65-F5344CB8AC3E}">
        <p14:creationId xmlns:p14="http://schemas.microsoft.com/office/powerpoint/2010/main" val="1375133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04BD1-50E4-0075-D20B-667A680B9DF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A536B2D7-9B73-7AB3-9C6C-A544EBD587A7}"/>
              </a:ext>
            </a:extLst>
          </p:cNvPr>
          <p:cNvSpPr/>
          <p:nvPr/>
        </p:nvSpPr>
        <p:spPr>
          <a:xfrm>
            <a:off x="685800" y="2095500"/>
            <a:ext cx="128016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5000" dirty="0">
                <a:solidFill>
                  <a:srgbClr val="02464E"/>
                </a:solidFill>
                <a:latin typeface="Poppins" panose="00000500000000000000" pitchFamily="2" charset="0"/>
                <a:cs typeface="Poppins" panose="00000500000000000000" pitchFamily="2" charset="0"/>
              </a:rPr>
              <a:t>Translating </a:t>
            </a:r>
            <a:r>
              <a:rPr lang="en-GB" sz="5000" b="1" dirty="0">
                <a:solidFill>
                  <a:srgbClr val="02464E"/>
                </a:solidFill>
                <a:latin typeface="Poppins" panose="00000500000000000000" pitchFamily="2" charset="0"/>
                <a:cs typeface="Poppins" panose="00000500000000000000" pitchFamily="2" charset="0"/>
              </a:rPr>
              <a:t>scientific evidence </a:t>
            </a:r>
            <a:r>
              <a:rPr lang="en-GB" sz="5000" dirty="0">
                <a:solidFill>
                  <a:srgbClr val="02464E"/>
                </a:solidFill>
                <a:latin typeface="Poppins" panose="00000500000000000000" pitchFamily="2" charset="0"/>
                <a:cs typeface="Poppins" panose="00000500000000000000" pitchFamily="2" charset="0"/>
              </a:rPr>
              <a:t>into </a:t>
            </a:r>
            <a:r>
              <a:rPr lang="en-GB" sz="5000" b="1" dirty="0">
                <a:solidFill>
                  <a:srgbClr val="02464E"/>
                </a:solidFill>
                <a:latin typeface="Poppins" panose="00000500000000000000" pitchFamily="2" charset="0"/>
                <a:cs typeface="Poppins" panose="00000500000000000000" pitchFamily="2" charset="0"/>
              </a:rPr>
              <a:t>effective policy </a:t>
            </a:r>
            <a:r>
              <a:rPr lang="en-GB" sz="5000" dirty="0">
                <a:solidFill>
                  <a:srgbClr val="02464E"/>
                </a:solidFill>
                <a:latin typeface="Poppins" panose="00000500000000000000" pitchFamily="2" charset="0"/>
                <a:cs typeface="Poppins" panose="00000500000000000000" pitchFamily="2" charset="0"/>
              </a:rPr>
              <a:t>is one solution to ensure the long-lasting impact of the research and innovation projects. </a:t>
            </a:r>
          </a:p>
        </p:txBody>
      </p:sp>
      <p:sp>
        <p:nvSpPr>
          <p:cNvPr id="3" name="TextBox 8">
            <a:extLst>
              <a:ext uri="{FF2B5EF4-FFF2-40B4-BE49-F238E27FC236}">
                <a16:creationId xmlns:a16="http://schemas.microsoft.com/office/drawing/2014/main" id="{13A9E368-1BDC-A138-B0C3-4F69C6472396}"/>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A Solution?</a:t>
            </a:r>
          </a:p>
        </p:txBody>
      </p:sp>
      <p:sp>
        <p:nvSpPr>
          <p:cNvPr id="7" name="TextBox 6">
            <a:extLst>
              <a:ext uri="{FF2B5EF4-FFF2-40B4-BE49-F238E27FC236}">
                <a16:creationId xmlns:a16="http://schemas.microsoft.com/office/drawing/2014/main" id="{AFD9B9CC-8F75-2A6F-5B83-0DA6278B7BCD}"/>
              </a:ext>
            </a:extLst>
          </p:cNvPr>
          <p:cNvSpPr txBox="1"/>
          <p:nvPr/>
        </p:nvSpPr>
        <p:spPr>
          <a:xfrm>
            <a:off x="13868400" y="8431768"/>
            <a:ext cx="4648200" cy="369332"/>
          </a:xfrm>
          <a:prstGeom prst="rect">
            <a:avLst/>
          </a:prstGeom>
          <a:noFill/>
        </p:spPr>
        <p:txBody>
          <a:bodyPr wrap="square">
            <a:spAutoFit/>
          </a:bodyPr>
          <a:lstStyle/>
          <a:p>
            <a:r>
              <a:rPr kumimoji="0" lang="en-ES" sz="1800" b="0" i="0" u="none" strike="noStrike" kern="1200" cap="none" spc="0" normalizeH="0" baseline="0" noProof="0" dirty="0">
                <a:ln>
                  <a:noFill/>
                </a:ln>
                <a:solidFill>
                  <a:srgbClr val="000610"/>
                </a:solidFill>
                <a:effectLst/>
                <a:uLnTx/>
                <a:uFillTx/>
                <a:latin typeface="Calibri"/>
                <a:ea typeface="+mn-ea"/>
                <a:cs typeface="+mn-cs"/>
              </a:rPr>
              <a:t>Source: </a:t>
            </a:r>
            <a:r>
              <a:rPr lang="en-ES" dirty="0">
                <a:solidFill>
                  <a:srgbClr val="000610"/>
                </a:solidFill>
                <a:latin typeface="Calibri"/>
              </a:rPr>
              <a:t>Image by KamranAydinov on Magnific</a:t>
            </a:r>
          </a:p>
        </p:txBody>
      </p:sp>
      <p:pic>
        <p:nvPicPr>
          <p:cNvPr id="9" name="Picture 8">
            <a:extLst>
              <a:ext uri="{FF2B5EF4-FFF2-40B4-BE49-F238E27FC236}">
                <a16:creationId xmlns:a16="http://schemas.microsoft.com/office/drawing/2014/main" id="{AA203E98-6D66-BA79-40DB-803D8A2043E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4044460" y="1978592"/>
            <a:ext cx="4243539" cy="6365308"/>
          </a:xfrm>
          <a:prstGeom prst="rect">
            <a:avLst/>
          </a:prstGeom>
        </p:spPr>
      </p:pic>
    </p:spTree>
    <p:extLst>
      <p:ext uri="{BB962C8B-B14F-4D97-AF65-F5344CB8AC3E}">
        <p14:creationId xmlns:p14="http://schemas.microsoft.com/office/powerpoint/2010/main" val="2659920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158A4-F790-4A87-1E02-763570110612}"/>
            </a:ext>
          </a:extLst>
        </p:cNvPr>
        <p:cNvGrpSpPr/>
        <p:nvPr/>
      </p:nvGrpSpPr>
      <p:grpSpPr>
        <a:xfrm>
          <a:off x="0" y="0"/>
          <a:ext cx="0" cy="0"/>
          <a:chOff x="0" y="0"/>
          <a:chExt cx="0" cy="0"/>
        </a:xfrm>
      </p:grpSpPr>
      <p:sp>
        <p:nvSpPr>
          <p:cNvPr id="3" name="TextBox 8">
            <a:extLst>
              <a:ext uri="{FF2B5EF4-FFF2-40B4-BE49-F238E27FC236}">
                <a16:creationId xmlns:a16="http://schemas.microsoft.com/office/drawing/2014/main" id="{36B9CA17-55EC-A38D-FBDB-1EE6DDB2B7C1}"/>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Why Is This Important? </a:t>
            </a:r>
          </a:p>
        </p:txBody>
      </p:sp>
      <p:sp>
        <p:nvSpPr>
          <p:cNvPr id="5" name="TextBox 4">
            <a:extLst>
              <a:ext uri="{FF2B5EF4-FFF2-40B4-BE49-F238E27FC236}">
                <a16:creationId xmlns:a16="http://schemas.microsoft.com/office/drawing/2014/main" id="{B4193FAE-68D0-3F41-6B32-E8DF71939028}"/>
              </a:ext>
            </a:extLst>
          </p:cNvPr>
          <p:cNvSpPr txBox="1"/>
          <p:nvPr/>
        </p:nvSpPr>
        <p:spPr>
          <a:xfrm>
            <a:off x="5334000" y="7277100"/>
            <a:ext cx="9433248" cy="646331"/>
          </a:xfrm>
          <a:prstGeom prst="rect">
            <a:avLst/>
          </a:prstGeom>
          <a:noFill/>
        </p:spPr>
        <p:txBody>
          <a:bodyPr wrap="square">
            <a:spAutoFit/>
          </a:bodyPr>
          <a:lstStyle/>
          <a:p>
            <a:r>
              <a:rPr lang="en-ES" dirty="0"/>
              <a:t>&lt;a href="https://www.magnific.com/free-photo/business-people-are-brainstorming_18411516.htm"&gt;Image by rawpixel.com on Magnific&lt;/a&gt;</a:t>
            </a:r>
          </a:p>
        </p:txBody>
      </p:sp>
      <p:pic>
        <p:nvPicPr>
          <p:cNvPr id="8" name="Picture 7">
            <a:extLst>
              <a:ext uri="{FF2B5EF4-FFF2-40B4-BE49-F238E27FC236}">
                <a16:creationId xmlns:a16="http://schemas.microsoft.com/office/drawing/2014/main" id="{5D1873A0-EFDB-013B-3F5F-29554AC3F0C4}"/>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0" y="0"/>
            <a:ext cx="18334769" cy="10287000"/>
          </a:xfrm>
          <a:prstGeom prst="rect">
            <a:avLst/>
          </a:prstGeom>
        </p:spPr>
      </p:pic>
      <p:sp>
        <p:nvSpPr>
          <p:cNvPr id="10" name="TextBox 8">
            <a:extLst>
              <a:ext uri="{FF2B5EF4-FFF2-40B4-BE49-F238E27FC236}">
                <a16:creationId xmlns:a16="http://schemas.microsoft.com/office/drawing/2014/main" id="{3C82FE66-567B-B0A7-7AE7-9AD330FB5C1F}"/>
              </a:ext>
            </a:extLst>
          </p:cNvPr>
          <p:cNvSpPr txBox="1"/>
          <p:nvPr/>
        </p:nvSpPr>
        <p:spPr>
          <a:xfrm>
            <a:off x="18691" y="8237080"/>
            <a:ext cx="18334769" cy="2049920"/>
          </a:xfrm>
          <a:prstGeom prst="rect">
            <a:avLst/>
          </a:prstGeom>
          <a:solidFill>
            <a:schemeClr val="bg1"/>
          </a:solidFill>
        </p:spPr>
        <p:txBody>
          <a:bodyPr wrap="square" lIns="0" tIns="0" rIns="0" bIns="0" rtlCol="0" anchor="t">
            <a:spAutoFit/>
          </a:bodyPr>
          <a:lstStyle/>
          <a:p>
            <a:pPr algn="r">
              <a:lnSpc>
                <a:spcPts val="7920"/>
              </a:lnSpc>
            </a:pPr>
            <a:r>
              <a:rPr lang="en-US" sz="7200" b="1" dirty="0">
                <a:solidFill>
                  <a:srgbClr val="02464E"/>
                </a:solidFill>
                <a:latin typeface="Poppins Bold"/>
                <a:ea typeface="Poppins Bold"/>
                <a:cs typeface="Poppins Bold"/>
                <a:sym typeface="Poppins Bold"/>
              </a:rPr>
              <a:t>How Can We Embed Policy Into Projects? </a:t>
            </a:r>
          </a:p>
        </p:txBody>
      </p:sp>
    </p:spTree>
    <p:extLst>
      <p:ext uri="{BB962C8B-B14F-4D97-AF65-F5344CB8AC3E}">
        <p14:creationId xmlns:p14="http://schemas.microsoft.com/office/powerpoint/2010/main" val="4216956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647BE-C723-C118-1052-F51B127A6C73}"/>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7938765-390D-7432-8062-06ADC3B73994}"/>
              </a:ext>
            </a:extLst>
          </p:cNvPr>
          <p:cNvSpPr/>
          <p:nvPr/>
        </p:nvSpPr>
        <p:spPr>
          <a:xfrm>
            <a:off x="685800" y="2095500"/>
            <a:ext cx="171450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Design your project work plan with policy in mind.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4000" dirty="0">
              <a:solidFill>
                <a:srgbClr val="02464E"/>
              </a:solidFill>
              <a:latin typeface="Poppins" panose="00000500000000000000" pitchFamily="2" charset="0"/>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4000" dirty="0">
                <a:solidFill>
                  <a:srgbClr val="02464E"/>
                </a:solidFill>
                <a:latin typeface="Poppins" panose="00000500000000000000" pitchFamily="2" charset="0"/>
                <a:cs typeface="Poppins" panose="00000500000000000000" pitchFamily="2" charset="0"/>
              </a:rPr>
              <a:t>Dedicate a project task or even a work package to this end.</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4000" dirty="0">
                <a:solidFill>
                  <a:srgbClr val="02464E"/>
                </a:solidFill>
                <a:latin typeface="Poppins" panose="00000500000000000000" pitchFamily="2" charset="0"/>
                <a:cs typeface="Poppins" panose="00000500000000000000" pitchFamily="2" charset="0"/>
              </a:rPr>
              <a:t>This work is essential to the project’s success and is not just an “Add-on”</a:t>
            </a: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p:txBody>
      </p:sp>
      <p:sp>
        <p:nvSpPr>
          <p:cNvPr id="3" name="TextBox 8">
            <a:extLst>
              <a:ext uri="{FF2B5EF4-FFF2-40B4-BE49-F238E27FC236}">
                <a16:creationId xmlns:a16="http://schemas.microsoft.com/office/drawing/2014/main" id="{EDD69F74-68F5-E952-CD16-94B40B644949}"/>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Project Design Phase</a:t>
            </a:r>
          </a:p>
        </p:txBody>
      </p:sp>
    </p:spTree>
    <p:extLst>
      <p:ext uri="{BB962C8B-B14F-4D97-AF65-F5344CB8AC3E}">
        <p14:creationId xmlns:p14="http://schemas.microsoft.com/office/powerpoint/2010/main" val="4254261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E817A-1C19-A99C-389C-8E6A835A49C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706C25C-379A-710A-F13D-7D873341B2E5}"/>
              </a:ext>
            </a:extLst>
          </p:cNvPr>
          <p:cNvSpPr/>
          <p:nvPr/>
        </p:nvSpPr>
        <p:spPr>
          <a:xfrm>
            <a:off x="685800" y="2095500"/>
            <a:ext cx="171450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lnSpcReduction="10000"/>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Establish a policy team / working group in your project.</a:t>
            </a:r>
          </a:p>
          <a:p>
            <a:pPr marR="0" lvl="0" algn="l" defTabSz="914400" rtl="0" eaLnBrk="1" fontAlgn="auto" latinLnBrk="0" hangingPunct="1">
              <a:lnSpc>
                <a:spcPct val="100000"/>
              </a:lnSpc>
              <a:spcBef>
                <a:spcPts val="0"/>
              </a:spcBef>
              <a:spcAft>
                <a:spcPts val="0"/>
              </a:spcAft>
              <a:buClrTx/>
              <a:buSzTx/>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4000" dirty="0">
                <a:solidFill>
                  <a:srgbClr val="02464E"/>
                </a:solidFill>
                <a:latin typeface="Poppins" panose="00000500000000000000" pitchFamily="2" charset="0"/>
                <a:cs typeface="Poppins" panose="00000500000000000000" pitchFamily="2" charset="0"/>
              </a:rPr>
              <a:t>Discuss what Key Exploitable Results (KER) will be generated during the project which could have an impact on policy.</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4000" dirty="0">
                <a:solidFill>
                  <a:srgbClr val="02464E"/>
                </a:solidFill>
                <a:latin typeface="Poppins" panose="00000500000000000000" pitchFamily="2" charset="0"/>
                <a:cs typeface="Poppins" panose="00000500000000000000" pitchFamily="2" charset="0"/>
              </a:rPr>
              <a:t>Identify potential policy stakeholders: Local, regional, national, European, international…..</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4000" dirty="0">
                <a:solidFill>
                  <a:srgbClr val="02464E"/>
                </a:solidFill>
                <a:latin typeface="Poppins" panose="00000500000000000000" pitchFamily="2" charset="0"/>
                <a:cs typeface="Poppins" panose="00000500000000000000" pitchFamily="2" charset="0"/>
              </a:rPr>
              <a:t>Use your own network / project partners’ networks – Any low hanging fruit? </a:t>
            </a: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p:txBody>
      </p:sp>
      <p:sp>
        <p:nvSpPr>
          <p:cNvPr id="3" name="TextBox 8">
            <a:extLst>
              <a:ext uri="{FF2B5EF4-FFF2-40B4-BE49-F238E27FC236}">
                <a16:creationId xmlns:a16="http://schemas.microsoft.com/office/drawing/2014/main" id="{02B684FB-A10B-BEDF-5FCD-4D9D3AE019F8}"/>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Project Execution Phase I/II</a:t>
            </a:r>
          </a:p>
        </p:txBody>
      </p:sp>
    </p:spTree>
    <p:extLst>
      <p:ext uri="{BB962C8B-B14F-4D97-AF65-F5344CB8AC3E}">
        <p14:creationId xmlns:p14="http://schemas.microsoft.com/office/powerpoint/2010/main" val="2988786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86213-5FE9-E755-1EAE-17D9EDA37CCE}"/>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2DDB55B-1D98-B941-D176-7CEAFF686507}"/>
              </a:ext>
            </a:extLst>
          </p:cNvPr>
          <p:cNvSpPr/>
          <p:nvPr/>
        </p:nvSpPr>
        <p:spPr>
          <a:xfrm>
            <a:off x="685800" y="2095500"/>
            <a:ext cx="171450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Engage stakeholders in the project from early on – What are their needs? What are the hot topics?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4000" dirty="0">
              <a:solidFill>
                <a:srgbClr val="02464E"/>
              </a:solidFill>
              <a:latin typeface="Poppins" panose="00000500000000000000" pitchFamily="2" charset="0"/>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Plan regular engagement activities and feedback loops.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4000" dirty="0">
              <a:solidFill>
                <a:srgbClr val="02464E"/>
              </a:solidFill>
              <a:latin typeface="Poppins" panose="00000500000000000000" pitchFamily="2" charset="0"/>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Ensure closure at the end of the project through the presentation of results. </a:t>
            </a:r>
          </a:p>
        </p:txBody>
      </p:sp>
      <p:sp>
        <p:nvSpPr>
          <p:cNvPr id="3" name="TextBox 8">
            <a:extLst>
              <a:ext uri="{FF2B5EF4-FFF2-40B4-BE49-F238E27FC236}">
                <a16:creationId xmlns:a16="http://schemas.microsoft.com/office/drawing/2014/main" id="{2250DF56-3822-8663-289C-FC52FD881F25}"/>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Project Execution Phase II/II</a:t>
            </a:r>
          </a:p>
        </p:txBody>
      </p:sp>
    </p:spTree>
    <p:extLst>
      <p:ext uri="{BB962C8B-B14F-4D97-AF65-F5344CB8AC3E}">
        <p14:creationId xmlns:p14="http://schemas.microsoft.com/office/powerpoint/2010/main" val="4025624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856B8-3718-BAD2-5569-E13A09EADF8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5819C08-58BE-5CCB-1868-0C828932D194}"/>
              </a:ext>
            </a:extLst>
          </p:cNvPr>
          <p:cNvPicPr>
            <a:picLocks noChangeAspect="1"/>
          </p:cNvPicPr>
          <p:nvPr/>
        </p:nvPicPr>
        <p:blipFill>
          <a:blip r:embed="rId3" cstate="email">
            <a:extLst>
              <a:ext uri="{28A0092B-C50C-407E-A947-70E740481C1C}">
                <a14:useLocalDpi xmlns:a14="http://schemas.microsoft.com/office/drawing/2010/main"/>
              </a:ext>
            </a:extLst>
          </a:blip>
          <a:srcRect l="-10569"/>
          <a:stretch>
            <a:fillRect/>
          </a:stretch>
        </p:blipFill>
        <p:spPr>
          <a:xfrm>
            <a:off x="-1981200" y="-151872"/>
            <a:ext cx="20250509" cy="11428479"/>
          </a:xfrm>
          <a:prstGeom prst="rect">
            <a:avLst/>
          </a:prstGeom>
        </p:spPr>
      </p:pic>
      <p:sp>
        <p:nvSpPr>
          <p:cNvPr id="10" name="TextBox 8">
            <a:extLst>
              <a:ext uri="{FF2B5EF4-FFF2-40B4-BE49-F238E27FC236}">
                <a16:creationId xmlns:a16="http://schemas.microsoft.com/office/drawing/2014/main" id="{8DC46140-B4B0-3866-8950-D73A0C8A5D1C}"/>
              </a:ext>
            </a:extLst>
          </p:cNvPr>
          <p:cNvSpPr txBox="1"/>
          <p:nvPr/>
        </p:nvSpPr>
        <p:spPr>
          <a:xfrm>
            <a:off x="-228599" y="8237080"/>
            <a:ext cx="18582060" cy="2049920"/>
          </a:xfrm>
          <a:prstGeom prst="rect">
            <a:avLst/>
          </a:prstGeom>
          <a:solidFill>
            <a:schemeClr val="bg1"/>
          </a:solidFill>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What Tools Can We Use to Reach, Engage &amp; Inform Policy Stakeholders? </a:t>
            </a:r>
          </a:p>
        </p:txBody>
      </p:sp>
    </p:spTree>
    <p:extLst>
      <p:ext uri="{BB962C8B-B14F-4D97-AF65-F5344CB8AC3E}">
        <p14:creationId xmlns:p14="http://schemas.microsoft.com/office/powerpoint/2010/main" val="3990116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4445F-752E-4A88-0111-37EABED7A7AB}"/>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60D407E-D118-53ED-6994-557A6A96BECD}"/>
              </a:ext>
            </a:extLst>
          </p:cNvPr>
          <p:cNvSpPr/>
          <p:nvPr/>
        </p:nvSpPr>
        <p:spPr>
          <a:xfrm>
            <a:off x="7848600" y="2247900"/>
            <a:ext cx="109728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4000" dirty="0">
                <a:solidFill>
                  <a:srgbClr val="02464E"/>
                </a:solidFill>
                <a:latin typeface="Poppins" panose="00000500000000000000" pitchFamily="2" charset="0"/>
                <a:cs typeface="Poppins" panose="00000500000000000000" pitchFamily="2" charset="0"/>
              </a:rPr>
              <a:t>T</a:t>
            </a: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he type of document or report depends on your results &amp; the stakeholders you are addressing:</a:t>
            </a:r>
          </a:p>
          <a:p>
            <a:pPr marL="914400" lvl="1" indent="-457200">
              <a:buFont typeface="Arial" panose="020B0604020202020204" pitchFamily="34" charset="0"/>
              <a:buChar char="•"/>
            </a:pPr>
            <a:r>
              <a:rPr lang="en-GB" sz="3000" dirty="0">
                <a:solidFill>
                  <a:srgbClr val="02464E"/>
                </a:solidFill>
                <a:latin typeface="Poppins" panose="00000500000000000000" pitchFamily="2" charset="0"/>
                <a:cs typeface="Poppins" panose="00000500000000000000" pitchFamily="2" charset="0"/>
              </a:rPr>
              <a:t>White/green papers</a:t>
            </a:r>
          </a:p>
          <a:p>
            <a:pPr marL="914400" lvl="1" indent="-457200">
              <a:buFont typeface="Arial" panose="020B0604020202020204" pitchFamily="34" charset="0"/>
              <a:buChar char="•"/>
            </a:pPr>
            <a:r>
              <a:rPr kumimoji="0" lang="en-GB" sz="3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Policy Briefs</a:t>
            </a:r>
          </a:p>
          <a:p>
            <a:pPr marL="914400" lvl="1" indent="-457200">
              <a:buFont typeface="Arial" panose="020B0604020202020204" pitchFamily="34" charset="0"/>
              <a:buChar char="•"/>
            </a:pPr>
            <a:r>
              <a:rPr lang="en-GB" sz="3000" dirty="0">
                <a:solidFill>
                  <a:srgbClr val="02464E"/>
                </a:solidFill>
                <a:latin typeface="Poppins" panose="00000500000000000000" pitchFamily="2" charset="0"/>
                <a:cs typeface="Poppins" panose="00000500000000000000" pitchFamily="2" charset="0"/>
              </a:rPr>
              <a:t>Recommendations etc.</a:t>
            </a:r>
          </a:p>
          <a:p>
            <a:pPr marL="914400" lvl="1" indent="-457200">
              <a:buFont typeface="Arial" panose="020B0604020202020204" pitchFamily="34" charset="0"/>
              <a:buChar char="•"/>
            </a:pPr>
            <a:endParaRPr lang="en-GB" sz="4000" dirty="0">
              <a:solidFill>
                <a:srgbClr val="02464E"/>
              </a:solidFill>
              <a:latin typeface="Poppins" panose="00000500000000000000" pitchFamily="2" charset="0"/>
              <a:cs typeface="Poppins" panose="00000500000000000000" pitchFamily="2" charset="0"/>
            </a:endParaRPr>
          </a:p>
          <a:p>
            <a:pPr marL="457200" indent="-457200">
              <a:buFont typeface="Arial" panose="020B0604020202020204" pitchFamily="34" charset="0"/>
              <a:buChar cha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Structure is key….</a:t>
            </a:r>
          </a:p>
          <a:p>
            <a:pPr marL="914400" lvl="1" indent="-457200">
              <a:buFont typeface="Arial" panose="020B0604020202020204" pitchFamily="34" charset="0"/>
              <a:buChar char="•"/>
            </a:pPr>
            <a:r>
              <a:rPr lang="en-GB" sz="3000" dirty="0">
                <a:solidFill>
                  <a:srgbClr val="02464E"/>
                </a:solidFill>
                <a:latin typeface="Poppins" panose="00000500000000000000" pitchFamily="2" charset="0"/>
                <a:cs typeface="Poppins" panose="00000500000000000000" pitchFamily="2" charset="0"/>
              </a:rPr>
              <a:t>Less is more</a:t>
            </a:r>
          </a:p>
          <a:p>
            <a:pPr marL="914400" lvl="1" indent="-457200">
              <a:buFont typeface="Arial" panose="020B0604020202020204" pitchFamily="34" charset="0"/>
              <a:buChar char="•"/>
            </a:pPr>
            <a:r>
              <a:rPr kumimoji="0" lang="en-GB" sz="3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Highlight key points with statistics + images</a:t>
            </a:r>
          </a:p>
        </p:txBody>
      </p:sp>
      <p:sp>
        <p:nvSpPr>
          <p:cNvPr id="3" name="TextBox 8">
            <a:extLst>
              <a:ext uri="{FF2B5EF4-FFF2-40B4-BE49-F238E27FC236}">
                <a16:creationId xmlns:a16="http://schemas.microsoft.com/office/drawing/2014/main" id="{75AA2F36-AD2A-09B9-662E-D6CBD41FD051}"/>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Documents &amp; Reports</a:t>
            </a:r>
          </a:p>
        </p:txBody>
      </p:sp>
      <p:pic>
        <p:nvPicPr>
          <p:cNvPr id="5" name="Picture 4">
            <a:extLst>
              <a:ext uri="{FF2B5EF4-FFF2-40B4-BE49-F238E27FC236}">
                <a16:creationId xmlns:a16="http://schemas.microsoft.com/office/drawing/2014/main" id="{28C0FC6D-AF19-FCB8-0A5D-5E43F4D9CFA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200" y="2825496"/>
            <a:ext cx="7772400" cy="5181600"/>
          </a:xfrm>
          <a:prstGeom prst="rect">
            <a:avLst/>
          </a:prstGeom>
        </p:spPr>
      </p:pic>
      <p:sp>
        <p:nvSpPr>
          <p:cNvPr id="6" name="TextBox 5">
            <a:extLst>
              <a:ext uri="{FF2B5EF4-FFF2-40B4-BE49-F238E27FC236}">
                <a16:creationId xmlns:a16="http://schemas.microsoft.com/office/drawing/2014/main" id="{19B07855-90E1-CFA4-8692-CC18EDCFEF38}"/>
              </a:ext>
            </a:extLst>
          </p:cNvPr>
          <p:cNvSpPr txBox="1"/>
          <p:nvPr/>
        </p:nvSpPr>
        <p:spPr>
          <a:xfrm>
            <a:off x="457200" y="8110966"/>
            <a:ext cx="5486400" cy="369332"/>
          </a:xfrm>
          <a:prstGeom prst="rect">
            <a:avLst/>
          </a:prstGeom>
          <a:noFill/>
        </p:spPr>
        <p:txBody>
          <a:bodyPr wrap="square">
            <a:spAutoFit/>
          </a:bodyPr>
          <a:lstStyle/>
          <a:p>
            <a:r>
              <a:rPr lang="en-ES" dirty="0">
                <a:solidFill>
                  <a:srgbClr val="000610"/>
                </a:solidFill>
              </a:rPr>
              <a:t>Source: AI-generated image, OpenAI ChatGPT, 2026.</a:t>
            </a:r>
          </a:p>
        </p:txBody>
      </p:sp>
    </p:spTree>
    <p:extLst>
      <p:ext uri="{BB962C8B-B14F-4D97-AF65-F5344CB8AC3E}">
        <p14:creationId xmlns:p14="http://schemas.microsoft.com/office/powerpoint/2010/main" val="2562813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4F3E4-8FD5-D9EB-6D26-03C56C25BBD7}"/>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C287AC6-E728-D74E-5A9D-911178C11378}"/>
              </a:ext>
            </a:extLst>
          </p:cNvPr>
          <p:cNvSpPr/>
          <p:nvPr/>
        </p:nvSpPr>
        <p:spPr>
          <a:xfrm>
            <a:off x="1219200" y="915900"/>
            <a:ext cx="15008352" cy="441425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R="0" lvl="0" algn="l" defTabSz="914400" rtl="0" eaLnBrk="1" fontAlgn="auto" latinLnBrk="0" hangingPunct="1">
              <a:lnSpc>
                <a:spcPct val="100000"/>
              </a:lnSpc>
              <a:spcBef>
                <a:spcPts val="0"/>
              </a:spcBef>
              <a:spcAft>
                <a:spcPts val="0"/>
              </a:spcAft>
              <a:buClrTx/>
              <a:buSzTx/>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Events are a fantastic way to engage stakeholders, gain feedback and present results: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3000" dirty="0">
                <a:solidFill>
                  <a:srgbClr val="02464E"/>
                </a:solidFill>
                <a:latin typeface="Poppins" panose="00000500000000000000" pitchFamily="2" charset="0"/>
                <a:cs typeface="Poppins" panose="00000500000000000000" pitchFamily="2" charset="0"/>
              </a:rPr>
              <a:t>Round tables &amp; High-level lunches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3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Large-scale conferences &amp; summits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3000" dirty="0">
                <a:solidFill>
                  <a:srgbClr val="02464E"/>
                </a:solidFill>
                <a:latin typeface="Poppins" panose="00000500000000000000" pitchFamily="2" charset="0"/>
                <a:cs typeface="Poppins" panose="00000500000000000000" pitchFamily="2" charset="0"/>
              </a:rPr>
              <a:t>Workshops at key conferences / </a:t>
            </a:r>
            <a:r>
              <a:rPr kumimoji="0" lang="en-GB" sz="3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Events at the European Parliament</a:t>
            </a:r>
          </a:p>
        </p:txBody>
      </p:sp>
      <p:sp>
        <p:nvSpPr>
          <p:cNvPr id="3" name="TextBox 8">
            <a:extLst>
              <a:ext uri="{FF2B5EF4-FFF2-40B4-BE49-F238E27FC236}">
                <a16:creationId xmlns:a16="http://schemas.microsoft.com/office/drawing/2014/main" id="{79BD91C8-D324-D5B9-A945-F9E1E5E6A655}"/>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Events</a:t>
            </a:r>
          </a:p>
        </p:txBody>
      </p:sp>
      <p:sp>
        <p:nvSpPr>
          <p:cNvPr id="6" name="TextBox 5">
            <a:extLst>
              <a:ext uri="{FF2B5EF4-FFF2-40B4-BE49-F238E27FC236}">
                <a16:creationId xmlns:a16="http://schemas.microsoft.com/office/drawing/2014/main" id="{1A7FB2E4-21F8-D70D-0E15-5D5EA4E0F4BE}"/>
              </a:ext>
            </a:extLst>
          </p:cNvPr>
          <p:cNvSpPr txBox="1"/>
          <p:nvPr/>
        </p:nvSpPr>
        <p:spPr>
          <a:xfrm>
            <a:off x="14932153" y="6391976"/>
            <a:ext cx="327964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ES" sz="1800" b="0" i="0" u="none" strike="noStrike" kern="1200" cap="none" spc="0" normalizeH="0" baseline="0" noProof="0" dirty="0">
                <a:ln>
                  <a:noFill/>
                </a:ln>
                <a:solidFill>
                  <a:srgbClr val="000610"/>
                </a:solidFill>
                <a:effectLst/>
                <a:uLnTx/>
                <a:uFillTx/>
                <a:latin typeface="Calibri"/>
                <a:ea typeface="+mn-ea"/>
                <a:cs typeface="+mn-cs"/>
              </a:rPr>
              <a:t>Source: IDEAL Cluster Summit,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ES" sz="1800" b="0" i="0" u="none" strike="noStrike" kern="1200" cap="none" spc="0" normalizeH="0" baseline="0" noProof="0" dirty="0">
                <a:ln>
                  <a:noFill/>
                </a:ln>
                <a:solidFill>
                  <a:srgbClr val="000610"/>
                </a:solidFill>
                <a:effectLst/>
                <a:uLnTx/>
                <a:uFillTx/>
                <a:latin typeface="Calibri"/>
                <a:ea typeface="+mn-ea"/>
                <a:cs typeface="+mn-cs"/>
              </a:rPr>
              <a:t>Brussels, June 2026.</a:t>
            </a:r>
          </a:p>
        </p:txBody>
      </p:sp>
      <p:pic>
        <p:nvPicPr>
          <p:cNvPr id="10" name="Picture 9">
            <a:extLst>
              <a:ext uri="{FF2B5EF4-FFF2-40B4-BE49-F238E27FC236}">
                <a16:creationId xmlns:a16="http://schemas.microsoft.com/office/drawing/2014/main" id="{711A6713-47EB-FBF0-1226-072B8492A46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352800" y="4656789"/>
            <a:ext cx="11277599" cy="4089677"/>
          </a:xfrm>
          <a:prstGeom prst="rect">
            <a:avLst/>
          </a:prstGeom>
        </p:spPr>
      </p:pic>
    </p:spTree>
    <p:extLst>
      <p:ext uri="{BB962C8B-B14F-4D97-AF65-F5344CB8AC3E}">
        <p14:creationId xmlns:p14="http://schemas.microsoft.com/office/powerpoint/2010/main" val="98293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3E547-8D1C-E16A-4F02-8B1CDF9ECE8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51BB5C0-E5F9-D155-A030-383A008E8705}"/>
              </a:ext>
            </a:extLst>
          </p:cNvPr>
          <p:cNvSpPr/>
          <p:nvPr/>
        </p:nvSpPr>
        <p:spPr>
          <a:xfrm>
            <a:off x="685800" y="2095500"/>
            <a:ext cx="171450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20000"/>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4000" dirty="0">
                <a:solidFill>
                  <a:srgbClr val="02464E"/>
                </a:solidFill>
                <a:latin typeface="Poppins" panose="00000500000000000000" pitchFamily="2" charset="0"/>
                <a:cs typeface="Poppins" panose="00000500000000000000" pitchFamily="2" charset="0"/>
              </a:rPr>
              <a:t>Focus on more targeted, smaller scale engagement in the beginning of the project, building towards larger scale activities when you have results to present. </a:t>
            </a: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Don’t engagement activities too late in your project – no time for feedback.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Involvement of Members of European Parliament (MEPs) – Check their political schedule!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4000" dirty="0">
              <a:solidFill>
                <a:srgbClr val="02464E"/>
              </a:solidFill>
              <a:latin typeface="Poppins" panose="00000500000000000000" pitchFamily="2" charset="0"/>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Side conference at a third-party event? – When does the call for workshops open?</a:t>
            </a:r>
          </a:p>
        </p:txBody>
      </p:sp>
      <p:sp>
        <p:nvSpPr>
          <p:cNvPr id="3" name="TextBox 8">
            <a:extLst>
              <a:ext uri="{FF2B5EF4-FFF2-40B4-BE49-F238E27FC236}">
                <a16:creationId xmlns:a16="http://schemas.microsoft.com/office/drawing/2014/main" id="{D9049623-35E0-FBA1-DC8D-4D6DA68DFB64}"/>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Timing is key….</a:t>
            </a:r>
          </a:p>
        </p:txBody>
      </p:sp>
    </p:spTree>
    <p:extLst>
      <p:ext uri="{BB962C8B-B14F-4D97-AF65-F5344CB8AC3E}">
        <p14:creationId xmlns:p14="http://schemas.microsoft.com/office/powerpoint/2010/main" val="583955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8E7B7-DDF7-F2F1-0A5E-4E170EF8224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77BADA1-C134-1149-8148-CB626ED63BCC}"/>
              </a:ext>
            </a:extLst>
          </p:cNvPr>
          <p:cNvSpPr/>
          <p:nvPr/>
        </p:nvSpPr>
        <p:spPr>
          <a:xfrm>
            <a:off x="685800" y="2095500"/>
            <a:ext cx="171450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lnSpcReduction="10000"/>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Brussels is a go-to option for policy related events at European level……however, other options may better suit you…</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4000" dirty="0">
              <a:solidFill>
                <a:srgbClr val="02464E"/>
              </a:solidFill>
              <a:latin typeface="Poppins" panose="00000500000000000000" pitchFamily="2" charset="0"/>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Is there a thematic conference taking place somewhere where you could organise a workshop or event?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4000" dirty="0">
              <a:solidFill>
                <a:srgbClr val="02464E"/>
              </a:solidFill>
              <a:latin typeface="Poppins" panose="00000500000000000000" pitchFamily="2" charset="0"/>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Are your results specific to a local context, would a local or regional event be better? E.g. smart city projects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4000" dirty="0">
              <a:solidFill>
                <a:srgbClr val="02464E"/>
              </a:solidFill>
              <a:latin typeface="Poppins" panose="00000500000000000000" pitchFamily="2" charset="0"/>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Busy period – better to organise the activity online? </a:t>
            </a:r>
            <a:endParaRPr lang="en-GB" sz="4000" dirty="0">
              <a:solidFill>
                <a:srgbClr val="02464E"/>
              </a:solidFill>
              <a:latin typeface="Poppins" panose="00000500000000000000" pitchFamily="2" charset="0"/>
              <a:cs typeface="Poppins" panose="00000500000000000000" pitchFamily="2" charset="0"/>
            </a:endParaRPr>
          </a:p>
        </p:txBody>
      </p:sp>
      <p:sp>
        <p:nvSpPr>
          <p:cNvPr id="3" name="TextBox 8">
            <a:extLst>
              <a:ext uri="{FF2B5EF4-FFF2-40B4-BE49-F238E27FC236}">
                <a16:creationId xmlns:a16="http://schemas.microsoft.com/office/drawing/2014/main" id="{18946CAE-59AD-3831-533C-BA295A26DC0C}"/>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Choose The Location Wisely</a:t>
            </a:r>
          </a:p>
        </p:txBody>
      </p:sp>
    </p:spTree>
    <p:extLst>
      <p:ext uri="{BB962C8B-B14F-4D97-AF65-F5344CB8AC3E}">
        <p14:creationId xmlns:p14="http://schemas.microsoft.com/office/powerpoint/2010/main" val="1144013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10CA6-27DC-FB17-236E-82AF6357BA4E}"/>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C02C869-7B21-E918-0EAD-04F7A685E2A5}"/>
              </a:ext>
            </a:extLst>
          </p:cNvPr>
          <p:cNvSpPr/>
          <p:nvPr/>
        </p:nvSpPr>
        <p:spPr>
          <a:xfrm>
            <a:off x="685800" y="2095500"/>
            <a:ext cx="171450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10000"/>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1"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Events: </a:t>
            </a:r>
          </a:p>
          <a:p>
            <a:pPr marL="914400" lvl="1" indent="-457200">
              <a:buFont typeface="Arial" panose="020B0604020202020204" pitchFamily="34" charset="0"/>
              <a:buChar cha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Ask participants about accessibility needs before the events.</a:t>
            </a:r>
          </a:p>
          <a:p>
            <a:pPr marL="914400" lvl="1" indent="-457200">
              <a:buFont typeface="Arial" panose="020B0604020202020204" pitchFamily="34" charset="0"/>
              <a:buChar cha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Schedule regular breaks. </a:t>
            </a:r>
          </a:p>
          <a:p>
            <a:pPr marL="914400" lvl="1" indent="-457200">
              <a:buFont typeface="Arial" panose="020B0604020202020204" pitchFamily="34" charset="0"/>
              <a:buChar cha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Ensure all participants use a microphone when speaking.</a:t>
            </a:r>
          </a:p>
          <a:p>
            <a:pPr marL="914400" lvl="1" indent="-457200">
              <a:buFont typeface="Arial" panose="020B0604020202020204" pitchFamily="34" charset="0"/>
              <a:buChar char="•"/>
            </a:pPr>
            <a:r>
              <a:rPr lang="en-GB" sz="4000" dirty="0">
                <a:solidFill>
                  <a:srgbClr val="02464E"/>
                </a:solidFill>
                <a:latin typeface="Poppins" panose="00000500000000000000" pitchFamily="2" charset="0"/>
                <a:cs typeface="Poppins" panose="00000500000000000000" pitchFamily="2" charset="0"/>
              </a:rPr>
              <a:t>Provide automated captions for online events. </a:t>
            </a:r>
          </a:p>
          <a:p>
            <a:pPr marR="0" lvl="0" algn="l" defTabSz="914400" rtl="0" eaLnBrk="1" fontAlgn="auto" latinLnBrk="0" hangingPunct="1">
              <a:lnSpc>
                <a:spcPct val="100000"/>
              </a:lnSpc>
              <a:spcBef>
                <a:spcPts val="0"/>
              </a:spcBef>
              <a:spcAft>
                <a:spcPts val="0"/>
              </a:spcAft>
              <a:buClrTx/>
              <a:buSzTx/>
              <a:tabLst/>
              <a:defRPr/>
            </a:pP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1"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Documents: </a:t>
            </a:r>
          </a:p>
          <a:p>
            <a:pPr marL="914400" lvl="1" indent="-457200">
              <a:buFont typeface="Arial" panose="020B0604020202020204" pitchFamily="34" charset="0"/>
              <a:buChar cha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1.5-line spacing.</a:t>
            </a:r>
          </a:p>
          <a:p>
            <a:pPr marL="914400" lvl="1" indent="-457200">
              <a:buFont typeface="Arial" panose="020B0604020202020204" pitchFamily="34" charset="0"/>
              <a:buChar char="•"/>
            </a:pPr>
            <a:r>
              <a:rPr lang="en-GB" sz="4000" dirty="0">
                <a:solidFill>
                  <a:srgbClr val="02464E"/>
                </a:solidFill>
                <a:latin typeface="Poppins" panose="00000500000000000000" pitchFamily="2" charset="0"/>
                <a:cs typeface="Poppins" panose="00000500000000000000" pitchFamily="2" charset="0"/>
              </a:rPr>
              <a:t>Unjustified text.</a:t>
            </a:r>
          </a:p>
          <a:p>
            <a:pPr marL="914400" lvl="1" indent="-457200">
              <a:buFont typeface="Arial" panose="020B0604020202020204" pitchFamily="34" charset="0"/>
              <a:buChar cha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Alternative Text Descriptions.</a:t>
            </a:r>
          </a:p>
          <a:p>
            <a:pPr marL="914400" lvl="1" indent="-457200">
              <a:buFont typeface="Arial" panose="020B0604020202020204" pitchFamily="34" charset="0"/>
              <a:buChar char="•"/>
            </a:pPr>
            <a:r>
              <a:rPr lang="en-GB" sz="4000" dirty="0">
                <a:solidFill>
                  <a:srgbClr val="02464E"/>
                </a:solidFill>
                <a:latin typeface="Poppins" panose="00000500000000000000" pitchFamily="2" charset="0"/>
                <a:cs typeface="Poppins" panose="00000500000000000000" pitchFamily="2" charset="0"/>
              </a:rPr>
              <a:t>Use the accessibility checker in Word.</a:t>
            </a: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p:txBody>
      </p:sp>
      <p:sp>
        <p:nvSpPr>
          <p:cNvPr id="3" name="TextBox 8">
            <a:extLst>
              <a:ext uri="{FF2B5EF4-FFF2-40B4-BE49-F238E27FC236}">
                <a16:creationId xmlns:a16="http://schemas.microsoft.com/office/drawing/2014/main" id="{A63F9B58-A189-F665-9E33-5B5B85AE4209}"/>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lang="en-US" sz="7200" b="1" dirty="0">
                <a:solidFill>
                  <a:srgbClr val="02464E"/>
                </a:solidFill>
                <a:latin typeface="Poppins Bold"/>
                <a:ea typeface="Poppins Bold"/>
                <a:cs typeface="Poppins Bold"/>
                <a:sym typeface="Poppins Bold"/>
              </a:rPr>
              <a:t>Accessible Events &amp; Documents</a:t>
            </a:r>
            <a:endPar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endParaRPr>
          </a:p>
        </p:txBody>
      </p:sp>
      <p:sp>
        <p:nvSpPr>
          <p:cNvPr id="5" name="TextBox 4">
            <a:extLst>
              <a:ext uri="{FF2B5EF4-FFF2-40B4-BE49-F238E27FC236}">
                <a16:creationId xmlns:a16="http://schemas.microsoft.com/office/drawing/2014/main" id="{95BB4599-F62D-E472-07EC-31AD3834BC53}"/>
              </a:ext>
            </a:extLst>
          </p:cNvPr>
          <p:cNvSpPr txBox="1"/>
          <p:nvPr/>
        </p:nvSpPr>
        <p:spPr>
          <a:xfrm>
            <a:off x="13487400" y="6286500"/>
            <a:ext cx="3352800" cy="1323439"/>
          </a:xfrm>
          <a:prstGeom prst="rect">
            <a:avLst/>
          </a:prstGeom>
          <a:noFill/>
          <a:ln w="31750">
            <a:solidFill>
              <a:srgbClr val="FF0000"/>
            </a:solidFill>
            <a:prstDash val="dash"/>
          </a:ln>
        </p:spPr>
        <p:txBody>
          <a:bodyPr wrap="square" rtlCol="0">
            <a:spAutoFit/>
          </a:bodyPr>
          <a:lstStyle/>
          <a:p>
            <a:r>
              <a:rPr lang="en-GB" sz="4000" noProof="0" dirty="0">
                <a:solidFill>
                  <a:srgbClr val="FF0000"/>
                </a:solidFill>
              </a:rPr>
              <a:t>This is not an exhaustive list</a:t>
            </a:r>
          </a:p>
        </p:txBody>
      </p:sp>
    </p:spTree>
    <p:extLst>
      <p:ext uri="{BB962C8B-B14F-4D97-AF65-F5344CB8AC3E}">
        <p14:creationId xmlns:p14="http://schemas.microsoft.com/office/powerpoint/2010/main" val="10109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2CD6D-5DF5-E232-1DAC-C3C7F5B1E681}"/>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85DD081-F1C3-1BDD-ADF8-08A1B61E6AC4}"/>
              </a:ext>
            </a:extLst>
          </p:cNvPr>
          <p:cNvSpPr/>
          <p:nvPr/>
        </p:nvSpPr>
        <p:spPr>
          <a:xfrm>
            <a:off x="685800" y="2095500"/>
            <a:ext cx="171450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p:txBody>
      </p:sp>
      <p:sp>
        <p:nvSpPr>
          <p:cNvPr id="3" name="TextBox 8">
            <a:extLst>
              <a:ext uri="{FF2B5EF4-FFF2-40B4-BE49-F238E27FC236}">
                <a16:creationId xmlns:a16="http://schemas.microsoft.com/office/drawing/2014/main" id="{F5BA2F10-65D6-D625-4CA2-5C7AA2F476FF}"/>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Keep Your Audience Engaged</a:t>
            </a:r>
          </a:p>
        </p:txBody>
      </p:sp>
      <p:sp>
        <p:nvSpPr>
          <p:cNvPr id="4" name="Rectangle: Rounded Corners 1">
            <a:extLst>
              <a:ext uri="{FF2B5EF4-FFF2-40B4-BE49-F238E27FC236}">
                <a16:creationId xmlns:a16="http://schemas.microsoft.com/office/drawing/2014/main" id="{95E5F1D4-044A-68F7-3DF2-6E95FEBF0E96}"/>
              </a:ext>
            </a:extLst>
          </p:cNvPr>
          <p:cNvSpPr/>
          <p:nvPr/>
        </p:nvSpPr>
        <p:spPr>
          <a:xfrm>
            <a:off x="838200" y="2247900"/>
            <a:ext cx="89154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85000" lnSpcReduction="10000"/>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1"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It is important that policy activities do not become a monologue. </a:t>
            </a: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It is called “engagement” as it should be a two-way conversation.</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4000" b="1" dirty="0">
                <a:solidFill>
                  <a:srgbClr val="02464E"/>
                </a:solidFill>
                <a:latin typeface="Poppins" panose="00000500000000000000" pitchFamily="2" charset="0"/>
                <a:cs typeface="Poppins" panose="00000500000000000000" pitchFamily="2" charset="0"/>
              </a:rPr>
              <a:t>Tools to successfully engage </a:t>
            </a:r>
            <a:r>
              <a:rPr lang="en-GB" sz="4000" dirty="0">
                <a:solidFill>
                  <a:srgbClr val="02464E"/>
                </a:solidFill>
                <a:latin typeface="Poppins" panose="00000500000000000000" pitchFamily="2" charset="0"/>
                <a:cs typeface="Poppins" panose="00000500000000000000" pitchFamily="2" charset="0"/>
              </a:rPr>
              <a:t>your audience include: </a:t>
            </a:r>
          </a:p>
          <a:p>
            <a:pPr marL="914400" lvl="1" indent="-457200">
              <a:buFont typeface="Arial" panose="020B0604020202020204" pitchFamily="34" charset="0"/>
              <a:buChar char="•"/>
            </a:pPr>
            <a:r>
              <a:rPr lang="en-GB" sz="4000" dirty="0">
                <a:solidFill>
                  <a:srgbClr val="02464E"/>
                </a:solidFill>
                <a:latin typeface="Poppins" panose="00000500000000000000" pitchFamily="2" charset="0"/>
                <a:cs typeface="Poppins" panose="00000500000000000000" pitchFamily="2" charset="0"/>
              </a:rPr>
              <a:t>Online questionnaires/polling</a:t>
            </a:r>
          </a:p>
          <a:p>
            <a:pPr marL="914400" lvl="1" indent="-457200">
              <a:buFont typeface="Arial" panose="020B0604020202020204" pitchFamily="34" charset="0"/>
              <a:buChar char="•"/>
            </a:pPr>
            <a:r>
              <a:rPr lang="en-GB" sz="4000" dirty="0">
                <a:solidFill>
                  <a:srgbClr val="02464E"/>
                </a:solidFill>
                <a:latin typeface="Poppins" panose="00000500000000000000" pitchFamily="2" charset="0"/>
                <a:cs typeface="Poppins" panose="00000500000000000000" pitchFamily="2" charset="0"/>
              </a:rPr>
              <a:t>Breakout groups/discussions</a:t>
            </a:r>
          </a:p>
          <a:p>
            <a:pPr marL="914400" lvl="1" indent="-457200">
              <a:buFont typeface="Arial" panose="020B0604020202020204" pitchFamily="34" charset="0"/>
              <a:buChar char="•"/>
            </a:pPr>
            <a:r>
              <a:rPr lang="en-GB" sz="4000" dirty="0">
                <a:solidFill>
                  <a:srgbClr val="02464E"/>
                </a:solidFill>
                <a:latin typeface="Poppins" panose="00000500000000000000" pitchFamily="2" charset="0"/>
                <a:cs typeface="Poppins" panose="00000500000000000000" pitchFamily="2" charset="0"/>
              </a:rPr>
              <a:t>Visual harvesting</a:t>
            </a:r>
          </a:p>
          <a:p>
            <a:pPr marL="914400" lvl="1" indent="-457200">
              <a:buFont typeface="Arial" panose="020B0604020202020204" pitchFamily="34" charset="0"/>
              <a:buChar char="•"/>
            </a:pPr>
            <a:r>
              <a:rPr lang="en-GB" sz="4000" dirty="0">
                <a:solidFill>
                  <a:srgbClr val="02464E"/>
                </a:solidFill>
                <a:latin typeface="Poppins" panose="00000500000000000000" pitchFamily="2" charset="0"/>
                <a:cs typeface="Poppins" panose="00000500000000000000" pitchFamily="2" charset="0"/>
              </a:rPr>
              <a:t>Q&amp;A sessions</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4000" dirty="0">
              <a:solidFill>
                <a:srgbClr val="02464E"/>
              </a:solidFill>
              <a:latin typeface="Poppins" panose="00000500000000000000" pitchFamily="2" charset="0"/>
              <a:cs typeface="Poppins" panose="00000500000000000000" pitchFamily="2" charset="0"/>
            </a:endParaRPr>
          </a:p>
        </p:txBody>
      </p:sp>
      <p:sp>
        <p:nvSpPr>
          <p:cNvPr id="5" name="TextBox 4">
            <a:extLst>
              <a:ext uri="{FF2B5EF4-FFF2-40B4-BE49-F238E27FC236}">
                <a16:creationId xmlns:a16="http://schemas.microsoft.com/office/drawing/2014/main" id="{51F3CBC4-3B6E-076D-9234-53A6A4706426}"/>
              </a:ext>
            </a:extLst>
          </p:cNvPr>
          <p:cNvSpPr txBox="1"/>
          <p:nvPr/>
        </p:nvSpPr>
        <p:spPr>
          <a:xfrm>
            <a:off x="10980093" y="8356869"/>
            <a:ext cx="54864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ES" sz="1800" b="0" i="0" u="none" strike="noStrike" kern="1200" cap="none" spc="0" normalizeH="0" baseline="0" noProof="0" dirty="0">
                <a:ln>
                  <a:noFill/>
                </a:ln>
                <a:solidFill>
                  <a:srgbClr val="000610"/>
                </a:solidFill>
                <a:effectLst/>
                <a:uLnTx/>
                <a:uFillTx/>
                <a:latin typeface="Calibri"/>
                <a:ea typeface="+mn-ea"/>
                <a:cs typeface="+mn-cs"/>
              </a:rPr>
              <a:t>Source: IDEAL Cluster Summit, Brussels, June 2026.</a:t>
            </a:r>
          </a:p>
        </p:txBody>
      </p:sp>
      <p:pic>
        <p:nvPicPr>
          <p:cNvPr id="6" name="Picture 5">
            <a:extLst>
              <a:ext uri="{FF2B5EF4-FFF2-40B4-BE49-F238E27FC236}">
                <a16:creationId xmlns:a16="http://schemas.microsoft.com/office/drawing/2014/main" id="{57FDA792-9C71-FEC0-856B-4B342075AF1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753600" y="2557770"/>
            <a:ext cx="8552688" cy="5690633"/>
          </a:xfrm>
          <a:prstGeom prst="rect">
            <a:avLst/>
          </a:prstGeom>
        </p:spPr>
      </p:pic>
    </p:spTree>
    <p:extLst>
      <p:ext uri="{BB962C8B-B14F-4D97-AF65-F5344CB8AC3E}">
        <p14:creationId xmlns:p14="http://schemas.microsoft.com/office/powerpoint/2010/main" val="1299640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CC211-8822-66E9-6CDF-4C6F20BFE93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B101A25-2798-2997-89FE-31F20B14116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 y="-1"/>
            <a:ext cx="18353461" cy="12235641"/>
          </a:xfrm>
          <a:prstGeom prst="rect">
            <a:avLst/>
          </a:prstGeom>
        </p:spPr>
      </p:pic>
    </p:spTree>
    <p:extLst>
      <p:ext uri="{BB962C8B-B14F-4D97-AF65-F5344CB8AC3E}">
        <p14:creationId xmlns:p14="http://schemas.microsoft.com/office/powerpoint/2010/main" val="3064582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F472E-1005-7D98-8413-3D1261755A2C}"/>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3C0D7D0B-E425-8FEE-8956-21FA0CF0AE17}"/>
              </a:ext>
            </a:extLst>
          </p:cNvPr>
          <p:cNvSpPr/>
          <p:nvPr/>
        </p:nvSpPr>
        <p:spPr>
          <a:xfrm>
            <a:off x="685800" y="1562100"/>
            <a:ext cx="174498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75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1. How many of you have participated in a Horizon Europe / EU-Funded Project?</a:t>
            </a:r>
          </a:p>
        </p:txBody>
      </p:sp>
    </p:spTree>
    <p:extLst>
      <p:ext uri="{BB962C8B-B14F-4D97-AF65-F5344CB8AC3E}">
        <p14:creationId xmlns:p14="http://schemas.microsoft.com/office/powerpoint/2010/main" val="3559743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DDC4C-E893-C3B1-925E-0A18A3F6304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40B47C7-2586-8B03-B455-21FB5A3FEFED}"/>
              </a:ext>
            </a:extLst>
          </p:cNvPr>
          <p:cNvSpPr/>
          <p:nvPr/>
        </p:nvSpPr>
        <p:spPr>
          <a:xfrm>
            <a:off x="685800" y="1562100"/>
            <a:ext cx="174498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7500" dirty="0">
                <a:solidFill>
                  <a:srgbClr val="02464E"/>
                </a:solidFill>
                <a:latin typeface="Poppins" panose="00000500000000000000" pitchFamily="2" charset="0"/>
                <a:cs typeface="Poppins" panose="00000500000000000000" pitchFamily="2" charset="0"/>
              </a:rPr>
              <a:t>2</a:t>
            </a:r>
            <a:r>
              <a:rPr kumimoji="0" lang="en-GB" sz="75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 Please keep your hand raised if you coordinated that project?</a:t>
            </a:r>
          </a:p>
        </p:txBody>
      </p:sp>
    </p:spTree>
    <p:extLst>
      <p:ext uri="{BB962C8B-B14F-4D97-AF65-F5344CB8AC3E}">
        <p14:creationId xmlns:p14="http://schemas.microsoft.com/office/powerpoint/2010/main" val="1022214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F893C-6314-EBC8-3C80-B69C2D982670}"/>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4A37CE2-E996-1CBE-CF99-BCDA2488C350}"/>
              </a:ext>
            </a:extLst>
          </p:cNvPr>
          <p:cNvSpPr/>
          <p:nvPr/>
        </p:nvSpPr>
        <p:spPr>
          <a:xfrm>
            <a:off x="685800" y="1562100"/>
            <a:ext cx="174498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7500" dirty="0">
                <a:solidFill>
                  <a:srgbClr val="02464E"/>
                </a:solidFill>
                <a:latin typeface="Poppins" panose="00000500000000000000" pitchFamily="2" charset="0"/>
                <a:cs typeface="Poppins" panose="00000500000000000000" pitchFamily="2" charset="0"/>
              </a:rPr>
              <a:t>3</a:t>
            </a:r>
            <a:r>
              <a:rPr kumimoji="0" lang="en-GB" sz="75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 </a:t>
            </a:r>
            <a:r>
              <a:rPr lang="en-GB" sz="7500" dirty="0">
                <a:solidFill>
                  <a:srgbClr val="02464E"/>
                </a:solidFill>
                <a:latin typeface="Poppins" panose="00000500000000000000" pitchFamily="2" charset="0"/>
                <a:cs typeface="Poppins" panose="00000500000000000000" pitchFamily="2" charset="0"/>
              </a:rPr>
              <a:t>Can anyone share any examples of a project or initiative has generated policy change? </a:t>
            </a:r>
            <a:endParaRPr kumimoji="0" lang="en-GB" sz="75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p:txBody>
      </p:sp>
    </p:spTree>
    <p:extLst>
      <p:ext uri="{BB962C8B-B14F-4D97-AF65-F5344CB8AC3E}">
        <p14:creationId xmlns:p14="http://schemas.microsoft.com/office/powerpoint/2010/main" val="1227499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2A047-1287-6FB9-B651-6CE7DE956216}"/>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B05CA17-24D7-7652-DA60-C565841EB49B}"/>
              </a:ext>
            </a:extLst>
          </p:cNvPr>
          <p:cNvSpPr/>
          <p:nvPr/>
        </p:nvSpPr>
        <p:spPr>
          <a:xfrm>
            <a:off x="685800" y="1562100"/>
            <a:ext cx="174498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7500" dirty="0">
                <a:solidFill>
                  <a:srgbClr val="02464E"/>
                </a:solidFill>
                <a:latin typeface="Poppins" panose="00000500000000000000" pitchFamily="2" charset="0"/>
                <a:cs typeface="Poppins" panose="00000500000000000000" pitchFamily="2" charset="0"/>
              </a:rPr>
              <a:t>4</a:t>
            </a:r>
            <a:r>
              <a:rPr kumimoji="0" lang="en-GB" sz="75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 Would anyone like to share any tools that they have used to engage policy makers?</a:t>
            </a:r>
          </a:p>
        </p:txBody>
      </p:sp>
    </p:spTree>
    <p:extLst>
      <p:ext uri="{BB962C8B-B14F-4D97-AF65-F5344CB8AC3E}">
        <p14:creationId xmlns:p14="http://schemas.microsoft.com/office/powerpoint/2010/main" val="3518875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BBDD3-746C-9416-6FD7-7BF4FB0E5770}"/>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FB779F4-CDCB-A7E0-FE53-C340E6E156DD}"/>
              </a:ext>
            </a:extLst>
          </p:cNvPr>
          <p:cNvSpPr/>
          <p:nvPr/>
        </p:nvSpPr>
        <p:spPr>
          <a:xfrm>
            <a:off x="685800" y="2095500"/>
            <a:ext cx="17145000" cy="67056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fontScale="92500" lnSpcReduction="10000"/>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Collaboration between different expertise in a project is key – </a:t>
            </a:r>
            <a:r>
              <a:rPr kumimoji="0" lang="en-GB" sz="4000" b="1"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bridge the science-policy gap</a:t>
            </a:r>
            <a:r>
              <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rPr>
              <a: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4000" b="0" i="0" u="none" strike="noStrike" kern="1200" cap="none" spc="0" normalizeH="0" baseline="0" noProof="0" dirty="0">
              <a:ln>
                <a:noFill/>
              </a:ln>
              <a:solidFill>
                <a:srgbClr val="02464E"/>
              </a:solidFill>
              <a:effectLst/>
              <a:uLnTx/>
              <a:uFillTx/>
              <a:latin typeface="Poppins" panose="00000500000000000000" pitchFamily="2" charset="0"/>
              <a:ea typeface="+mn-ea"/>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4000" b="1" dirty="0">
                <a:solidFill>
                  <a:srgbClr val="02464E"/>
                </a:solidFill>
                <a:latin typeface="Poppins" panose="00000500000000000000" pitchFamily="2" charset="0"/>
                <a:cs typeface="Poppins" panose="00000500000000000000" pitchFamily="2" charset="0"/>
              </a:rPr>
              <a:t>Policy should be built into project design </a:t>
            </a:r>
            <a:r>
              <a:rPr lang="en-GB" sz="4000" dirty="0">
                <a:solidFill>
                  <a:srgbClr val="02464E"/>
                </a:solidFill>
                <a:latin typeface="Poppins" panose="00000500000000000000" pitchFamily="2" charset="0"/>
                <a:cs typeface="Poppins" panose="00000500000000000000" pitchFamily="2" charset="0"/>
              </a:rPr>
              <a:t>and not just an afterthought.</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4000" dirty="0">
              <a:solidFill>
                <a:srgbClr val="02464E"/>
              </a:solidFill>
              <a:latin typeface="Poppins" panose="00000500000000000000" pitchFamily="2" charset="0"/>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4000" b="1" dirty="0">
                <a:solidFill>
                  <a:srgbClr val="02464E"/>
                </a:solidFill>
                <a:latin typeface="Poppins" panose="00000500000000000000" pitchFamily="2" charset="0"/>
                <a:cs typeface="Poppins" panose="00000500000000000000" pitchFamily="2" charset="0"/>
              </a:rPr>
              <a:t>Policy engagement goes beyond dissemination </a:t>
            </a:r>
            <a:r>
              <a:rPr lang="en-GB" sz="4000" dirty="0">
                <a:solidFill>
                  <a:srgbClr val="02464E"/>
                </a:solidFill>
                <a:latin typeface="Poppins" panose="00000500000000000000" pitchFamily="2" charset="0"/>
                <a:cs typeface="Poppins" panose="00000500000000000000" pitchFamily="2" charset="0"/>
              </a:rPr>
              <a:t>and communication of project results.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4000" dirty="0">
              <a:solidFill>
                <a:srgbClr val="02464E"/>
              </a:solidFill>
              <a:latin typeface="Poppins" panose="00000500000000000000" pitchFamily="2" charset="0"/>
              <a:cs typeface="Poppins" panose="00000500000000000000" pitchFamily="2" charset="0"/>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4000" b="1" dirty="0">
                <a:solidFill>
                  <a:srgbClr val="02464E"/>
                </a:solidFill>
                <a:latin typeface="Poppins" panose="00000500000000000000" pitchFamily="2" charset="0"/>
                <a:cs typeface="Poppins" panose="00000500000000000000" pitchFamily="2" charset="0"/>
              </a:rPr>
              <a:t>Flexibility is the key to success </a:t>
            </a:r>
            <a:r>
              <a:rPr lang="en-GB" sz="4000" dirty="0">
                <a:solidFill>
                  <a:srgbClr val="02464E"/>
                </a:solidFill>
                <a:latin typeface="Poppins" panose="00000500000000000000" pitchFamily="2" charset="0"/>
                <a:cs typeface="Poppins" panose="00000500000000000000" pitchFamily="2" charset="0"/>
              </a:rPr>
              <a:t>– policy design and implementation follows its own schedule – we should adapt!</a:t>
            </a:r>
          </a:p>
        </p:txBody>
      </p:sp>
      <p:sp>
        <p:nvSpPr>
          <p:cNvPr id="3" name="TextBox 8">
            <a:extLst>
              <a:ext uri="{FF2B5EF4-FFF2-40B4-BE49-F238E27FC236}">
                <a16:creationId xmlns:a16="http://schemas.microsoft.com/office/drawing/2014/main" id="{B946CBC9-63A3-6A6C-8C54-8F02E777EFF6}"/>
              </a:ext>
            </a:extLst>
          </p:cNvPr>
          <p:cNvSpPr txBox="1"/>
          <p:nvPr/>
        </p:nvSpPr>
        <p:spPr>
          <a:xfrm>
            <a:off x="914400" y="768842"/>
            <a:ext cx="16687800" cy="1036822"/>
          </a:xfrm>
          <a:prstGeom prst="rect">
            <a:avLst/>
          </a:prstGeom>
        </p:spPr>
        <p:txBody>
          <a:bodyPr wrap="square" lIns="0" tIns="0" rIns="0" bIns="0" rtlCol="0" anchor="t">
            <a:spAutoFit/>
          </a:bodyPr>
          <a:lstStyle/>
          <a:p>
            <a:pPr marL="0" marR="0" lvl="0" indent="0" algn="r" defTabSz="914400" rtl="0" eaLnBrk="1" fontAlgn="auto" latinLnBrk="0" hangingPunct="1">
              <a:lnSpc>
                <a:spcPts val="7920"/>
              </a:lnSpc>
              <a:spcBef>
                <a:spcPts val="0"/>
              </a:spcBef>
              <a:spcAft>
                <a:spcPts val="0"/>
              </a:spcAft>
              <a:buClrTx/>
              <a:buSzTx/>
              <a:buFontTx/>
              <a:buNone/>
              <a:tabLst/>
              <a:defRPr/>
            </a:pPr>
            <a:r>
              <a:rPr kumimoji="0" lang="en-US" sz="7200" b="1" i="0" u="none" strike="noStrike" kern="1200" cap="none" spc="0" normalizeH="0" baseline="0" noProof="0" dirty="0">
                <a:ln>
                  <a:noFill/>
                </a:ln>
                <a:solidFill>
                  <a:srgbClr val="02464E"/>
                </a:solidFill>
                <a:effectLst/>
                <a:uLnTx/>
                <a:uFillTx/>
                <a:latin typeface="Poppins Bold"/>
                <a:ea typeface="Poppins Bold"/>
                <a:cs typeface="Poppins Bold"/>
                <a:sym typeface="Poppins Bold"/>
              </a:rPr>
              <a:t>Key Takeaways</a:t>
            </a:r>
          </a:p>
        </p:txBody>
      </p:sp>
    </p:spTree>
    <p:extLst>
      <p:ext uri="{BB962C8B-B14F-4D97-AF65-F5344CB8AC3E}">
        <p14:creationId xmlns:p14="http://schemas.microsoft.com/office/powerpoint/2010/main" val="3175923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CA4C9224-F22A-9456-2FBE-07A9096CBA09}"/>
              </a:ext>
            </a:extLst>
          </p:cNvPr>
          <p:cNvSpPr>
            <a:spLocks/>
          </p:cNvSpPr>
          <p:nvPr/>
        </p:nvSpPr>
        <p:spPr>
          <a:xfrm>
            <a:off x="391794" y="3771900"/>
            <a:ext cx="8752206" cy="3276600"/>
          </a:xfrm>
          <a:prstGeom prst="roundRect">
            <a:avLst/>
          </a:prstGeom>
          <a:solidFill>
            <a:srgbClr val="02464E">
              <a:alpha val="6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Freeform 6"/>
          <p:cNvSpPr/>
          <p:nvPr/>
        </p:nvSpPr>
        <p:spPr>
          <a:xfrm>
            <a:off x="609600" y="6248955"/>
            <a:ext cx="499329" cy="499329"/>
          </a:xfrm>
          <a:custGeom>
            <a:avLst/>
            <a:gdLst/>
            <a:ahLst/>
            <a:cxnLst/>
            <a:rect l="l" t="t" r="r" b="b"/>
            <a:pathLst>
              <a:path w="499329" h="499329">
                <a:moveTo>
                  <a:pt x="0" y="0"/>
                </a:moveTo>
                <a:lnTo>
                  <a:pt x="499329" y="0"/>
                </a:lnTo>
                <a:lnTo>
                  <a:pt x="499329" y="499329"/>
                </a:lnTo>
                <a:lnTo>
                  <a:pt x="0" y="49932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l-GR"/>
          </a:p>
        </p:txBody>
      </p:sp>
      <p:sp>
        <p:nvSpPr>
          <p:cNvPr id="7" name="Freeform 7"/>
          <p:cNvSpPr/>
          <p:nvPr/>
        </p:nvSpPr>
        <p:spPr>
          <a:xfrm>
            <a:off x="609600" y="5569519"/>
            <a:ext cx="499329" cy="499329"/>
          </a:xfrm>
          <a:custGeom>
            <a:avLst/>
            <a:gdLst/>
            <a:ahLst/>
            <a:cxnLst/>
            <a:rect l="l" t="t" r="r" b="b"/>
            <a:pathLst>
              <a:path w="499329" h="499329">
                <a:moveTo>
                  <a:pt x="0" y="0"/>
                </a:moveTo>
                <a:lnTo>
                  <a:pt x="499329" y="0"/>
                </a:lnTo>
                <a:lnTo>
                  <a:pt x="499329" y="499329"/>
                </a:lnTo>
                <a:lnTo>
                  <a:pt x="0" y="49932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l-GR"/>
          </a:p>
        </p:txBody>
      </p:sp>
      <p:sp>
        <p:nvSpPr>
          <p:cNvPr id="8" name="Freeform 8"/>
          <p:cNvSpPr/>
          <p:nvPr/>
        </p:nvSpPr>
        <p:spPr>
          <a:xfrm>
            <a:off x="609600" y="4815996"/>
            <a:ext cx="499329" cy="499329"/>
          </a:xfrm>
          <a:custGeom>
            <a:avLst/>
            <a:gdLst/>
            <a:ahLst/>
            <a:cxnLst/>
            <a:rect l="l" t="t" r="r" b="b"/>
            <a:pathLst>
              <a:path w="499329" h="499329">
                <a:moveTo>
                  <a:pt x="0" y="0"/>
                </a:moveTo>
                <a:lnTo>
                  <a:pt x="499329" y="0"/>
                </a:lnTo>
                <a:lnTo>
                  <a:pt x="499329" y="499329"/>
                </a:lnTo>
                <a:lnTo>
                  <a:pt x="0" y="4993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l-GR"/>
          </a:p>
        </p:txBody>
      </p:sp>
      <p:sp>
        <p:nvSpPr>
          <p:cNvPr id="9" name="Freeform 9"/>
          <p:cNvSpPr/>
          <p:nvPr/>
        </p:nvSpPr>
        <p:spPr>
          <a:xfrm>
            <a:off x="609600" y="4062473"/>
            <a:ext cx="499329" cy="499329"/>
          </a:xfrm>
          <a:custGeom>
            <a:avLst/>
            <a:gdLst/>
            <a:ahLst/>
            <a:cxnLst/>
            <a:rect l="l" t="t" r="r" b="b"/>
            <a:pathLst>
              <a:path w="499329" h="499329">
                <a:moveTo>
                  <a:pt x="0" y="0"/>
                </a:moveTo>
                <a:lnTo>
                  <a:pt x="499329" y="0"/>
                </a:lnTo>
                <a:lnTo>
                  <a:pt x="499329" y="499329"/>
                </a:lnTo>
                <a:lnTo>
                  <a:pt x="0" y="49932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l-GR"/>
          </a:p>
        </p:txBody>
      </p:sp>
      <p:sp>
        <p:nvSpPr>
          <p:cNvPr id="12" name="TextBox 12"/>
          <p:cNvSpPr txBox="1"/>
          <p:nvPr/>
        </p:nvSpPr>
        <p:spPr>
          <a:xfrm>
            <a:off x="5700394" y="2019300"/>
            <a:ext cx="6887212" cy="979755"/>
          </a:xfrm>
          <a:prstGeom prst="rect">
            <a:avLst/>
          </a:prstGeom>
        </p:spPr>
        <p:txBody>
          <a:bodyPr wrap="square" lIns="0" tIns="0" rIns="0" bIns="0" rtlCol="0" anchor="t">
            <a:spAutoFit/>
          </a:bodyPr>
          <a:lstStyle/>
          <a:p>
            <a:pPr algn="ctr">
              <a:lnSpc>
                <a:spcPts val="7150"/>
              </a:lnSpc>
            </a:pPr>
            <a:r>
              <a:rPr lang="en-US" sz="8000" b="1">
                <a:solidFill>
                  <a:srgbClr val="FFFFFF"/>
                </a:solidFill>
                <a:latin typeface="Poppins Bold"/>
                <a:ea typeface="Poppins Bold"/>
                <a:cs typeface="Poppins Bold"/>
                <a:sym typeface="Poppins Bold"/>
              </a:rPr>
              <a:t>Thank You!</a:t>
            </a:r>
          </a:p>
        </p:txBody>
      </p:sp>
      <p:sp>
        <p:nvSpPr>
          <p:cNvPr id="13" name="TextBox 13"/>
          <p:cNvSpPr txBox="1"/>
          <p:nvPr/>
        </p:nvSpPr>
        <p:spPr>
          <a:xfrm>
            <a:off x="1341974" y="4183256"/>
            <a:ext cx="5287425" cy="379848"/>
          </a:xfrm>
          <a:prstGeom prst="rect">
            <a:avLst/>
          </a:prstGeom>
        </p:spPr>
        <p:txBody>
          <a:bodyPr wrap="square" lIns="0" tIns="0" rIns="0" bIns="0" rtlCol="0" anchor="t">
            <a:spAutoFit/>
          </a:bodyPr>
          <a:lstStyle/>
          <a:p>
            <a:pPr algn="l">
              <a:lnSpc>
                <a:spcPts val="2887"/>
              </a:lnSpc>
              <a:spcBef>
                <a:spcPct val="0"/>
              </a:spcBef>
            </a:pPr>
            <a:r>
              <a:rPr lang="en-US" sz="2624" b="1" dirty="0">
                <a:solidFill>
                  <a:srgbClr val="FFFFFF"/>
                </a:solidFill>
                <a:latin typeface="Poppins"/>
                <a:ea typeface="Poppins"/>
                <a:cs typeface="Poppins"/>
                <a:sym typeface="Poppins"/>
              </a:rPr>
              <a:t>Name: Jon Switters</a:t>
            </a:r>
          </a:p>
        </p:txBody>
      </p:sp>
      <p:sp>
        <p:nvSpPr>
          <p:cNvPr id="14" name="TextBox 14"/>
          <p:cNvSpPr txBox="1"/>
          <p:nvPr/>
        </p:nvSpPr>
        <p:spPr>
          <a:xfrm>
            <a:off x="1296254" y="4879070"/>
            <a:ext cx="6171345" cy="379848"/>
          </a:xfrm>
          <a:prstGeom prst="rect">
            <a:avLst/>
          </a:prstGeom>
        </p:spPr>
        <p:txBody>
          <a:bodyPr wrap="square" lIns="0" tIns="0" rIns="0" bIns="0" rtlCol="0" anchor="t">
            <a:spAutoFit/>
          </a:bodyPr>
          <a:lstStyle/>
          <a:p>
            <a:pPr algn="l">
              <a:lnSpc>
                <a:spcPts val="2887"/>
              </a:lnSpc>
              <a:spcBef>
                <a:spcPct val="0"/>
              </a:spcBef>
            </a:pPr>
            <a:r>
              <a:rPr lang="en-US" sz="2624" b="1" dirty="0" err="1">
                <a:solidFill>
                  <a:srgbClr val="FFFFFF"/>
                </a:solidFill>
                <a:latin typeface="Poppins"/>
                <a:ea typeface="Poppins"/>
                <a:cs typeface="Poppins"/>
                <a:sym typeface="Poppins"/>
              </a:rPr>
              <a:t>Organisation</a:t>
            </a:r>
            <a:r>
              <a:rPr lang="en-US" sz="2624" b="1" dirty="0">
                <a:solidFill>
                  <a:srgbClr val="FFFFFF"/>
                </a:solidFill>
                <a:latin typeface="Poppins"/>
                <a:ea typeface="Poppins"/>
                <a:cs typeface="Poppins"/>
                <a:sym typeface="Poppins"/>
              </a:rPr>
              <a:t>: The Lisbon Council</a:t>
            </a:r>
          </a:p>
        </p:txBody>
      </p:sp>
      <p:sp>
        <p:nvSpPr>
          <p:cNvPr id="15" name="TextBox 15"/>
          <p:cNvSpPr txBox="1"/>
          <p:nvPr/>
        </p:nvSpPr>
        <p:spPr>
          <a:xfrm>
            <a:off x="1341974" y="5616054"/>
            <a:ext cx="11916826" cy="379848"/>
          </a:xfrm>
          <a:prstGeom prst="rect">
            <a:avLst/>
          </a:prstGeom>
        </p:spPr>
        <p:txBody>
          <a:bodyPr wrap="square" lIns="0" tIns="0" rIns="0" bIns="0" rtlCol="0" anchor="t">
            <a:spAutoFit/>
          </a:bodyPr>
          <a:lstStyle/>
          <a:p>
            <a:pPr algn="l">
              <a:lnSpc>
                <a:spcPts val="2887"/>
              </a:lnSpc>
              <a:spcBef>
                <a:spcPct val="0"/>
              </a:spcBef>
            </a:pPr>
            <a:r>
              <a:rPr lang="en-US" sz="2624" b="1" dirty="0">
                <a:solidFill>
                  <a:srgbClr val="FFFFFF"/>
                </a:solidFill>
                <a:latin typeface="Poppins"/>
                <a:ea typeface="Poppins"/>
                <a:cs typeface="Poppins"/>
                <a:sym typeface="Poppins"/>
              </a:rPr>
              <a:t>Email: </a:t>
            </a:r>
            <a:r>
              <a:rPr lang="en-US" sz="2624" b="1" dirty="0" err="1">
                <a:solidFill>
                  <a:srgbClr val="FFFFFF"/>
                </a:solidFill>
                <a:latin typeface="Poppins"/>
                <a:ea typeface="Poppins"/>
                <a:cs typeface="Poppins"/>
                <a:sym typeface="Poppins"/>
              </a:rPr>
              <a:t>jon.switters@lisboncouncil.net</a:t>
            </a:r>
            <a:endParaRPr lang="en-US" sz="2624" b="1" dirty="0">
              <a:solidFill>
                <a:srgbClr val="FFFFFF"/>
              </a:solidFill>
              <a:latin typeface="Poppins"/>
              <a:ea typeface="Poppins"/>
              <a:cs typeface="Poppins"/>
              <a:sym typeface="Poppins"/>
            </a:endParaRPr>
          </a:p>
        </p:txBody>
      </p:sp>
      <p:sp>
        <p:nvSpPr>
          <p:cNvPr id="16" name="TextBox 16"/>
          <p:cNvSpPr txBox="1"/>
          <p:nvPr/>
        </p:nvSpPr>
        <p:spPr>
          <a:xfrm>
            <a:off x="1311494" y="6370521"/>
            <a:ext cx="6308505" cy="379848"/>
          </a:xfrm>
          <a:prstGeom prst="rect">
            <a:avLst/>
          </a:prstGeom>
        </p:spPr>
        <p:txBody>
          <a:bodyPr wrap="square" lIns="0" tIns="0" rIns="0" bIns="0" rtlCol="0" anchor="t">
            <a:spAutoFit/>
          </a:bodyPr>
          <a:lstStyle/>
          <a:p>
            <a:pPr>
              <a:lnSpc>
                <a:spcPts val="2887"/>
              </a:lnSpc>
              <a:spcBef>
                <a:spcPct val="0"/>
              </a:spcBef>
            </a:pPr>
            <a:r>
              <a:rPr lang="en-US" sz="2624" b="1" dirty="0">
                <a:solidFill>
                  <a:srgbClr val="FFFFFF"/>
                </a:solidFill>
                <a:latin typeface="Poppins"/>
                <a:ea typeface="Poppins"/>
                <a:cs typeface="Poppins"/>
                <a:sym typeface="Poppins"/>
              </a:rPr>
              <a:t>Website</a:t>
            </a:r>
            <a:r>
              <a:rPr lang="en-US" sz="2624" dirty="0">
                <a:solidFill>
                  <a:srgbClr val="FFFFFF"/>
                </a:solidFill>
                <a:latin typeface="Poppins"/>
                <a:ea typeface="Poppins"/>
                <a:cs typeface="Poppins"/>
                <a:sym typeface="Poppins"/>
              </a:rPr>
              <a:t>: </a:t>
            </a:r>
            <a:r>
              <a:rPr lang="en-US" sz="2624" b="1" dirty="0">
                <a:solidFill>
                  <a:srgbClr val="FFFFFF"/>
                </a:solidFill>
                <a:latin typeface="Poppins"/>
                <a:ea typeface="Poppins"/>
                <a:cs typeface="Poppins"/>
                <a:sym typeface="Poppins"/>
              </a:rPr>
              <a:t>https://</a:t>
            </a:r>
            <a:r>
              <a:rPr lang="en-US" sz="2624" b="1" dirty="0" err="1">
                <a:solidFill>
                  <a:srgbClr val="FFFFFF"/>
                </a:solidFill>
                <a:latin typeface="Poppins"/>
                <a:ea typeface="Poppins"/>
                <a:cs typeface="Poppins"/>
                <a:sym typeface="Poppins"/>
              </a:rPr>
              <a:t>lisboncouncil.net</a:t>
            </a:r>
            <a:r>
              <a:rPr lang="en-US" sz="2624" b="1" dirty="0">
                <a:solidFill>
                  <a:srgbClr val="FFFFFF"/>
                </a:solidFill>
                <a:latin typeface="Poppins"/>
                <a:ea typeface="Poppins"/>
                <a:cs typeface="Poppins"/>
                <a:sym typeface="Poppins"/>
              </a:rPr>
              <a:t>/</a:t>
            </a:r>
          </a:p>
        </p:txBody>
      </p:sp>
    </p:spTree>
  </p:cSld>
  <p:clrMapOvr>
    <a:masterClrMapping/>
  </p:clrMapOvr>
</p:sld>
</file>

<file path=ppt/theme/theme1.xml><?xml version="1.0" encoding="utf-8"?>
<a:theme xmlns:a="http://schemas.openxmlformats.org/drawingml/2006/main" name="Office Theme">
  <a:themeElements>
    <a:clrScheme name="Custom 2">
      <a:dk1>
        <a:srgbClr val="0D3559"/>
      </a:dk1>
      <a:lt1>
        <a:sysClr val="window" lastClr="FFFFFF"/>
      </a:lt1>
      <a:dk2>
        <a:srgbClr val="ACE2DC"/>
      </a:dk2>
      <a:lt2>
        <a:srgbClr val="EEECE1"/>
      </a:lt2>
      <a:accent1>
        <a:srgbClr val="80ECDF"/>
      </a:accent1>
      <a:accent2>
        <a:srgbClr val="E6F0F2"/>
      </a:accent2>
      <a:accent3>
        <a:srgbClr val="9BBB59"/>
      </a:accent3>
      <a:accent4>
        <a:srgbClr val="B9FDF2"/>
      </a:accent4>
      <a:accent5>
        <a:srgbClr val="4BACC6"/>
      </a:accent5>
      <a:accent6>
        <a:srgbClr val="92D050"/>
      </a:accent6>
      <a:hlink>
        <a:srgbClr val="17365D"/>
      </a:hlink>
      <a:folHlink>
        <a:srgbClr val="36609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FF2C8ECC173C4A85AFEBF9FF5C12F0" ma:contentTypeVersion="19" ma:contentTypeDescription="Create a new document." ma:contentTypeScope="" ma:versionID="2ddf32f61ac5c11bc05b3c661f3b0fa4">
  <xsd:schema xmlns:xsd="http://www.w3.org/2001/XMLSchema" xmlns:xs="http://www.w3.org/2001/XMLSchema" xmlns:p="http://schemas.microsoft.com/office/2006/metadata/properties" xmlns:ns2="38fd7e7d-5967-4b4d-be53-466628489046" xmlns:ns3="35e10ac4-31c1-4b75-a0a7-83de09211430" targetNamespace="http://schemas.microsoft.com/office/2006/metadata/properties" ma:root="true" ma:fieldsID="db6fce220d758b56d3969de431ea798e" ns2:_="" ns3:_="">
    <xsd:import namespace="38fd7e7d-5967-4b4d-be53-466628489046"/>
    <xsd:import namespace="35e10ac4-31c1-4b75-a0a7-83de0921143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fd7e7d-5967-4b4d-be53-4666284890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c7ce5425-a7ad-4e1f-9049-9b6455cea61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5e10ac4-31c1-4b75-a0a7-83de0921143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d0f8d9f-ba36-4af0-bc14-8016ccfa9e81}" ma:internalName="TaxCatchAll" ma:showField="CatchAllData" ma:web="35e10ac4-31c1-4b75-a0a7-83de092114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35e10ac4-31c1-4b75-a0a7-83de09211430" xsi:nil="true"/>
    <lcf76f155ced4ddcb4097134ff3c332f xmlns="38fd7e7d-5967-4b4d-be53-46662848904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752922F-BF54-4287-A409-BD7688B342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8fd7e7d-5967-4b4d-be53-466628489046"/>
    <ds:schemaRef ds:uri="35e10ac4-31c1-4b75-a0a7-83de092114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01A3DB2-419A-4FB5-A3EB-962C6EAA4710}">
  <ds:schemaRefs>
    <ds:schemaRef ds:uri="http://schemas.microsoft.com/sharepoint/v3/contenttype/forms"/>
  </ds:schemaRefs>
</ds:datastoreItem>
</file>

<file path=customXml/itemProps3.xml><?xml version="1.0" encoding="utf-8"?>
<ds:datastoreItem xmlns:ds="http://schemas.openxmlformats.org/officeDocument/2006/customXml" ds:itemID="{410A6AD1-4420-4221-80A9-CAE0158B3AC2}">
  <ds:schemaRefs>
    <ds:schemaRef ds:uri="http://schemas.microsoft.com/office/2006/metadata/properties"/>
    <ds:schemaRef ds:uri="http://schemas.microsoft.com/office/infopath/2007/PartnerControls"/>
    <ds:schemaRef ds:uri="35e10ac4-31c1-4b75-a0a7-83de09211430"/>
    <ds:schemaRef ds:uri="38fd7e7d-5967-4b4d-be53-466628489046"/>
  </ds:schemaRefs>
</ds:datastoreItem>
</file>

<file path=docProps/app.xml><?xml version="1.0" encoding="utf-8"?>
<Properties xmlns="http://schemas.openxmlformats.org/officeDocument/2006/extended-properties" xmlns:vt="http://schemas.openxmlformats.org/officeDocument/2006/docPropsVTypes">
  <TotalTime>1833</TotalTime>
  <Words>1785</Words>
  <Application>Microsoft Macintosh PowerPoint</Application>
  <PresentationFormat>Custom</PresentationFormat>
  <Paragraphs>207</Paragraphs>
  <Slides>24</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Poppins</vt:lpstr>
      <vt:lpstr>Arial</vt:lpstr>
      <vt:lpstr>Poppins Bold</vt:lpstr>
      <vt:lpstr>Calibri</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NEXTAIRE</dc:title>
  <cp:lastModifiedBy>Jon Switters</cp:lastModifiedBy>
  <cp:revision>31</cp:revision>
  <dcterms:created xsi:type="dcterms:W3CDTF">2006-08-16T00:00:00Z</dcterms:created>
  <dcterms:modified xsi:type="dcterms:W3CDTF">2026-09-08T12:15:45Z</dcterms:modified>
  <dc:identifier>DAG-e5vBqQY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0x01010026FF2C8ECC173C4A85AFEBF9FF5C12F0</vt:lpwstr>
  </property>
  <property fmtid="{D5CDD505-2E9C-101B-9397-08002B2CF9AE}" pid="3" name="MediaServiceImageTags">
    <vt:lpwstr/>
  </property>
</Properties>
</file>