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61"/>
  </p:normalViewPr>
  <p:slideViewPr>
    <p:cSldViewPr snapToGrid="0" snapToObjects="1">
      <p:cViewPr varScale="1">
        <p:scale>
          <a:sx n="114" d="100"/>
          <a:sy n="114" d="100"/>
        </p:scale>
        <p:origin x="496" y="1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524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nextaire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438912"/>
            <a:ext cx="1200790" cy="9601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1828800"/>
            <a:ext cx="1033272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Aptos Display"/>
              </a:defRPr>
            </a:pPr>
            <a:r>
              <a:t>MegaSense Oy</a:t>
            </a:r>
          </a:p>
          <a:p>
            <a:pPr algn="ctr">
              <a:defRPr sz="3000" b="1">
                <a:solidFill>
                  <a:srgbClr val="FFFFFF"/>
                </a:solidFill>
                <a:latin typeface="Aptos Display"/>
              </a:defRPr>
            </a:pPr>
            <a:r>
              <a:t>NextAIRE Secondments &amp; Research Update</a:t>
            </a:r>
          </a:p>
          <a:p>
            <a:pPr algn="ctr">
              <a:defRPr sz="1800" b="0">
                <a:solidFill>
                  <a:srgbClr val="CDEBE6"/>
                </a:solidFill>
                <a:latin typeface="Aptos"/>
              </a:defRPr>
            </a:pPr>
            <a:r>
              <a:t>Consortium update • 9 September 2026</a:t>
            </a:r>
          </a:p>
        </p:txBody>
      </p:sp>
      <p:pic>
        <p:nvPicPr>
          <p:cNvPr id="4" name="Picture 3" descr="megasense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9160" y="4160520"/>
            <a:ext cx="2743200" cy="878006"/>
          </a:xfrm>
          <a:prstGeom prst="rect">
            <a:avLst/>
          </a:prstGeom>
        </p:spPr>
      </p:pic>
      <p:pic>
        <p:nvPicPr>
          <p:cNvPr id="5" name="Picture 4" descr="eu_fun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4048" y="6236208"/>
            <a:ext cx="1482448" cy="32918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nextaire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456" y="182880"/>
            <a:ext cx="766218" cy="61264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60120" y="237744"/>
            <a:ext cx="1069848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0524E"/>
                </a:solidFill>
                <a:latin typeface="Aptos Display"/>
              </a:defRPr>
            </a:pPr>
            <a:r>
              <a:t>Current secondment — Han Tran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8408" y="713232"/>
            <a:ext cx="106070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F6E73"/>
                </a:solidFill>
                <a:latin typeface="Aptos"/>
              </a:defRPr>
            </a:pPr>
            <a:r>
              <a:t>KNOW Center, Austria → Helsinki • 8 September–4 December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10528"/>
            <a:ext cx="12191695" cy="256032"/>
          </a:xfrm>
          <a:prstGeom prst="rect">
            <a:avLst/>
          </a:prstGeom>
          <a:solidFill>
            <a:srgbClr val="0052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eu_fun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592" y="6510528"/>
            <a:ext cx="823582" cy="182880"/>
          </a:xfrm>
          <a:prstGeom prst="rect">
            <a:avLst/>
          </a:prstGeom>
        </p:spPr>
      </p:pic>
      <p:pic>
        <p:nvPicPr>
          <p:cNvPr id="8" name="Picture 7" descr="20260908_103328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1143000"/>
            <a:ext cx="4225197" cy="498348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394960" y="1188720"/>
            <a:ext cx="6172200" cy="1188720"/>
          </a:xfrm>
          <a:prstGeom prst="roundRect">
            <a:avLst/>
          </a:prstGeom>
          <a:solidFill>
            <a:srgbClr val="E6F3F1"/>
          </a:solidFill>
          <a:ln>
            <a:solidFill>
              <a:srgbClr val="CDE1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577840" y="1325880"/>
            <a:ext cx="58064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00918B"/>
                </a:solidFill>
                <a:latin typeface="Aptos"/>
              </a:defRPr>
            </a:pPr>
            <a:r>
              <a:t>Confirmed status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577840" y="1737360"/>
            <a:ext cx="5705152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1C343A"/>
                </a:solidFill>
                <a:latin typeface="Aptos"/>
              </a:defRPr>
            </a:pPr>
            <a:r>
              <a:rPr dirty="0"/>
              <a:t>Started successfully on 8 September. KNOW Center confirmed</a:t>
            </a:r>
            <a:endParaRPr lang="fi-FI" dirty="0"/>
          </a:p>
          <a:p>
            <a:pPr>
              <a:defRPr sz="1600">
                <a:solidFill>
                  <a:srgbClr val="1C343A"/>
                </a:solidFill>
                <a:latin typeface="Aptos"/>
              </a:defRPr>
            </a:pPr>
            <a:r>
              <a:rPr dirty="0"/>
              <a:t> and welcomed the extension through 4 December.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32120" y="2670048"/>
            <a:ext cx="5806440" cy="31470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900">
                <a:solidFill>
                  <a:srgbClr val="1C343A"/>
                </a:solidFill>
                <a:latin typeface="Aptos"/>
              </a:defRPr>
            </a:pPr>
            <a:r>
              <a:rPr dirty="0"/>
              <a:t>•  Hosted with </a:t>
            </a:r>
            <a:r>
              <a:rPr dirty="0" err="1"/>
              <a:t>MegaSense</a:t>
            </a:r>
            <a:r>
              <a:rPr dirty="0"/>
              <a:t> / University of Helsinki at Kumpula and NODEs Lab.</a:t>
            </a:r>
          </a:p>
          <a:p>
            <a:pPr>
              <a:spcAft>
                <a:spcPts val="1100"/>
              </a:spcAft>
              <a:defRPr sz="1900">
                <a:solidFill>
                  <a:srgbClr val="1C343A"/>
                </a:solidFill>
                <a:latin typeface="Aptos"/>
              </a:defRPr>
            </a:pPr>
            <a:r>
              <a:rPr dirty="0"/>
              <a:t>•  Co-research with Ilari, Alan and the wider Helsinki team.</a:t>
            </a:r>
          </a:p>
          <a:p>
            <a:pPr>
              <a:spcAft>
                <a:spcPts val="1100"/>
              </a:spcAft>
              <a:defRPr sz="1900">
                <a:solidFill>
                  <a:srgbClr val="1C343A"/>
                </a:solidFill>
                <a:latin typeface="Aptos"/>
              </a:defRPr>
            </a:pPr>
            <a:r>
              <a:rPr dirty="0"/>
              <a:t>•  Main focus: </a:t>
            </a:r>
            <a:r>
              <a:rPr dirty="0" err="1"/>
              <a:t>MegaSense</a:t>
            </a:r>
            <a:r>
              <a:rPr dirty="0"/>
              <a:t> sensing, </a:t>
            </a:r>
            <a:r>
              <a:rPr dirty="0" err="1"/>
              <a:t>RadonNET</a:t>
            </a:r>
            <a:r>
              <a:rPr dirty="0"/>
              <a:t> validation, indoor-air-quality and people-flow datasets.</a:t>
            </a:r>
          </a:p>
          <a:p>
            <a:pPr>
              <a:spcAft>
                <a:spcPts val="1100"/>
              </a:spcAft>
              <a:defRPr sz="1900">
                <a:solidFill>
                  <a:srgbClr val="1C343A"/>
                </a:solidFill>
                <a:latin typeface="Aptos"/>
              </a:defRPr>
            </a:pPr>
            <a:r>
              <a:rPr dirty="0"/>
              <a:t>•  Goal: reproducible analysis that develops directly into scientific outputs.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6144768"/>
            <a:ext cx="4389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5F6E73"/>
                </a:solidFill>
              </a:defRPr>
            </a:pPr>
            <a:r>
              <a:t>Han Tran and Ilari Ranin with a RadonNET node at Kumpula.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nextaire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456" y="182880"/>
            <a:ext cx="766218" cy="61264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60120" y="237744"/>
            <a:ext cx="1069848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0524E"/>
                </a:solidFill>
                <a:latin typeface="Aptos Display"/>
              </a:defRPr>
            </a:pPr>
            <a:r>
              <a:t>Research agenda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8408" y="713232"/>
            <a:ext cx="106070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F6E73"/>
                </a:solidFill>
                <a:latin typeface="Aptos"/>
              </a:defRPr>
            </a:pPr>
            <a:r>
              <a:t>Four connected workstreams using existing Helsinki research infrastructure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10528"/>
            <a:ext cx="12191695" cy="256032"/>
          </a:xfrm>
          <a:prstGeom prst="rect">
            <a:avLst/>
          </a:prstGeom>
          <a:solidFill>
            <a:srgbClr val="0052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eu_fun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592" y="6510528"/>
            <a:ext cx="823582" cy="18288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94360" y="1280160"/>
            <a:ext cx="5349240" cy="1965960"/>
          </a:xfrm>
          <a:prstGeom prst="roundRect">
            <a:avLst/>
          </a:prstGeom>
          <a:solidFill>
            <a:srgbClr val="E6F3F1"/>
          </a:solidFill>
          <a:ln>
            <a:solidFill>
              <a:srgbClr val="CDE1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7240" y="1417319"/>
            <a:ext cx="4983479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00918B"/>
                </a:solidFill>
                <a:latin typeface="Aptos"/>
              </a:defRPr>
            </a:pPr>
            <a:r>
              <a:t>1  RadonNET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1828800"/>
            <a:ext cx="4983479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1C343A"/>
                </a:solidFill>
                <a:latin typeface="Aptos"/>
              </a:defRPr>
            </a:pPr>
            <a:r>
              <a:rPr dirty="0"/>
              <a:t>Low-cost radon sensors versus reference instrumentation: </a:t>
            </a:r>
            <a:r>
              <a:rPr lang="fi-FI" dirty="0"/>
              <a:t> </a:t>
            </a:r>
            <a:r>
              <a:rPr dirty="0"/>
              <a:t>QA/QC, calibration, stability and reproducibility under real building conditions.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36208" y="1280160"/>
            <a:ext cx="5349240" cy="1965960"/>
          </a:xfrm>
          <a:prstGeom prst="roundRect">
            <a:avLst/>
          </a:prstGeom>
          <a:solidFill>
            <a:srgbClr val="E6F3F1"/>
          </a:solidFill>
          <a:ln>
            <a:solidFill>
              <a:srgbClr val="CDE1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19088" y="1417319"/>
            <a:ext cx="4983479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00918B"/>
                </a:solidFill>
                <a:latin typeface="Aptos"/>
              </a:defRPr>
            </a:pPr>
            <a:r>
              <a:t>2  MegaSense sensing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19088" y="1828800"/>
            <a:ext cx="4965975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1C343A"/>
                </a:solidFill>
                <a:latin typeface="Aptos"/>
              </a:defRPr>
            </a:pPr>
            <a:r>
              <a:rPr dirty="0"/>
              <a:t>Sensor connectivity, data access, environmental-data </a:t>
            </a:r>
            <a:endParaRPr lang="fi-FI" dirty="0"/>
          </a:p>
          <a:p>
            <a:pPr>
              <a:defRPr sz="1600">
                <a:solidFill>
                  <a:srgbClr val="1C343A"/>
                </a:solidFill>
                <a:latin typeface="Aptos"/>
              </a:defRPr>
            </a:pPr>
            <a:r>
              <a:rPr dirty="0"/>
              <a:t>QA/QC and reproducible analysis pipelines.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" y="3566160"/>
            <a:ext cx="5349240" cy="1965960"/>
          </a:xfrm>
          <a:prstGeom prst="roundRect">
            <a:avLst/>
          </a:prstGeom>
          <a:solidFill>
            <a:srgbClr val="E6F3F1"/>
          </a:solidFill>
          <a:ln>
            <a:solidFill>
              <a:srgbClr val="CDE1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77240" y="3703320"/>
            <a:ext cx="4983479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00918B"/>
                </a:solidFill>
                <a:latin typeface="Aptos"/>
              </a:defRPr>
            </a:pPr>
            <a:r>
              <a:t>3  Exactum indoor environment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4114800"/>
            <a:ext cx="4865277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1C343A"/>
                </a:solidFill>
                <a:latin typeface="Aptos"/>
              </a:defRPr>
            </a:pPr>
            <a:r>
              <a:rPr dirty="0"/>
              <a:t>People count together with noise / TVOC and related </a:t>
            </a:r>
            <a:endParaRPr lang="fi-FI" dirty="0"/>
          </a:p>
          <a:p>
            <a:pPr>
              <a:defRPr sz="1600">
                <a:solidFill>
                  <a:srgbClr val="1C343A"/>
                </a:solidFill>
                <a:latin typeface="Aptos"/>
              </a:defRPr>
            </a:pPr>
            <a:r>
              <a:rPr dirty="0"/>
              <a:t>signals to investigate occupancy–environment relationships.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36208" y="3566160"/>
            <a:ext cx="5349240" cy="1965960"/>
          </a:xfrm>
          <a:prstGeom prst="roundRect">
            <a:avLst/>
          </a:prstGeom>
          <a:solidFill>
            <a:srgbClr val="E6F3F1"/>
          </a:solidFill>
          <a:ln>
            <a:solidFill>
              <a:srgbClr val="CDE1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19088" y="3703320"/>
            <a:ext cx="4983479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00918B"/>
                </a:solidFill>
                <a:latin typeface="Aptos"/>
              </a:defRPr>
            </a:pPr>
            <a:r>
              <a:t>4  Untangling People Flow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19089" y="4114800"/>
            <a:ext cx="496597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1C343A"/>
                </a:solidFill>
                <a:latin typeface="Aptos"/>
              </a:defRPr>
            </a:pPr>
            <a:r>
              <a:rPr dirty="0"/>
              <a:t>Selected campus and airport datasets: occupancy, </a:t>
            </a:r>
            <a:endParaRPr lang="fi-FI" dirty="0"/>
          </a:p>
          <a:p>
            <a:pPr>
              <a:defRPr sz="1600">
                <a:solidFill>
                  <a:srgbClr val="1C343A"/>
                </a:solidFill>
                <a:latin typeface="Aptos"/>
              </a:defRPr>
            </a:pPr>
            <a:r>
              <a:rPr dirty="0"/>
              <a:t>demand and operational prediction linked to environmental sensing.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nextaire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456" y="182880"/>
            <a:ext cx="766218" cy="61264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60120" y="237744"/>
            <a:ext cx="1069848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0524E"/>
                </a:solidFill>
                <a:latin typeface="Aptos Display"/>
              </a:defRPr>
            </a:pPr>
            <a:r>
              <a:t>Expected outputs by 4 December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8408" y="713232"/>
            <a:ext cx="106070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F6E73"/>
                </a:solidFill>
                <a:latin typeface="Aptos"/>
              </a:defRPr>
            </a:pPr>
            <a:r>
              <a:t>Mobility should leave reusable science, not only exchanged experience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10528"/>
            <a:ext cx="12191695" cy="256032"/>
          </a:xfrm>
          <a:prstGeom prst="rect">
            <a:avLst/>
          </a:prstGeom>
          <a:solidFill>
            <a:srgbClr val="0052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eu_fun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592" y="6510528"/>
            <a:ext cx="823582" cy="18288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02920" y="1417320"/>
            <a:ext cx="2514600" cy="1874519"/>
          </a:xfrm>
          <a:prstGeom prst="roundRect">
            <a:avLst/>
          </a:prstGeom>
          <a:solidFill>
            <a:srgbClr val="E6F3F1"/>
          </a:solidFill>
          <a:ln>
            <a:solidFill>
              <a:srgbClr val="CDE1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85800" y="1554480"/>
            <a:ext cx="21488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00918B"/>
                </a:solidFill>
                <a:latin typeface="Aptos"/>
              </a:defRPr>
            </a:pPr>
            <a:r>
              <a:t>SEP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965960"/>
            <a:ext cx="1889620" cy="107721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1C343A"/>
                </a:solidFill>
                <a:latin typeface="Aptos"/>
              </a:defRPr>
            </a:pPr>
            <a:r>
              <a:rPr dirty="0"/>
              <a:t>Set-up &amp; access</a:t>
            </a:r>
            <a:br>
              <a:rPr dirty="0"/>
            </a:br>
            <a:br>
              <a:rPr dirty="0"/>
            </a:br>
            <a:r>
              <a:rPr dirty="0"/>
              <a:t>Sensors • datasets </a:t>
            </a:r>
            <a:endParaRPr lang="fi-FI" dirty="0"/>
          </a:p>
          <a:p>
            <a:pPr>
              <a:defRPr sz="1600">
                <a:solidFill>
                  <a:srgbClr val="1C343A"/>
                </a:solidFill>
                <a:latin typeface="Aptos"/>
              </a:defRPr>
            </a:pPr>
            <a:r>
              <a:rPr dirty="0"/>
              <a:t>• workflows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83280" y="1417320"/>
            <a:ext cx="2514600" cy="1874519"/>
          </a:xfrm>
          <a:prstGeom prst="roundRect">
            <a:avLst/>
          </a:prstGeom>
          <a:solidFill>
            <a:srgbClr val="E6F3F1"/>
          </a:solidFill>
          <a:ln>
            <a:solidFill>
              <a:srgbClr val="CDE1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566160" y="1554480"/>
            <a:ext cx="21488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00918B"/>
                </a:solidFill>
                <a:latin typeface="Aptos"/>
              </a:defRPr>
            </a:pPr>
            <a:r>
              <a:t>OCT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0" y="1965960"/>
            <a:ext cx="2052165" cy="107721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1C343A"/>
                </a:solidFill>
                <a:latin typeface="Aptos"/>
              </a:defRPr>
            </a:pPr>
            <a:r>
              <a:rPr dirty="0"/>
              <a:t>Core analysis</a:t>
            </a:r>
            <a:br>
              <a:rPr dirty="0"/>
            </a:br>
            <a:br>
              <a:rPr dirty="0"/>
            </a:br>
            <a:r>
              <a:rPr dirty="0"/>
              <a:t>QA/QC • validation </a:t>
            </a:r>
            <a:endParaRPr lang="fi-FI" dirty="0"/>
          </a:p>
          <a:p>
            <a:pPr>
              <a:defRPr sz="1600">
                <a:solidFill>
                  <a:srgbClr val="1C343A"/>
                </a:solidFill>
                <a:latin typeface="Aptos"/>
              </a:defRPr>
            </a:pPr>
            <a:r>
              <a:rPr dirty="0"/>
              <a:t>• multimodal models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1417320"/>
            <a:ext cx="2514600" cy="1874519"/>
          </a:xfrm>
          <a:prstGeom prst="roundRect">
            <a:avLst/>
          </a:prstGeom>
          <a:solidFill>
            <a:srgbClr val="E6F3F1"/>
          </a:solidFill>
          <a:ln>
            <a:solidFill>
              <a:srgbClr val="CDE1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46520" y="1554480"/>
            <a:ext cx="21488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00918B"/>
                </a:solidFill>
                <a:latin typeface="Aptos"/>
              </a:defRPr>
            </a:pPr>
            <a:r>
              <a:t>NOV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1965960"/>
            <a:ext cx="2195345" cy="107721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1C343A"/>
                </a:solidFill>
                <a:latin typeface="Aptos"/>
              </a:defRPr>
            </a:pPr>
            <a:r>
              <a:rPr dirty="0"/>
              <a:t>Scientific synthesis</a:t>
            </a:r>
            <a:br>
              <a:rPr dirty="0"/>
            </a:br>
            <a:br>
              <a:rPr dirty="0"/>
            </a:br>
            <a:r>
              <a:rPr dirty="0"/>
              <a:t>Figures • tables </a:t>
            </a:r>
            <a:endParaRPr lang="fi-FI" dirty="0"/>
          </a:p>
          <a:p>
            <a:pPr>
              <a:defRPr sz="1600">
                <a:solidFill>
                  <a:srgbClr val="1C343A"/>
                </a:solidFill>
                <a:latin typeface="Aptos"/>
              </a:defRPr>
            </a:pPr>
            <a:r>
              <a:rPr dirty="0"/>
              <a:t>• cross-dataset results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0" y="1417320"/>
            <a:ext cx="2514600" cy="1874519"/>
          </a:xfrm>
          <a:prstGeom prst="roundRect">
            <a:avLst/>
          </a:prstGeom>
          <a:solidFill>
            <a:srgbClr val="E6F3F1"/>
          </a:solidFill>
          <a:ln>
            <a:solidFill>
              <a:srgbClr val="CDE1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326880" y="1554480"/>
            <a:ext cx="21488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00918B"/>
                </a:solidFill>
                <a:latin typeface="Aptos"/>
              </a:defRPr>
            </a:pPr>
            <a:r>
              <a:t>4 DEC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26880" y="1965960"/>
            <a:ext cx="2202654" cy="107721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1C343A"/>
                </a:solidFill>
                <a:latin typeface="Aptos"/>
              </a:defRPr>
            </a:pPr>
            <a:r>
              <a:rPr dirty="0"/>
              <a:t>Handover</a:t>
            </a:r>
            <a:br>
              <a:rPr dirty="0"/>
            </a:br>
            <a:br>
              <a:rPr dirty="0"/>
            </a:br>
            <a:r>
              <a:rPr dirty="0"/>
              <a:t>Reproducible package </a:t>
            </a:r>
            <a:endParaRPr lang="fi-FI" dirty="0"/>
          </a:p>
          <a:p>
            <a:pPr>
              <a:defRPr sz="1600">
                <a:solidFill>
                  <a:srgbClr val="1C343A"/>
                </a:solidFill>
                <a:latin typeface="Aptos"/>
              </a:defRPr>
            </a:pPr>
            <a:r>
              <a:rPr dirty="0"/>
              <a:t>• manuscript inputs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4023360"/>
            <a:ext cx="10332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2000">
                <a:solidFill>
                  <a:srgbClr val="1C343A"/>
                </a:solidFill>
                <a:latin typeface="Aptos"/>
              </a:defRPr>
            </a:pPr>
            <a:r>
              <a:t>•  Documented datasets and reproducible workflows.</a:t>
            </a:r>
          </a:p>
          <a:p>
            <a:pPr>
              <a:spcAft>
                <a:spcPts val="1100"/>
              </a:spcAft>
              <a:defRPr sz="2000">
                <a:solidFill>
                  <a:srgbClr val="1C343A"/>
                </a:solidFill>
                <a:latin typeface="Aptos"/>
              </a:defRPr>
            </a:pPr>
            <a:r>
              <a:t>•  Sensor-validation and modelling results with publication-quality figures and tables.</a:t>
            </a:r>
          </a:p>
          <a:p>
            <a:pPr>
              <a:spcAft>
                <a:spcPts val="1100"/>
              </a:spcAft>
              <a:defRPr sz="2000">
                <a:solidFill>
                  <a:srgbClr val="1C343A"/>
                </a:solidFill>
                <a:latin typeface="Aptos"/>
              </a:defRPr>
            </a:pPr>
            <a:r>
              <a:t>•  Contributions to joint manuscripts and follow-on KNOW Center–MegaSense–Helsinki research.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nextaire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456" y="182880"/>
            <a:ext cx="766218" cy="61264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60120" y="237744"/>
            <a:ext cx="1069848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0524E"/>
                </a:solidFill>
                <a:latin typeface="Aptos Display"/>
              </a:defRPr>
            </a:pPr>
            <a:r>
              <a:t>Next mobility actions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8408" y="713232"/>
            <a:ext cx="106070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F6E73"/>
                </a:solidFill>
                <a:latin typeface="Aptos"/>
              </a:defRPr>
            </a:pPr>
            <a:r>
              <a:t>Current plans — confirmed activity is separated from mobility still being finalised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10528"/>
            <a:ext cx="12191695" cy="256032"/>
          </a:xfrm>
          <a:prstGeom prst="rect">
            <a:avLst/>
          </a:prstGeom>
          <a:solidFill>
            <a:srgbClr val="0052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eu_fun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592" y="6510528"/>
            <a:ext cx="823582" cy="18288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40080" y="1280160"/>
            <a:ext cx="5394960" cy="1920240"/>
          </a:xfrm>
          <a:prstGeom prst="roundRect">
            <a:avLst/>
          </a:prstGeom>
          <a:solidFill>
            <a:srgbClr val="E6F3F1"/>
          </a:solidFill>
          <a:ln>
            <a:solidFill>
              <a:srgbClr val="CDE1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59" y="1417319"/>
            <a:ext cx="50292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00918B"/>
                </a:solidFill>
                <a:latin typeface="Aptos"/>
              </a:defRPr>
            </a:pPr>
            <a:r>
              <a:t>Abdullah Khan — incoming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1828800"/>
            <a:ext cx="4864163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1C343A"/>
                </a:solidFill>
                <a:latin typeface="Aptos"/>
              </a:defRPr>
            </a:pPr>
            <a:r>
              <a:rPr dirty="0"/>
              <a:t>Rescheduled toward Oct–Dec 2026. Proposed scope: </a:t>
            </a:r>
            <a:endParaRPr lang="fi-FI" dirty="0"/>
          </a:p>
          <a:p>
            <a:pPr>
              <a:defRPr sz="1600">
                <a:solidFill>
                  <a:srgbClr val="1C343A"/>
                </a:solidFill>
                <a:latin typeface="Aptos"/>
              </a:defRPr>
            </a:pPr>
            <a:r>
              <a:rPr dirty="0" err="1"/>
              <a:t>MegaSense</a:t>
            </a:r>
            <a:r>
              <a:rPr dirty="0"/>
              <a:t> sensing devices and analysis of generated environmental data.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1280160"/>
            <a:ext cx="5394960" cy="1920240"/>
          </a:xfrm>
          <a:prstGeom prst="roundRect">
            <a:avLst/>
          </a:prstGeom>
          <a:solidFill>
            <a:srgbClr val="E6F3F1"/>
          </a:solidFill>
          <a:ln>
            <a:solidFill>
              <a:srgbClr val="CDE1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355080" y="1417319"/>
            <a:ext cx="50292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00918B"/>
                </a:solidFill>
                <a:latin typeface="Aptos"/>
              </a:defRPr>
            </a:pPr>
            <a:r>
              <a:t>NCSR Demokritos — planned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1828800"/>
            <a:ext cx="498348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1C343A"/>
                </a:solidFill>
                <a:latin typeface="Aptos"/>
              </a:defRPr>
            </a:pPr>
            <a:r>
              <a:rPr dirty="0"/>
              <a:t>Discussions include two technician secondments. </a:t>
            </a:r>
            <a:endParaRPr lang="fi-FI" dirty="0"/>
          </a:p>
          <a:p>
            <a:pPr>
              <a:defRPr sz="1600">
                <a:solidFill>
                  <a:srgbClr val="1C343A"/>
                </a:solidFill>
                <a:latin typeface="Aptos"/>
              </a:defRPr>
            </a:pPr>
            <a:r>
              <a:rPr dirty="0"/>
              <a:t>Timing, hosting and practical scope still need </a:t>
            </a:r>
            <a:endParaRPr lang="fi-FI" dirty="0"/>
          </a:p>
          <a:p>
            <a:pPr>
              <a:defRPr sz="1600">
                <a:solidFill>
                  <a:srgbClr val="1C343A"/>
                </a:solidFill>
                <a:latin typeface="Aptos"/>
              </a:defRPr>
            </a:pPr>
            <a:r>
              <a:rPr dirty="0"/>
              <a:t>final confirmation.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566160"/>
            <a:ext cx="5394960" cy="1508760"/>
          </a:xfrm>
          <a:prstGeom prst="roundRect">
            <a:avLst/>
          </a:prstGeom>
          <a:solidFill>
            <a:srgbClr val="E6F3F1"/>
          </a:solidFill>
          <a:ln>
            <a:solidFill>
              <a:srgbClr val="CDE1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59" y="3703320"/>
            <a:ext cx="50292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00918B"/>
                </a:solidFill>
                <a:latin typeface="Aptos"/>
              </a:defRPr>
            </a:pPr>
            <a:r>
              <a:t>Mobility principle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59" y="4114800"/>
            <a:ext cx="4864163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1C343A"/>
                </a:solidFill>
                <a:latin typeface="Aptos"/>
              </a:defRPr>
            </a:pPr>
            <a:r>
              <a:rPr dirty="0"/>
              <a:t>Each visit: defined dataset/device → reproducible method</a:t>
            </a:r>
            <a:r>
              <a:rPr lang="fi-FI" dirty="0"/>
              <a:t> </a:t>
            </a:r>
            <a:r>
              <a:rPr dirty="0"/>
              <a:t>→ measurable research result → clear knowledge-transfer handover.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72200" y="3566160"/>
            <a:ext cx="5394960" cy="1508760"/>
          </a:xfrm>
          <a:prstGeom prst="roundRect">
            <a:avLst/>
          </a:prstGeom>
          <a:solidFill>
            <a:srgbClr val="E6F3F1"/>
          </a:solidFill>
          <a:ln>
            <a:solidFill>
              <a:srgbClr val="CDE1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355080" y="3703320"/>
            <a:ext cx="50292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00918B"/>
                </a:solidFill>
                <a:latin typeface="Aptos"/>
              </a:defRPr>
            </a:pPr>
            <a:r>
              <a:t>Helsinki hosting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81" y="4114800"/>
            <a:ext cx="498348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1C343A"/>
                </a:solidFill>
                <a:latin typeface="Aptos"/>
              </a:defRPr>
            </a:pPr>
            <a:r>
              <a:rPr dirty="0"/>
              <a:t>Use Kumpula / NODEs Lab and existing testbeds where </a:t>
            </a:r>
            <a:endParaRPr lang="fi-FI" dirty="0"/>
          </a:p>
          <a:p>
            <a:pPr>
              <a:defRPr sz="1600">
                <a:solidFill>
                  <a:srgbClr val="1C343A"/>
                </a:solidFill>
                <a:latin typeface="Aptos"/>
              </a:defRPr>
            </a:pPr>
            <a:r>
              <a:rPr dirty="0"/>
              <a:t>appropriate, connecting mobility directly to ongoing research.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5532120"/>
            <a:ext cx="1017660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524E"/>
                </a:solidFill>
                <a:latin typeface="Aptos"/>
              </a:defRPr>
            </a:pPr>
            <a:r>
              <a:rPr dirty="0" err="1"/>
              <a:t>MegaSense</a:t>
            </a:r>
            <a:r>
              <a:rPr dirty="0"/>
              <a:t>: sensing platforms • environmental datasets • AI/data science </a:t>
            </a:r>
            <a:endParaRPr lang="fi-FI" dirty="0"/>
          </a:p>
          <a:p>
            <a:pPr algn="ctr">
              <a:defRPr sz="1800" b="1">
                <a:solidFill>
                  <a:srgbClr val="00524E"/>
                </a:solidFill>
                <a:latin typeface="Aptos"/>
              </a:defRPr>
            </a:pPr>
            <a:r>
              <a:rPr dirty="0"/>
              <a:t>• field testbeds • mobility-driven knowledge exchange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422</Words>
  <Application>Microsoft Macintosh PowerPoint</Application>
  <PresentationFormat>Widescreen</PresentationFormat>
  <Paragraphs>59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Rebeiro-Hargrave, Andrew</cp:lastModifiedBy>
  <cp:revision>2</cp:revision>
  <dcterms:created xsi:type="dcterms:W3CDTF">2013-01-27T09:14:16Z</dcterms:created>
  <dcterms:modified xsi:type="dcterms:W3CDTF">2026-09-09T06:22:31Z</dcterms:modified>
  <cp:category/>
</cp:coreProperties>
</file>