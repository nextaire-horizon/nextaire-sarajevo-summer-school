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  <p:sldId id="267" r:id="rId10"/>
    <p:sldId id="285" r:id="rId11"/>
    <p:sldId id="268" r:id="rId12"/>
    <p:sldId id="269" r:id="rId13"/>
    <p:sldId id="271" r:id="rId14"/>
    <p:sldId id="273" r:id="rId15"/>
    <p:sldId id="274" r:id="rId16"/>
    <p:sldId id="301" r:id="rId17"/>
    <p:sldId id="304" r:id="rId18"/>
    <p:sldId id="302" r:id="rId19"/>
    <p:sldId id="303" r:id="rId20"/>
    <p:sldId id="275" r:id="rId21"/>
    <p:sldId id="28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1" d="100"/>
          <a:sy n="71" d="100"/>
        </p:scale>
        <p:origin x="46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45406" y="2396430"/>
            <a:ext cx="950118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4000" dirty="0"/>
              <a:t>Intercultural Cooperation in Genetics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1625" y="3108870"/>
            <a:ext cx="904875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b="1" dirty="0"/>
              <a:t>Population </a:t>
            </a:r>
            <a:r>
              <a:rPr lang="bs-Latn-BA" b="1" dirty="0" err="1"/>
              <a:t>Genetics</a:t>
            </a:r>
            <a:r>
              <a:rPr lang="en-US" b="1" dirty="0"/>
              <a:t> Research in Western Balkan Countries Through the Work of Prof. Dr. Damir Marjanović</a:t>
            </a:r>
            <a:endParaRPr sz="1650" b="1" i="0" u="none" dirty="0">
              <a:solidFill>
                <a:srgbClr val="0284C7"/>
              </a:solidFill>
              <a:latin typeface="Lat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71625" y="4118520"/>
            <a:ext cx="90487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dirty="0"/>
              <a:t>Scientific Overview and Regional Cooperation Analysis | 2026</a:t>
            </a:r>
            <a:endParaRPr sz="1200" b="0" i="0" u="none" dirty="0">
              <a:solidFill>
                <a:srgbClr val="64748B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2113" y="3033712"/>
            <a:ext cx="9218428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4800" dirty="0"/>
              <a:t>Introduction to the Scientific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2113" y="4100290"/>
            <a:ext cx="9750056" cy="651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lang="en-US" sz="2800" dirty="0"/>
              <a:t>Genetics as a Bridge and Scientific Link Among the Peoples of the Western Balkans</a:t>
            </a:r>
            <a:endParaRPr sz="2800" b="0" i="0" u="none" dirty="0">
              <a:solidFill>
                <a:srgbClr val="0284C7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958" y="-20955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92915" y="1406127"/>
            <a:ext cx="5600700" cy="4431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400" dirty="0"/>
              <a:t>Pioneer of Population and Forensic Genetics</a:t>
            </a:r>
          </a:p>
          <a:p>
            <a:r>
              <a:rPr lang="en-US" sz="2400" dirty="0"/>
              <a:t>	Prof. Dr. Damir Marjanović: </a:t>
            </a:r>
            <a:r>
              <a:rPr lang="bs-Latn-BA" sz="2400" dirty="0"/>
              <a:t>one </a:t>
            </a:r>
            <a:r>
              <a:rPr lang="bs-Latn-BA" sz="2400" dirty="0" err="1"/>
              <a:t>of</a:t>
            </a:r>
            <a:r>
              <a:rPr lang="bs-Latn-BA" sz="2400" dirty="0"/>
              <a:t> </a:t>
            </a:r>
            <a:r>
              <a:rPr lang="bs-Latn-BA" sz="2400" dirty="0" err="1"/>
              <a:t>the</a:t>
            </a:r>
            <a:r>
              <a:rPr lang="bs-Latn-BA" sz="2400" dirty="0"/>
              <a:t> l</a:t>
            </a:r>
            <a:r>
              <a:rPr lang="en-US" sz="2400" dirty="0" err="1"/>
              <a:t>eading</a:t>
            </a:r>
            <a:r>
              <a:rPr lang="en-US" sz="2400" dirty="0"/>
              <a:t> geneticist in the SEE region, full professor, and scientific advisor</a:t>
            </a:r>
          </a:p>
          <a:p>
            <a:r>
              <a:rPr lang="en-US" sz="2400" dirty="0"/>
              <a:t>	Institute for Anthropological Research in Zagreb and universities in Sarajevo</a:t>
            </a:r>
          </a:p>
          <a:p>
            <a:r>
              <a:rPr lang="en-US" sz="2400" dirty="0"/>
              <a:t>	Over two decades of research on the genetic diversity of the Balkan population</a:t>
            </a:r>
          </a:p>
          <a:p>
            <a:r>
              <a:rPr lang="en-US" sz="2400" dirty="0"/>
              <a:t>	Key contribution to identification of war victims (ICMP)</a:t>
            </a:r>
          </a:p>
          <a:p>
            <a:r>
              <a:rPr lang="en-US" sz="2400" dirty="0"/>
              <a:t>	Establishment of a regional scientific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76250"/>
            <a:ext cx="116014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Prof. dr. Damir Marjanović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13" name="Slika 12">
            <a:extLst>
              <a:ext uri="{FF2B5EF4-FFF2-40B4-BE49-F238E27FC236}">
                <a16:creationId xmlns:a16="http://schemas.microsoft.com/office/drawing/2014/main" id="{E52D54EA-118F-169F-A74C-0F4F07C44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99" y="2328879"/>
            <a:ext cx="4601687" cy="25864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78906"/>
            <a:ext cx="3524250" cy="23574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678906"/>
            <a:ext cx="3524250" cy="23574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678906"/>
            <a:ext cx="3524250" cy="23574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150" y="3536156"/>
            <a:ext cx="3180397" cy="1538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000" b="1" kern="100" dirty="0">
                <a:solidFill>
                  <a:srgbClr val="007434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Joint Projects:</a:t>
            </a:r>
            <a:r>
              <a:rPr lang="en-US" sz="2000" kern="100" dirty="0">
                <a:solidFill>
                  <a:srgbClr val="007434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bs-Latn-BA" sz="2000" kern="100" dirty="0">
              <a:solidFill>
                <a:srgbClr val="007434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solidFill>
                  <a:srgbClr val="007434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Collaborative scientific studies by institutes from Sarajevo, Zagreb, Belgrade, Podgorica, and Skopje</a:t>
            </a:r>
            <a:endParaRPr sz="2000" b="0" i="0" u="none" dirty="0">
              <a:solidFill>
                <a:srgbClr val="007434"/>
              </a:solidFill>
              <a:latin typeface="Poppins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81525" y="3536156"/>
            <a:ext cx="3180397" cy="1210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b="1" kern="100" dirty="0">
                <a:solidFill>
                  <a:srgbClr val="007434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Data Standardization:</a:t>
            </a:r>
            <a:r>
              <a:rPr lang="en-US" kern="100" dirty="0">
                <a:solidFill>
                  <a:srgbClr val="007434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bs-Latn-BA" kern="100" dirty="0">
              <a:solidFill>
                <a:srgbClr val="007434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kern="100" dirty="0">
                <a:solidFill>
                  <a:srgbClr val="007434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Harmonization of DNA databases and methodologies for population and forensic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3900" y="3536156"/>
            <a:ext cx="3180397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b="1" kern="100" dirty="0">
                <a:solidFill>
                  <a:srgbClr val="007434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Young Researchers: </a:t>
            </a:r>
            <a:endParaRPr lang="bs-Latn-BA" b="1" kern="100" dirty="0">
              <a:solidFill>
                <a:srgbClr val="007434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kern="100" dirty="0">
                <a:solidFill>
                  <a:srgbClr val="007434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Education and academic student exchanges through regional Master's and PhD programs</a:t>
            </a:r>
            <a:endParaRPr b="0" i="0" u="none" dirty="0">
              <a:solidFill>
                <a:srgbClr val="007434"/>
              </a:solidFill>
              <a:latin typeface="Poppins SemiBold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3002756"/>
            <a:ext cx="361950" cy="3619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525" y="3002756"/>
            <a:ext cx="314325" cy="3619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3002756"/>
            <a:ext cx="457200" cy="361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Pillars of Regional Cooperation</a:t>
            </a:r>
            <a:endParaRPr sz="255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E8CEF0-BF26-A54C-5DED-C73B711B1EE4}"/>
              </a:ext>
            </a:extLst>
          </p:cNvPr>
          <p:cNvSpPr txBox="1"/>
          <p:nvPr/>
        </p:nvSpPr>
        <p:spPr>
          <a:xfrm>
            <a:off x="3856296" y="1132392"/>
            <a:ext cx="6204098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endParaRPr lang="en-US" sz="1800" kern="1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921793"/>
            <a:ext cx="5334000" cy="18716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921793"/>
            <a:ext cx="5334000" cy="18716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3245643"/>
            <a:ext cx="4980622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dirty="0">
                <a:solidFill>
                  <a:srgbClr val="007434"/>
                </a:solidFill>
              </a:rPr>
              <a:t>Ethnonational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>
                <a:solidFill>
                  <a:srgbClr val="007434"/>
                </a:solidFill>
              </a:rPr>
              <a:t>Mythologies</a:t>
            </a:r>
            <a:r>
              <a:rPr lang="en-US" dirty="0">
                <a:solidFill>
                  <a:srgbClr val="00B050"/>
                </a:solidFill>
              </a:rPr>
              <a:t>: </a:t>
            </a:r>
            <a:endParaRPr lang="bs-Latn-BA" dirty="0">
              <a:solidFill>
                <a:srgbClr val="00B050"/>
              </a:solidFill>
            </a:endParaRPr>
          </a:p>
          <a:p>
            <a:endParaRPr lang="bs-Latn-BA" dirty="0">
              <a:solidFill>
                <a:srgbClr val="00B050"/>
              </a:solidFill>
            </a:endParaRPr>
          </a:p>
          <a:p>
            <a:r>
              <a:rPr lang="en-US" dirty="0"/>
              <a:t>Post-war region burdened by political and pseudoscientific attempts to prove "distinct ethnic origin"</a:t>
            </a:r>
            <a:endParaRPr sz="1650" b="0" i="0" u="none" dirty="0">
              <a:solidFill>
                <a:srgbClr val="0D9488"/>
              </a:solidFill>
              <a:latin typeface="Poppins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1775" y="3245643"/>
            <a:ext cx="4980622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dirty="0">
                <a:solidFill>
                  <a:srgbClr val="007434"/>
                </a:solidFill>
              </a:rPr>
              <a:t>Scientific Response &amp; Empiricism:</a:t>
            </a:r>
            <a:r>
              <a:rPr lang="en-US" dirty="0"/>
              <a:t> </a:t>
            </a:r>
            <a:endParaRPr lang="bs-Latn-BA" dirty="0"/>
          </a:p>
          <a:p>
            <a:endParaRPr lang="bs-Latn-BA" dirty="0"/>
          </a:p>
          <a:p>
            <a:r>
              <a:rPr lang="en-US" dirty="0"/>
              <a:t>Molecular anthropology provides exact, objective facts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007434"/>
                </a:solidFill>
              </a:rPr>
              <a:t>Western Balkans Context</a:t>
            </a:r>
            <a:endParaRPr sz="3600" b="1" i="0" u="none" dirty="0">
              <a:solidFill>
                <a:srgbClr val="007434"/>
              </a:solidFill>
              <a:latin typeface="Poppin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47875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47875"/>
            <a:ext cx="5600700" cy="3801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lang="en-US" dirty="0">
              <a:solidFill>
                <a:srgbClr val="007434"/>
              </a:solidFill>
            </a:endParaRPr>
          </a:p>
          <a:p>
            <a:endParaRPr lang="bs-Latn-BA" dirty="0"/>
          </a:p>
          <a:p>
            <a:r>
              <a:rPr lang="en-US" dirty="0"/>
              <a:t>Y-Chromosome &amp; mtDNA Analysis: </a:t>
            </a:r>
            <a:endParaRPr lang="bs-Latn-BA" dirty="0"/>
          </a:p>
          <a:p>
            <a:r>
              <a:rPr lang="en-US" dirty="0"/>
              <a:t>Tracing prehistoric and historical migrations via patrilineal and matrilineal lines</a:t>
            </a:r>
          </a:p>
          <a:p>
            <a:r>
              <a:rPr lang="en-US" sz="1600" dirty="0"/>
              <a:t>	</a:t>
            </a:r>
            <a:endParaRPr lang="bs-Latn-BA" sz="1600" dirty="0"/>
          </a:p>
          <a:p>
            <a:r>
              <a:rPr lang="en-US" dirty="0"/>
              <a:t>Disproving Boundaries: </a:t>
            </a:r>
            <a:endParaRPr lang="bs-Latn-BA" dirty="0"/>
          </a:p>
          <a:p>
            <a:r>
              <a:rPr lang="en-US" dirty="0"/>
              <a:t>Modern political and ethnic borders do not correspond to the genetic structure</a:t>
            </a:r>
            <a:endParaRPr lang="bs-Latn-BA" dirty="0"/>
          </a:p>
          <a:p>
            <a:endParaRPr lang="bs-Latn-BA" sz="1650" b="0" i="0" u="none" dirty="0">
              <a:solidFill>
                <a:srgbClr val="0D9488"/>
              </a:solidFill>
              <a:latin typeface="Poppins SemiBold"/>
            </a:endParaRPr>
          </a:p>
          <a:p>
            <a:r>
              <a:rPr lang="en-US" dirty="0"/>
              <a:t>Centuries of Admixture: </a:t>
            </a:r>
            <a:endParaRPr lang="bs-Latn-BA" dirty="0"/>
          </a:p>
          <a:p>
            <a:r>
              <a:rPr lang="en-US" dirty="0"/>
              <a:t>Balkan genetic profile is the result of thousands of years of human migration and mixing</a:t>
            </a:r>
          </a:p>
          <a:p>
            <a:endParaRPr sz="1650" b="0" i="0" u="none" dirty="0">
              <a:solidFill>
                <a:srgbClr val="0D9488"/>
              </a:solidFill>
              <a:latin typeface="Poppins SemiBold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47875"/>
            <a:ext cx="5334000" cy="3619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76250"/>
            <a:ext cx="1160145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800" b="1" dirty="0">
                <a:solidFill>
                  <a:srgbClr val="007434"/>
                </a:solidFill>
              </a:rPr>
              <a:t>Fundamentals of Population Genetics</a:t>
            </a:r>
            <a:endParaRPr sz="255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3152775"/>
            <a:ext cx="5334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sz="9000" b="1" i="0" u="none">
                <a:solidFill>
                  <a:srgbClr val="0D9488"/>
                </a:solidFill>
                <a:latin typeface="Poppins"/>
              </a:rPr>
              <a:t>&gt;70%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295775"/>
            <a:ext cx="53340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4000" dirty="0"/>
              <a:t>Common Genetic Pool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3152775"/>
            <a:ext cx="5600700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b="1" dirty="0"/>
              <a:t>	High Degree of Relatedness Across Borders</a:t>
            </a:r>
            <a:endParaRPr lang="bs-Latn-BA" b="1" dirty="0"/>
          </a:p>
          <a:p>
            <a:endParaRPr lang="en-US" b="1" dirty="0"/>
          </a:p>
          <a:p>
            <a:r>
              <a:rPr lang="en-US" b="1" dirty="0"/>
              <a:t>	Paleolithic and Neolithic heritage among populations of BiH, Croatia, Serbia, Montenegro, and North Macedonia originates from the same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76250"/>
            <a:ext cx="1160145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>
                <a:solidFill>
                  <a:srgbClr val="007434"/>
                </a:solidFill>
              </a:rPr>
              <a:t>Regional Genetic </a:t>
            </a:r>
            <a:r>
              <a:rPr lang="bs-Latn-BA" sz="3600" b="1" dirty="0">
                <a:solidFill>
                  <a:srgbClr val="007434"/>
                </a:solidFill>
              </a:rPr>
              <a:t>(</a:t>
            </a:r>
            <a:r>
              <a:rPr lang="bs-Latn-BA" sz="3600" b="1" dirty="0" err="1">
                <a:solidFill>
                  <a:srgbClr val="007434"/>
                </a:solidFill>
              </a:rPr>
              <a:t>Dis</a:t>
            </a:r>
            <a:r>
              <a:rPr lang="bs-Latn-BA" sz="3600" b="1" dirty="0">
                <a:solidFill>
                  <a:srgbClr val="007434"/>
                </a:solidFill>
              </a:rPr>
              <a:t>)</a:t>
            </a:r>
            <a:r>
              <a:rPr lang="en-US" sz="3600" b="1" dirty="0">
                <a:solidFill>
                  <a:srgbClr val="007434"/>
                </a:solidFill>
              </a:rPr>
              <a:t>Continuity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6007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/>
              <a:t>Debunking Genetic Myths</a:t>
            </a:r>
            <a:endParaRPr sz="360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1500" y="1076325"/>
            <a:ext cx="5334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AC2F4F-22C0-7DB6-E6C6-6B42F1DE8372}"/>
              </a:ext>
            </a:extLst>
          </p:cNvPr>
          <p:cNvSpPr txBox="1"/>
          <p:nvPr/>
        </p:nvSpPr>
        <p:spPr>
          <a:xfrm>
            <a:off x="413236" y="1586989"/>
            <a:ext cx="4158764" cy="2513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No "Ethnic Genomes": In biology, there is no "Bosniak", "Croat", or "Serb" gene	</a:t>
            </a:r>
            <a:endParaRPr lang="bs-Latn-BA" sz="1800" kern="1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bs-Latn-BA" kern="100" dirty="0"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High Intra-group Variability: Genetic variability within a single ethnic group is greater than between different ethnic groups in the region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	Science Over Ideology: Empirical evidence refutes division narratives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Slika 11">
            <a:extLst>
              <a:ext uri="{FF2B5EF4-FFF2-40B4-BE49-F238E27FC236}">
                <a16:creationId xmlns:a16="http://schemas.microsoft.com/office/drawing/2014/main" id="{DD9D5211-8077-6223-44A4-ABF86E1EB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371" y="1506498"/>
            <a:ext cx="7345257" cy="40097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Distribucija Y-Haplogrupa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210436-F719-22BA-5168-85DB814C3696}"/>
              </a:ext>
            </a:extLst>
          </p:cNvPr>
          <p:cNvSpPr txBox="1"/>
          <p:nvPr/>
        </p:nvSpPr>
        <p:spPr>
          <a:xfrm>
            <a:off x="950259" y="1787263"/>
            <a:ext cx="6096000" cy="1867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Distribution of Y-Haplogroups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	Haplogroup I2a (45%): Most prevalent in BiH and Croatia (Paleolithic continuity)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	Haplogroup E-V13 (20%): Shared Balkan Neolithic heritage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	Haplogroup R1a (15%): Slavic migration heritage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	Haplogroup R1b: West European lineage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	Continuity: Data confirms unbroken lineages regardless of modern ethnic affiliation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4" descr="Diagram&#10;&#10;Description automatically generated">
            <a:extLst>
              <a:ext uri="{FF2B5EF4-FFF2-40B4-BE49-F238E27FC236}">
                <a16:creationId xmlns:a16="http://schemas.microsoft.com/office/drawing/2014/main" id="{0B8B8370-35AA-0AEB-70C3-1387141FC0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9046" y="2308979"/>
            <a:ext cx="4724400" cy="38503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enes 15 00748 g004">
            <a:extLst>
              <a:ext uri="{FF2B5EF4-FFF2-40B4-BE49-F238E27FC236}">
                <a16:creationId xmlns:a16="http://schemas.microsoft.com/office/drawing/2014/main" id="{1865896D-44B2-09CE-B958-49C74F1FD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46686" y="301683"/>
            <a:ext cx="3185690" cy="5243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Genes 15 00748 g001">
            <a:extLst>
              <a:ext uri="{FF2B5EF4-FFF2-40B4-BE49-F238E27FC236}">
                <a16:creationId xmlns:a16="http://schemas.microsoft.com/office/drawing/2014/main" id="{141B2EE3-8B49-DD7F-D414-9E637AC25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91864" y="395634"/>
            <a:ext cx="4153450" cy="3488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E6F3E194-9C4D-A70C-1C6A-0F100CAB6B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2323" y="4303060"/>
            <a:ext cx="5783379" cy="135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55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624137"/>
          <a:ext cx="11048998" cy="2466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8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62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46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39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oppins"/>
                        </a:rPr>
                        <a:t>Godina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oppins"/>
                        </a:rPr>
                        <a:t>Naslov Rada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oppins"/>
                        </a:rPr>
                        <a:t>Časopis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oppins"/>
                        </a:rPr>
                        <a:t>Ključni Nalaz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2005.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The Peopling of Modern Bosnia and Herzegovina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Annals of Human Genetics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Otkrivena visoka frekvencija I2a haplogrupa i paleolitski kontinuitet.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2014.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Standing at the Gateway to Europe (PLOS ONE)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PLOS ONE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Potvrđen genetički kontinuitet Zapadnog Balkana i Bliskog Istoka.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2018.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An ethnic genetics - case study of B&amp;H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GenApp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Naučna dekonstrukcija etničkih mitova o porijeklu.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2022.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Croatian genetic heritage: Y-chromosome story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Frontiers / FDMZ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Genetička bliskost hrvatske i bh. populacije.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3114675"/>
            <a:ext cx="9599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531441" y="3114675"/>
            <a:ext cx="33981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929633" y="3114675"/>
            <a:ext cx="20062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35837" y="3114675"/>
            <a:ext cx="46846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3605212"/>
            <a:ext cx="9599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531441" y="3605212"/>
            <a:ext cx="33981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929633" y="3605212"/>
            <a:ext cx="20062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935837" y="3605212"/>
            <a:ext cx="46846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4095750"/>
            <a:ext cx="9599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531441" y="4095750"/>
            <a:ext cx="33981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929633" y="4095750"/>
            <a:ext cx="20062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935837" y="4095750"/>
            <a:ext cx="46846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4586287"/>
            <a:ext cx="9599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531441" y="4586287"/>
            <a:ext cx="33981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929633" y="4586287"/>
            <a:ext cx="20062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935837" y="4586287"/>
            <a:ext cx="46846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71500" y="5076825"/>
            <a:ext cx="9599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531441" y="5076825"/>
            <a:ext cx="33981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929633" y="5076825"/>
            <a:ext cx="20062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935837" y="5076825"/>
            <a:ext cx="46846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1500" y="476250"/>
            <a:ext cx="1160145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600" b="1" dirty="0"/>
              <a:t>Overview of Scientific Papers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25830" y="1205568"/>
            <a:ext cx="8820150" cy="1969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/>
              <a:t>"Genetics teaches us that our differences are superficial and recent, while what connects us has been deeply engraved in our DNA for thousands of years."</a:t>
            </a:r>
            <a:endParaRPr sz="3200" b="0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42273" y="3429000"/>
            <a:ext cx="54006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 dirty="0">
                <a:solidFill>
                  <a:srgbClr val="0D9488"/>
                </a:solidFill>
                <a:latin typeface="Lato"/>
              </a:rPr>
              <a:t>— Prof. dr. Damir Marjanović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800" b="1" dirty="0"/>
              <a:t>Science and Society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Slika 6" descr="Genetic comparison of the Balkan nations: Damir Marjanović at  TEDxUniversityofSarajevo">
            <a:extLst>
              <a:ext uri="{FF2B5EF4-FFF2-40B4-BE49-F238E27FC236}">
                <a16:creationId xmlns:a16="http://schemas.microsoft.com/office/drawing/2014/main" id="{07F1406C-2946-CF98-B103-E30D28A6E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764" y="3330388"/>
            <a:ext cx="4352365" cy="244820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33500"/>
            <a:ext cx="11049000" cy="5048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Growth of Regional Publications</a:t>
            </a:r>
            <a:endParaRPr sz="255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B63F5D-6463-51A4-A19C-73A5D86A7DAE}"/>
              </a:ext>
            </a:extLst>
          </p:cNvPr>
          <p:cNvSpPr txBox="1"/>
          <p:nvPr/>
        </p:nvSpPr>
        <p:spPr>
          <a:xfrm>
            <a:off x="1344706" y="1385376"/>
            <a:ext cx="6096000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endParaRPr lang="en-US" sz="1800" kern="1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	Steady increase in co-authored publications by geneticists from BiH, Croatia, Serbia, and Montenegro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	Growth observed in top-tier indexed international journals over the last two decades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24187"/>
            <a:ext cx="209550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52812"/>
            <a:ext cx="20955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81437"/>
            <a:ext cx="2095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310062"/>
            <a:ext cx="209550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Recommendations for Cooperation</a:t>
            </a:r>
            <a:endParaRPr sz="255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02DBC7-EEE0-314A-819E-77E2AA79893A}"/>
              </a:ext>
            </a:extLst>
          </p:cNvPr>
          <p:cNvSpPr txBox="1"/>
          <p:nvPr/>
        </p:nvSpPr>
        <p:spPr>
          <a:xfrm>
            <a:off x="571500" y="3015625"/>
            <a:ext cx="103004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9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	Sustainable Funding: Joint applications to EU funds (Horizon Europe, IPA) for regional consortia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9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	Infrastructural Connectivity: Shared platforms for storing and analyzing genomic data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9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	Bioethical Harmonization: Aligning legal and ethical frameworks for genetic research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9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	Public Education: Continuous dialogue between scientists and media to combat pseudoscience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2185987"/>
            <a:ext cx="8572500" cy="24860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95500" y="2662237"/>
            <a:ext cx="8001000" cy="1292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007434"/>
                </a:solidFill>
              </a:rPr>
              <a:t>Knowledge That Connects: </a:t>
            </a:r>
            <a:endParaRPr lang="bs-Latn-BA" sz="2800" b="1" dirty="0">
              <a:solidFill>
                <a:srgbClr val="007434"/>
              </a:solidFill>
            </a:endParaRPr>
          </a:p>
          <a:p>
            <a:pPr algn="ctr"/>
            <a:r>
              <a:rPr lang="en-US" sz="2800" b="1" dirty="0">
                <a:solidFill>
                  <a:srgbClr val="007434"/>
                </a:solidFill>
              </a:rPr>
              <a:t>Genetics demonstrates that scientific collaboration transcends political boundaries</a:t>
            </a:r>
            <a:endParaRPr sz="2800" b="1" i="0" u="none" dirty="0">
              <a:solidFill>
                <a:srgbClr val="007434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reci u nama - genetičko blago Bosne i Hercegovine">
            <a:extLst>
              <a:ext uri="{FF2B5EF4-FFF2-40B4-BE49-F238E27FC236}">
                <a16:creationId xmlns:a16="http://schemas.microsoft.com/office/drawing/2014/main" id="{E8CF715A-53F4-8BD1-C572-849EF87D7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897" y="81474"/>
            <a:ext cx="4661452" cy="6781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icture of MEDICINSKA GENETIKA u kliničkoj praksi, prva knjiga">
            <a:extLst>
              <a:ext uri="{FF2B5EF4-FFF2-40B4-BE49-F238E27FC236}">
                <a16:creationId xmlns:a16="http://schemas.microsoft.com/office/drawing/2014/main" id="{35914FE0-06C1-447B-2AC4-8D0567980D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573" y="81474"/>
            <a:ext cx="5148469" cy="6657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0532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9C2606A8-D004-F21C-D7D1-2428507E2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0994" y="245744"/>
            <a:ext cx="4590385" cy="6601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5C1C57C8-B867-1B98-930E-AD4A66E20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987" y="188843"/>
            <a:ext cx="5113020" cy="6669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3488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>
            <a:extLst>
              <a:ext uri="{FF2B5EF4-FFF2-40B4-BE49-F238E27FC236}">
                <a16:creationId xmlns:a16="http://schemas.microsoft.com/office/drawing/2014/main" id="{D79DC06F-A2A4-7B14-A948-A4BBA8430D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16" b="19468"/>
          <a:stretch>
            <a:fillRect/>
          </a:stretch>
        </p:blipFill>
        <p:spPr>
          <a:xfrm>
            <a:off x="681228" y="685800"/>
            <a:ext cx="108204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87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>
            <a:extLst>
              <a:ext uri="{FF2B5EF4-FFF2-40B4-BE49-F238E27FC236}">
                <a16:creationId xmlns:a16="http://schemas.microsoft.com/office/drawing/2014/main" id="{6D3A63BF-4406-1602-F783-18372AD8B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362" y="680654"/>
            <a:ext cx="8059275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911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1333500"/>
          <a:ext cx="11048999" cy="3448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5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0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3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578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oppins"/>
                        </a:rPr>
                        <a:t>Izvor / Autor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oppins"/>
                        </a:rPr>
                        <a:t>Naslov Radovi / Medij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oppins"/>
                        </a:rPr>
                        <a:t>Godina / Detalji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578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Marjanović D. et al.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The Peopling of Modern Bosnia and Herzegovina: Y-chromosome perspective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Ann. Hum. Genet. 69(6): 757-763 (2005)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578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Kovacevic L., Marjanovic D. et al.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Standing at the Gateway to Europe: Genetic Structure of Western Balkan Populations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PLOS ONE 9(8): e105090 (2014)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578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Marjanović D., Primorac D.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Forenzična genetika: teorija i primjena (Knjiga)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Sarajevo / Zagreb (2013)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578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Škaro V., Marjanović D. et al.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Croatian genetic heritage: an updated Y-chromosome story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Frontiers / FDMZ Repozitorij (2022)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578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Marjanović D.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An ethnic genetics – case study of B&amp;H: facts, fallacies and myths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GenApp Journal 1(1) (2018)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58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TEDx Talk (Video)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Genetic comparison of the Balkan nations - Prof. Dr. Damir Marjanović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TEDxUniversityofSarajevo (2013)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1824037"/>
            <a:ext cx="24052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76711" y="1824037"/>
            <a:ext cx="57304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707189" y="1824037"/>
            <a:ext cx="29133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2314575"/>
            <a:ext cx="24052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76711" y="2314575"/>
            <a:ext cx="57304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707189" y="2314575"/>
            <a:ext cx="29133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2805112"/>
            <a:ext cx="24052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76711" y="2805112"/>
            <a:ext cx="57304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707189" y="2805112"/>
            <a:ext cx="29133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3295650"/>
            <a:ext cx="24052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76711" y="3295650"/>
            <a:ext cx="57304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707189" y="3295650"/>
            <a:ext cx="29133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3786187"/>
            <a:ext cx="24052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76711" y="3786187"/>
            <a:ext cx="57304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707189" y="3786187"/>
            <a:ext cx="29133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1500" y="4276725"/>
            <a:ext cx="24052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976711" y="4276725"/>
            <a:ext cx="57304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707189" y="4276725"/>
            <a:ext cx="29133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1500" y="4767262"/>
            <a:ext cx="24052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76711" y="4767262"/>
            <a:ext cx="57304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707189" y="4767262"/>
            <a:ext cx="29133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Reference i Literatura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Winks: When Your Kid Can't Fall Asleep Alone | ParentMap">
            <a:extLst>
              <a:ext uri="{FF2B5EF4-FFF2-40B4-BE49-F238E27FC236}">
                <a16:creationId xmlns:a16="http://schemas.microsoft.com/office/drawing/2014/main" id="{FEE0DB8E-DBF8-17CF-B7B2-F768DB78FD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30" r="34182"/>
          <a:stretch/>
        </p:blipFill>
        <p:spPr bwMode="auto">
          <a:xfrm>
            <a:off x="20" y="10"/>
            <a:ext cx="6095980" cy="6856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Thank You For Your Attention Images | Free Vectors, Stock ...">
            <a:extLst>
              <a:ext uri="{FF2B5EF4-FFF2-40B4-BE49-F238E27FC236}">
                <a16:creationId xmlns:a16="http://schemas.microsoft.com/office/drawing/2014/main" id="{127767B3-7A30-7A74-0429-2F413A2234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12" r="27353" b="-1"/>
          <a:stretch/>
        </p:blipFill>
        <p:spPr bwMode="auto">
          <a:xfrm>
            <a:off x="6094418" y="10"/>
            <a:ext cx="6097582" cy="6856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4289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829</Words>
  <Application>Microsoft Office PowerPoint</Application>
  <PresentationFormat>Široki ekran</PresentationFormat>
  <Paragraphs>114</Paragraphs>
  <Slides>21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5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21</vt:i4>
      </vt:variant>
    </vt:vector>
  </HeadingPairs>
  <TitlesOfParts>
    <vt:vector size="27" baseType="lpstr">
      <vt:lpstr>Arial</vt:lpstr>
      <vt:lpstr>Calibri</vt:lpstr>
      <vt:lpstr>Lato</vt:lpstr>
      <vt:lpstr>Poppins</vt:lpstr>
      <vt:lpstr>Poppins SemiBold</vt:lpstr>
      <vt:lpstr>Office Theme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Damir Marjanović</cp:lastModifiedBy>
  <cp:revision>7</cp:revision>
  <dcterms:created xsi:type="dcterms:W3CDTF">2013-01-27T09:14:16Z</dcterms:created>
  <dcterms:modified xsi:type="dcterms:W3CDTF">2026-09-08T07:49:59Z</dcterms:modified>
  <cp:category/>
</cp:coreProperties>
</file>