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4"/>
  </p:sldMasterIdLst>
  <p:notesMasterIdLst>
    <p:notesMasterId r:id="rId17"/>
  </p:notesMasterIdLst>
  <p:handoutMasterIdLst>
    <p:handoutMasterId r:id="rId18"/>
  </p:handoutMasterIdLst>
  <p:sldIdLst>
    <p:sldId id="256" r:id="rId5"/>
    <p:sldId id="257" r:id="rId6"/>
    <p:sldId id="284" r:id="rId7"/>
    <p:sldId id="337" r:id="rId8"/>
    <p:sldId id="356" r:id="rId9"/>
    <p:sldId id="357" r:id="rId10"/>
    <p:sldId id="358" r:id="rId11"/>
    <p:sldId id="359" r:id="rId12"/>
    <p:sldId id="360" r:id="rId13"/>
    <p:sldId id="279" r:id="rId14"/>
    <p:sldId id="285" r:id="rId15"/>
    <p:sldId id="278" r:id="rId16"/>
  </p:sldIdLst>
  <p:sldSz cx="18288000" cy="10287000"/>
  <p:notesSz cx="6858000" cy="9144000"/>
  <p:embeddedFontLst>
    <p:embeddedFont>
      <p:font typeface="Poppins" pitchFamily="2" charset="77"/>
      <p:regular r:id="rId19"/>
      <p:bold r:id="rId20"/>
      <p:italic r:id="rId21"/>
      <p:boldItalic r:id="rId22"/>
    </p:embeddedFont>
    <p:embeddedFont>
      <p:font typeface="Poppins Bold"/>
      <p:regular r:id="rId23"/>
      <p:bold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464E"/>
    <a:srgbClr val="BDDDCF"/>
    <a:srgbClr val="CBD7BB"/>
    <a:srgbClr val="79EBB8"/>
    <a:srgbClr val="139944"/>
    <a:srgbClr val="018A26"/>
    <a:srgbClr val="5BA986"/>
    <a:srgbClr val="000610"/>
    <a:srgbClr val="278364"/>
    <a:srgbClr val="0C16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972" autoAdjust="0"/>
    <p:restoredTop sz="94476" autoAdjust="0"/>
  </p:normalViewPr>
  <p:slideViewPr>
    <p:cSldViewPr>
      <p:cViewPr varScale="1">
        <p:scale>
          <a:sx n="74" d="100"/>
          <a:sy n="74" d="100"/>
        </p:scale>
        <p:origin x="352"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font" Target="fonts/font3.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2.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6.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5.fntdata"/><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font" Target="fonts/font1.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4.fntdata"/><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5323DEF-6D24-F83E-E7EF-56367F0260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21144002-6B61-79BD-5BC0-FC69727CEE6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B3750E-CB5B-4335-AD9A-B2CEB03DA998}" type="datetimeFigureOut">
              <a:rPr lang="en-GB" smtClean="0"/>
              <a:t>09/09/2026</a:t>
            </a:fld>
            <a:endParaRPr lang="en-GB"/>
          </a:p>
        </p:txBody>
      </p:sp>
      <p:sp>
        <p:nvSpPr>
          <p:cNvPr id="4" name="Footer Placeholder 3">
            <a:extLst>
              <a:ext uri="{FF2B5EF4-FFF2-40B4-BE49-F238E27FC236}">
                <a16:creationId xmlns:a16="http://schemas.microsoft.com/office/drawing/2014/main" id="{D1EE6CD0-2883-BE00-7A37-AEBDDBEAB9E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970D67C0-55BA-BE84-7339-280D1F7D3C3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894DCB-B0B4-4202-A4B7-E085325358DC}" type="slidenum">
              <a:rPr lang="en-GB" smtClean="0"/>
              <a:t>‹#›</a:t>
            </a:fld>
            <a:endParaRPr lang="en-GB"/>
          </a:p>
        </p:txBody>
      </p:sp>
    </p:spTree>
    <p:extLst>
      <p:ext uri="{BB962C8B-B14F-4D97-AF65-F5344CB8AC3E}">
        <p14:creationId xmlns:p14="http://schemas.microsoft.com/office/powerpoint/2010/main" val="186149862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3964CB-DDF6-46BE-8177-760CEBCFC587}" type="datetimeFigureOut">
              <a:rPr lang="en-GB" smtClean="0"/>
              <a:t>09/09/2026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6E80D6-E494-40D6-93EE-412ACE24584E}" type="slidenum">
              <a:rPr lang="en-GB" smtClean="0"/>
              <a:t>‹#›</a:t>
            </a:fld>
            <a:endParaRPr lang="en-GB"/>
          </a:p>
        </p:txBody>
      </p:sp>
    </p:spTree>
    <p:extLst>
      <p:ext uri="{BB962C8B-B14F-4D97-AF65-F5344CB8AC3E}">
        <p14:creationId xmlns:p14="http://schemas.microsoft.com/office/powerpoint/2010/main" val="330459350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35D37-C058-9C5B-593F-0D90662139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88A01D-BB81-CAE2-EBD5-BA05B49E68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4A9C69-2039-58D9-373D-9F40EF0F9075}"/>
              </a:ext>
            </a:extLst>
          </p:cNvPr>
          <p:cNvSpPr>
            <a:spLocks noGrp="1"/>
          </p:cNvSpPr>
          <p:nvPr>
            <p:ph type="body" idx="1"/>
          </p:nvPr>
        </p:nvSpPr>
        <p:spPr/>
        <p:txBody>
          <a:bodyPr/>
          <a:lstStyle/>
          <a:p>
            <a:pPr marL="171450" lvl="0" indent="-171450">
              <a:buFont typeface="Arial" panose="020B0604020202020204" pitchFamily="34" charset="0"/>
              <a:buChar char="•"/>
            </a:pPr>
            <a:r>
              <a:rPr lang="en-GB" sz="1200" kern="1200" dirty="0">
                <a:solidFill>
                  <a:schemeClr val="tx1"/>
                </a:solidFill>
                <a:effectLst/>
                <a:latin typeface="+mn-lt"/>
                <a:ea typeface="+mn-ea"/>
                <a:cs typeface="+mn-cs"/>
              </a:rPr>
              <a:t>Soft skills are an important part of professional development, especially in R&amp;I environments that bring together experts from different disciplines, institutions, and sectors. Technical knowledge is still essential, but researchers also need to work well with others, communicate clearly, adapt to change, and find practical solutions to complex challenges. In addition, they need to be able to present their work and explain research results in a way that is</a:t>
            </a:r>
            <a:r>
              <a:rPr lang="en-GB" sz="1200" b="1" kern="1200" dirty="0">
                <a:solidFill>
                  <a:schemeClr val="tx1"/>
                </a:solidFill>
                <a:effectLst/>
                <a:latin typeface="+mn-lt"/>
                <a:ea typeface="+mn-ea"/>
                <a:cs typeface="+mn-cs"/>
              </a:rPr>
              <a:t> </a:t>
            </a:r>
            <a:r>
              <a:rPr lang="en-GB" sz="1200" kern="1200" dirty="0">
                <a:solidFill>
                  <a:schemeClr val="tx1"/>
                </a:solidFill>
                <a:effectLst/>
                <a:latin typeface="+mn-lt"/>
                <a:ea typeface="+mn-ea"/>
                <a:cs typeface="+mn-cs"/>
              </a:rPr>
              <a:t>understandable and relevant not only to other experts, but also to stakeholders and the wider public.</a:t>
            </a:r>
            <a:r>
              <a:rPr lang="en-ES" dirty="0">
                <a:effectLst/>
              </a:rPr>
              <a:t> </a:t>
            </a:r>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C0EE013-4710-D5AB-7E66-02F0651CBE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6E80D6-E494-40D6-93EE-412ACE24584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75549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sz="1200" kern="1200" dirty="0">
                <a:solidFill>
                  <a:schemeClr val="tx1"/>
                </a:solidFill>
                <a:effectLst/>
                <a:latin typeface="+mn-lt"/>
                <a:ea typeface="+mn-ea"/>
                <a:cs typeface="+mn-cs"/>
              </a:rPr>
              <a:t>Hard skills cover the technical competencies R&amp;I Target Talents need to work effectively in AQ research and innovation. They were identified and prioritised through the co-creation workshops carried out under Task T2.2, involving research performing organisations, public sector bodies, industry and SMEs.</a:t>
            </a:r>
            <a:endParaRPr lang="en-ES"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GB"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GB" sz="1200" kern="1200" dirty="0">
                <a:solidFill>
                  <a:schemeClr val="tx1"/>
                </a:solidFill>
                <a:effectLst/>
                <a:latin typeface="+mn-lt"/>
                <a:ea typeface="+mn-ea"/>
                <a:cs typeface="+mn-cs"/>
              </a:rPr>
              <a:t>Four competency areas were defined: AI, Data Science, LCS Technology, and AQ and Exposure . </a:t>
            </a:r>
          </a:p>
        </p:txBody>
      </p:sp>
      <p:sp>
        <p:nvSpPr>
          <p:cNvPr id="4" name="Slide Number Placeholder 3"/>
          <p:cNvSpPr>
            <a:spLocks noGrp="1"/>
          </p:cNvSpPr>
          <p:nvPr>
            <p:ph type="sldNum" sz="quarter" idx="5"/>
          </p:nvPr>
        </p:nvSpPr>
        <p:spPr/>
        <p:txBody>
          <a:bodyPr/>
          <a:lstStyle/>
          <a:p>
            <a:fld id="{1F6E80D6-E494-40D6-93EE-412ACE24584E}" type="slidenum">
              <a:rPr lang="en-GB" smtClean="0"/>
              <a:t>6</a:t>
            </a:fld>
            <a:endParaRPr lang="en-GB"/>
          </a:p>
        </p:txBody>
      </p:sp>
    </p:spTree>
    <p:extLst>
      <p:ext uri="{BB962C8B-B14F-4D97-AF65-F5344CB8AC3E}">
        <p14:creationId xmlns:p14="http://schemas.microsoft.com/office/powerpoint/2010/main" val="13975681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837B1-199C-4107-EA8B-C2A502DF5B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53A761-9192-47CA-DA72-523F00D296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D6E814-8436-7746-33D7-07E4FA2698BE}"/>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Each competency within the </a:t>
            </a:r>
            <a:r>
              <a:rPr lang="en-GB" sz="1200" kern="1200" dirty="0" err="1">
                <a:solidFill>
                  <a:schemeClr val="tx1"/>
                </a:solidFill>
                <a:effectLst/>
                <a:latin typeface="+mn-lt"/>
                <a:ea typeface="+mn-ea"/>
                <a:cs typeface="+mn-cs"/>
              </a:rPr>
              <a:t>NextAIRE</a:t>
            </a:r>
            <a:r>
              <a:rPr lang="en-GB" sz="1200" kern="1200" dirty="0">
                <a:solidFill>
                  <a:schemeClr val="tx1"/>
                </a:solidFill>
                <a:effectLst/>
                <a:latin typeface="+mn-lt"/>
                <a:ea typeface="+mn-ea"/>
                <a:cs typeface="+mn-cs"/>
              </a:rPr>
              <a:t> Competency Framework is described across three proficiency levels, applicable to both the Hard Skills and Soft Skills pillars. These levels provide a shared reference for self-assessment, PDP design, and progress tracking throughout the project, as shown in the figure below. </a:t>
            </a:r>
            <a:endParaRPr lang="en-E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78F5950-39B3-8B9F-65DE-7B1FEBCF8B2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6E80D6-E494-40D6-93EE-412ACE24584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108491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2.jpe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jpe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6.jpeg"/><Relationship Id="rId2" Type="http://schemas.openxmlformats.org/officeDocument/2006/relationships/image" Target="../media/image19.jpeg"/><Relationship Id="rId1" Type="http://schemas.openxmlformats.org/officeDocument/2006/relationships/slideMaster" Target="../slideMasters/slideMaster1.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jpe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2.png"/><Relationship Id="rId4" Type="http://schemas.openxmlformats.org/officeDocument/2006/relationships/image" Target="../media/image21.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jpe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35BF79-C93E-46E4-B94F-690D14F7F6C4}" type="datetime1">
              <a:rPr lang="en-US" smtClean="0"/>
              <a:t>9/9/26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3EE1A-8B1A-C616-CFD3-3514FEC5D6C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ECE1299-D360-ECC5-DF55-7F2C00319C70}"/>
              </a:ext>
            </a:extLst>
          </p:cNvPr>
          <p:cNvSpPr>
            <a:spLocks noGrp="1"/>
          </p:cNvSpPr>
          <p:nvPr>
            <p:ph type="dt" sz="half" idx="10"/>
          </p:nvPr>
        </p:nvSpPr>
        <p:spPr/>
        <p:txBody>
          <a:bodyPr/>
          <a:lstStyle/>
          <a:p>
            <a:fld id="{4A11239C-96AE-42FC-9EC6-61CC8B3F6C34}" type="datetime1">
              <a:rPr lang="en-US" smtClean="0"/>
              <a:t>9/9/26</a:t>
            </a:fld>
            <a:endParaRPr lang="en-US"/>
          </a:p>
        </p:txBody>
      </p:sp>
      <p:sp>
        <p:nvSpPr>
          <p:cNvPr id="4" name="Footer Placeholder 3">
            <a:extLst>
              <a:ext uri="{FF2B5EF4-FFF2-40B4-BE49-F238E27FC236}">
                <a16:creationId xmlns:a16="http://schemas.microsoft.com/office/drawing/2014/main" id="{1AA86F6D-876E-C855-F8E4-40CFF4C850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75722DE-50C8-B0CF-A377-740BE0ECB8D8}"/>
              </a:ext>
            </a:extLst>
          </p:cNvPr>
          <p:cNvSpPr>
            <a:spLocks noGrp="1"/>
          </p:cNvSpPr>
          <p:nvPr>
            <p:ph type="sldNum" sz="quarter" idx="12"/>
          </p:nvPr>
        </p:nvSpPr>
        <p:spPr/>
        <p:txBody>
          <a:bodyPr/>
          <a:lstStyle/>
          <a:p>
            <a:fld id="{B6F15528-21DE-4FAA-801E-634DDDAF4B2B}" type="slidenum">
              <a:rPr lang="en-US" smtClean="0"/>
              <a:pPr/>
              <a:t>‹#›</a:t>
            </a:fld>
            <a:endParaRPr lang="en-US"/>
          </a:p>
        </p:txBody>
      </p:sp>
      <p:sp>
        <p:nvSpPr>
          <p:cNvPr id="7" name="Online Image Placeholder 6">
            <a:extLst>
              <a:ext uri="{FF2B5EF4-FFF2-40B4-BE49-F238E27FC236}">
                <a16:creationId xmlns:a16="http://schemas.microsoft.com/office/drawing/2014/main" id="{0FC85BAA-B81E-B08C-B1D9-46AC6E250770}"/>
              </a:ext>
            </a:extLst>
          </p:cNvPr>
          <p:cNvSpPr>
            <a:spLocks noGrp="1"/>
          </p:cNvSpPr>
          <p:nvPr>
            <p:ph type="clipArt" sz="quarter" idx="13"/>
          </p:nvPr>
        </p:nvSpPr>
        <p:spPr>
          <a:xfrm>
            <a:off x="0" y="13032"/>
            <a:ext cx="18288000" cy="10287000"/>
          </a:xfrm>
        </p:spPr>
        <p:txBody>
          <a:bodyPr/>
          <a:lstStyle/>
          <a:p>
            <a:endParaRPr lang="en-GB"/>
          </a:p>
        </p:txBody>
      </p:sp>
      <p:pic>
        <p:nvPicPr>
          <p:cNvPr id="9" name="Picture 8">
            <a:extLst>
              <a:ext uri="{FF2B5EF4-FFF2-40B4-BE49-F238E27FC236}">
                <a16:creationId xmlns:a16="http://schemas.microsoft.com/office/drawing/2014/main" id="{AE4D051E-FD15-3EE9-CF0A-EBB76004070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8288000" cy="10265664"/>
          </a:xfrm>
          <a:prstGeom prst="rect">
            <a:avLst/>
          </a:prstGeom>
        </p:spPr>
      </p:pic>
      <p:pic>
        <p:nvPicPr>
          <p:cNvPr id="8" name="Picture 7">
            <a:extLst>
              <a:ext uri="{FF2B5EF4-FFF2-40B4-BE49-F238E27FC236}">
                <a16:creationId xmlns:a16="http://schemas.microsoft.com/office/drawing/2014/main" id="{D1CFC005-3159-3F37-F0BF-BA768A15EF6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0"/>
            <a:ext cx="18288000" cy="10300032"/>
          </a:xfrm>
          <a:prstGeom prst="rect">
            <a:avLst/>
          </a:prstGeom>
        </p:spPr>
      </p:pic>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pic>
        <p:nvPicPr>
          <p:cNvPr id="13" name="Picture 12">
            <a:extLst>
              <a:ext uri="{FF2B5EF4-FFF2-40B4-BE49-F238E27FC236}">
                <a16:creationId xmlns:a16="http://schemas.microsoft.com/office/drawing/2014/main" id="{55903C8F-59E1-3CE9-3F7F-44E040F262B6}"/>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7051209" y="109863"/>
            <a:ext cx="3271181" cy="2615550"/>
          </a:xfrm>
          <a:prstGeom prst="rect">
            <a:avLst/>
          </a:prstGeom>
        </p:spPr>
      </p:pic>
      <p:sp>
        <p:nvSpPr>
          <p:cNvPr id="15" name="TextBox 13">
            <a:extLst>
              <a:ext uri="{FF2B5EF4-FFF2-40B4-BE49-F238E27FC236}">
                <a16:creationId xmlns:a16="http://schemas.microsoft.com/office/drawing/2014/main" id="{AA753E9F-8557-95B5-2691-4FC61C0B560D}"/>
              </a:ext>
            </a:extLst>
          </p:cNvPr>
          <p:cNvSpPr txBox="1"/>
          <p:nvPr userDrawn="1"/>
        </p:nvSpPr>
        <p:spPr>
          <a:xfrm>
            <a:off x="3076831" y="3543816"/>
            <a:ext cx="12134338" cy="2133084"/>
          </a:xfrm>
          <a:prstGeom prst="rect">
            <a:avLst/>
          </a:prstGeom>
        </p:spPr>
        <p:txBody>
          <a:bodyPr lIns="0" tIns="0" rIns="0" bIns="0" rtlCol="0" anchor="t">
            <a:spAutoFit/>
          </a:bodyPr>
          <a:lstStyle/>
          <a:p>
            <a:pPr algn="ctr">
              <a:lnSpc>
                <a:spcPts val="17542"/>
              </a:lnSpc>
            </a:pPr>
            <a:r>
              <a:rPr lang="en-US" sz="12530">
                <a:solidFill>
                  <a:srgbClr val="FFFFFF"/>
                </a:solidFill>
                <a:latin typeface="Poppins"/>
                <a:ea typeface="Poppins"/>
                <a:cs typeface="Poppins"/>
                <a:sym typeface="Poppins"/>
              </a:rPr>
              <a:t>Next</a:t>
            </a:r>
            <a:r>
              <a:rPr lang="en-US" sz="12530" b="1">
                <a:solidFill>
                  <a:srgbClr val="FFFFFF"/>
                </a:solidFill>
                <a:latin typeface="Poppins Bold"/>
                <a:ea typeface="Poppins Bold"/>
                <a:cs typeface="Poppins Bold"/>
                <a:sym typeface="Poppins Bold"/>
              </a:rPr>
              <a:t>AIRE</a:t>
            </a:r>
            <a:endParaRPr lang="en-US" sz="12530" b="1" dirty="0">
              <a:solidFill>
                <a:srgbClr val="FFFFFF"/>
              </a:solidFill>
              <a:latin typeface="Poppins Bold"/>
              <a:ea typeface="Poppins Bold"/>
              <a:cs typeface="Poppins Bold"/>
              <a:sym typeface="Poppins Bold"/>
            </a:endParaRPr>
          </a:p>
        </p:txBody>
      </p:sp>
      <p:sp>
        <p:nvSpPr>
          <p:cNvPr id="16" name="TextBox 14">
            <a:extLst>
              <a:ext uri="{FF2B5EF4-FFF2-40B4-BE49-F238E27FC236}">
                <a16:creationId xmlns:a16="http://schemas.microsoft.com/office/drawing/2014/main" id="{3D18B3F2-20D9-5408-D860-83200EED783F}"/>
              </a:ext>
            </a:extLst>
          </p:cNvPr>
          <p:cNvSpPr txBox="1"/>
          <p:nvPr userDrawn="1"/>
        </p:nvSpPr>
        <p:spPr>
          <a:xfrm>
            <a:off x="2869148" y="5929658"/>
            <a:ext cx="12549704" cy="509242"/>
          </a:xfrm>
          <a:prstGeom prst="rect">
            <a:avLst/>
          </a:prstGeom>
        </p:spPr>
        <p:txBody>
          <a:bodyPr wrap="square" lIns="0" tIns="0" rIns="0" bIns="0" rtlCol="0" anchor="t">
            <a:spAutoFit/>
          </a:bodyPr>
          <a:lstStyle/>
          <a:p>
            <a:pPr algn="ctr">
              <a:lnSpc>
                <a:spcPts val="4111"/>
              </a:lnSpc>
            </a:pPr>
            <a:r>
              <a:rPr lang="en-US" sz="3200">
                <a:solidFill>
                  <a:srgbClr val="FFFFFF"/>
                </a:solidFill>
                <a:latin typeface="Poppins"/>
                <a:ea typeface="Poppins"/>
                <a:cs typeface="Poppins"/>
                <a:sym typeface="Poppins"/>
              </a:rPr>
              <a:t>Next Generation AI Researchers for Air Quality Excellence</a:t>
            </a:r>
          </a:p>
        </p:txBody>
      </p:sp>
    </p:spTree>
    <p:extLst>
      <p:ext uri="{BB962C8B-B14F-4D97-AF65-F5344CB8AC3E}">
        <p14:creationId xmlns:p14="http://schemas.microsoft.com/office/powerpoint/2010/main" val="3527707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3EE1A-8B1A-C616-CFD3-3514FEC5D6C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ECE1299-D360-ECC5-DF55-7F2C00319C70}"/>
              </a:ext>
            </a:extLst>
          </p:cNvPr>
          <p:cNvSpPr>
            <a:spLocks noGrp="1"/>
          </p:cNvSpPr>
          <p:nvPr>
            <p:ph type="dt" sz="half" idx="10"/>
          </p:nvPr>
        </p:nvSpPr>
        <p:spPr/>
        <p:txBody>
          <a:bodyPr/>
          <a:lstStyle/>
          <a:p>
            <a:fld id="{FFB07C36-456A-4703-B8BA-956A57E9A5E7}" type="datetime1">
              <a:rPr lang="en-US" smtClean="0"/>
              <a:t>9/9/26</a:t>
            </a:fld>
            <a:endParaRPr lang="en-US"/>
          </a:p>
        </p:txBody>
      </p:sp>
      <p:sp>
        <p:nvSpPr>
          <p:cNvPr id="4" name="Footer Placeholder 3">
            <a:extLst>
              <a:ext uri="{FF2B5EF4-FFF2-40B4-BE49-F238E27FC236}">
                <a16:creationId xmlns:a16="http://schemas.microsoft.com/office/drawing/2014/main" id="{1AA86F6D-876E-C855-F8E4-40CFF4C850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75722DE-50C8-B0CF-A377-740BE0ECB8D8}"/>
              </a:ext>
            </a:extLst>
          </p:cNvPr>
          <p:cNvSpPr>
            <a:spLocks noGrp="1"/>
          </p:cNvSpPr>
          <p:nvPr>
            <p:ph type="sldNum" sz="quarter" idx="12"/>
          </p:nvPr>
        </p:nvSpPr>
        <p:spPr/>
        <p:txBody>
          <a:bodyPr/>
          <a:lstStyle/>
          <a:p>
            <a:fld id="{B6F15528-21DE-4FAA-801E-634DDDAF4B2B}" type="slidenum">
              <a:rPr lang="en-US" smtClean="0"/>
              <a:pPr/>
              <a:t>‹#›</a:t>
            </a:fld>
            <a:endParaRPr lang="en-US"/>
          </a:p>
        </p:txBody>
      </p:sp>
      <p:pic>
        <p:nvPicPr>
          <p:cNvPr id="6" name="Picture 5">
            <a:extLst>
              <a:ext uri="{FF2B5EF4-FFF2-40B4-BE49-F238E27FC236}">
                <a16:creationId xmlns:a16="http://schemas.microsoft.com/office/drawing/2014/main" id="{1472D2B1-3B10-6055-AAC0-726A999C5E1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267" y="-17787"/>
            <a:ext cx="8943607" cy="10065368"/>
          </a:xfrm>
          <a:prstGeom prst="rect">
            <a:avLst/>
          </a:prstGeom>
        </p:spPr>
      </p:pic>
      <p:sp>
        <p:nvSpPr>
          <p:cNvPr id="7" name="Online Image Placeholder 6">
            <a:extLst>
              <a:ext uri="{FF2B5EF4-FFF2-40B4-BE49-F238E27FC236}">
                <a16:creationId xmlns:a16="http://schemas.microsoft.com/office/drawing/2014/main" id="{0FC85BAA-B81E-B08C-B1D9-46AC6E250770}"/>
              </a:ext>
            </a:extLst>
          </p:cNvPr>
          <p:cNvSpPr>
            <a:spLocks noGrp="1"/>
          </p:cNvSpPr>
          <p:nvPr>
            <p:ph type="clipArt" sz="quarter" idx="13"/>
          </p:nvPr>
        </p:nvSpPr>
        <p:spPr>
          <a:xfrm>
            <a:off x="15240" y="-17787"/>
            <a:ext cx="18288000" cy="10287000"/>
          </a:xfrm>
        </p:spPr>
        <p:txBody>
          <a:bodyPr/>
          <a:lstStyle/>
          <a:p>
            <a:endParaRPr lang="en-GB"/>
          </a:p>
        </p:txBody>
      </p:sp>
      <p:pic>
        <p:nvPicPr>
          <p:cNvPr id="8" name="Picture 7">
            <a:extLst>
              <a:ext uri="{FF2B5EF4-FFF2-40B4-BE49-F238E27FC236}">
                <a16:creationId xmlns:a16="http://schemas.microsoft.com/office/drawing/2014/main" id="{D1CFC005-3159-3F37-F0BF-BA768A15EF6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5240" y="-13032"/>
            <a:ext cx="18288000" cy="10300032"/>
          </a:xfrm>
          <a:prstGeom prst="rect">
            <a:avLst/>
          </a:prstGeom>
        </p:spPr>
      </p:pic>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sp>
        <p:nvSpPr>
          <p:cNvPr id="10" name="Freeform 11">
            <a:extLst>
              <a:ext uri="{FF2B5EF4-FFF2-40B4-BE49-F238E27FC236}">
                <a16:creationId xmlns:a16="http://schemas.microsoft.com/office/drawing/2014/main" id="{963A73CE-5D55-AFA4-33B1-D6FE4ED7AEC3}"/>
              </a:ext>
            </a:extLst>
          </p:cNvPr>
          <p:cNvSpPr/>
          <p:nvPr userDrawn="1"/>
        </p:nvSpPr>
        <p:spPr>
          <a:xfrm>
            <a:off x="10896600" y="925220"/>
            <a:ext cx="2860324" cy="2284778"/>
          </a:xfrm>
          <a:custGeom>
            <a:avLst/>
            <a:gdLst/>
            <a:ahLst/>
            <a:cxnLst/>
            <a:rect l="l" t="t" r="r" b="b"/>
            <a:pathLst>
              <a:path w="2860324" h="2284778">
                <a:moveTo>
                  <a:pt x="0" y="0"/>
                </a:moveTo>
                <a:lnTo>
                  <a:pt x="2860324" y="0"/>
                </a:lnTo>
                <a:lnTo>
                  <a:pt x="2860324" y="2284778"/>
                </a:lnTo>
                <a:lnTo>
                  <a:pt x="0" y="2284778"/>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endParaRPr lang="el-GR"/>
          </a:p>
        </p:txBody>
      </p:sp>
      <p:sp>
        <p:nvSpPr>
          <p:cNvPr id="15" name="TextBox 13">
            <a:extLst>
              <a:ext uri="{FF2B5EF4-FFF2-40B4-BE49-F238E27FC236}">
                <a16:creationId xmlns:a16="http://schemas.microsoft.com/office/drawing/2014/main" id="{AA753E9F-8557-95B5-2691-4FC61C0B560D}"/>
              </a:ext>
            </a:extLst>
          </p:cNvPr>
          <p:cNvSpPr txBox="1"/>
          <p:nvPr userDrawn="1"/>
        </p:nvSpPr>
        <p:spPr>
          <a:xfrm>
            <a:off x="6537960" y="3320814"/>
            <a:ext cx="12134338" cy="2133084"/>
          </a:xfrm>
          <a:prstGeom prst="rect">
            <a:avLst/>
          </a:prstGeom>
        </p:spPr>
        <p:txBody>
          <a:bodyPr lIns="0" tIns="0" rIns="0" bIns="0" rtlCol="0" anchor="t">
            <a:spAutoFit/>
          </a:bodyPr>
          <a:lstStyle/>
          <a:p>
            <a:pPr algn="ctr">
              <a:lnSpc>
                <a:spcPts val="17542"/>
              </a:lnSpc>
            </a:pPr>
            <a:r>
              <a:rPr lang="en-US" sz="12530">
                <a:solidFill>
                  <a:srgbClr val="FFFFFF"/>
                </a:solidFill>
                <a:latin typeface="Poppins"/>
                <a:ea typeface="Poppins"/>
                <a:cs typeface="Poppins"/>
                <a:sym typeface="Poppins"/>
              </a:rPr>
              <a:t>Next</a:t>
            </a:r>
            <a:r>
              <a:rPr lang="en-US" sz="12530" b="1">
                <a:solidFill>
                  <a:srgbClr val="FFFFFF"/>
                </a:solidFill>
                <a:latin typeface="Poppins Bold"/>
                <a:ea typeface="Poppins Bold"/>
                <a:cs typeface="Poppins Bold"/>
                <a:sym typeface="Poppins Bold"/>
              </a:rPr>
              <a:t>AIRE</a:t>
            </a:r>
            <a:endParaRPr lang="en-US" sz="12530" b="1" dirty="0">
              <a:solidFill>
                <a:srgbClr val="FFFFFF"/>
              </a:solidFill>
              <a:latin typeface="Poppins Bold"/>
              <a:ea typeface="Poppins Bold"/>
              <a:cs typeface="Poppins Bold"/>
              <a:sym typeface="Poppins Bold"/>
            </a:endParaRPr>
          </a:p>
        </p:txBody>
      </p:sp>
      <p:sp>
        <p:nvSpPr>
          <p:cNvPr id="16" name="TextBox 14">
            <a:extLst>
              <a:ext uri="{FF2B5EF4-FFF2-40B4-BE49-F238E27FC236}">
                <a16:creationId xmlns:a16="http://schemas.microsoft.com/office/drawing/2014/main" id="{3D18B3F2-20D9-5408-D860-83200EED783F}"/>
              </a:ext>
            </a:extLst>
          </p:cNvPr>
          <p:cNvSpPr txBox="1"/>
          <p:nvPr userDrawn="1"/>
        </p:nvSpPr>
        <p:spPr>
          <a:xfrm>
            <a:off x="9068515" y="5675530"/>
            <a:ext cx="7195553" cy="1035027"/>
          </a:xfrm>
          <a:prstGeom prst="rect">
            <a:avLst/>
          </a:prstGeom>
          <a:ln>
            <a:noFill/>
          </a:ln>
        </p:spPr>
        <p:txBody>
          <a:bodyPr wrap="square" lIns="0" tIns="0" rIns="0" bIns="0" rtlCol="0" anchor="t">
            <a:spAutoFit/>
          </a:bodyPr>
          <a:lstStyle/>
          <a:p>
            <a:pPr algn="ctr">
              <a:lnSpc>
                <a:spcPts val="4111"/>
              </a:lnSpc>
            </a:pPr>
            <a:r>
              <a:rPr lang="en-US" sz="3200">
                <a:solidFill>
                  <a:srgbClr val="FFFFFF"/>
                </a:solidFill>
                <a:latin typeface="Poppins"/>
                <a:ea typeface="Poppins"/>
                <a:cs typeface="Poppins"/>
                <a:sym typeface="Poppins"/>
              </a:rPr>
              <a:t>Next Generation AI Researchers for Air Quality Excellence</a:t>
            </a:r>
          </a:p>
        </p:txBody>
      </p:sp>
      <p:sp>
        <p:nvSpPr>
          <p:cNvPr id="11" name="Freeform 11">
            <a:extLst>
              <a:ext uri="{FF2B5EF4-FFF2-40B4-BE49-F238E27FC236}">
                <a16:creationId xmlns:a16="http://schemas.microsoft.com/office/drawing/2014/main" id="{1AEC3FE6-1D42-AE05-1782-368C09A240CD}"/>
              </a:ext>
            </a:extLst>
          </p:cNvPr>
          <p:cNvSpPr/>
          <p:nvPr userDrawn="1"/>
        </p:nvSpPr>
        <p:spPr>
          <a:xfrm>
            <a:off x="11705969" y="3338601"/>
            <a:ext cx="6781800" cy="7399625"/>
          </a:xfrm>
          <a:custGeom>
            <a:avLst/>
            <a:gdLst/>
            <a:ahLst/>
            <a:cxnLst/>
            <a:rect l="l" t="t" r="r" b="b"/>
            <a:pathLst>
              <a:path w="2860324" h="2284778">
                <a:moveTo>
                  <a:pt x="0" y="0"/>
                </a:moveTo>
                <a:lnTo>
                  <a:pt x="2860324" y="0"/>
                </a:lnTo>
                <a:lnTo>
                  <a:pt x="2860324" y="2284778"/>
                </a:lnTo>
                <a:lnTo>
                  <a:pt x="0" y="2284778"/>
                </a:lnTo>
                <a:lnTo>
                  <a:pt x="0" y="0"/>
                </a:lnTo>
                <a:close/>
              </a:path>
            </a:pathLst>
          </a:custGeom>
          <a:blipFill>
            <a:blip r:embed="rId6" cstate="email">
              <a:alphaModFix amt="20000"/>
              <a:extLst>
                <a:ext uri="{28A0092B-C50C-407E-A947-70E740481C1C}">
                  <a14:useLocalDpi xmlns:a14="http://schemas.microsoft.com/office/drawing/2010/main"/>
                </a:ext>
              </a:extLst>
            </a:blip>
            <a:stretch>
              <a:fillRect/>
            </a:stretch>
          </a:blipFill>
        </p:spPr>
        <p:txBody>
          <a:bodyPr/>
          <a:lstStyle/>
          <a:p>
            <a:endParaRPr lang="el-GR"/>
          </a:p>
        </p:txBody>
      </p:sp>
    </p:spTree>
    <p:extLst>
      <p:ext uri="{BB962C8B-B14F-4D97-AF65-F5344CB8AC3E}">
        <p14:creationId xmlns:p14="http://schemas.microsoft.com/office/powerpoint/2010/main" val="43344620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ECE1299-D360-ECC5-DF55-7F2C00319C70}"/>
              </a:ext>
            </a:extLst>
          </p:cNvPr>
          <p:cNvSpPr>
            <a:spLocks noGrp="1"/>
          </p:cNvSpPr>
          <p:nvPr>
            <p:ph type="dt" sz="half" idx="10"/>
          </p:nvPr>
        </p:nvSpPr>
        <p:spPr/>
        <p:txBody>
          <a:bodyPr/>
          <a:lstStyle/>
          <a:p>
            <a:fld id="{25001BCC-4B99-4F75-8CC4-5A07FBDE5D30}" type="datetime1">
              <a:rPr lang="en-US" smtClean="0"/>
              <a:t>9/9/26</a:t>
            </a:fld>
            <a:endParaRPr lang="en-US"/>
          </a:p>
        </p:txBody>
      </p:sp>
      <p:sp>
        <p:nvSpPr>
          <p:cNvPr id="9" name="Freeform 3">
            <a:extLst>
              <a:ext uri="{FF2B5EF4-FFF2-40B4-BE49-F238E27FC236}">
                <a16:creationId xmlns:a16="http://schemas.microsoft.com/office/drawing/2014/main" id="{FA73A885-947B-FED1-5595-BF0CB9DA2269}"/>
              </a:ext>
            </a:extLst>
          </p:cNvPr>
          <p:cNvSpPr/>
          <p:nvPr userDrawn="1"/>
        </p:nvSpPr>
        <p:spPr>
          <a:xfrm>
            <a:off x="0" y="1555472"/>
            <a:ext cx="6254109" cy="8739148"/>
          </a:xfrm>
          <a:custGeom>
            <a:avLst/>
            <a:gdLst/>
            <a:ahLst/>
            <a:cxnLst/>
            <a:rect l="l" t="t" r="r" b="b"/>
            <a:pathLst>
              <a:path w="4544332" h="6350000">
                <a:moveTo>
                  <a:pt x="0" y="0"/>
                </a:moveTo>
                <a:lnTo>
                  <a:pt x="0" y="6350000"/>
                </a:lnTo>
                <a:lnTo>
                  <a:pt x="4544332" y="6350000"/>
                </a:lnTo>
                <a:cubicBezTo>
                  <a:pt x="4544332" y="2843530"/>
                  <a:pt x="2509380" y="0"/>
                  <a:pt x="0" y="0"/>
                </a:cubicBezTo>
                <a:close/>
              </a:path>
            </a:pathLst>
          </a:custGeom>
          <a:blipFill>
            <a:blip r:embed="rId2" cstate="email">
              <a:extLst>
                <a:ext uri="{28A0092B-C50C-407E-A947-70E740481C1C}">
                  <a14:useLocalDpi xmlns:a14="http://schemas.microsoft.com/office/drawing/2010/main"/>
                </a:ext>
              </a:extLst>
            </a:blip>
            <a:stretch>
              <a:fillRect/>
            </a:stretch>
          </a:blipFill>
        </p:spPr>
        <p:txBody>
          <a:bodyPr/>
          <a:lstStyle/>
          <a:p>
            <a:endParaRPr lang="el-GR"/>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29571" y="0"/>
            <a:ext cx="2051981" cy="1640710"/>
          </a:xfrm>
          <a:prstGeom prst="rect">
            <a:avLst/>
          </a:prstGeom>
        </p:spPr>
      </p:pic>
    </p:spTree>
    <p:extLst>
      <p:ext uri="{BB962C8B-B14F-4D97-AF65-F5344CB8AC3E}">
        <p14:creationId xmlns:p14="http://schemas.microsoft.com/office/powerpoint/2010/main" val="524707591"/>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2_Custom Layout">
    <p:bg>
      <p:bgRef idx="1001">
        <a:schemeClr val="bg1"/>
      </p:bgRef>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29571" y="0"/>
            <a:ext cx="2051981" cy="1640710"/>
          </a:xfrm>
          <a:prstGeom prst="rect">
            <a:avLst/>
          </a:prstGeom>
        </p:spPr>
      </p:pic>
      <p:sp>
        <p:nvSpPr>
          <p:cNvPr id="2" name="Freeform 4">
            <a:extLst>
              <a:ext uri="{FF2B5EF4-FFF2-40B4-BE49-F238E27FC236}">
                <a16:creationId xmlns:a16="http://schemas.microsoft.com/office/drawing/2014/main" id="{E2272AE0-341C-9DAD-408A-A227D590CCD5}"/>
              </a:ext>
            </a:extLst>
          </p:cNvPr>
          <p:cNvSpPr/>
          <p:nvPr userDrawn="1"/>
        </p:nvSpPr>
        <p:spPr>
          <a:xfrm>
            <a:off x="5334000" y="0"/>
            <a:ext cx="20391119" cy="10287000"/>
          </a:xfrm>
          <a:prstGeom prst="flowChartExtract">
            <a:avLst/>
          </a:prstGeom>
          <a:blipFill>
            <a:blip r:embed="rId3" cstate="email">
              <a:extLst>
                <a:ext uri="{28A0092B-C50C-407E-A947-70E740481C1C}">
                  <a14:useLocalDpi xmlns:a14="http://schemas.microsoft.com/office/drawing/2010/main"/>
                </a:ext>
              </a:extLst>
            </a:blip>
            <a:srcRect/>
            <a:stretch>
              <a:fillRect r="36473"/>
            </a:stretch>
          </a:blipFill>
        </p:spPr>
        <p:txBody>
          <a:bodyPr/>
          <a:lstStyle/>
          <a:p>
            <a:endParaRPr lang="el-GR"/>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4252098" y="9182100"/>
            <a:ext cx="4035902" cy="896190"/>
          </a:xfrm>
          <a:prstGeom prst="rect">
            <a:avLst/>
          </a:prstGeom>
        </p:spPr>
      </p:pic>
    </p:spTree>
    <p:extLst>
      <p:ext uri="{BB962C8B-B14F-4D97-AF65-F5344CB8AC3E}">
        <p14:creationId xmlns:p14="http://schemas.microsoft.com/office/powerpoint/2010/main" val="881098624"/>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Custom Layout">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ECE1299-D360-ECC5-DF55-7F2C00319C70}"/>
              </a:ext>
            </a:extLst>
          </p:cNvPr>
          <p:cNvSpPr>
            <a:spLocks noGrp="1"/>
          </p:cNvSpPr>
          <p:nvPr>
            <p:ph type="dt" sz="half" idx="10"/>
          </p:nvPr>
        </p:nvSpPr>
        <p:spPr/>
        <p:txBody>
          <a:bodyPr/>
          <a:lstStyle/>
          <a:p>
            <a:fld id="{B58BE68E-1A4A-4322-8BAF-237E971FA78D}" type="datetime1">
              <a:rPr lang="en-US" smtClean="0"/>
              <a:t>9/9/26</a:t>
            </a:fld>
            <a:endParaRPr lang="en-US"/>
          </a:p>
        </p:txBody>
      </p:sp>
      <p:grpSp>
        <p:nvGrpSpPr>
          <p:cNvPr id="4" name="Group 2">
            <a:extLst>
              <a:ext uri="{FF2B5EF4-FFF2-40B4-BE49-F238E27FC236}">
                <a16:creationId xmlns:a16="http://schemas.microsoft.com/office/drawing/2014/main" id="{33C29D15-A5F6-6048-E6D5-D7B2F1F877F9}"/>
              </a:ext>
            </a:extLst>
          </p:cNvPr>
          <p:cNvGrpSpPr/>
          <p:nvPr userDrawn="1"/>
        </p:nvGrpSpPr>
        <p:grpSpPr>
          <a:xfrm>
            <a:off x="-217170" y="1638381"/>
            <a:ext cx="9019485" cy="9019485"/>
            <a:chOff x="0" y="0"/>
            <a:chExt cx="6350000" cy="6350000"/>
          </a:xfrm>
        </p:grpSpPr>
        <p:sp>
          <p:nvSpPr>
            <p:cNvPr id="5" name="Freeform 3">
              <a:extLst>
                <a:ext uri="{FF2B5EF4-FFF2-40B4-BE49-F238E27FC236}">
                  <a16:creationId xmlns:a16="http://schemas.microsoft.com/office/drawing/2014/main" id="{D656A311-2087-B570-42EA-23DC97085F28}"/>
                </a:ext>
              </a:extLst>
            </p:cNvPr>
            <p:cNvSpPr/>
            <p:nvPr/>
          </p:nvSpPr>
          <p:spPr>
            <a:xfrm>
              <a:off x="0" y="0"/>
              <a:ext cx="6350000" cy="6350000"/>
            </a:xfrm>
            <a:custGeom>
              <a:avLst/>
              <a:gdLst/>
              <a:ahLst/>
              <a:cxnLst/>
              <a:rect l="l" t="t" r="r" b="b"/>
              <a:pathLst>
                <a:path w="6350000" h="6350000">
                  <a:moveTo>
                    <a:pt x="0" y="0"/>
                  </a:moveTo>
                  <a:lnTo>
                    <a:pt x="0" y="6350000"/>
                  </a:lnTo>
                  <a:lnTo>
                    <a:pt x="6350000" y="6350000"/>
                  </a:lnTo>
                  <a:cubicBezTo>
                    <a:pt x="6350000" y="2843530"/>
                    <a:pt x="3506470" y="0"/>
                    <a:pt x="0" y="0"/>
                  </a:cubicBezTo>
                  <a:close/>
                </a:path>
              </a:pathLst>
            </a:custGeom>
            <a:blipFill>
              <a:blip r:embed="rId2" cstate="email">
                <a:alphaModFix amt="75000"/>
                <a:extLst>
                  <a:ext uri="{28A0092B-C50C-407E-A947-70E740481C1C}">
                    <a14:useLocalDpi xmlns:a14="http://schemas.microsoft.com/office/drawing/2010/main"/>
                  </a:ext>
                </a:extLst>
              </a:blip>
              <a:stretch>
                <a:fillRect/>
              </a:stretch>
            </a:blipFill>
          </p:spPr>
          <p:txBody>
            <a:bodyPr/>
            <a:lstStyle/>
            <a:p>
              <a:endParaRPr lang="el-GR"/>
            </a:p>
          </p:txBody>
        </p:sp>
      </p:gr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29571" y="0"/>
            <a:ext cx="2051981" cy="1640710"/>
          </a:xfrm>
          <a:prstGeom prst="rect">
            <a:avLst/>
          </a:prstGeom>
        </p:spPr>
      </p:pic>
    </p:spTree>
    <p:extLst>
      <p:ext uri="{BB962C8B-B14F-4D97-AF65-F5344CB8AC3E}">
        <p14:creationId xmlns:p14="http://schemas.microsoft.com/office/powerpoint/2010/main" val="3458094479"/>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Custom Layout">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606D58-4995-A0BF-8DB7-4C939F579B54}"/>
              </a:ext>
            </a:extLst>
          </p:cNvPr>
          <p:cNvSpPr/>
          <p:nvPr userDrawn="1"/>
        </p:nvSpPr>
        <p:spPr>
          <a:xfrm>
            <a:off x="0" y="9029700"/>
            <a:ext cx="18288000" cy="1257299"/>
          </a:xfrm>
          <a:prstGeom prst="rect">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29571" y="0"/>
            <a:ext cx="2051981" cy="1640710"/>
          </a:xfrm>
          <a:prstGeom prst="rect">
            <a:avLst/>
          </a:prstGeom>
        </p:spPr>
      </p:pic>
      <p:grpSp>
        <p:nvGrpSpPr>
          <p:cNvPr id="2" name="Group 20">
            <a:extLst>
              <a:ext uri="{FF2B5EF4-FFF2-40B4-BE49-F238E27FC236}">
                <a16:creationId xmlns:a16="http://schemas.microsoft.com/office/drawing/2014/main" id="{AE77915C-58F5-66DE-C7DA-B914631DBF32}"/>
              </a:ext>
            </a:extLst>
          </p:cNvPr>
          <p:cNvGrpSpPr/>
          <p:nvPr userDrawn="1"/>
        </p:nvGrpSpPr>
        <p:grpSpPr>
          <a:xfrm>
            <a:off x="12806460" y="541466"/>
            <a:ext cx="5481540" cy="9745534"/>
            <a:chOff x="0" y="0"/>
            <a:chExt cx="3571665" cy="6350000"/>
          </a:xfrm>
        </p:grpSpPr>
        <p:sp>
          <p:nvSpPr>
            <p:cNvPr id="4" name="Freeform 21">
              <a:extLst>
                <a:ext uri="{FF2B5EF4-FFF2-40B4-BE49-F238E27FC236}">
                  <a16:creationId xmlns:a16="http://schemas.microsoft.com/office/drawing/2014/main" id="{5E78CA94-BA02-F0AA-307E-BFA60F320CE0}"/>
                </a:ext>
              </a:extLst>
            </p:cNvPr>
            <p:cNvSpPr/>
            <p:nvPr/>
          </p:nvSpPr>
          <p:spPr>
            <a:xfrm>
              <a:off x="0" y="0"/>
              <a:ext cx="3571665" cy="6350000"/>
            </a:xfrm>
            <a:custGeom>
              <a:avLst/>
              <a:gdLst/>
              <a:ahLst/>
              <a:cxnLst/>
              <a:rect l="l" t="t" r="r" b="b"/>
              <a:pathLst>
                <a:path w="3571665" h="6350000">
                  <a:moveTo>
                    <a:pt x="3571665" y="0"/>
                  </a:moveTo>
                  <a:lnTo>
                    <a:pt x="3571665" y="6350000"/>
                  </a:lnTo>
                  <a:lnTo>
                    <a:pt x="0" y="6350000"/>
                  </a:lnTo>
                  <a:lnTo>
                    <a:pt x="0" y="4433570"/>
                  </a:lnTo>
                  <a:cubicBezTo>
                    <a:pt x="0" y="1985010"/>
                    <a:pt x="1599115" y="0"/>
                    <a:pt x="3571665" y="0"/>
                  </a:cubicBez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l-GR"/>
            </a:p>
          </p:txBody>
        </p:sp>
      </p:grpSp>
    </p:spTree>
    <p:extLst>
      <p:ext uri="{BB962C8B-B14F-4D97-AF65-F5344CB8AC3E}">
        <p14:creationId xmlns:p14="http://schemas.microsoft.com/office/powerpoint/2010/main" val="799621190"/>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3_Custom Layout">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F07FDC6-9BDE-6AE3-B330-405883C1FD0A}"/>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0" y="0"/>
            <a:ext cx="18288000" cy="10287000"/>
          </a:xfrm>
          <a:prstGeom prst="rect">
            <a:avLst/>
          </a:prstGeom>
        </p:spPr>
      </p:pic>
      <p:sp>
        <p:nvSpPr>
          <p:cNvPr id="5" name="Rectangle 4">
            <a:extLst>
              <a:ext uri="{FF2B5EF4-FFF2-40B4-BE49-F238E27FC236}">
                <a16:creationId xmlns:a16="http://schemas.microsoft.com/office/drawing/2014/main" id="{D3606D58-4995-A0BF-8DB7-4C939F579B54}"/>
              </a:ext>
            </a:extLst>
          </p:cNvPr>
          <p:cNvSpPr/>
          <p:nvPr userDrawn="1"/>
        </p:nvSpPr>
        <p:spPr>
          <a:xfrm>
            <a:off x="0" y="9029700"/>
            <a:ext cx="18288000" cy="1257299"/>
          </a:xfrm>
          <a:prstGeom prst="rect">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29571" y="0"/>
            <a:ext cx="2051981" cy="1640710"/>
          </a:xfrm>
          <a:prstGeom prst="rect">
            <a:avLst/>
          </a:prstGeom>
        </p:spPr>
      </p:pic>
    </p:spTree>
    <p:extLst>
      <p:ext uri="{BB962C8B-B14F-4D97-AF65-F5344CB8AC3E}">
        <p14:creationId xmlns:p14="http://schemas.microsoft.com/office/powerpoint/2010/main" val="644883029"/>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ustom Layout">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ECE1299-D360-ECC5-DF55-7F2C00319C70}"/>
              </a:ext>
            </a:extLst>
          </p:cNvPr>
          <p:cNvSpPr>
            <a:spLocks noGrp="1"/>
          </p:cNvSpPr>
          <p:nvPr>
            <p:ph type="dt" sz="half" idx="10"/>
          </p:nvPr>
        </p:nvSpPr>
        <p:spPr/>
        <p:txBody>
          <a:bodyPr/>
          <a:lstStyle/>
          <a:p>
            <a:fld id="{A3A6BB43-E16D-4909-B705-10F3C312386B}" type="datetime1">
              <a:rPr lang="en-US" smtClean="0"/>
              <a:t>9/9/26</a:t>
            </a:fld>
            <a:endParaRPr lang="en-US"/>
          </a:p>
        </p:txBody>
      </p:sp>
      <p:sp>
        <p:nvSpPr>
          <p:cNvPr id="5" name="Rectangle 4">
            <a:extLst>
              <a:ext uri="{FF2B5EF4-FFF2-40B4-BE49-F238E27FC236}">
                <a16:creationId xmlns:a16="http://schemas.microsoft.com/office/drawing/2014/main" id="{D3606D58-4995-A0BF-8DB7-4C939F579B54}"/>
              </a:ext>
            </a:extLst>
          </p:cNvPr>
          <p:cNvSpPr/>
          <p:nvPr userDrawn="1"/>
        </p:nvSpPr>
        <p:spPr>
          <a:xfrm>
            <a:off x="0" y="6494784"/>
            <a:ext cx="18288000" cy="3792216"/>
          </a:xfrm>
          <a:prstGeom prst="rect">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29571" y="0"/>
            <a:ext cx="2051981" cy="1640710"/>
          </a:xfrm>
          <a:prstGeom prst="rect">
            <a:avLst/>
          </a:prstGeom>
        </p:spPr>
      </p:pic>
      <p:grpSp>
        <p:nvGrpSpPr>
          <p:cNvPr id="6" name="Group 5">
            <a:extLst>
              <a:ext uri="{FF2B5EF4-FFF2-40B4-BE49-F238E27FC236}">
                <a16:creationId xmlns:a16="http://schemas.microsoft.com/office/drawing/2014/main" id="{B14D5DDD-850C-E3D5-089F-946B31AA6E4F}"/>
              </a:ext>
            </a:extLst>
          </p:cNvPr>
          <p:cNvGrpSpPr/>
          <p:nvPr userDrawn="1"/>
        </p:nvGrpSpPr>
        <p:grpSpPr>
          <a:xfrm>
            <a:off x="2243781" y="4802337"/>
            <a:ext cx="3044498" cy="3044498"/>
            <a:chOff x="0" y="0"/>
            <a:chExt cx="812800" cy="812800"/>
          </a:xfrm>
        </p:grpSpPr>
        <p:sp>
          <p:nvSpPr>
            <p:cNvPr id="7" name="Freeform 6">
              <a:extLst>
                <a:ext uri="{FF2B5EF4-FFF2-40B4-BE49-F238E27FC236}">
                  <a16:creationId xmlns:a16="http://schemas.microsoft.com/office/drawing/2014/main" id="{75832B86-816F-4E35-739E-4E4D8720A793}"/>
                </a:ext>
              </a:extLst>
            </p:cNvPr>
            <p:cNvSpPr/>
            <p:nvPr/>
          </p:nvSpPr>
          <p:spPr>
            <a:xfrm>
              <a:off x="0" y="0"/>
              <a:ext cx="812800" cy="812800"/>
            </a:xfrm>
            <a:custGeom>
              <a:avLst/>
              <a:gdLst/>
              <a:ahLst/>
              <a:cxnLst/>
              <a:rect l="l" t="t" r="r" b="b"/>
              <a:pathLst>
                <a:path w="812800" h="812800">
                  <a:moveTo>
                    <a:pt x="58487" y="0"/>
                  </a:moveTo>
                  <a:lnTo>
                    <a:pt x="754313" y="0"/>
                  </a:lnTo>
                  <a:cubicBezTo>
                    <a:pt x="769825" y="0"/>
                    <a:pt x="784701" y="6162"/>
                    <a:pt x="795670" y="17131"/>
                  </a:cubicBezTo>
                  <a:cubicBezTo>
                    <a:pt x="806638" y="28099"/>
                    <a:pt x="812800" y="42975"/>
                    <a:pt x="812800" y="58487"/>
                  </a:cubicBezTo>
                  <a:lnTo>
                    <a:pt x="812800" y="754313"/>
                  </a:lnTo>
                  <a:cubicBezTo>
                    <a:pt x="812800" y="769825"/>
                    <a:pt x="806638" y="784701"/>
                    <a:pt x="795670" y="795670"/>
                  </a:cubicBezTo>
                  <a:cubicBezTo>
                    <a:pt x="784701" y="806638"/>
                    <a:pt x="769825" y="812800"/>
                    <a:pt x="754313" y="812800"/>
                  </a:cubicBezTo>
                  <a:lnTo>
                    <a:pt x="58487" y="812800"/>
                  </a:lnTo>
                  <a:cubicBezTo>
                    <a:pt x="42975" y="812800"/>
                    <a:pt x="28099" y="806638"/>
                    <a:pt x="17131" y="795670"/>
                  </a:cubicBezTo>
                  <a:cubicBezTo>
                    <a:pt x="6162" y="784701"/>
                    <a:pt x="0" y="769825"/>
                    <a:pt x="0" y="754313"/>
                  </a:cubicBezTo>
                  <a:lnTo>
                    <a:pt x="0" y="58487"/>
                  </a:lnTo>
                  <a:cubicBezTo>
                    <a:pt x="0" y="42975"/>
                    <a:pt x="6162" y="28099"/>
                    <a:pt x="17131" y="17131"/>
                  </a:cubicBezTo>
                  <a:cubicBezTo>
                    <a:pt x="28099" y="6162"/>
                    <a:pt x="42975" y="0"/>
                    <a:pt x="58487" y="0"/>
                  </a:cubicBez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l-GR"/>
            </a:p>
          </p:txBody>
        </p:sp>
      </p:grpSp>
      <p:grpSp>
        <p:nvGrpSpPr>
          <p:cNvPr id="10" name="Group 9">
            <a:extLst>
              <a:ext uri="{FF2B5EF4-FFF2-40B4-BE49-F238E27FC236}">
                <a16:creationId xmlns:a16="http://schemas.microsoft.com/office/drawing/2014/main" id="{E47445D5-D8D6-6336-54B5-EDD6B53E34E3}"/>
              </a:ext>
            </a:extLst>
          </p:cNvPr>
          <p:cNvGrpSpPr/>
          <p:nvPr userDrawn="1"/>
        </p:nvGrpSpPr>
        <p:grpSpPr>
          <a:xfrm>
            <a:off x="12911781" y="4798394"/>
            <a:ext cx="3044498" cy="3044498"/>
            <a:chOff x="0" y="0"/>
            <a:chExt cx="812800" cy="812800"/>
          </a:xfrm>
        </p:grpSpPr>
        <p:sp>
          <p:nvSpPr>
            <p:cNvPr id="11" name="Freeform 10">
              <a:extLst>
                <a:ext uri="{FF2B5EF4-FFF2-40B4-BE49-F238E27FC236}">
                  <a16:creationId xmlns:a16="http://schemas.microsoft.com/office/drawing/2014/main" id="{E1B8107B-4159-A752-2A6F-923937A45B95}"/>
                </a:ext>
              </a:extLst>
            </p:cNvPr>
            <p:cNvSpPr/>
            <p:nvPr/>
          </p:nvSpPr>
          <p:spPr>
            <a:xfrm>
              <a:off x="0" y="0"/>
              <a:ext cx="812800" cy="812800"/>
            </a:xfrm>
            <a:custGeom>
              <a:avLst/>
              <a:gdLst/>
              <a:ahLst/>
              <a:cxnLst/>
              <a:rect l="l" t="t" r="r" b="b"/>
              <a:pathLst>
                <a:path w="812800" h="812800">
                  <a:moveTo>
                    <a:pt x="58487" y="0"/>
                  </a:moveTo>
                  <a:lnTo>
                    <a:pt x="754313" y="0"/>
                  </a:lnTo>
                  <a:cubicBezTo>
                    <a:pt x="769825" y="0"/>
                    <a:pt x="784701" y="6162"/>
                    <a:pt x="795670" y="17131"/>
                  </a:cubicBezTo>
                  <a:cubicBezTo>
                    <a:pt x="806638" y="28099"/>
                    <a:pt x="812800" y="42975"/>
                    <a:pt x="812800" y="58487"/>
                  </a:cubicBezTo>
                  <a:lnTo>
                    <a:pt x="812800" y="754313"/>
                  </a:lnTo>
                  <a:cubicBezTo>
                    <a:pt x="812800" y="769825"/>
                    <a:pt x="806638" y="784701"/>
                    <a:pt x="795670" y="795670"/>
                  </a:cubicBezTo>
                  <a:cubicBezTo>
                    <a:pt x="784701" y="806638"/>
                    <a:pt x="769825" y="812800"/>
                    <a:pt x="754313" y="812800"/>
                  </a:cubicBezTo>
                  <a:lnTo>
                    <a:pt x="58487" y="812800"/>
                  </a:lnTo>
                  <a:cubicBezTo>
                    <a:pt x="42975" y="812800"/>
                    <a:pt x="28099" y="806638"/>
                    <a:pt x="17131" y="795670"/>
                  </a:cubicBezTo>
                  <a:cubicBezTo>
                    <a:pt x="6162" y="784701"/>
                    <a:pt x="0" y="769825"/>
                    <a:pt x="0" y="754313"/>
                  </a:cubicBezTo>
                  <a:lnTo>
                    <a:pt x="0" y="58487"/>
                  </a:lnTo>
                  <a:cubicBezTo>
                    <a:pt x="0" y="42975"/>
                    <a:pt x="6162" y="28099"/>
                    <a:pt x="17131" y="17131"/>
                  </a:cubicBezTo>
                  <a:cubicBezTo>
                    <a:pt x="28099" y="6162"/>
                    <a:pt x="42975" y="0"/>
                    <a:pt x="58487" y="0"/>
                  </a:cubicBez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endParaRPr lang="el-GR"/>
            </a:p>
          </p:txBody>
        </p:sp>
      </p:grpSp>
      <p:grpSp>
        <p:nvGrpSpPr>
          <p:cNvPr id="15" name="Group 14">
            <a:extLst>
              <a:ext uri="{FF2B5EF4-FFF2-40B4-BE49-F238E27FC236}">
                <a16:creationId xmlns:a16="http://schemas.microsoft.com/office/drawing/2014/main" id="{67BF38E9-5C83-1950-5E84-09CD9738214E}"/>
              </a:ext>
            </a:extLst>
          </p:cNvPr>
          <p:cNvGrpSpPr/>
          <p:nvPr userDrawn="1"/>
        </p:nvGrpSpPr>
        <p:grpSpPr>
          <a:xfrm>
            <a:off x="7562541" y="4800724"/>
            <a:ext cx="3044498" cy="3046111"/>
            <a:chOff x="9601200" y="4149039"/>
            <a:chExt cx="3044498" cy="2922843"/>
          </a:xfrm>
        </p:grpSpPr>
        <p:grpSp>
          <p:nvGrpSpPr>
            <p:cNvPr id="8" name="Group 7">
              <a:extLst>
                <a:ext uri="{FF2B5EF4-FFF2-40B4-BE49-F238E27FC236}">
                  <a16:creationId xmlns:a16="http://schemas.microsoft.com/office/drawing/2014/main" id="{4003CE0B-E8E0-B705-414C-24C924BDF831}"/>
                </a:ext>
              </a:extLst>
            </p:cNvPr>
            <p:cNvGrpSpPr/>
            <p:nvPr userDrawn="1"/>
          </p:nvGrpSpPr>
          <p:grpSpPr>
            <a:xfrm>
              <a:off x="9601200" y="4149039"/>
              <a:ext cx="3044498" cy="2922843"/>
              <a:chOff x="0" y="0"/>
              <a:chExt cx="812800" cy="812800"/>
            </a:xfrm>
          </p:grpSpPr>
          <p:sp>
            <p:nvSpPr>
              <p:cNvPr id="9" name="Freeform 8">
                <a:extLst>
                  <a:ext uri="{FF2B5EF4-FFF2-40B4-BE49-F238E27FC236}">
                    <a16:creationId xmlns:a16="http://schemas.microsoft.com/office/drawing/2014/main" id="{E8448F53-CA56-01A5-B7F3-DE10F7E2075A}"/>
                  </a:ext>
                </a:extLst>
              </p:cNvPr>
              <p:cNvSpPr/>
              <p:nvPr/>
            </p:nvSpPr>
            <p:spPr>
              <a:xfrm>
                <a:off x="0" y="0"/>
                <a:ext cx="812800" cy="812800"/>
              </a:xfrm>
              <a:custGeom>
                <a:avLst/>
                <a:gdLst/>
                <a:ahLst/>
                <a:cxnLst/>
                <a:rect l="l" t="t" r="r" b="b"/>
                <a:pathLst>
                  <a:path w="812800" h="812800">
                    <a:moveTo>
                      <a:pt x="63316" y="0"/>
                    </a:moveTo>
                    <a:lnTo>
                      <a:pt x="749484" y="0"/>
                    </a:lnTo>
                    <a:cubicBezTo>
                      <a:pt x="766277" y="0"/>
                      <a:pt x="782381" y="6671"/>
                      <a:pt x="794255" y="18545"/>
                    </a:cubicBezTo>
                    <a:cubicBezTo>
                      <a:pt x="806129" y="30419"/>
                      <a:pt x="812800" y="46523"/>
                      <a:pt x="812800" y="63316"/>
                    </a:cubicBezTo>
                    <a:lnTo>
                      <a:pt x="812800" y="749484"/>
                    </a:lnTo>
                    <a:cubicBezTo>
                      <a:pt x="812800" y="766277"/>
                      <a:pt x="806129" y="782381"/>
                      <a:pt x="794255" y="794255"/>
                    </a:cubicBezTo>
                    <a:cubicBezTo>
                      <a:pt x="782381" y="806129"/>
                      <a:pt x="766277" y="812800"/>
                      <a:pt x="749484" y="812800"/>
                    </a:cubicBezTo>
                    <a:lnTo>
                      <a:pt x="63316" y="812800"/>
                    </a:lnTo>
                    <a:cubicBezTo>
                      <a:pt x="46523" y="812800"/>
                      <a:pt x="30419" y="806129"/>
                      <a:pt x="18545" y="794255"/>
                    </a:cubicBezTo>
                    <a:cubicBezTo>
                      <a:pt x="6671" y="782381"/>
                      <a:pt x="0" y="766277"/>
                      <a:pt x="0" y="749484"/>
                    </a:cubicBezTo>
                    <a:lnTo>
                      <a:pt x="0" y="63316"/>
                    </a:lnTo>
                    <a:cubicBezTo>
                      <a:pt x="0" y="46523"/>
                      <a:pt x="6671" y="30419"/>
                      <a:pt x="18545" y="18545"/>
                    </a:cubicBezTo>
                    <a:cubicBezTo>
                      <a:pt x="30419" y="6671"/>
                      <a:pt x="46523" y="0"/>
                      <a:pt x="63316" y="0"/>
                    </a:cubicBezTo>
                    <a:close/>
                  </a:path>
                </a:pathLst>
              </a:custGeom>
              <a:blipFill>
                <a:blip r:embed="rId6" cstate="email">
                  <a:extLst>
                    <a:ext uri="{28A0092B-C50C-407E-A947-70E740481C1C}">
                      <a14:useLocalDpi xmlns:a14="http://schemas.microsoft.com/office/drawing/2010/main"/>
                    </a:ext>
                  </a:extLst>
                </a:blip>
                <a:stretch>
                  <a:fillRect/>
                </a:stretch>
              </a:blipFill>
            </p:spPr>
            <p:txBody>
              <a:bodyPr/>
              <a:lstStyle/>
              <a:p>
                <a:endParaRPr lang="el-GR"/>
              </a:p>
            </p:txBody>
          </p:sp>
        </p:grpSp>
        <p:sp>
          <p:nvSpPr>
            <p:cNvPr id="13" name="Rectangle 12">
              <a:extLst>
                <a:ext uri="{FF2B5EF4-FFF2-40B4-BE49-F238E27FC236}">
                  <a16:creationId xmlns:a16="http://schemas.microsoft.com/office/drawing/2014/main" id="{E8237E87-9726-1D7E-D830-7E7564A61D87}"/>
                </a:ext>
              </a:extLst>
            </p:cNvPr>
            <p:cNvSpPr/>
            <p:nvPr userDrawn="1"/>
          </p:nvSpPr>
          <p:spPr>
            <a:xfrm>
              <a:off x="9616440" y="4351487"/>
              <a:ext cx="842661" cy="450850"/>
            </a:xfrm>
            <a:prstGeom prst="rect">
              <a:avLst/>
            </a:prstGeom>
            <a:solidFill>
              <a:srgbClr val="00061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371995517"/>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4_Custom Layout">
    <p:bg>
      <p:bgRef idx="1001">
        <a:schemeClr val="bg1"/>
      </p:bgRef>
    </p:bg>
    <p:spTree>
      <p:nvGrpSpPr>
        <p:cNvPr id="1" name=""/>
        <p:cNvGrpSpPr/>
        <p:nvPr/>
      </p:nvGrpSpPr>
      <p:grpSpPr>
        <a:xfrm>
          <a:off x="0" y="0"/>
          <a:ext cx="0" cy="0"/>
          <a:chOff x="0" y="0"/>
          <a:chExt cx="0" cy="0"/>
        </a:xfrm>
      </p:grpSpPr>
      <p:sp>
        <p:nvSpPr>
          <p:cNvPr id="6" name="Freeform 4">
            <a:extLst>
              <a:ext uri="{FF2B5EF4-FFF2-40B4-BE49-F238E27FC236}">
                <a16:creationId xmlns:a16="http://schemas.microsoft.com/office/drawing/2014/main" id="{573948BD-6543-7A38-1A57-C3758689B1CF}"/>
              </a:ext>
            </a:extLst>
          </p:cNvPr>
          <p:cNvSpPr/>
          <p:nvPr userDrawn="1"/>
        </p:nvSpPr>
        <p:spPr>
          <a:xfrm>
            <a:off x="1" y="0"/>
            <a:ext cx="18288000" cy="10287000"/>
          </a:xfrm>
          <a:custGeom>
            <a:avLst/>
            <a:gdLst/>
            <a:ahLst/>
            <a:cxnLst/>
            <a:rect l="l" t="t" r="r" b="b"/>
            <a:pathLst>
              <a:path w="20198727" h="13465818">
                <a:moveTo>
                  <a:pt x="0" y="0"/>
                </a:moveTo>
                <a:lnTo>
                  <a:pt x="20198727" y="0"/>
                </a:lnTo>
                <a:lnTo>
                  <a:pt x="20198727" y="13465819"/>
                </a:lnTo>
                <a:lnTo>
                  <a:pt x="0" y="13465819"/>
                </a:lnTo>
                <a:lnTo>
                  <a:pt x="0" y="0"/>
                </a:lnTo>
                <a:close/>
              </a:path>
            </a:pathLst>
          </a:custGeom>
          <a:blipFill>
            <a:blip r:embed="rId2" cstate="email">
              <a:extLst>
                <a:ext uri="{28A0092B-C50C-407E-A947-70E740481C1C}">
                  <a14:useLocalDpi xmlns:a14="http://schemas.microsoft.com/office/drawing/2010/main"/>
                </a:ext>
              </a:extLst>
            </a:blip>
            <a:stretch>
              <a:fillRect/>
            </a:stretch>
          </a:blipFill>
        </p:spPr>
        <p:txBody>
          <a:bodyPr/>
          <a:lstStyle/>
          <a:p>
            <a:endParaRPr lang="el-GR"/>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sp>
        <p:nvSpPr>
          <p:cNvPr id="7" name="Freeform 11">
            <a:extLst>
              <a:ext uri="{FF2B5EF4-FFF2-40B4-BE49-F238E27FC236}">
                <a16:creationId xmlns:a16="http://schemas.microsoft.com/office/drawing/2014/main" id="{0AEAF7D9-ADC4-49A0-9DA9-7783245CAC9B}"/>
              </a:ext>
            </a:extLst>
          </p:cNvPr>
          <p:cNvSpPr/>
          <p:nvPr userDrawn="1"/>
        </p:nvSpPr>
        <p:spPr>
          <a:xfrm>
            <a:off x="-381000" y="-38100"/>
            <a:ext cx="2179610" cy="1741035"/>
          </a:xfrm>
          <a:custGeom>
            <a:avLst/>
            <a:gdLst/>
            <a:ahLst/>
            <a:cxnLst/>
            <a:rect l="l" t="t" r="r" b="b"/>
            <a:pathLst>
              <a:path w="2860324" h="2284778">
                <a:moveTo>
                  <a:pt x="0" y="0"/>
                </a:moveTo>
                <a:lnTo>
                  <a:pt x="2860324" y="0"/>
                </a:lnTo>
                <a:lnTo>
                  <a:pt x="2860324" y="2284778"/>
                </a:lnTo>
                <a:lnTo>
                  <a:pt x="0" y="2284778"/>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l-GR"/>
          </a:p>
        </p:txBody>
      </p:sp>
    </p:spTree>
    <p:extLst>
      <p:ext uri="{BB962C8B-B14F-4D97-AF65-F5344CB8AC3E}">
        <p14:creationId xmlns:p14="http://schemas.microsoft.com/office/powerpoint/2010/main" val="360862866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ustom Layout">
    <p:bg>
      <p:bgRef idx="1001">
        <a:schemeClr val="bg1"/>
      </p:bgRef>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803FD400-28F7-6F22-DE86-998BFBEDF074}"/>
              </a:ext>
            </a:extLst>
          </p:cNvPr>
          <p:cNvSpPr/>
          <p:nvPr userDrawn="1"/>
        </p:nvSpPr>
        <p:spPr>
          <a:xfrm rot="-5400000">
            <a:off x="3989072" y="-4011932"/>
            <a:ext cx="10309860" cy="18288003"/>
          </a:xfrm>
          <a:custGeom>
            <a:avLst/>
            <a:gdLst/>
            <a:ahLst/>
            <a:cxnLst/>
            <a:rect l="l" t="t" r="r" b="b"/>
            <a:pathLst>
              <a:path w="12590962" h="18886443">
                <a:moveTo>
                  <a:pt x="0" y="0"/>
                </a:moveTo>
                <a:lnTo>
                  <a:pt x="12590962" y="0"/>
                </a:lnTo>
                <a:lnTo>
                  <a:pt x="12590962" y="18886443"/>
                </a:lnTo>
                <a:lnTo>
                  <a:pt x="0" y="18886443"/>
                </a:lnTo>
                <a:lnTo>
                  <a:pt x="0" y="0"/>
                </a:lnTo>
                <a:close/>
              </a:path>
            </a:pathLst>
          </a:custGeom>
          <a:blipFill>
            <a:blip r:embed="rId2" cstate="email">
              <a:alphaModFix/>
              <a:extLst>
                <a:ext uri="{28A0092B-C50C-407E-A947-70E740481C1C}">
                  <a14:useLocalDpi xmlns:a14="http://schemas.microsoft.com/office/drawing/2010/main"/>
                </a:ext>
              </a:extLst>
            </a:blip>
            <a:stretch>
              <a:fillRect/>
            </a:stretch>
          </a:blipFill>
        </p:spPr>
        <p:txBody>
          <a:bodyPr/>
          <a:lstStyle/>
          <a:p>
            <a:endParaRPr lang="el-GR"/>
          </a:p>
        </p:txBody>
      </p:sp>
      <p:sp>
        <p:nvSpPr>
          <p:cNvPr id="3" name="Date Placeholder 2">
            <a:extLst>
              <a:ext uri="{FF2B5EF4-FFF2-40B4-BE49-F238E27FC236}">
                <a16:creationId xmlns:a16="http://schemas.microsoft.com/office/drawing/2014/main" id="{EECE1299-D360-ECC5-DF55-7F2C00319C70}"/>
              </a:ext>
            </a:extLst>
          </p:cNvPr>
          <p:cNvSpPr>
            <a:spLocks noGrp="1"/>
          </p:cNvSpPr>
          <p:nvPr>
            <p:ph type="dt" sz="half" idx="10"/>
          </p:nvPr>
        </p:nvSpPr>
        <p:spPr/>
        <p:txBody>
          <a:bodyPr/>
          <a:lstStyle/>
          <a:p>
            <a:fld id="{83BBD6BA-554C-4DDB-80F8-8F83FFE9CA97}" type="datetime1">
              <a:rPr lang="en-US" smtClean="0"/>
              <a:t>9/9/26</a:t>
            </a:fld>
            <a:endParaRPr lang="en-US"/>
          </a:p>
        </p:txBody>
      </p:sp>
      <p:pic>
        <p:nvPicPr>
          <p:cNvPr id="4" name="Picture 3">
            <a:extLst>
              <a:ext uri="{FF2B5EF4-FFF2-40B4-BE49-F238E27FC236}">
                <a16:creationId xmlns:a16="http://schemas.microsoft.com/office/drawing/2014/main" id="{FE4F7E55-1DB2-C0AF-3876-1821F53D1CC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0"/>
            <a:ext cx="18288000" cy="10300032"/>
          </a:xfrm>
          <a:prstGeom prst="rect">
            <a:avLst/>
          </a:prstGeom>
        </p:spPr>
      </p:pic>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sp>
        <p:nvSpPr>
          <p:cNvPr id="20" name="Rectangle: Rounded Corners 19">
            <a:extLst>
              <a:ext uri="{FF2B5EF4-FFF2-40B4-BE49-F238E27FC236}">
                <a16:creationId xmlns:a16="http://schemas.microsoft.com/office/drawing/2014/main" id="{77FD2C28-FE9D-044B-3D88-B8377B57DB85}"/>
              </a:ext>
            </a:extLst>
          </p:cNvPr>
          <p:cNvSpPr/>
          <p:nvPr userDrawn="1"/>
        </p:nvSpPr>
        <p:spPr>
          <a:xfrm>
            <a:off x="1931498" y="3965417"/>
            <a:ext cx="3740699" cy="522366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 name="Group 5">
            <a:extLst>
              <a:ext uri="{FF2B5EF4-FFF2-40B4-BE49-F238E27FC236}">
                <a16:creationId xmlns:a16="http://schemas.microsoft.com/office/drawing/2014/main" id="{B14D5DDD-850C-E3D5-089F-946B31AA6E4F}"/>
              </a:ext>
            </a:extLst>
          </p:cNvPr>
          <p:cNvGrpSpPr/>
          <p:nvPr userDrawn="1"/>
        </p:nvGrpSpPr>
        <p:grpSpPr>
          <a:xfrm>
            <a:off x="2243781" y="4802337"/>
            <a:ext cx="3044498" cy="3044498"/>
            <a:chOff x="0" y="0"/>
            <a:chExt cx="812800" cy="812800"/>
          </a:xfrm>
        </p:grpSpPr>
        <p:sp>
          <p:nvSpPr>
            <p:cNvPr id="7" name="Freeform 6">
              <a:extLst>
                <a:ext uri="{FF2B5EF4-FFF2-40B4-BE49-F238E27FC236}">
                  <a16:creationId xmlns:a16="http://schemas.microsoft.com/office/drawing/2014/main" id="{75832B86-816F-4E35-739E-4E4D8720A793}"/>
                </a:ext>
              </a:extLst>
            </p:cNvPr>
            <p:cNvSpPr/>
            <p:nvPr/>
          </p:nvSpPr>
          <p:spPr>
            <a:xfrm>
              <a:off x="0" y="0"/>
              <a:ext cx="812800" cy="812800"/>
            </a:xfrm>
            <a:custGeom>
              <a:avLst/>
              <a:gdLst/>
              <a:ahLst/>
              <a:cxnLst/>
              <a:rect l="l" t="t" r="r" b="b"/>
              <a:pathLst>
                <a:path w="812800" h="812800">
                  <a:moveTo>
                    <a:pt x="58487" y="0"/>
                  </a:moveTo>
                  <a:lnTo>
                    <a:pt x="754313" y="0"/>
                  </a:lnTo>
                  <a:cubicBezTo>
                    <a:pt x="769825" y="0"/>
                    <a:pt x="784701" y="6162"/>
                    <a:pt x="795670" y="17131"/>
                  </a:cubicBezTo>
                  <a:cubicBezTo>
                    <a:pt x="806638" y="28099"/>
                    <a:pt x="812800" y="42975"/>
                    <a:pt x="812800" y="58487"/>
                  </a:cubicBezTo>
                  <a:lnTo>
                    <a:pt x="812800" y="754313"/>
                  </a:lnTo>
                  <a:cubicBezTo>
                    <a:pt x="812800" y="769825"/>
                    <a:pt x="806638" y="784701"/>
                    <a:pt x="795670" y="795670"/>
                  </a:cubicBezTo>
                  <a:cubicBezTo>
                    <a:pt x="784701" y="806638"/>
                    <a:pt x="769825" y="812800"/>
                    <a:pt x="754313" y="812800"/>
                  </a:cubicBezTo>
                  <a:lnTo>
                    <a:pt x="58487" y="812800"/>
                  </a:lnTo>
                  <a:cubicBezTo>
                    <a:pt x="42975" y="812800"/>
                    <a:pt x="28099" y="806638"/>
                    <a:pt x="17131" y="795670"/>
                  </a:cubicBezTo>
                  <a:cubicBezTo>
                    <a:pt x="6162" y="784701"/>
                    <a:pt x="0" y="769825"/>
                    <a:pt x="0" y="754313"/>
                  </a:cubicBezTo>
                  <a:lnTo>
                    <a:pt x="0" y="58487"/>
                  </a:lnTo>
                  <a:cubicBezTo>
                    <a:pt x="0" y="42975"/>
                    <a:pt x="6162" y="28099"/>
                    <a:pt x="17131" y="17131"/>
                  </a:cubicBezTo>
                  <a:cubicBezTo>
                    <a:pt x="28099" y="6162"/>
                    <a:pt x="42975" y="0"/>
                    <a:pt x="58487" y="0"/>
                  </a:cubicBez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endParaRPr lang="el-GR"/>
            </a:p>
          </p:txBody>
        </p:sp>
      </p:grpSp>
      <p:sp>
        <p:nvSpPr>
          <p:cNvPr id="22" name="Rectangle: Rounded Corners 21">
            <a:extLst>
              <a:ext uri="{FF2B5EF4-FFF2-40B4-BE49-F238E27FC236}">
                <a16:creationId xmlns:a16="http://schemas.microsoft.com/office/drawing/2014/main" id="{C10DAFA7-7298-5A98-EC85-1AB3FB6C201B}"/>
              </a:ext>
            </a:extLst>
          </p:cNvPr>
          <p:cNvSpPr/>
          <p:nvPr userDrawn="1"/>
        </p:nvSpPr>
        <p:spPr>
          <a:xfrm>
            <a:off x="12497382" y="3965417"/>
            <a:ext cx="3740699" cy="522366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Rounded Corners 20">
            <a:extLst>
              <a:ext uri="{FF2B5EF4-FFF2-40B4-BE49-F238E27FC236}">
                <a16:creationId xmlns:a16="http://schemas.microsoft.com/office/drawing/2014/main" id="{0E96E066-0844-5673-644D-922AE47FAA9D}"/>
              </a:ext>
            </a:extLst>
          </p:cNvPr>
          <p:cNvSpPr/>
          <p:nvPr userDrawn="1"/>
        </p:nvSpPr>
        <p:spPr>
          <a:xfrm>
            <a:off x="7214440" y="3955589"/>
            <a:ext cx="3740699" cy="522366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0" name="Group 9">
            <a:extLst>
              <a:ext uri="{FF2B5EF4-FFF2-40B4-BE49-F238E27FC236}">
                <a16:creationId xmlns:a16="http://schemas.microsoft.com/office/drawing/2014/main" id="{E47445D5-D8D6-6336-54B5-EDD6B53E34E3}"/>
              </a:ext>
            </a:extLst>
          </p:cNvPr>
          <p:cNvGrpSpPr/>
          <p:nvPr userDrawn="1"/>
        </p:nvGrpSpPr>
        <p:grpSpPr>
          <a:xfrm>
            <a:off x="12911781" y="4798394"/>
            <a:ext cx="3044498" cy="3044498"/>
            <a:chOff x="0" y="0"/>
            <a:chExt cx="812800" cy="812800"/>
          </a:xfrm>
        </p:grpSpPr>
        <p:sp>
          <p:nvSpPr>
            <p:cNvPr id="11" name="Freeform 10">
              <a:extLst>
                <a:ext uri="{FF2B5EF4-FFF2-40B4-BE49-F238E27FC236}">
                  <a16:creationId xmlns:a16="http://schemas.microsoft.com/office/drawing/2014/main" id="{E1B8107B-4159-A752-2A6F-923937A45B95}"/>
                </a:ext>
              </a:extLst>
            </p:cNvPr>
            <p:cNvSpPr/>
            <p:nvPr/>
          </p:nvSpPr>
          <p:spPr>
            <a:xfrm>
              <a:off x="0" y="0"/>
              <a:ext cx="812800" cy="812800"/>
            </a:xfrm>
            <a:custGeom>
              <a:avLst/>
              <a:gdLst/>
              <a:ahLst/>
              <a:cxnLst/>
              <a:rect l="l" t="t" r="r" b="b"/>
              <a:pathLst>
                <a:path w="812800" h="812800">
                  <a:moveTo>
                    <a:pt x="58487" y="0"/>
                  </a:moveTo>
                  <a:lnTo>
                    <a:pt x="754313" y="0"/>
                  </a:lnTo>
                  <a:cubicBezTo>
                    <a:pt x="769825" y="0"/>
                    <a:pt x="784701" y="6162"/>
                    <a:pt x="795670" y="17131"/>
                  </a:cubicBezTo>
                  <a:cubicBezTo>
                    <a:pt x="806638" y="28099"/>
                    <a:pt x="812800" y="42975"/>
                    <a:pt x="812800" y="58487"/>
                  </a:cubicBezTo>
                  <a:lnTo>
                    <a:pt x="812800" y="754313"/>
                  </a:lnTo>
                  <a:cubicBezTo>
                    <a:pt x="812800" y="769825"/>
                    <a:pt x="806638" y="784701"/>
                    <a:pt x="795670" y="795670"/>
                  </a:cubicBezTo>
                  <a:cubicBezTo>
                    <a:pt x="784701" y="806638"/>
                    <a:pt x="769825" y="812800"/>
                    <a:pt x="754313" y="812800"/>
                  </a:cubicBezTo>
                  <a:lnTo>
                    <a:pt x="58487" y="812800"/>
                  </a:lnTo>
                  <a:cubicBezTo>
                    <a:pt x="42975" y="812800"/>
                    <a:pt x="28099" y="806638"/>
                    <a:pt x="17131" y="795670"/>
                  </a:cubicBezTo>
                  <a:cubicBezTo>
                    <a:pt x="6162" y="784701"/>
                    <a:pt x="0" y="769825"/>
                    <a:pt x="0" y="754313"/>
                  </a:cubicBezTo>
                  <a:lnTo>
                    <a:pt x="0" y="58487"/>
                  </a:lnTo>
                  <a:cubicBezTo>
                    <a:pt x="0" y="42975"/>
                    <a:pt x="6162" y="28099"/>
                    <a:pt x="17131" y="17131"/>
                  </a:cubicBezTo>
                  <a:cubicBezTo>
                    <a:pt x="28099" y="6162"/>
                    <a:pt x="42975" y="0"/>
                    <a:pt x="58487" y="0"/>
                  </a:cubicBezTo>
                  <a:close/>
                </a:path>
              </a:pathLst>
            </a:custGeom>
            <a:blipFill>
              <a:blip r:embed="rId6" cstate="email">
                <a:extLst>
                  <a:ext uri="{28A0092B-C50C-407E-A947-70E740481C1C}">
                    <a14:useLocalDpi xmlns:a14="http://schemas.microsoft.com/office/drawing/2010/main"/>
                  </a:ext>
                </a:extLst>
              </a:blip>
              <a:stretch>
                <a:fillRect/>
              </a:stretch>
            </a:blipFill>
          </p:spPr>
          <p:txBody>
            <a:bodyPr/>
            <a:lstStyle/>
            <a:p>
              <a:endParaRPr lang="el-GR"/>
            </a:p>
          </p:txBody>
        </p:sp>
      </p:grpSp>
      <p:grpSp>
        <p:nvGrpSpPr>
          <p:cNvPr id="15" name="Group 14">
            <a:extLst>
              <a:ext uri="{FF2B5EF4-FFF2-40B4-BE49-F238E27FC236}">
                <a16:creationId xmlns:a16="http://schemas.microsoft.com/office/drawing/2014/main" id="{67BF38E9-5C83-1950-5E84-09CD9738214E}"/>
              </a:ext>
            </a:extLst>
          </p:cNvPr>
          <p:cNvGrpSpPr/>
          <p:nvPr userDrawn="1"/>
        </p:nvGrpSpPr>
        <p:grpSpPr>
          <a:xfrm>
            <a:off x="7562541" y="4800724"/>
            <a:ext cx="3044498" cy="3046111"/>
            <a:chOff x="9601200" y="4149039"/>
            <a:chExt cx="3044498" cy="2922843"/>
          </a:xfrm>
        </p:grpSpPr>
        <p:grpSp>
          <p:nvGrpSpPr>
            <p:cNvPr id="8" name="Group 7">
              <a:extLst>
                <a:ext uri="{FF2B5EF4-FFF2-40B4-BE49-F238E27FC236}">
                  <a16:creationId xmlns:a16="http://schemas.microsoft.com/office/drawing/2014/main" id="{4003CE0B-E8E0-B705-414C-24C924BDF831}"/>
                </a:ext>
              </a:extLst>
            </p:cNvPr>
            <p:cNvGrpSpPr/>
            <p:nvPr userDrawn="1"/>
          </p:nvGrpSpPr>
          <p:grpSpPr>
            <a:xfrm>
              <a:off x="9601200" y="4149039"/>
              <a:ext cx="3044498" cy="2922843"/>
              <a:chOff x="0" y="0"/>
              <a:chExt cx="812800" cy="812800"/>
            </a:xfrm>
          </p:grpSpPr>
          <p:sp>
            <p:nvSpPr>
              <p:cNvPr id="9" name="Freeform 8">
                <a:extLst>
                  <a:ext uri="{FF2B5EF4-FFF2-40B4-BE49-F238E27FC236}">
                    <a16:creationId xmlns:a16="http://schemas.microsoft.com/office/drawing/2014/main" id="{E8448F53-CA56-01A5-B7F3-DE10F7E2075A}"/>
                  </a:ext>
                </a:extLst>
              </p:cNvPr>
              <p:cNvSpPr/>
              <p:nvPr/>
            </p:nvSpPr>
            <p:spPr>
              <a:xfrm>
                <a:off x="0" y="0"/>
                <a:ext cx="812800" cy="812800"/>
              </a:xfrm>
              <a:custGeom>
                <a:avLst/>
                <a:gdLst/>
                <a:ahLst/>
                <a:cxnLst/>
                <a:rect l="l" t="t" r="r" b="b"/>
                <a:pathLst>
                  <a:path w="812800" h="812800">
                    <a:moveTo>
                      <a:pt x="63316" y="0"/>
                    </a:moveTo>
                    <a:lnTo>
                      <a:pt x="749484" y="0"/>
                    </a:lnTo>
                    <a:cubicBezTo>
                      <a:pt x="766277" y="0"/>
                      <a:pt x="782381" y="6671"/>
                      <a:pt x="794255" y="18545"/>
                    </a:cubicBezTo>
                    <a:cubicBezTo>
                      <a:pt x="806129" y="30419"/>
                      <a:pt x="812800" y="46523"/>
                      <a:pt x="812800" y="63316"/>
                    </a:cubicBezTo>
                    <a:lnTo>
                      <a:pt x="812800" y="749484"/>
                    </a:lnTo>
                    <a:cubicBezTo>
                      <a:pt x="812800" y="766277"/>
                      <a:pt x="806129" y="782381"/>
                      <a:pt x="794255" y="794255"/>
                    </a:cubicBezTo>
                    <a:cubicBezTo>
                      <a:pt x="782381" y="806129"/>
                      <a:pt x="766277" y="812800"/>
                      <a:pt x="749484" y="812800"/>
                    </a:cubicBezTo>
                    <a:lnTo>
                      <a:pt x="63316" y="812800"/>
                    </a:lnTo>
                    <a:cubicBezTo>
                      <a:pt x="46523" y="812800"/>
                      <a:pt x="30419" y="806129"/>
                      <a:pt x="18545" y="794255"/>
                    </a:cubicBezTo>
                    <a:cubicBezTo>
                      <a:pt x="6671" y="782381"/>
                      <a:pt x="0" y="766277"/>
                      <a:pt x="0" y="749484"/>
                    </a:cubicBezTo>
                    <a:lnTo>
                      <a:pt x="0" y="63316"/>
                    </a:lnTo>
                    <a:cubicBezTo>
                      <a:pt x="0" y="46523"/>
                      <a:pt x="6671" y="30419"/>
                      <a:pt x="18545" y="18545"/>
                    </a:cubicBezTo>
                    <a:cubicBezTo>
                      <a:pt x="30419" y="6671"/>
                      <a:pt x="46523" y="0"/>
                      <a:pt x="63316" y="0"/>
                    </a:cubicBezTo>
                    <a:close/>
                  </a:path>
                </a:pathLst>
              </a:custGeom>
              <a:blipFill>
                <a:blip r:embed="rId7" cstate="email">
                  <a:extLst>
                    <a:ext uri="{28A0092B-C50C-407E-A947-70E740481C1C}">
                      <a14:useLocalDpi xmlns:a14="http://schemas.microsoft.com/office/drawing/2010/main"/>
                    </a:ext>
                  </a:extLst>
                </a:blip>
                <a:stretch>
                  <a:fillRect/>
                </a:stretch>
              </a:blipFill>
            </p:spPr>
            <p:txBody>
              <a:bodyPr/>
              <a:lstStyle/>
              <a:p>
                <a:endParaRPr lang="el-GR"/>
              </a:p>
            </p:txBody>
          </p:sp>
        </p:grpSp>
        <p:sp>
          <p:nvSpPr>
            <p:cNvPr id="13" name="Rectangle 12">
              <a:extLst>
                <a:ext uri="{FF2B5EF4-FFF2-40B4-BE49-F238E27FC236}">
                  <a16:creationId xmlns:a16="http://schemas.microsoft.com/office/drawing/2014/main" id="{E8237E87-9726-1D7E-D830-7E7564A61D87}"/>
                </a:ext>
              </a:extLst>
            </p:cNvPr>
            <p:cNvSpPr/>
            <p:nvPr userDrawn="1"/>
          </p:nvSpPr>
          <p:spPr>
            <a:xfrm>
              <a:off x="9616440" y="4351487"/>
              <a:ext cx="842661" cy="450850"/>
            </a:xfrm>
            <a:prstGeom prst="rect">
              <a:avLst/>
            </a:prstGeom>
            <a:solidFill>
              <a:srgbClr val="00061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6" name="Freeform 11">
            <a:extLst>
              <a:ext uri="{FF2B5EF4-FFF2-40B4-BE49-F238E27FC236}">
                <a16:creationId xmlns:a16="http://schemas.microsoft.com/office/drawing/2014/main" id="{578061C8-C3CC-455C-3B74-C08EB3728E81}"/>
              </a:ext>
            </a:extLst>
          </p:cNvPr>
          <p:cNvSpPr/>
          <p:nvPr userDrawn="1"/>
        </p:nvSpPr>
        <p:spPr>
          <a:xfrm>
            <a:off x="-381000" y="-38100"/>
            <a:ext cx="2179610" cy="1741035"/>
          </a:xfrm>
          <a:custGeom>
            <a:avLst/>
            <a:gdLst/>
            <a:ahLst/>
            <a:cxnLst/>
            <a:rect l="l" t="t" r="r" b="b"/>
            <a:pathLst>
              <a:path w="2860324" h="2284778">
                <a:moveTo>
                  <a:pt x="0" y="0"/>
                </a:moveTo>
                <a:lnTo>
                  <a:pt x="2860324" y="0"/>
                </a:lnTo>
                <a:lnTo>
                  <a:pt x="2860324" y="2284778"/>
                </a:lnTo>
                <a:lnTo>
                  <a:pt x="0" y="2284778"/>
                </a:lnTo>
                <a:lnTo>
                  <a:pt x="0" y="0"/>
                </a:lnTo>
                <a:close/>
              </a:path>
            </a:pathLst>
          </a:custGeom>
          <a:blipFill>
            <a:blip r:embed="rId8" cstate="email">
              <a:extLst>
                <a:ext uri="{28A0092B-C50C-407E-A947-70E740481C1C}">
                  <a14:useLocalDpi xmlns:a14="http://schemas.microsoft.com/office/drawing/2010/main"/>
                </a:ext>
              </a:extLst>
            </a:blip>
            <a:stretch>
              <a:fillRect/>
            </a:stretch>
          </a:blipFill>
        </p:spPr>
        <p:txBody>
          <a:bodyPr/>
          <a:lstStyle/>
          <a:p>
            <a:endParaRPr lang="el-GR"/>
          </a:p>
        </p:txBody>
      </p:sp>
    </p:spTree>
    <p:extLst>
      <p:ext uri="{BB962C8B-B14F-4D97-AF65-F5344CB8AC3E}">
        <p14:creationId xmlns:p14="http://schemas.microsoft.com/office/powerpoint/2010/main" val="2792962052"/>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Custom Layout">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606D58-4995-A0BF-8DB7-4C939F579B54}"/>
              </a:ext>
            </a:extLst>
          </p:cNvPr>
          <p:cNvSpPr/>
          <p:nvPr userDrawn="1"/>
        </p:nvSpPr>
        <p:spPr>
          <a:xfrm>
            <a:off x="0" y="9029700"/>
            <a:ext cx="18288000" cy="1257299"/>
          </a:xfrm>
          <a:prstGeom prst="rect">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29571" y="0"/>
            <a:ext cx="2051981" cy="1640710"/>
          </a:xfrm>
          <a:prstGeom prst="rect">
            <a:avLst/>
          </a:prstGeom>
        </p:spPr>
      </p:pic>
      <p:sp>
        <p:nvSpPr>
          <p:cNvPr id="10" name="Freeform 11">
            <a:extLst>
              <a:ext uri="{FF2B5EF4-FFF2-40B4-BE49-F238E27FC236}">
                <a16:creationId xmlns:a16="http://schemas.microsoft.com/office/drawing/2014/main" id="{D1682B63-6C1E-8144-8AC2-C471C71E1736}"/>
              </a:ext>
            </a:extLst>
          </p:cNvPr>
          <p:cNvSpPr/>
          <p:nvPr userDrawn="1"/>
        </p:nvSpPr>
        <p:spPr>
          <a:xfrm>
            <a:off x="8839200" y="4076700"/>
            <a:ext cx="10992661" cy="4953000"/>
          </a:xfrm>
          <a:custGeom>
            <a:avLst/>
            <a:gdLst/>
            <a:ahLst/>
            <a:cxnLst/>
            <a:rect l="l" t="t" r="r" b="b"/>
            <a:pathLst>
              <a:path w="2860324" h="2284778">
                <a:moveTo>
                  <a:pt x="0" y="0"/>
                </a:moveTo>
                <a:lnTo>
                  <a:pt x="2860324" y="0"/>
                </a:lnTo>
                <a:lnTo>
                  <a:pt x="2860324" y="2284778"/>
                </a:lnTo>
                <a:lnTo>
                  <a:pt x="0" y="2284778"/>
                </a:lnTo>
                <a:lnTo>
                  <a:pt x="0" y="0"/>
                </a:lnTo>
                <a:close/>
              </a:path>
            </a:pathLst>
          </a:custGeom>
          <a:blipFill>
            <a:blip r:embed="rId4" cstate="email">
              <a:duotone>
                <a:prstClr val="black"/>
                <a:srgbClr val="02464E">
                  <a:tint val="45000"/>
                  <a:satMod val="400000"/>
                </a:srgbClr>
              </a:duotone>
              <a:extLst>
                <a:ext uri="{28A0092B-C50C-407E-A947-70E740481C1C}">
                  <a14:useLocalDpi xmlns:a14="http://schemas.microsoft.com/office/drawing/2010/main"/>
                </a:ext>
              </a:extLst>
            </a:blip>
            <a:stretch>
              <a:fillRect/>
            </a:stretch>
          </a:blipFill>
        </p:spPr>
        <p:txBody>
          <a:bodyPr/>
          <a:lstStyle/>
          <a:p>
            <a:endParaRPr lang="el-GR"/>
          </a:p>
        </p:txBody>
      </p:sp>
    </p:spTree>
    <p:extLst>
      <p:ext uri="{BB962C8B-B14F-4D97-AF65-F5344CB8AC3E}">
        <p14:creationId xmlns:p14="http://schemas.microsoft.com/office/powerpoint/2010/main" val="229805399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Custom Layout">
    <p:bg>
      <p:bgRef idx="1001">
        <a:schemeClr val="bg1"/>
      </p:bgRef>
    </p:bg>
    <p:spTree>
      <p:nvGrpSpPr>
        <p:cNvPr id="1" name=""/>
        <p:cNvGrpSpPr/>
        <p:nvPr/>
      </p:nvGrpSpPr>
      <p:grpSpPr>
        <a:xfrm>
          <a:off x="0" y="0"/>
          <a:ext cx="0" cy="0"/>
          <a:chOff x="0" y="0"/>
          <a:chExt cx="0" cy="0"/>
        </a:xfrm>
      </p:grpSpPr>
      <p:sp>
        <p:nvSpPr>
          <p:cNvPr id="6" name="Freeform 4">
            <a:extLst>
              <a:ext uri="{FF2B5EF4-FFF2-40B4-BE49-F238E27FC236}">
                <a16:creationId xmlns:a16="http://schemas.microsoft.com/office/drawing/2014/main" id="{573948BD-6543-7A38-1A57-C3758689B1CF}"/>
              </a:ext>
            </a:extLst>
          </p:cNvPr>
          <p:cNvSpPr/>
          <p:nvPr userDrawn="1"/>
        </p:nvSpPr>
        <p:spPr>
          <a:xfrm>
            <a:off x="1" y="0"/>
            <a:ext cx="18288000" cy="10287000"/>
          </a:xfrm>
          <a:custGeom>
            <a:avLst/>
            <a:gdLst/>
            <a:ahLst/>
            <a:cxnLst/>
            <a:rect l="l" t="t" r="r" b="b"/>
            <a:pathLst>
              <a:path w="20198727" h="13465818">
                <a:moveTo>
                  <a:pt x="0" y="0"/>
                </a:moveTo>
                <a:lnTo>
                  <a:pt x="20198727" y="0"/>
                </a:lnTo>
                <a:lnTo>
                  <a:pt x="20198727" y="13465819"/>
                </a:lnTo>
                <a:lnTo>
                  <a:pt x="0" y="13465819"/>
                </a:lnTo>
                <a:lnTo>
                  <a:pt x="0" y="0"/>
                </a:lnTo>
                <a:close/>
              </a:path>
            </a:pathLst>
          </a:custGeom>
          <a:blipFill>
            <a:blip r:embed="rId2" cstate="email">
              <a:alphaModFix amt="44000"/>
              <a:extLst>
                <a:ext uri="{28A0092B-C50C-407E-A947-70E740481C1C}">
                  <a14:useLocalDpi xmlns:a14="http://schemas.microsoft.com/office/drawing/2010/main"/>
                </a:ext>
              </a:extLst>
            </a:blip>
            <a:stretch>
              <a:fillRect/>
            </a:stretch>
          </a:blipFill>
        </p:spPr>
        <p:txBody>
          <a:bodyPr/>
          <a:lstStyle/>
          <a:p>
            <a:endParaRPr lang="el-GR"/>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sp>
        <p:nvSpPr>
          <p:cNvPr id="7" name="Freeform 11">
            <a:extLst>
              <a:ext uri="{FF2B5EF4-FFF2-40B4-BE49-F238E27FC236}">
                <a16:creationId xmlns:a16="http://schemas.microsoft.com/office/drawing/2014/main" id="{0AEAF7D9-ADC4-49A0-9DA9-7783245CAC9B}"/>
              </a:ext>
            </a:extLst>
          </p:cNvPr>
          <p:cNvSpPr/>
          <p:nvPr userDrawn="1"/>
        </p:nvSpPr>
        <p:spPr>
          <a:xfrm>
            <a:off x="-381000" y="-38100"/>
            <a:ext cx="2179610" cy="1741035"/>
          </a:xfrm>
          <a:custGeom>
            <a:avLst/>
            <a:gdLst/>
            <a:ahLst/>
            <a:cxnLst/>
            <a:rect l="l" t="t" r="r" b="b"/>
            <a:pathLst>
              <a:path w="2860324" h="2284778">
                <a:moveTo>
                  <a:pt x="0" y="0"/>
                </a:moveTo>
                <a:lnTo>
                  <a:pt x="2860324" y="0"/>
                </a:lnTo>
                <a:lnTo>
                  <a:pt x="2860324" y="2284778"/>
                </a:lnTo>
                <a:lnTo>
                  <a:pt x="0" y="2284778"/>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l-GR"/>
          </a:p>
        </p:txBody>
      </p:sp>
    </p:spTree>
    <p:extLst>
      <p:ext uri="{BB962C8B-B14F-4D97-AF65-F5344CB8AC3E}">
        <p14:creationId xmlns:p14="http://schemas.microsoft.com/office/powerpoint/2010/main" val="495787450"/>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9_Custom Layout">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606D58-4995-A0BF-8DB7-4C939F579B54}"/>
              </a:ext>
            </a:extLst>
          </p:cNvPr>
          <p:cNvSpPr/>
          <p:nvPr userDrawn="1"/>
        </p:nvSpPr>
        <p:spPr>
          <a:xfrm>
            <a:off x="0" y="9029700"/>
            <a:ext cx="18288000" cy="1257299"/>
          </a:xfrm>
          <a:prstGeom prst="rect">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29571" y="0"/>
            <a:ext cx="2051981" cy="1640710"/>
          </a:xfrm>
          <a:prstGeom prst="rect">
            <a:avLst/>
          </a:prstGeom>
        </p:spPr>
      </p:pic>
      <p:sp>
        <p:nvSpPr>
          <p:cNvPr id="3" name="Hexagon 2">
            <a:extLst>
              <a:ext uri="{FF2B5EF4-FFF2-40B4-BE49-F238E27FC236}">
                <a16:creationId xmlns:a16="http://schemas.microsoft.com/office/drawing/2014/main" id="{A1CE02BE-54DF-B836-6301-C0351D5BEB32}"/>
              </a:ext>
            </a:extLst>
          </p:cNvPr>
          <p:cNvSpPr/>
          <p:nvPr userDrawn="1"/>
        </p:nvSpPr>
        <p:spPr>
          <a:xfrm rot="2132267">
            <a:off x="16392396" y="3061738"/>
            <a:ext cx="3109848" cy="2602118"/>
          </a:xfrm>
          <a:prstGeom prst="hexagon">
            <a:avLst>
              <a:gd name="adj" fmla="val 35893"/>
              <a:gd name="vf" fmla="val 115470"/>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Hexagon 3">
            <a:extLst>
              <a:ext uri="{FF2B5EF4-FFF2-40B4-BE49-F238E27FC236}">
                <a16:creationId xmlns:a16="http://schemas.microsoft.com/office/drawing/2014/main" id="{4B7F180F-EBEC-3D13-BF6C-6C186C2426D4}"/>
              </a:ext>
            </a:extLst>
          </p:cNvPr>
          <p:cNvSpPr/>
          <p:nvPr userDrawn="1"/>
        </p:nvSpPr>
        <p:spPr>
          <a:xfrm rot="2202666">
            <a:off x="15772524" y="1603956"/>
            <a:ext cx="1986938" cy="1662764"/>
          </a:xfrm>
          <a:prstGeom prst="hexagon">
            <a:avLst>
              <a:gd name="adj" fmla="val 33340"/>
              <a:gd name="vf" fmla="val 115470"/>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a:extLst>
              <a:ext uri="{FF2B5EF4-FFF2-40B4-BE49-F238E27FC236}">
                <a16:creationId xmlns:a16="http://schemas.microsoft.com/office/drawing/2014/main" id="{D526B01A-0E1C-BCE6-2FE0-BD5B8ECDD61A}"/>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a:fillRect/>
          </a:stretch>
        </p:blipFill>
        <p:spPr>
          <a:xfrm>
            <a:off x="14547520" y="5166360"/>
            <a:ext cx="4097103" cy="3729068"/>
          </a:xfrm>
          <a:prstGeom prst="pentagon">
            <a:avLst/>
          </a:prstGeom>
        </p:spPr>
      </p:pic>
      <p:pic>
        <p:nvPicPr>
          <p:cNvPr id="7" name="Picture 6">
            <a:extLst>
              <a:ext uri="{FF2B5EF4-FFF2-40B4-BE49-F238E27FC236}">
                <a16:creationId xmlns:a16="http://schemas.microsoft.com/office/drawing/2014/main" id="{505A45C1-F571-B0AA-6FFE-108ACEC289E0}"/>
              </a:ext>
            </a:extLst>
          </p:cNvPr>
          <p:cNvPicPr>
            <a:picLocks noChangeAspect="1"/>
          </p:cNvPicPr>
          <p:nvPr userDrawn="1"/>
        </p:nvPicPr>
        <p:blipFill>
          <a:blip r:embed="rId5" cstate="email">
            <a:extLst>
              <a:ext uri="{28A0092B-C50C-407E-A947-70E740481C1C}">
                <a14:useLocalDpi xmlns:a14="http://schemas.microsoft.com/office/drawing/2010/main"/>
              </a:ext>
            </a:extLst>
          </a:blip>
          <a:srcRect/>
          <a:stretch>
            <a:fillRect/>
          </a:stretch>
        </p:blipFill>
        <p:spPr>
          <a:xfrm rot="2078217">
            <a:off x="16998354" y="527104"/>
            <a:ext cx="1460052" cy="1273428"/>
          </a:xfrm>
          <a:prstGeom prst="pentagon">
            <a:avLst/>
          </a:prstGeom>
        </p:spPr>
      </p:pic>
    </p:spTree>
    <p:extLst>
      <p:ext uri="{BB962C8B-B14F-4D97-AF65-F5344CB8AC3E}">
        <p14:creationId xmlns:p14="http://schemas.microsoft.com/office/powerpoint/2010/main" val="1006412230"/>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0_Custom Layout">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606D58-4995-A0BF-8DB7-4C939F579B54}"/>
              </a:ext>
            </a:extLst>
          </p:cNvPr>
          <p:cNvSpPr/>
          <p:nvPr userDrawn="1"/>
        </p:nvSpPr>
        <p:spPr>
          <a:xfrm>
            <a:off x="0" y="9029700"/>
            <a:ext cx="18516600" cy="1257300"/>
          </a:xfrm>
          <a:prstGeom prst="rect">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29571" y="0"/>
            <a:ext cx="2051981" cy="1640710"/>
          </a:xfrm>
          <a:prstGeom prst="rect">
            <a:avLst/>
          </a:prstGeom>
        </p:spPr>
      </p:pic>
    </p:spTree>
    <p:extLst>
      <p:ext uri="{BB962C8B-B14F-4D97-AF65-F5344CB8AC3E}">
        <p14:creationId xmlns:p14="http://schemas.microsoft.com/office/powerpoint/2010/main" val="500672662"/>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5_Custom Layout">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606D58-4995-A0BF-8DB7-4C939F579B54}"/>
              </a:ext>
            </a:extLst>
          </p:cNvPr>
          <p:cNvSpPr/>
          <p:nvPr userDrawn="1"/>
        </p:nvSpPr>
        <p:spPr>
          <a:xfrm>
            <a:off x="0" y="9029700"/>
            <a:ext cx="18516600" cy="1257300"/>
          </a:xfrm>
          <a:prstGeom prst="rect">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29571" y="0"/>
            <a:ext cx="2051981" cy="1640710"/>
          </a:xfrm>
          <a:prstGeom prst="rect">
            <a:avLst/>
          </a:prstGeom>
        </p:spPr>
      </p:pic>
    </p:spTree>
    <p:extLst>
      <p:ext uri="{BB962C8B-B14F-4D97-AF65-F5344CB8AC3E}">
        <p14:creationId xmlns:p14="http://schemas.microsoft.com/office/powerpoint/2010/main" val="1436207739"/>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ECE1299-D360-ECC5-DF55-7F2C00319C70}"/>
              </a:ext>
            </a:extLst>
          </p:cNvPr>
          <p:cNvSpPr>
            <a:spLocks noGrp="1"/>
          </p:cNvSpPr>
          <p:nvPr>
            <p:ph type="dt" sz="half" idx="10"/>
          </p:nvPr>
        </p:nvSpPr>
        <p:spPr/>
        <p:txBody>
          <a:bodyPr/>
          <a:lstStyle/>
          <a:p>
            <a:fld id="{4B8C0E06-B361-4987-9FD9-1A2641C05328}" type="datetime1">
              <a:rPr lang="en-US" smtClean="0"/>
              <a:t>9/9/26</a:t>
            </a:fld>
            <a:endParaRPr lang="en-US"/>
          </a:p>
        </p:txBody>
      </p:sp>
      <p:sp>
        <p:nvSpPr>
          <p:cNvPr id="4" name="Footer Placeholder 3">
            <a:extLst>
              <a:ext uri="{FF2B5EF4-FFF2-40B4-BE49-F238E27FC236}">
                <a16:creationId xmlns:a16="http://schemas.microsoft.com/office/drawing/2014/main" id="{1AA86F6D-876E-C855-F8E4-40CFF4C850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75722DE-50C8-B0CF-A377-740BE0ECB8D8}"/>
              </a:ext>
            </a:extLst>
          </p:cNvPr>
          <p:cNvSpPr>
            <a:spLocks noGrp="1"/>
          </p:cNvSpPr>
          <p:nvPr>
            <p:ph type="sldNum" sz="quarter" idx="12"/>
          </p:nvPr>
        </p:nvSpPr>
        <p:spPr/>
        <p:txBody>
          <a:bodyPr/>
          <a:lstStyle/>
          <a:p>
            <a:fld id="{B6F15528-21DE-4FAA-801E-634DDDAF4B2B}" type="slidenum">
              <a:rPr lang="en-US" smtClean="0"/>
              <a:pPr/>
              <a:t>‹#›</a:t>
            </a:fld>
            <a:endParaRPr lang="en-US"/>
          </a:p>
        </p:txBody>
      </p:sp>
      <p:pic>
        <p:nvPicPr>
          <p:cNvPr id="9" name="Picture 8">
            <a:extLst>
              <a:ext uri="{FF2B5EF4-FFF2-40B4-BE49-F238E27FC236}">
                <a16:creationId xmlns:a16="http://schemas.microsoft.com/office/drawing/2014/main" id="{AE4D051E-FD15-3EE9-CF0A-EBB76004070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0" y="0"/>
            <a:ext cx="18288000" cy="10287000"/>
          </a:xfrm>
          <a:prstGeom prst="rect">
            <a:avLst/>
          </a:prstGeom>
        </p:spPr>
      </p:pic>
      <p:sp>
        <p:nvSpPr>
          <p:cNvPr id="14" name="Rectangle 13">
            <a:extLst>
              <a:ext uri="{FF2B5EF4-FFF2-40B4-BE49-F238E27FC236}">
                <a16:creationId xmlns:a16="http://schemas.microsoft.com/office/drawing/2014/main" id="{13A4CA1F-3890-D6BF-56BD-3B67D35ABF61}"/>
              </a:ext>
            </a:extLst>
          </p:cNvPr>
          <p:cNvSpPr/>
          <p:nvPr userDrawn="1"/>
        </p:nvSpPr>
        <p:spPr>
          <a:xfrm>
            <a:off x="0" y="9029700"/>
            <a:ext cx="18516600" cy="1257300"/>
          </a:xfrm>
          <a:prstGeom prst="rect">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pic>
        <p:nvPicPr>
          <p:cNvPr id="6" name="Picture 5">
            <a:extLst>
              <a:ext uri="{FF2B5EF4-FFF2-40B4-BE49-F238E27FC236}">
                <a16:creationId xmlns:a16="http://schemas.microsoft.com/office/drawing/2014/main" id="{76B036AC-BB8C-0AD3-F326-0F902DB9D9A5}"/>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29571" y="0"/>
            <a:ext cx="2051981" cy="1640710"/>
          </a:xfrm>
          <a:prstGeom prst="rect">
            <a:avLst/>
          </a:prstGeom>
        </p:spPr>
      </p:pic>
    </p:spTree>
    <p:extLst>
      <p:ext uri="{BB962C8B-B14F-4D97-AF65-F5344CB8AC3E}">
        <p14:creationId xmlns:p14="http://schemas.microsoft.com/office/powerpoint/2010/main" val="29097945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6_Custom Layout">
    <p:bg>
      <p:bgRef idx="1001">
        <a:schemeClr val="bg1"/>
      </p:bgRef>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CFF35AE2-98FD-AAC4-5B46-ABBA896419A3}"/>
              </a:ext>
            </a:extLst>
          </p:cNvPr>
          <p:cNvSpPr/>
          <p:nvPr userDrawn="1"/>
        </p:nvSpPr>
        <p:spPr>
          <a:xfrm>
            <a:off x="0" y="0"/>
            <a:ext cx="18288000" cy="7395807"/>
          </a:xfrm>
          <a:custGeom>
            <a:avLst/>
            <a:gdLst/>
            <a:ahLst/>
            <a:cxnLst/>
            <a:rect l="l" t="t" r="r" b="b"/>
            <a:pathLst>
              <a:path w="18194019" h="11512089">
                <a:moveTo>
                  <a:pt x="0" y="0"/>
                </a:moveTo>
                <a:lnTo>
                  <a:pt x="18194020" y="0"/>
                </a:lnTo>
                <a:lnTo>
                  <a:pt x="18194020" y="11512088"/>
                </a:lnTo>
                <a:lnTo>
                  <a:pt x="0" y="11512088"/>
                </a:lnTo>
                <a:lnTo>
                  <a:pt x="0" y="0"/>
                </a:lnTo>
                <a:close/>
              </a:path>
            </a:pathLst>
          </a:custGeom>
          <a:blipFill>
            <a:blip r:embed="rId2" cstate="email">
              <a:extLst>
                <a:ext uri="{28A0092B-C50C-407E-A947-70E740481C1C}">
                  <a14:useLocalDpi xmlns:a14="http://schemas.microsoft.com/office/drawing/2010/main"/>
                </a:ext>
              </a:extLst>
            </a:blip>
            <a:stretch>
              <a:fillRect/>
            </a:stretch>
          </a:blipFill>
        </p:spPr>
        <p:txBody>
          <a:bodyPr/>
          <a:lstStyle/>
          <a:p>
            <a:endParaRPr lang="el-GR"/>
          </a:p>
        </p:txBody>
      </p:sp>
      <p:sp>
        <p:nvSpPr>
          <p:cNvPr id="5" name="Rectangle 4">
            <a:extLst>
              <a:ext uri="{FF2B5EF4-FFF2-40B4-BE49-F238E27FC236}">
                <a16:creationId xmlns:a16="http://schemas.microsoft.com/office/drawing/2014/main" id="{D3606D58-4995-A0BF-8DB7-4C939F579B54}"/>
              </a:ext>
            </a:extLst>
          </p:cNvPr>
          <p:cNvSpPr/>
          <p:nvPr userDrawn="1"/>
        </p:nvSpPr>
        <p:spPr>
          <a:xfrm>
            <a:off x="0" y="9029700"/>
            <a:ext cx="18516600" cy="1257300"/>
          </a:xfrm>
          <a:prstGeom prst="rect">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pic>
        <p:nvPicPr>
          <p:cNvPr id="4" name="Picture 3">
            <a:extLst>
              <a:ext uri="{FF2B5EF4-FFF2-40B4-BE49-F238E27FC236}">
                <a16:creationId xmlns:a16="http://schemas.microsoft.com/office/drawing/2014/main" id="{CA3035AC-0941-D2D7-D9A0-D851459A13C2}"/>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059504" y="7395807"/>
            <a:ext cx="2168991" cy="1734268"/>
          </a:xfrm>
          <a:prstGeom prst="rect">
            <a:avLst/>
          </a:prstGeom>
        </p:spPr>
      </p:pic>
      <p:sp>
        <p:nvSpPr>
          <p:cNvPr id="3" name="TextBox 2">
            <a:extLst>
              <a:ext uri="{FF2B5EF4-FFF2-40B4-BE49-F238E27FC236}">
                <a16:creationId xmlns:a16="http://schemas.microsoft.com/office/drawing/2014/main" id="{119ECCCB-2341-1410-65AF-0D5EB0720C47}"/>
              </a:ext>
            </a:extLst>
          </p:cNvPr>
          <p:cNvSpPr txBox="1"/>
          <p:nvPr userDrawn="1"/>
        </p:nvSpPr>
        <p:spPr>
          <a:xfrm>
            <a:off x="8802806" y="4688006"/>
            <a:ext cx="914400" cy="914400"/>
          </a:xfrm>
          <a:prstGeom prst="rect">
            <a:avLst/>
          </a:prstGeom>
          <a:noFill/>
        </p:spPr>
        <p:txBody>
          <a:bodyPr wrap="square" rtlCol="0">
            <a:spAutoFit/>
          </a:bodyPr>
          <a:lstStyle/>
          <a:p>
            <a:endParaRPr lang="el-GR"/>
          </a:p>
        </p:txBody>
      </p:sp>
    </p:spTree>
    <p:extLst>
      <p:ext uri="{BB962C8B-B14F-4D97-AF65-F5344CB8AC3E}">
        <p14:creationId xmlns:p14="http://schemas.microsoft.com/office/powerpoint/2010/main" val="306654528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B35E8F-E06E-4E25-ACD7-59446347D123}" type="datetime1">
              <a:rPr lang="en-US" smtClean="0"/>
              <a:t>9/9/26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55" r:id="rId1"/>
    <p:sldLayoutId id="2147483660" r:id="rId2"/>
    <p:sldLayoutId id="2147483661" r:id="rId3"/>
    <p:sldLayoutId id="2147483662" r:id="rId4"/>
    <p:sldLayoutId id="2147483672" r:id="rId5"/>
    <p:sldLayoutId id="2147483663" r:id="rId6"/>
    <p:sldLayoutId id="2147483664" r:id="rId7"/>
    <p:sldLayoutId id="2147483673" r:id="rId8"/>
    <p:sldLayoutId id="2147483665" r:id="rId9"/>
    <p:sldLayoutId id="2147483674" r:id="rId10"/>
    <p:sldLayoutId id="2147483667" r:id="rId11"/>
    <p:sldLayoutId id="2147483668" r:id="rId12"/>
    <p:sldLayoutId id="2147483666" r:id="rId13"/>
    <p:sldLayoutId id="2147483669" r:id="rId14"/>
    <p:sldLayoutId id="2147483670" r:id="rId15"/>
    <p:sldLayoutId id="2147483675" r:id="rId16"/>
    <p:sldLayoutId id="2147483671" r:id="rId17"/>
    <p:sldLayoutId id="2147483676" r:id="rId1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sv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image" Target="../media/image35.jpeg"/><Relationship Id="rId13" Type="http://schemas.openxmlformats.org/officeDocument/2006/relationships/image" Target="../media/image40.png"/><Relationship Id="rId3" Type="http://schemas.openxmlformats.org/officeDocument/2006/relationships/image" Target="../media/image30.jpeg"/><Relationship Id="rId7" Type="http://schemas.openxmlformats.org/officeDocument/2006/relationships/image" Target="../media/image34.svg"/><Relationship Id="rId12" Type="http://schemas.openxmlformats.org/officeDocument/2006/relationships/image" Target="../media/image39.png"/><Relationship Id="rId17" Type="http://schemas.openxmlformats.org/officeDocument/2006/relationships/image" Target="../media/image44.png"/><Relationship Id="rId2" Type="http://schemas.openxmlformats.org/officeDocument/2006/relationships/image" Target="../media/image29.jpeg"/><Relationship Id="rId16" Type="http://schemas.openxmlformats.org/officeDocument/2006/relationships/image" Target="../media/image43.png"/><Relationship Id="rId1" Type="http://schemas.openxmlformats.org/officeDocument/2006/relationships/slideLayout" Target="../slideLayouts/slideLayout15.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svg"/><Relationship Id="rId15" Type="http://schemas.openxmlformats.org/officeDocument/2006/relationships/image" Target="../media/image4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s>
</file>

<file path=ppt/slides/_rels/slide12.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svg"/><Relationship Id="rId1" Type="http://schemas.openxmlformats.org/officeDocument/2006/relationships/slideLayout" Target="../slideLayouts/slideLayout18.xml"/><Relationship Id="rId5" Type="http://schemas.openxmlformats.org/officeDocument/2006/relationships/image" Target="../media/image48.svg"/><Relationship Id="rId4" Type="http://schemas.openxmlformats.org/officeDocument/2006/relationships/image" Target="../media/image4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0D495B7-93D6-657F-9FF7-0542A710F696}"/>
              </a:ext>
            </a:extLst>
          </p:cNvPr>
          <p:cNvSpPr/>
          <p:nvPr/>
        </p:nvSpPr>
        <p:spPr>
          <a:xfrm>
            <a:off x="685800" y="2095500"/>
            <a:ext cx="14935200" cy="6705600"/>
          </a:xfrm>
          <a:prstGeom prst="roundRect">
            <a:avLst>
              <a:gd name="adj" fmla="val 2431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marL="457200" indent="-457200">
              <a:buFont typeface="Arial" panose="020B0604020202020204" pitchFamily="34" charset="0"/>
              <a:buChar char="•"/>
            </a:pPr>
            <a:r>
              <a:rPr lang="en-US" sz="2800" dirty="0">
                <a:solidFill>
                  <a:srgbClr val="02464E"/>
                </a:solidFill>
                <a:latin typeface="Poppins" panose="00000500000000000000" pitchFamily="2" charset="0"/>
                <a:cs typeface="Poppins" panose="00000500000000000000" pitchFamily="2" charset="0"/>
              </a:rPr>
              <a:t>T2.1 </a:t>
            </a:r>
            <a:r>
              <a:rPr lang="en-ES" sz="2800" dirty="0">
                <a:solidFill>
                  <a:srgbClr val="02464E"/>
                </a:solidFill>
                <a:latin typeface="Poppins" panose="00000500000000000000" pitchFamily="2" charset="0"/>
                <a:cs typeface="Poppins" panose="00000500000000000000" pitchFamily="2" charset="0"/>
              </a:rPr>
              <a:t>Mapping of competency frameworks for promoting teamwork and lifelong learning in researchers’ curricula (M1- M6)</a:t>
            </a:r>
            <a:endParaRPr lang="en-US" sz="2800" dirty="0">
              <a:solidFill>
                <a:srgbClr val="02464E"/>
              </a:solidFill>
              <a:latin typeface="Poppins" panose="00000500000000000000" pitchFamily="2" charset="0"/>
              <a:cs typeface="Poppins" panose="00000500000000000000" pitchFamily="2" charset="0"/>
            </a:endParaRPr>
          </a:p>
          <a:p>
            <a:pPr marL="457200" indent="-457200" algn="just">
              <a:lnSpc>
                <a:spcPct val="150000"/>
              </a:lnSpc>
              <a:buFont typeface="Arial" panose="020B0604020202020204" pitchFamily="34" charset="0"/>
              <a:buChar char="•"/>
            </a:pPr>
            <a:r>
              <a:rPr lang="en-US" sz="2800" dirty="0">
                <a:solidFill>
                  <a:srgbClr val="02464E"/>
                </a:solidFill>
                <a:latin typeface="Poppins" panose="00000500000000000000" pitchFamily="2" charset="0"/>
                <a:cs typeface="Poppins" panose="00000500000000000000" pitchFamily="2" charset="0"/>
              </a:rPr>
              <a:t>T2.2 </a:t>
            </a:r>
            <a:r>
              <a:rPr lang="en-GB" sz="2800" dirty="0">
                <a:solidFill>
                  <a:srgbClr val="02464E"/>
                </a:solidFill>
                <a:latin typeface="Poppins" panose="00000500000000000000" pitchFamily="2" charset="0"/>
                <a:cs typeface="Poppins" panose="00000500000000000000" pitchFamily="2" charset="0"/>
              </a:rPr>
              <a:t>Co-creation of the </a:t>
            </a:r>
            <a:r>
              <a:rPr lang="en-GB" sz="2800" dirty="0" err="1">
                <a:solidFill>
                  <a:srgbClr val="02464E"/>
                </a:solidFill>
                <a:latin typeface="Poppins" panose="00000500000000000000" pitchFamily="2" charset="0"/>
                <a:cs typeface="Poppins" panose="00000500000000000000" pitchFamily="2" charset="0"/>
              </a:rPr>
              <a:t>NextAIRE</a:t>
            </a:r>
            <a:r>
              <a:rPr lang="en-GB" sz="2800" dirty="0">
                <a:solidFill>
                  <a:srgbClr val="02464E"/>
                </a:solidFill>
                <a:latin typeface="Poppins" panose="00000500000000000000" pitchFamily="2" charset="0"/>
                <a:cs typeface="Poppins" panose="00000500000000000000" pitchFamily="2" charset="0"/>
              </a:rPr>
              <a:t> Competency Framework (M4 - M12) </a:t>
            </a:r>
            <a:endParaRPr lang="en-US" sz="2800" dirty="0">
              <a:solidFill>
                <a:srgbClr val="02464E"/>
              </a:solidFill>
              <a:latin typeface="Poppins" panose="00000500000000000000" pitchFamily="2" charset="0"/>
              <a:cs typeface="Poppins" panose="00000500000000000000" pitchFamily="2" charset="0"/>
            </a:endParaRPr>
          </a:p>
          <a:p>
            <a:pPr marL="457200" indent="-457200" algn="just">
              <a:buFont typeface="Arial" panose="020B0604020202020204" pitchFamily="34" charset="0"/>
              <a:buChar char="•"/>
            </a:pPr>
            <a:r>
              <a:rPr lang="en-US" sz="2800" dirty="0">
                <a:solidFill>
                  <a:srgbClr val="02464E"/>
                </a:solidFill>
                <a:latin typeface="Poppins" panose="00000500000000000000" pitchFamily="2" charset="0"/>
                <a:cs typeface="Poppins" panose="00000500000000000000" pitchFamily="2" charset="0"/>
              </a:rPr>
              <a:t>T2.3 </a:t>
            </a:r>
            <a:r>
              <a:rPr lang="en-GB" sz="2800" dirty="0">
                <a:solidFill>
                  <a:srgbClr val="02464E"/>
                </a:solidFill>
                <a:latin typeface="Poppins" panose="00000500000000000000" pitchFamily="2" charset="0"/>
                <a:cs typeface="Poppins" panose="00000500000000000000" pitchFamily="2" charset="0"/>
              </a:rPr>
              <a:t>Co-production of a lifelong learning Personal career development plan (PDP) and the “soft skills” curriculum and training material (M7 - M36) </a:t>
            </a:r>
            <a:endParaRPr lang="en-US" sz="2800" dirty="0">
              <a:solidFill>
                <a:srgbClr val="02464E"/>
              </a:solidFill>
              <a:latin typeface="Poppins" panose="00000500000000000000" pitchFamily="2" charset="0"/>
              <a:cs typeface="Poppins" panose="00000500000000000000" pitchFamily="2" charset="0"/>
            </a:endParaRPr>
          </a:p>
          <a:p>
            <a:pPr marL="457200" indent="-457200" algn="just">
              <a:lnSpc>
                <a:spcPct val="150000"/>
              </a:lnSpc>
              <a:buFont typeface="Arial" panose="020B0604020202020204" pitchFamily="34" charset="0"/>
              <a:buChar char="•"/>
            </a:pPr>
            <a:r>
              <a:rPr lang="en-US" sz="2800" dirty="0">
                <a:solidFill>
                  <a:srgbClr val="02464E"/>
                </a:solidFill>
                <a:latin typeface="Poppins" panose="00000500000000000000" pitchFamily="2" charset="0"/>
                <a:cs typeface="Poppins" panose="00000500000000000000" pitchFamily="2" charset="0"/>
              </a:rPr>
              <a:t>T2.4 </a:t>
            </a:r>
            <a:r>
              <a:rPr lang="en-GB" sz="2800" dirty="0">
                <a:solidFill>
                  <a:srgbClr val="02464E"/>
                </a:solidFill>
                <a:latin typeface="Poppins" panose="00000500000000000000" pitchFamily="2" charset="0"/>
                <a:cs typeface="Poppins" panose="00000500000000000000" pitchFamily="2" charset="0"/>
              </a:rPr>
              <a:t>Recruitment of R&amp;I Talents (M4-M15) </a:t>
            </a:r>
          </a:p>
        </p:txBody>
      </p:sp>
      <p:sp>
        <p:nvSpPr>
          <p:cNvPr id="3" name="TextBox 8">
            <a:extLst>
              <a:ext uri="{FF2B5EF4-FFF2-40B4-BE49-F238E27FC236}">
                <a16:creationId xmlns:a16="http://schemas.microsoft.com/office/drawing/2014/main" id="{99B03730-CBAB-FF0C-351C-265988FF784B}"/>
              </a:ext>
            </a:extLst>
          </p:cNvPr>
          <p:cNvSpPr txBox="1"/>
          <p:nvPr/>
        </p:nvSpPr>
        <p:spPr>
          <a:xfrm>
            <a:off x="914400" y="768842"/>
            <a:ext cx="16687800" cy="2049920"/>
          </a:xfrm>
          <a:prstGeom prst="rect">
            <a:avLst/>
          </a:prstGeom>
        </p:spPr>
        <p:txBody>
          <a:bodyPr wrap="square" lIns="0" tIns="0" rIns="0" bIns="0" rtlCol="0" anchor="t">
            <a:spAutoFit/>
          </a:bodyPr>
          <a:lstStyle/>
          <a:p>
            <a:pPr algn="r">
              <a:lnSpc>
                <a:spcPts val="7920"/>
              </a:lnSpc>
            </a:pPr>
            <a:r>
              <a:rPr lang="en-US" sz="7200" b="1" dirty="0">
                <a:solidFill>
                  <a:srgbClr val="02464E"/>
                </a:solidFill>
                <a:latin typeface="Poppins Bold"/>
                <a:ea typeface="Poppins Bold"/>
                <a:cs typeface="Poppins Bold"/>
                <a:sym typeface="Poppins Bold"/>
              </a:rPr>
              <a:t>WP2 Competency Framework for Teamworking of Researchers</a:t>
            </a:r>
          </a:p>
        </p:txBody>
      </p:sp>
      <p:pic>
        <p:nvPicPr>
          <p:cNvPr id="5" name="Graphic 4" descr="Tick with solid fill">
            <a:extLst>
              <a:ext uri="{FF2B5EF4-FFF2-40B4-BE49-F238E27FC236}">
                <a16:creationId xmlns:a16="http://schemas.microsoft.com/office/drawing/2014/main" id="{719EF803-77B9-606C-9C53-92227373725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230600" y="3695700"/>
            <a:ext cx="914400" cy="914400"/>
          </a:xfrm>
          <a:prstGeom prst="rect">
            <a:avLst/>
          </a:prstGeom>
        </p:spPr>
      </p:pic>
      <p:pic>
        <p:nvPicPr>
          <p:cNvPr id="6" name="Graphic 5" descr="Tick with solid fill">
            <a:extLst>
              <a:ext uri="{FF2B5EF4-FFF2-40B4-BE49-F238E27FC236}">
                <a16:creationId xmlns:a16="http://schemas.microsoft.com/office/drawing/2014/main" id="{FF3146DC-B8B9-FC7F-2B99-C1FC32CC96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230600" y="4483100"/>
            <a:ext cx="914400" cy="914400"/>
          </a:xfrm>
          <a:prstGeom prst="rect">
            <a:avLst/>
          </a:prstGeom>
        </p:spPr>
      </p:pic>
      <p:pic>
        <p:nvPicPr>
          <p:cNvPr id="7" name="Graphic 6" descr="Tick with solid fill">
            <a:extLst>
              <a:ext uri="{FF2B5EF4-FFF2-40B4-BE49-F238E27FC236}">
                <a16:creationId xmlns:a16="http://schemas.microsoft.com/office/drawing/2014/main" id="{E8E349D7-B58C-5217-8C97-CB7170CEAB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230600" y="5270500"/>
            <a:ext cx="914400" cy="914400"/>
          </a:xfrm>
          <a:prstGeom prst="rect">
            <a:avLst/>
          </a:prstGeom>
        </p:spPr>
      </p:pic>
      <p:pic>
        <p:nvPicPr>
          <p:cNvPr id="8" name="Graphic 7" descr="Tick with solid fill">
            <a:extLst>
              <a:ext uri="{FF2B5EF4-FFF2-40B4-BE49-F238E27FC236}">
                <a16:creationId xmlns:a16="http://schemas.microsoft.com/office/drawing/2014/main" id="{F3867F02-AB86-3F54-DEFF-55F81753D3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230600" y="6057900"/>
            <a:ext cx="914400" cy="914400"/>
          </a:xfrm>
          <a:prstGeom prst="rect">
            <a:avLst/>
          </a:prstGeom>
        </p:spPr>
      </p:pic>
    </p:spTree>
    <p:extLst>
      <p:ext uri="{BB962C8B-B14F-4D97-AF65-F5344CB8AC3E}">
        <p14:creationId xmlns:p14="http://schemas.microsoft.com/office/powerpoint/2010/main" val="3410752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BDB6B-1ACB-115E-1920-E57CFA86A524}"/>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EA28157-CE29-E835-DAAD-84906CACF1CD}"/>
              </a:ext>
            </a:extLst>
          </p:cNvPr>
          <p:cNvSpPr/>
          <p:nvPr/>
        </p:nvSpPr>
        <p:spPr>
          <a:xfrm>
            <a:off x="685800" y="2095500"/>
            <a:ext cx="14935200" cy="6705600"/>
          </a:xfrm>
          <a:prstGeom prst="roundRect">
            <a:avLst>
              <a:gd name="adj" fmla="val 2431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D2.2 Training Curriculum and Competency Framework was submitted in M12</a:t>
            </a:r>
            <a:r>
              <a:rPr kumimoji="0" lang="en-US" sz="28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 </a:t>
            </a:r>
            <a:r>
              <a:rPr lang="en-US" sz="2800" dirty="0">
                <a:solidFill>
                  <a:srgbClr val="02464E"/>
                </a:solidFill>
                <a:latin typeface="Poppins" panose="00000500000000000000" pitchFamily="2" charset="0"/>
                <a:cs typeface="Poppins" panose="00000500000000000000" pitchFamily="2" charset="0"/>
              </a:rPr>
              <a:t>This included: </a:t>
            </a:r>
          </a:p>
          <a:p>
            <a:pPr marL="1371600" lvl="2" indent="-457200">
              <a:buFont typeface="Arial" panose="020B0604020202020204" pitchFamily="34" charset="0"/>
              <a:buChar char="•"/>
            </a:pPr>
            <a:r>
              <a:rPr kumimoji="0" lang="en-US" sz="28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T2.1 </a:t>
            </a:r>
            <a:r>
              <a:rPr kumimoji="0" lang="en-ES" sz="28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Mapping of competency frameworks for promoting teamwork and lifelong learning in researchers’ curricula (M1- M6)</a:t>
            </a:r>
          </a:p>
          <a:p>
            <a:endParaRPr lang="en-ES" sz="2800" dirty="0">
              <a:solidFill>
                <a:srgbClr val="02464E"/>
              </a:solidFill>
              <a:latin typeface="Poppins" panose="00000500000000000000" pitchFamily="2" charset="0"/>
              <a:cs typeface="Poppins" panose="00000500000000000000" pitchFamily="2" charset="0"/>
            </a:endParaRPr>
          </a:p>
          <a:p>
            <a:pPr marL="457200" indent="-457200">
              <a:buFont typeface="Arial" panose="020B0604020202020204" pitchFamily="34" charset="0"/>
              <a:buChar char="•"/>
            </a:pPr>
            <a:r>
              <a:rPr lang="en-ES" sz="2800" dirty="0">
                <a:solidFill>
                  <a:srgbClr val="02464E"/>
                </a:solidFill>
                <a:latin typeface="Poppins" panose="00000500000000000000" pitchFamily="2" charset="0"/>
                <a:cs typeface="Poppins" panose="00000500000000000000" pitchFamily="2" charset="0"/>
              </a:rPr>
              <a:t>An update of this deliverable will be submitted by the end of the project, including ongoing co-creation and validation of the competency Framework. </a:t>
            </a:r>
          </a:p>
          <a:p>
            <a:pPr marL="1371600" lvl="2" indent="-457200">
              <a:buFont typeface="Arial" panose="020B0604020202020204" pitchFamily="34" charset="0"/>
              <a:buChar char="•"/>
            </a:pPr>
            <a:r>
              <a:rPr lang="en-ES" sz="2800" dirty="0">
                <a:solidFill>
                  <a:srgbClr val="02464E"/>
                </a:solidFill>
                <a:latin typeface="Poppins" panose="00000500000000000000" pitchFamily="2" charset="0"/>
                <a:cs typeface="Poppins" panose="00000500000000000000" pitchFamily="2" charset="0"/>
              </a:rPr>
              <a:t>Co-creation workshop - Sarajevo Summer School</a:t>
            </a:r>
          </a:p>
          <a:p>
            <a:pPr marL="1371600" lvl="2" indent="-457200">
              <a:buFont typeface="Arial" panose="020B0604020202020204" pitchFamily="34" charset="0"/>
              <a:buChar char="•"/>
            </a:pPr>
            <a:r>
              <a:rPr lang="en-ES" sz="2800" dirty="0">
                <a:solidFill>
                  <a:srgbClr val="02464E"/>
                </a:solidFill>
                <a:latin typeface="Poppins" panose="00000500000000000000" pitchFamily="2" charset="0"/>
                <a:cs typeface="Poppins" panose="00000500000000000000" pitchFamily="2" charset="0"/>
              </a:rPr>
              <a:t>Industry workshop - autumn 2026</a:t>
            </a:r>
          </a:p>
          <a:p>
            <a:pPr marL="1371600" lvl="2" indent="-457200">
              <a:buFont typeface="Arial" panose="020B0604020202020204" pitchFamily="34" charset="0"/>
              <a:buChar char="•"/>
            </a:pPr>
            <a:r>
              <a:rPr lang="en-ES" sz="2800" dirty="0">
                <a:solidFill>
                  <a:srgbClr val="02464E"/>
                </a:solidFill>
                <a:latin typeface="Poppins" panose="00000500000000000000" pitchFamily="2" charset="0"/>
                <a:cs typeface="Poppins" panose="00000500000000000000" pitchFamily="2" charset="0"/>
              </a:rPr>
              <a:t>Additional workshop - Summer School 2027</a:t>
            </a:r>
          </a:p>
        </p:txBody>
      </p:sp>
      <p:sp>
        <p:nvSpPr>
          <p:cNvPr id="3" name="TextBox 8">
            <a:extLst>
              <a:ext uri="{FF2B5EF4-FFF2-40B4-BE49-F238E27FC236}">
                <a16:creationId xmlns:a16="http://schemas.microsoft.com/office/drawing/2014/main" id="{9F781DA6-DCE0-08F0-8DA7-B30248259244}"/>
              </a:ext>
            </a:extLst>
          </p:cNvPr>
          <p:cNvSpPr txBox="1"/>
          <p:nvPr/>
        </p:nvSpPr>
        <p:spPr>
          <a:xfrm>
            <a:off x="1605776" y="815089"/>
            <a:ext cx="16687800" cy="1036822"/>
          </a:xfrm>
          <a:prstGeom prst="rect">
            <a:avLst/>
          </a:prstGeom>
        </p:spPr>
        <p:txBody>
          <a:bodyPr wrap="square" lIns="0" tIns="0" rIns="0" bIns="0" rtlCol="0" anchor="t">
            <a:spAutoFit/>
          </a:bodyPr>
          <a:lstStyle/>
          <a:p>
            <a:pPr marL="0" marR="0" lvl="0" indent="0" defTabSz="914400" rtl="0" eaLnBrk="1" fontAlgn="auto" latinLnBrk="0" hangingPunct="1">
              <a:lnSpc>
                <a:spcPts val="792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02464E"/>
                </a:solidFill>
                <a:effectLst/>
                <a:uLnTx/>
                <a:uFillTx/>
                <a:latin typeface="Poppins Bold"/>
                <a:ea typeface="Poppins Bold"/>
                <a:cs typeface="Poppins Bold"/>
                <a:sym typeface="Poppins Bold"/>
              </a:rPr>
              <a:t>T2.1 &amp; T2.2 Update</a:t>
            </a:r>
          </a:p>
        </p:txBody>
      </p:sp>
    </p:spTree>
    <p:extLst>
      <p:ext uri="{BB962C8B-B14F-4D97-AF65-F5344CB8AC3E}">
        <p14:creationId xmlns:p14="http://schemas.microsoft.com/office/powerpoint/2010/main" val="837073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2A587-1FDF-C072-63C9-B7F2E7C48CB3}"/>
            </a:ext>
          </a:extLst>
        </p:cNvPr>
        <p:cNvGrpSpPr/>
        <p:nvPr/>
      </p:nvGrpSpPr>
      <p:grpSpPr>
        <a:xfrm>
          <a:off x="0" y="0"/>
          <a:ext cx="0" cy="0"/>
          <a:chOff x="0" y="0"/>
          <a:chExt cx="0" cy="0"/>
        </a:xfrm>
      </p:grpSpPr>
      <p:pic>
        <p:nvPicPr>
          <p:cNvPr id="10" name="Picture 9" descr="An overview of the hard and soft skills in the NextAIRE Competency Framework. ">
            <a:extLst>
              <a:ext uri="{FF2B5EF4-FFF2-40B4-BE49-F238E27FC236}">
                <a16:creationId xmlns:a16="http://schemas.microsoft.com/office/drawing/2014/main" id="{F720517A-D17C-82EB-5248-D4B1482B8296}"/>
              </a:ext>
            </a:extLst>
          </p:cNvPr>
          <p:cNvPicPr>
            <a:picLocks noChangeAspect="1"/>
          </p:cNvPicPr>
          <p:nvPr/>
        </p:nvPicPr>
        <p:blipFill>
          <a:blip r:embed="rId3">
            <a:extLst>
              <a:ext uri="{28A0092B-C50C-407E-A947-70E740481C1C}">
                <a14:useLocalDpi xmlns:a14="http://schemas.microsoft.com/office/drawing/2010/main" val="0"/>
              </a:ext>
            </a:extLst>
          </a:blip>
          <a:srcRect t="12173" b="48745"/>
          <a:stretch>
            <a:fillRect/>
          </a:stretch>
        </p:blipFill>
        <p:spPr>
          <a:xfrm>
            <a:off x="2286000" y="1562100"/>
            <a:ext cx="13335000" cy="7369532"/>
          </a:xfrm>
          <a:prstGeom prst="rect">
            <a:avLst/>
          </a:prstGeom>
        </p:spPr>
      </p:pic>
      <p:sp>
        <p:nvSpPr>
          <p:cNvPr id="11" name="TextBox 8">
            <a:extLst>
              <a:ext uri="{FF2B5EF4-FFF2-40B4-BE49-F238E27FC236}">
                <a16:creationId xmlns:a16="http://schemas.microsoft.com/office/drawing/2014/main" id="{7B962C59-FCA5-63A5-31A2-A5B7D46D0CB4}"/>
              </a:ext>
            </a:extLst>
          </p:cNvPr>
          <p:cNvSpPr txBox="1"/>
          <p:nvPr/>
        </p:nvSpPr>
        <p:spPr>
          <a:xfrm>
            <a:off x="914400" y="768842"/>
            <a:ext cx="16687800" cy="1036822"/>
          </a:xfrm>
          <a:prstGeom prst="rect">
            <a:avLst/>
          </a:prstGeom>
        </p:spPr>
        <p:txBody>
          <a:bodyPr wrap="square" lIns="0" tIns="0" rIns="0" bIns="0" rtlCol="0" anchor="t">
            <a:spAutoFit/>
          </a:bodyPr>
          <a:lstStyle/>
          <a:p>
            <a:pPr marL="0" marR="0" lvl="0" indent="0" algn="r" defTabSz="914400" rtl="0" eaLnBrk="1" fontAlgn="auto" latinLnBrk="0" hangingPunct="1">
              <a:lnSpc>
                <a:spcPts val="792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02464E"/>
                </a:solidFill>
                <a:effectLst/>
                <a:uLnTx/>
                <a:uFillTx/>
                <a:latin typeface="Poppins Bold"/>
                <a:ea typeface="Poppins Bold"/>
                <a:cs typeface="Poppins Bold"/>
                <a:sym typeface="Poppins Bold"/>
              </a:rPr>
              <a:t>Overview: Soft Skills</a:t>
            </a:r>
          </a:p>
        </p:txBody>
      </p:sp>
    </p:spTree>
    <p:extLst>
      <p:ext uri="{BB962C8B-B14F-4D97-AF65-F5344CB8AC3E}">
        <p14:creationId xmlns:p14="http://schemas.microsoft.com/office/powerpoint/2010/main" val="3961645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n overview of the hard and soft skills in the NextAIRE Competency Framework. ">
            <a:extLst>
              <a:ext uri="{FF2B5EF4-FFF2-40B4-BE49-F238E27FC236}">
                <a16:creationId xmlns:a16="http://schemas.microsoft.com/office/drawing/2014/main" id="{4937DD54-D478-CAB4-9762-DEE3EF5E4DBA}"/>
              </a:ext>
            </a:extLst>
          </p:cNvPr>
          <p:cNvPicPr>
            <a:picLocks noChangeAspect="1"/>
          </p:cNvPicPr>
          <p:nvPr/>
        </p:nvPicPr>
        <p:blipFill>
          <a:blip r:embed="rId3">
            <a:extLst>
              <a:ext uri="{28A0092B-C50C-407E-A947-70E740481C1C}">
                <a14:useLocalDpi xmlns:a14="http://schemas.microsoft.com/office/drawing/2010/main" val="0"/>
              </a:ext>
            </a:extLst>
          </a:blip>
          <a:srcRect t="50490" b="12790"/>
          <a:stretch>
            <a:fillRect/>
          </a:stretch>
        </p:blipFill>
        <p:spPr>
          <a:xfrm>
            <a:off x="2666999" y="1767564"/>
            <a:ext cx="12811907" cy="6652536"/>
          </a:xfrm>
          <a:prstGeom prst="rect">
            <a:avLst/>
          </a:prstGeom>
        </p:spPr>
      </p:pic>
      <p:sp>
        <p:nvSpPr>
          <p:cNvPr id="11" name="TextBox 8">
            <a:extLst>
              <a:ext uri="{FF2B5EF4-FFF2-40B4-BE49-F238E27FC236}">
                <a16:creationId xmlns:a16="http://schemas.microsoft.com/office/drawing/2014/main" id="{F21343BE-35B3-9951-B46F-0BBF9AF8BF51}"/>
              </a:ext>
            </a:extLst>
          </p:cNvPr>
          <p:cNvSpPr txBox="1"/>
          <p:nvPr/>
        </p:nvSpPr>
        <p:spPr>
          <a:xfrm>
            <a:off x="914400" y="768842"/>
            <a:ext cx="16687800" cy="1036822"/>
          </a:xfrm>
          <a:prstGeom prst="rect">
            <a:avLst/>
          </a:prstGeom>
        </p:spPr>
        <p:txBody>
          <a:bodyPr wrap="square" lIns="0" tIns="0" rIns="0" bIns="0" rtlCol="0" anchor="t">
            <a:spAutoFit/>
          </a:bodyPr>
          <a:lstStyle/>
          <a:p>
            <a:pPr marL="0" marR="0" lvl="0" indent="0" algn="r" defTabSz="914400" rtl="0" eaLnBrk="1" fontAlgn="auto" latinLnBrk="0" hangingPunct="1">
              <a:lnSpc>
                <a:spcPts val="792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02464E"/>
                </a:solidFill>
                <a:effectLst/>
                <a:uLnTx/>
                <a:uFillTx/>
                <a:latin typeface="Poppins Bold"/>
                <a:ea typeface="Poppins Bold"/>
                <a:cs typeface="Poppins Bold"/>
                <a:sym typeface="Poppins Bold"/>
              </a:rPr>
              <a:t>Overview: Hard Skills</a:t>
            </a:r>
          </a:p>
        </p:txBody>
      </p:sp>
    </p:spTree>
    <p:extLst>
      <p:ext uri="{BB962C8B-B14F-4D97-AF65-F5344CB8AC3E}">
        <p14:creationId xmlns:p14="http://schemas.microsoft.com/office/powerpoint/2010/main" val="2504176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C8E40-1039-3AD7-2B48-CE3C975E1B7D}"/>
            </a:ext>
          </a:extLst>
        </p:cNvPr>
        <p:cNvGrpSpPr/>
        <p:nvPr/>
      </p:nvGrpSpPr>
      <p:grpSpPr>
        <a:xfrm>
          <a:off x="0" y="0"/>
          <a:ext cx="0" cy="0"/>
          <a:chOff x="0" y="0"/>
          <a:chExt cx="0" cy="0"/>
        </a:xfrm>
      </p:grpSpPr>
      <p:pic>
        <p:nvPicPr>
          <p:cNvPr id="2" name="Picture 1" descr="A diagram providing an overview of the NextAIRE Competency proficiency levels.">
            <a:extLst>
              <a:ext uri="{FF2B5EF4-FFF2-40B4-BE49-F238E27FC236}">
                <a16:creationId xmlns:a16="http://schemas.microsoft.com/office/drawing/2014/main" id="{5608F99F-8937-EB55-1BD6-50F93ABFF8AF}"/>
              </a:ext>
            </a:extLst>
          </p:cNvPr>
          <p:cNvPicPr>
            <a:picLocks noChangeAspect="1"/>
          </p:cNvPicPr>
          <p:nvPr/>
        </p:nvPicPr>
        <p:blipFill>
          <a:blip r:embed="rId3" cstate="print">
            <a:extLst>
              <a:ext uri="{28A0092B-C50C-407E-A947-70E740481C1C}">
                <a14:useLocalDpi xmlns:a14="http://schemas.microsoft.com/office/drawing/2010/main"/>
              </a:ext>
            </a:extLst>
          </a:blip>
          <a:srcRect b="21422"/>
          <a:stretch>
            <a:fillRect/>
          </a:stretch>
        </p:blipFill>
        <p:spPr>
          <a:xfrm>
            <a:off x="2971800" y="266700"/>
            <a:ext cx="12115800" cy="8547448"/>
          </a:xfrm>
          <a:prstGeom prst="rect">
            <a:avLst/>
          </a:prstGeom>
          <a:ln w="6350">
            <a:solidFill>
              <a:schemeClr val="tx1">
                <a:lumMod val="95000"/>
                <a:lumOff val="5000"/>
              </a:schemeClr>
            </a:solidFill>
            <a:prstDash val="solid"/>
          </a:ln>
        </p:spPr>
      </p:pic>
    </p:spTree>
    <p:extLst>
      <p:ext uri="{BB962C8B-B14F-4D97-AF65-F5344CB8AC3E}">
        <p14:creationId xmlns:p14="http://schemas.microsoft.com/office/powerpoint/2010/main" val="2472689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A3ACC-DE8A-060F-2870-BA26A51841E3}"/>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D1B5C43-003E-D77E-B7E5-265EF6B0454E}"/>
              </a:ext>
            </a:extLst>
          </p:cNvPr>
          <p:cNvSpPr/>
          <p:nvPr/>
        </p:nvSpPr>
        <p:spPr>
          <a:xfrm>
            <a:off x="685800" y="2095500"/>
            <a:ext cx="14935200" cy="6705600"/>
          </a:xfrm>
          <a:prstGeom prst="roundRect">
            <a:avLst>
              <a:gd name="adj" fmla="val 2431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D2.1 Career Development Plan </a:t>
            </a:r>
            <a:r>
              <a:rPr kumimoji="0" lang="en-US" sz="28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was submitted in M6</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endParaRPr>
          </a:p>
          <a:p>
            <a:pPr marL="1371600" lvl="2" indent="-457200">
              <a:buFont typeface="Arial" panose="020B0604020202020204" pitchFamily="34" charset="0"/>
              <a:buChar char="•"/>
            </a:pPr>
            <a:r>
              <a:rPr kumimoji="0" lang="en-US" sz="28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The Career Development Plan will be updated with reference to the Competency Framework submitted in M12.</a:t>
            </a:r>
          </a:p>
          <a:p>
            <a:pPr marL="457200" indent="-457200">
              <a:buFont typeface="Arial" panose="020B0604020202020204" pitchFamily="34" charset="0"/>
              <a:buChar char="•"/>
            </a:pPr>
            <a:endParaRPr lang="en-US" sz="2800" dirty="0">
              <a:solidFill>
                <a:srgbClr val="02464E"/>
              </a:solidFill>
              <a:latin typeface="Poppins" panose="00000500000000000000" pitchFamily="2" charset="0"/>
              <a:cs typeface="Poppins" panose="00000500000000000000" pitchFamily="2" charset="0"/>
            </a:endParaRPr>
          </a:p>
          <a:p>
            <a:pPr marL="457200" indent="-457200">
              <a:buFont typeface="Arial" panose="020B0604020202020204" pitchFamily="34" charset="0"/>
              <a:buChar char="•"/>
            </a:pPr>
            <a:r>
              <a:rPr kumimoji="0" lang="en-US" sz="28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The Training curriculum was submitted as part of D2.2 Training Curriculum and Competency Framework. </a:t>
            </a:r>
          </a:p>
          <a:p>
            <a:pPr marL="457200" indent="-457200">
              <a:buFont typeface="Arial" panose="020B0604020202020204" pitchFamily="34" charset="0"/>
              <a:buChar char="•"/>
            </a:pPr>
            <a:endParaRPr lang="en-US" sz="2800" dirty="0">
              <a:solidFill>
                <a:srgbClr val="02464E"/>
              </a:solidFill>
              <a:latin typeface="Poppins" panose="00000500000000000000" pitchFamily="2" charset="0"/>
              <a:cs typeface="Poppins" panose="00000500000000000000" pitchFamily="2" charset="0"/>
            </a:endParaRPr>
          </a:p>
          <a:p>
            <a:pPr marL="457200" indent="-457200">
              <a:buFont typeface="Arial" panose="020B0604020202020204" pitchFamily="34" charset="0"/>
              <a:buChar char="•"/>
            </a:pPr>
            <a:r>
              <a:rPr kumimoji="0" lang="en-US" sz="28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The Training materials and activities will be implemented throughout the remainder of the project. </a:t>
            </a:r>
          </a:p>
          <a:p>
            <a:pPr marL="1371600" lvl="2" indent="-457200">
              <a:buFont typeface="Arial" panose="020B0604020202020204" pitchFamily="34" charset="0"/>
              <a:buChar char="•"/>
            </a:pPr>
            <a:r>
              <a:rPr lang="en-US" sz="2800" dirty="0">
                <a:solidFill>
                  <a:srgbClr val="02464E"/>
                </a:solidFill>
                <a:latin typeface="Poppins" panose="00000500000000000000" pitchFamily="2" charset="0"/>
                <a:cs typeface="Poppins" panose="00000500000000000000" pitchFamily="2" charset="0"/>
              </a:rPr>
              <a:t>Hybrid approach: seminars, activities during secondments etc. </a:t>
            </a:r>
            <a:endParaRPr kumimoji="0" lang="en-US" sz="28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endParaRPr>
          </a:p>
        </p:txBody>
      </p:sp>
      <p:sp>
        <p:nvSpPr>
          <p:cNvPr id="3" name="TextBox 8">
            <a:extLst>
              <a:ext uri="{FF2B5EF4-FFF2-40B4-BE49-F238E27FC236}">
                <a16:creationId xmlns:a16="http://schemas.microsoft.com/office/drawing/2014/main" id="{987C6C12-C8D0-507E-D28B-5F22DE4F8EE3}"/>
              </a:ext>
            </a:extLst>
          </p:cNvPr>
          <p:cNvSpPr txBox="1"/>
          <p:nvPr/>
        </p:nvSpPr>
        <p:spPr>
          <a:xfrm>
            <a:off x="1605776" y="815089"/>
            <a:ext cx="16687800" cy="1036822"/>
          </a:xfrm>
          <a:prstGeom prst="rect">
            <a:avLst/>
          </a:prstGeom>
        </p:spPr>
        <p:txBody>
          <a:bodyPr wrap="square" lIns="0" tIns="0" rIns="0" bIns="0" rtlCol="0" anchor="t">
            <a:spAutoFit/>
          </a:bodyPr>
          <a:lstStyle/>
          <a:p>
            <a:pPr marL="0" marR="0" lvl="0" indent="0" algn="l" defTabSz="914400" rtl="0" eaLnBrk="1" fontAlgn="auto" latinLnBrk="0" hangingPunct="1">
              <a:lnSpc>
                <a:spcPts val="792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02464E"/>
                </a:solidFill>
                <a:effectLst/>
                <a:uLnTx/>
                <a:uFillTx/>
                <a:latin typeface="Poppins Bold"/>
                <a:ea typeface="Poppins Bold"/>
                <a:cs typeface="Poppins Bold"/>
                <a:sym typeface="Poppins Bold"/>
              </a:rPr>
              <a:t>T2.3 Update</a:t>
            </a:r>
          </a:p>
        </p:txBody>
      </p:sp>
    </p:spTree>
    <p:extLst>
      <p:ext uri="{BB962C8B-B14F-4D97-AF65-F5344CB8AC3E}">
        <p14:creationId xmlns:p14="http://schemas.microsoft.com/office/powerpoint/2010/main" val="4223632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4FEA5-5BE7-6A3C-4876-7B2A4D5F2851}"/>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A5993A45-EB6B-AADD-3C36-5AE5A0CFE5EC}"/>
              </a:ext>
            </a:extLst>
          </p:cNvPr>
          <p:cNvSpPr/>
          <p:nvPr/>
        </p:nvSpPr>
        <p:spPr>
          <a:xfrm>
            <a:off x="685800" y="2095500"/>
            <a:ext cx="14935200" cy="6705600"/>
          </a:xfrm>
          <a:prstGeom prst="roundRect">
            <a:avLst>
              <a:gd name="adj" fmla="val 2431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800" b="1"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D2.3 1</a:t>
            </a:r>
            <a:r>
              <a:rPr kumimoji="0" lang="en-GB" sz="2800" b="1" i="0" u="none" strike="noStrike" kern="1200" cap="none" spc="0" normalizeH="0" baseline="30000" noProof="0" dirty="0">
                <a:ln>
                  <a:noFill/>
                </a:ln>
                <a:solidFill>
                  <a:srgbClr val="02464E"/>
                </a:solidFill>
                <a:effectLst/>
                <a:uLnTx/>
                <a:uFillTx/>
                <a:latin typeface="Poppins" panose="00000500000000000000" pitchFamily="2" charset="0"/>
                <a:ea typeface="+mn-ea"/>
                <a:cs typeface="Poppins" panose="00000500000000000000" pitchFamily="2" charset="0"/>
              </a:rPr>
              <a:t>st</a:t>
            </a:r>
            <a:r>
              <a:rPr kumimoji="0" lang="en-GB" sz="2800" b="1"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 Secondments Report</a:t>
            </a:r>
            <a:r>
              <a:rPr kumimoji="0" lang="en-GB" sz="28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 was submitted in M12.</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2800" dirty="0">
              <a:solidFill>
                <a:srgbClr val="02464E"/>
              </a:solidFill>
              <a:latin typeface="Poppins" panose="00000500000000000000" pitchFamily="2" charset="0"/>
              <a:cs typeface="Poppins" panose="00000500000000000000"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Identification of Talents </a:t>
            </a:r>
            <a:r>
              <a:rPr lang="en-GB" sz="2800" dirty="0">
                <a:solidFill>
                  <a:srgbClr val="02464E"/>
                </a:solidFill>
                <a:latin typeface="Poppins" panose="00000500000000000000" pitchFamily="2" charset="0"/>
                <a:cs typeface="Poppins" panose="00000500000000000000" pitchFamily="2" charset="0"/>
              </a:rPr>
              <a:t>in collaboration with partners.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8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800" dirty="0">
                <a:solidFill>
                  <a:srgbClr val="02464E"/>
                </a:solidFill>
                <a:latin typeface="Poppins" panose="00000500000000000000" pitchFamily="2" charset="0"/>
                <a:cs typeface="Poppins" panose="00000500000000000000" pitchFamily="2" charset="0"/>
              </a:rPr>
              <a:t>Organisation and adaptation of the secondment matrix according to project and partner needs. </a:t>
            </a:r>
            <a:endParaRPr kumimoji="0" lang="en-GB" sz="28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2800" dirty="0">
              <a:solidFill>
                <a:srgbClr val="02464E"/>
              </a:solidFill>
              <a:latin typeface="Poppins" panose="00000500000000000000" pitchFamily="2" charset="0"/>
              <a:cs typeface="Poppins" panose="00000500000000000000" pitchFamily="2" charset="0"/>
            </a:endParaRPr>
          </a:p>
        </p:txBody>
      </p:sp>
      <p:sp>
        <p:nvSpPr>
          <p:cNvPr id="3" name="TextBox 8">
            <a:extLst>
              <a:ext uri="{FF2B5EF4-FFF2-40B4-BE49-F238E27FC236}">
                <a16:creationId xmlns:a16="http://schemas.microsoft.com/office/drawing/2014/main" id="{56D5181A-2A9D-11FA-D061-55BC4078E8C7}"/>
              </a:ext>
            </a:extLst>
          </p:cNvPr>
          <p:cNvSpPr txBox="1"/>
          <p:nvPr/>
        </p:nvSpPr>
        <p:spPr>
          <a:xfrm>
            <a:off x="1605776" y="815089"/>
            <a:ext cx="16687800" cy="1036822"/>
          </a:xfrm>
          <a:prstGeom prst="rect">
            <a:avLst/>
          </a:prstGeom>
        </p:spPr>
        <p:txBody>
          <a:bodyPr wrap="square" lIns="0" tIns="0" rIns="0" bIns="0" rtlCol="0" anchor="t">
            <a:spAutoFit/>
          </a:bodyPr>
          <a:lstStyle/>
          <a:p>
            <a:pPr marL="0" marR="0" lvl="0" indent="0" algn="l" defTabSz="914400" rtl="0" eaLnBrk="1" fontAlgn="auto" latinLnBrk="0" hangingPunct="1">
              <a:lnSpc>
                <a:spcPts val="792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02464E"/>
                </a:solidFill>
                <a:effectLst/>
                <a:uLnTx/>
                <a:uFillTx/>
                <a:latin typeface="Poppins Bold"/>
                <a:ea typeface="Poppins Bold"/>
                <a:cs typeface="Poppins Bold"/>
                <a:sym typeface="Poppins Bold"/>
              </a:rPr>
              <a:t>T2.4 Recruitment of R&amp;I Talents</a:t>
            </a:r>
          </a:p>
        </p:txBody>
      </p:sp>
    </p:spTree>
    <p:extLst>
      <p:ext uri="{BB962C8B-B14F-4D97-AF65-F5344CB8AC3E}">
        <p14:creationId xmlns:p14="http://schemas.microsoft.com/office/powerpoint/2010/main" val="1941856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1DBD3-BA14-28B9-228B-2013E7DFA923}"/>
            </a:ext>
          </a:extLst>
        </p:cNvPr>
        <p:cNvGrpSpPr/>
        <p:nvPr/>
      </p:nvGrpSpPr>
      <p:grpSpPr>
        <a:xfrm>
          <a:off x="0" y="0"/>
          <a:ext cx="0" cy="0"/>
          <a:chOff x="0" y="0"/>
          <a:chExt cx="0" cy="0"/>
        </a:xfrm>
      </p:grpSpPr>
      <p:sp>
        <p:nvSpPr>
          <p:cNvPr id="7" name="TextBox 8">
            <a:extLst>
              <a:ext uri="{FF2B5EF4-FFF2-40B4-BE49-F238E27FC236}">
                <a16:creationId xmlns:a16="http://schemas.microsoft.com/office/drawing/2014/main" id="{F7EEF5F4-C3D1-D74A-7EFA-C33476D48678}"/>
              </a:ext>
            </a:extLst>
          </p:cNvPr>
          <p:cNvSpPr txBox="1"/>
          <p:nvPr/>
        </p:nvSpPr>
        <p:spPr>
          <a:xfrm>
            <a:off x="11049000" y="419100"/>
            <a:ext cx="6851150" cy="1018356"/>
          </a:xfrm>
          <a:prstGeom prst="rect">
            <a:avLst/>
          </a:prstGeom>
        </p:spPr>
        <p:txBody>
          <a:bodyPr lIns="0" tIns="0" rIns="0" bIns="0" rtlCol="0" anchor="t">
            <a:spAutoFit/>
          </a:bodyPr>
          <a:lstStyle/>
          <a:p>
            <a:pPr algn="r">
              <a:lnSpc>
                <a:spcPts val="7920"/>
              </a:lnSpc>
            </a:pPr>
            <a:r>
              <a:rPr lang="en-US" sz="7200" b="1" dirty="0">
                <a:solidFill>
                  <a:srgbClr val="02464E"/>
                </a:solidFill>
                <a:latin typeface="Poppins Bold"/>
                <a:ea typeface="Poppins Bold"/>
                <a:cs typeface="Poppins Bold"/>
                <a:sym typeface="Poppins Bold"/>
              </a:rPr>
              <a:t>Next Steps</a:t>
            </a:r>
          </a:p>
        </p:txBody>
      </p:sp>
      <p:sp>
        <p:nvSpPr>
          <p:cNvPr id="10" name="Rectangle: Rounded Corners 9">
            <a:extLst>
              <a:ext uri="{FF2B5EF4-FFF2-40B4-BE49-F238E27FC236}">
                <a16:creationId xmlns:a16="http://schemas.microsoft.com/office/drawing/2014/main" id="{E217A62E-9FDE-EAFD-8C9D-1E1F3519483D}"/>
              </a:ext>
            </a:extLst>
          </p:cNvPr>
          <p:cNvSpPr/>
          <p:nvPr/>
        </p:nvSpPr>
        <p:spPr>
          <a:xfrm>
            <a:off x="3124200" y="1257300"/>
            <a:ext cx="14775950" cy="8610600"/>
          </a:xfrm>
          <a:prstGeom prst="roundRect">
            <a:avLst>
              <a:gd name="adj" fmla="val 24316"/>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marL="571500" indent="-571500" algn="just">
              <a:lnSpc>
                <a:spcPct val="150000"/>
              </a:lnSpc>
              <a:buClr>
                <a:schemeClr val="bg1"/>
              </a:buClr>
              <a:buSzPct val="120000"/>
              <a:buFont typeface="Arial" panose="020B0604020202020204" pitchFamily="34" charset="0"/>
              <a:buChar char="•"/>
            </a:pPr>
            <a:r>
              <a:rPr lang="en-GB" sz="2800" dirty="0">
                <a:solidFill>
                  <a:schemeClr val="bg1"/>
                </a:solidFill>
                <a:latin typeface="Poppins" panose="00000500000000000000" pitchFamily="2" charset="0"/>
                <a:cs typeface="Poppins" panose="00000500000000000000" pitchFamily="2" charset="0"/>
              </a:rPr>
              <a:t>Organise remaining co-creation activities.</a:t>
            </a:r>
          </a:p>
          <a:p>
            <a:pPr marL="571500" indent="-571500" algn="just">
              <a:lnSpc>
                <a:spcPct val="150000"/>
              </a:lnSpc>
              <a:buClr>
                <a:schemeClr val="bg1"/>
              </a:buClr>
              <a:buSzPct val="120000"/>
              <a:buFont typeface="Arial" panose="020B0604020202020204" pitchFamily="34" charset="0"/>
              <a:buChar char="•"/>
            </a:pPr>
            <a:r>
              <a:rPr lang="en-GB" sz="2800" noProof="0" dirty="0">
                <a:solidFill>
                  <a:schemeClr val="bg1"/>
                </a:solidFill>
                <a:latin typeface="Poppins" panose="00000500000000000000" pitchFamily="2" charset="0"/>
                <a:cs typeface="Poppins" panose="00000500000000000000" pitchFamily="2" charset="0"/>
              </a:rPr>
              <a:t>Explore how the validated competency framework can influence the lifelong </a:t>
            </a:r>
            <a:r>
              <a:rPr lang="en-GB" sz="2800" dirty="0">
                <a:solidFill>
                  <a:schemeClr val="bg1"/>
                </a:solidFill>
                <a:latin typeface="Poppins" panose="00000500000000000000" pitchFamily="2" charset="0"/>
                <a:cs typeface="Poppins" panose="00000500000000000000" pitchFamily="2" charset="0"/>
              </a:rPr>
              <a:t>personal career development plan in T2.3.</a:t>
            </a:r>
          </a:p>
          <a:p>
            <a:pPr marL="571500" indent="-571500" algn="just">
              <a:lnSpc>
                <a:spcPct val="150000"/>
              </a:lnSpc>
              <a:buClr>
                <a:schemeClr val="bg1"/>
              </a:buClr>
              <a:buSzPct val="120000"/>
              <a:buFont typeface="Arial" panose="020B0604020202020204" pitchFamily="34" charset="0"/>
              <a:buChar char="•"/>
            </a:pPr>
            <a:r>
              <a:rPr lang="en-GB" sz="2800" dirty="0">
                <a:solidFill>
                  <a:schemeClr val="bg1"/>
                </a:solidFill>
                <a:latin typeface="Poppins" panose="00000500000000000000" pitchFamily="2" charset="0"/>
                <a:cs typeface="Poppins" panose="00000500000000000000" pitchFamily="2" charset="0"/>
              </a:rPr>
              <a:t>Link this work with the Evaluation Plan in WP6</a:t>
            </a:r>
          </a:p>
          <a:p>
            <a:pPr marL="571500" indent="-571500" algn="just">
              <a:lnSpc>
                <a:spcPct val="150000"/>
              </a:lnSpc>
              <a:buClr>
                <a:schemeClr val="bg1"/>
              </a:buClr>
              <a:buSzPct val="120000"/>
              <a:buFont typeface="Arial" panose="020B0604020202020204" pitchFamily="34" charset="0"/>
              <a:buChar char="•"/>
            </a:pPr>
            <a:r>
              <a:rPr lang="en-GB" sz="2800" dirty="0">
                <a:solidFill>
                  <a:schemeClr val="bg1"/>
                </a:solidFill>
                <a:latin typeface="Poppins" panose="00000500000000000000" pitchFamily="2" charset="0"/>
                <a:cs typeface="Poppins" panose="00000500000000000000" pitchFamily="2" charset="0"/>
              </a:rPr>
              <a:t>Plan the training activities and materials for the soft competency skills</a:t>
            </a:r>
          </a:p>
          <a:p>
            <a:pPr marL="571500" indent="-571500" algn="just">
              <a:lnSpc>
                <a:spcPct val="150000"/>
              </a:lnSpc>
              <a:buClr>
                <a:schemeClr val="bg1"/>
              </a:buClr>
              <a:buSzPct val="120000"/>
              <a:buFont typeface="Arial" panose="020B0604020202020204" pitchFamily="34" charset="0"/>
              <a:buChar char="•"/>
            </a:pPr>
            <a:r>
              <a:rPr lang="en-GB" sz="2800" dirty="0">
                <a:solidFill>
                  <a:schemeClr val="bg1"/>
                </a:solidFill>
                <a:latin typeface="Poppins" panose="00000500000000000000" pitchFamily="2" charset="0"/>
                <a:cs typeface="Poppins" panose="00000500000000000000" pitchFamily="2" charset="0"/>
              </a:rPr>
              <a:t>Preparation for Milestone 7 Recruitment of R&amp;I Target Talents in M15.</a:t>
            </a:r>
          </a:p>
          <a:p>
            <a:pPr marL="1485900" lvl="2" indent="-571500" algn="just">
              <a:lnSpc>
                <a:spcPct val="150000"/>
              </a:lnSpc>
              <a:buClr>
                <a:schemeClr val="bg1"/>
              </a:buClr>
              <a:buSzPct val="120000"/>
              <a:buFont typeface="Arial" panose="020B0604020202020204" pitchFamily="34" charset="0"/>
              <a:buChar char="•"/>
            </a:pPr>
            <a:r>
              <a:rPr lang="en-ES" sz="2800" dirty="0">
                <a:solidFill>
                  <a:schemeClr val="bg1"/>
                </a:solidFill>
                <a:latin typeface="Poppins" panose="00000500000000000000" pitchFamily="2" charset="0"/>
                <a:cs typeface="Poppins" panose="00000500000000000000" pitchFamily="2" charset="0"/>
              </a:rPr>
              <a:t>Completion of the recruitment phase of the R&amp;I Target Talents to be trained </a:t>
            </a:r>
          </a:p>
        </p:txBody>
      </p:sp>
    </p:spTree>
    <p:extLst>
      <p:ext uri="{BB962C8B-B14F-4D97-AF65-F5344CB8AC3E}">
        <p14:creationId xmlns:p14="http://schemas.microsoft.com/office/powerpoint/2010/main" val="415232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55AA6-50A1-2109-6A85-2F8CF99B74EF}"/>
            </a:ext>
          </a:extLst>
        </p:cNvPr>
        <p:cNvGrpSpPr/>
        <p:nvPr/>
      </p:nvGrpSpPr>
      <p:grpSpPr>
        <a:xfrm>
          <a:off x="0" y="0"/>
          <a:ext cx="0" cy="0"/>
          <a:chOff x="0" y="0"/>
          <a:chExt cx="0" cy="0"/>
        </a:xfrm>
      </p:grpSpPr>
      <p:sp>
        <p:nvSpPr>
          <p:cNvPr id="4" name="TextBox 8">
            <a:extLst>
              <a:ext uri="{FF2B5EF4-FFF2-40B4-BE49-F238E27FC236}">
                <a16:creationId xmlns:a16="http://schemas.microsoft.com/office/drawing/2014/main" id="{60A80A09-E341-8C4A-A65C-479F57A08CA1}"/>
              </a:ext>
            </a:extLst>
          </p:cNvPr>
          <p:cNvSpPr txBox="1"/>
          <p:nvPr/>
        </p:nvSpPr>
        <p:spPr>
          <a:xfrm>
            <a:off x="1676400" y="800100"/>
            <a:ext cx="6851150" cy="1018356"/>
          </a:xfrm>
          <a:prstGeom prst="rect">
            <a:avLst/>
          </a:prstGeom>
        </p:spPr>
        <p:txBody>
          <a:bodyPr lIns="0" tIns="0" rIns="0" bIns="0" rtlCol="0" anchor="t">
            <a:spAutoFit/>
          </a:bodyPr>
          <a:lstStyle/>
          <a:p>
            <a:pPr>
              <a:lnSpc>
                <a:spcPts val="7920"/>
              </a:lnSpc>
            </a:pPr>
            <a:r>
              <a:rPr lang="en-US" sz="7200" b="1">
                <a:solidFill>
                  <a:srgbClr val="02464E"/>
                </a:solidFill>
                <a:latin typeface="Poppins Bold"/>
                <a:ea typeface="Poppins Bold"/>
                <a:cs typeface="Poppins Bold"/>
                <a:sym typeface="Poppins Bold"/>
              </a:rPr>
              <a:t>Consortium </a:t>
            </a:r>
          </a:p>
        </p:txBody>
      </p:sp>
      <p:pic>
        <p:nvPicPr>
          <p:cNvPr id="14" name="Picture 13">
            <a:extLst>
              <a:ext uri="{FF2B5EF4-FFF2-40B4-BE49-F238E27FC236}">
                <a16:creationId xmlns:a16="http://schemas.microsoft.com/office/drawing/2014/main" id="{F60BBE75-F8AC-4E2D-1B09-EBC284C28D0B}"/>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9244971" y="5730956"/>
            <a:ext cx="2250950" cy="703525"/>
          </a:xfrm>
          <a:prstGeom prst="rect">
            <a:avLst/>
          </a:prstGeom>
        </p:spPr>
      </p:pic>
      <p:pic>
        <p:nvPicPr>
          <p:cNvPr id="16" name="Picture 15">
            <a:extLst>
              <a:ext uri="{FF2B5EF4-FFF2-40B4-BE49-F238E27FC236}">
                <a16:creationId xmlns:a16="http://schemas.microsoft.com/office/drawing/2014/main" id="{9C6AAC1E-4939-0ACA-078C-FB86DD082FD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846889" y="6939785"/>
            <a:ext cx="1645994" cy="1645994"/>
          </a:xfrm>
          <a:prstGeom prst="rect">
            <a:avLst/>
          </a:prstGeom>
        </p:spPr>
      </p:pic>
      <p:pic>
        <p:nvPicPr>
          <p:cNvPr id="18" name="Picture 17">
            <a:extLst>
              <a:ext uri="{FF2B5EF4-FFF2-40B4-BE49-F238E27FC236}">
                <a16:creationId xmlns:a16="http://schemas.microsoft.com/office/drawing/2014/main" id="{29445342-40A8-45C5-F5D2-A24139C65EA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94543" y="2549585"/>
            <a:ext cx="3733800" cy="987517"/>
          </a:xfrm>
          <a:prstGeom prst="rect">
            <a:avLst/>
          </a:prstGeom>
        </p:spPr>
      </p:pic>
      <p:pic>
        <p:nvPicPr>
          <p:cNvPr id="2" name="Graphic 1">
            <a:extLst>
              <a:ext uri="{FF2B5EF4-FFF2-40B4-BE49-F238E27FC236}">
                <a16:creationId xmlns:a16="http://schemas.microsoft.com/office/drawing/2014/main" id="{0A491338-A11F-DCC5-2357-9A671F8309F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673942" y="2482432"/>
            <a:ext cx="3537043" cy="1179014"/>
          </a:xfrm>
          <a:prstGeom prst="rect">
            <a:avLst/>
          </a:prstGeom>
        </p:spPr>
      </p:pic>
      <p:pic>
        <p:nvPicPr>
          <p:cNvPr id="3" name="Picture 2" descr="A logo on a black background&#10;&#10;AI-generated content may be incorrect.">
            <a:extLst>
              <a:ext uri="{FF2B5EF4-FFF2-40B4-BE49-F238E27FC236}">
                <a16:creationId xmlns:a16="http://schemas.microsoft.com/office/drawing/2014/main" id="{B069A009-C9DA-6016-DC75-E2BAC12F1516}"/>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5485748" y="2449248"/>
            <a:ext cx="3334032" cy="1188192"/>
          </a:xfrm>
          <a:prstGeom prst="rect">
            <a:avLst/>
          </a:prstGeom>
        </p:spPr>
      </p:pic>
      <p:pic>
        <p:nvPicPr>
          <p:cNvPr id="6" name="Graphic 5">
            <a:extLst>
              <a:ext uri="{FF2B5EF4-FFF2-40B4-BE49-F238E27FC236}">
                <a16:creationId xmlns:a16="http://schemas.microsoft.com/office/drawing/2014/main" id="{2FCD87DA-2077-10BA-8DCD-C30BDE8EF3F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08989" y="7018663"/>
            <a:ext cx="1202961" cy="1437501"/>
          </a:xfrm>
          <a:prstGeom prst="rect">
            <a:avLst/>
          </a:prstGeom>
        </p:spPr>
      </p:pic>
      <p:pic>
        <p:nvPicPr>
          <p:cNvPr id="7" name="Picture 6" descr="A portrait of a person&#10;&#10;AI-generated content may be incorrect.">
            <a:extLst>
              <a:ext uri="{FF2B5EF4-FFF2-40B4-BE49-F238E27FC236}">
                <a16:creationId xmlns:a16="http://schemas.microsoft.com/office/drawing/2014/main" id="{C171D52F-74A2-0F10-118C-7CBAD444ADD2}"/>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9327822" y="6998657"/>
            <a:ext cx="1405222" cy="1567114"/>
          </a:xfrm>
          <a:prstGeom prst="rect">
            <a:avLst/>
          </a:prstGeom>
        </p:spPr>
      </p:pic>
      <p:pic>
        <p:nvPicPr>
          <p:cNvPr id="8" name="Picture 7" descr="A logo with a hexagon and a red and blue diamond&#10;&#10;AI-generated content may be incorrect.">
            <a:extLst>
              <a:ext uri="{FF2B5EF4-FFF2-40B4-BE49-F238E27FC236}">
                <a16:creationId xmlns:a16="http://schemas.microsoft.com/office/drawing/2014/main" id="{6BB7E1E9-A0EB-36B7-DC2A-D9552F8E3DE4}"/>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1503295" y="6869041"/>
            <a:ext cx="2107888" cy="1696730"/>
          </a:xfrm>
          <a:prstGeom prst="rect">
            <a:avLst/>
          </a:prstGeom>
        </p:spPr>
      </p:pic>
      <p:pic>
        <p:nvPicPr>
          <p:cNvPr id="9" name="Picture 8" descr="A logo for a center for physical and technology&#10;&#10;AI-generated content may be incorrect.">
            <a:extLst>
              <a:ext uri="{FF2B5EF4-FFF2-40B4-BE49-F238E27FC236}">
                <a16:creationId xmlns:a16="http://schemas.microsoft.com/office/drawing/2014/main" id="{DE78FDDC-018C-69F0-3A9A-F4D5CEC4E8BE}"/>
              </a:ext>
            </a:extLst>
          </p:cNvPr>
          <p:cNvPicPr>
            <a:picLocks noChangeAspect="1"/>
          </p:cNvPicPr>
          <p:nvPr/>
        </p:nvPicPr>
        <p:blipFill>
          <a:blip r:embed="rId10" cstate="email">
            <a:extLst>
              <a:ext uri="{28A0092B-C50C-407E-A947-70E740481C1C}">
                <a14:useLocalDpi xmlns:a14="http://schemas.microsoft.com/office/drawing/2010/main"/>
              </a:ext>
            </a:extLst>
          </a:blip>
          <a:srcRect/>
          <a:stretch>
            <a:fillRect/>
          </a:stretch>
        </p:blipFill>
        <p:spPr>
          <a:xfrm>
            <a:off x="2011124" y="3914024"/>
            <a:ext cx="2986081" cy="1179014"/>
          </a:xfrm>
          <a:prstGeom prst="rect">
            <a:avLst/>
          </a:prstGeom>
        </p:spPr>
      </p:pic>
      <p:pic>
        <p:nvPicPr>
          <p:cNvPr id="10" name="Picture 9" descr="A logo with a blue and grey color&#10;&#10;AI-generated content may be incorrect.">
            <a:extLst>
              <a:ext uri="{FF2B5EF4-FFF2-40B4-BE49-F238E27FC236}">
                <a16:creationId xmlns:a16="http://schemas.microsoft.com/office/drawing/2014/main" id="{F65ED910-10EC-D51E-4172-270C03158516}"/>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1824017" y="5075880"/>
            <a:ext cx="1702270" cy="1702270"/>
          </a:xfrm>
          <a:prstGeom prst="rect">
            <a:avLst/>
          </a:prstGeom>
        </p:spPr>
      </p:pic>
      <p:pic>
        <p:nvPicPr>
          <p:cNvPr id="12" name="Picture 11" descr="Black text on a white background&#10;&#10;AI-generated content may be incorrect.">
            <a:extLst>
              <a:ext uri="{FF2B5EF4-FFF2-40B4-BE49-F238E27FC236}">
                <a16:creationId xmlns:a16="http://schemas.microsoft.com/office/drawing/2014/main" id="{FED1297A-F92B-8B70-DF30-F69A39C93E6C}"/>
              </a:ext>
            </a:extLst>
          </p:cNvPr>
          <p:cNvPicPr>
            <a:picLocks noChangeAspect="1"/>
          </p:cNvPicPr>
          <p:nvPr/>
        </p:nvPicPr>
        <p:blipFill>
          <a:blip r:embed="rId12" cstate="email">
            <a:extLst>
              <a:ext uri="{28A0092B-C50C-407E-A947-70E740481C1C}">
                <a14:useLocalDpi xmlns:a14="http://schemas.microsoft.com/office/drawing/2010/main"/>
              </a:ext>
            </a:extLst>
          </a:blip>
          <a:srcRect/>
          <a:stretch>
            <a:fillRect/>
          </a:stretch>
        </p:blipFill>
        <p:spPr>
          <a:xfrm>
            <a:off x="5485748" y="4045393"/>
            <a:ext cx="3211983" cy="991756"/>
          </a:xfrm>
          <a:prstGeom prst="rect">
            <a:avLst/>
          </a:prstGeom>
        </p:spPr>
      </p:pic>
      <p:pic>
        <p:nvPicPr>
          <p:cNvPr id="13" name="Picture 12" descr="A logo with black text&#10;&#10;AI-generated content may be incorrect.">
            <a:extLst>
              <a:ext uri="{FF2B5EF4-FFF2-40B4-BE49-F238E27FC236}">
                <a16:creationId xmlns:a16="http://schemas.microsoft.com/office/drawing/2014/main" id="{DBD6ECD0-70A4-E0E0-DBDA-2BFF14F9908A}"/>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13969308" y="3772583"/>
            <a:ext cx="1983189" cy="1197397"/>
          </a:xfrm>
          <a:prstGeom prst="rect">
            <a:avLst/>
          </a:prstGeom>
        </p:spPr>
      </p:pic>
      <p:pic>
        <p:nvPicPr>
          <p:cNvPr id="15" name="Picture 14" descr="A blue sign with white text&#10;&#10;AI-generated content may be incorrect.">
            <a:extLst>
              <a:ext uri="{FF2B5EF4-FFF2-40B4-BE49-F238E27FC236}">
                <a16:creationId xmlns:a16="http://schemas.microsoft.com/office/drawing/2014/main" id="{3039254E-592D-A7CC-07F5-C5701789AAE2}"/>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13634209" y="5437984"/>
            <a:ext cx="2318288" cy="978061"/>
          </a:xfrm>
          <a:prstGeom prst="rect">
            <a:avLst/>
          </a:prstGeom>
        </p:spPr>
      </p:pic>
      <p:pic>
        <p:nvPicPr>
          <p:cNvPr id="17" name="Picture 16" descr="A blue and red text on a black background&#10;&#10;AI-generated content may be incorrect.">
            <a:extLst>
              <a:ext uri="{FF2B5EF4-FFF2-40B4-BE49-F238E27FC236}">
                <a16:creationId xmlns:a16="http://schemas.microsoft.com/office/drawing/2014/main" id="{43BF9B52-1589-1F2D-8DC5-84C96F6ACC51}"/>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9399467" y="4236583"/>
            <a:ext cx="4049063" cy="703525"/>
          </a:xfrm>
          <a:prstGeom prst="rect">
            <a:avLst/>
          </a:prstGeom>
        </p:spPr>
      </p:pic>
      <p:pic>
        <p:nvPicPr>
          <p:cNvPr id="19" name="Picture 18" descr="A black text on a white background&#10;&#10;AI-generated content may be incorrect.">
            <a:extLst>
              <a:ext uri="{FF2B5EF4-FFF2-40B4-BE49-F238E27FC236}">
                <a16:creationId xmlns:a16="http://schemas.microsoft.com/office/drawing/2014/main" id="{1A0B2C49-CC59-9827-546F-5235044D2ECC}"/>
              </a:ext>
            </a:extLst>
          </p:cNvPr>
          <p:cNvPicPr>
            <a:picLocks noChangeAspect="1"/>
          </p:cNvPicPr>
          <p:nvPr/>
        </p:nvPicPr>
        <p:blipFill>
          <a:blip r:embed="rId16" cstate="email">
            <a:extLst>
              <a:ext uri="{28A0092B-C50C-407E-A947-70E740481C1C}">
                <a14:useLocalDpi xmlns:a14="http://schemas.microsoft.com/office/drawing/2010/main"/>
              </a:ext>
            </a:extLst>
          </a:blip>
          <a:srcRect/>
          <a:stretch>
            <a:fillRect/>
          </a:stretch>
        </p:blipFill>
        <p:spPr>
          <a:xfrm>
            <a:off x="13448530" y="2567516"/>
            <a:ext cx="2503967" cy="679699"/>
          </a:xfrm>
          <a:prstGeom prst="rect">
            <a:avLst/>
          </a:prstGeom>
        </p:spPr>
      </p:pic>
      <p:pic>
        <p:nvPicPr>
          <p:cNvPr id="20" name="Picture 19" descr="A logo with green triangles&#10;&#10;AI-generated content may be incorrect.">
            <a:extLst>
              <a:ext uri="{FF2B5EF4-FFF2-40B4-BE49-F238E27FC236}">
                <a16:creationId xmlns:a16="http://schemas.microsoft.com/office/drawing/2014/main" id="{EA12A75F-E05B-1B49-1E63-4BB6D4037F89}"/>
              </a:ext>
            </a:extLst>
          </p:cNvPr>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5410470" y="5249852"/>
            <a:ext cx="2259416" cy="1354328"/>
          </a:xfrm>
          <a:prstGeom prst="rect">
            <a:avLst/>
          </a:prstGeom>
        </p:spPr>
      </p:pic>
    </p:spTree>
    <p:extLst>
      <p:ext uri="{BB962C8B-B14F-4D97-AF65-F5344CB8AC3E}">
        <p14:creationId xmlns:p14="http://schemas.microsoft.com/office/powerpoint/2010/main" val="3294899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CA4C9224-F22A-9456-2FBE-07A9096CBA09}"/>
              </a:ext>
            </a:extLst>
          </p:cNvPr>
          <p:cNvSpPr>
            <a:spLocks/>
          </p:cNvSpPr>
          <p:nvPr/>
        </p:nvSpPr>
        <p:spPr>
          <a:xfrm>
            <a:off x="391794" y="3771900"/>
            <a:ext cx="8752206" cy="3276600"/>
          </a:xfrm>
          <a:prstGeom prst="roundRect">
            <a:avLst/>
          </a:prstGeom>
          <a:solidFill>
            <a:srgbClr val="02464E">
              <a:alpha val="6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Freeform 6"/>
          <p:cNvSpPr/>
          <p:nvPr/>
        </p:nvSpPr>
        <p:spPr>
          <a:xfrm>
            <a:off x="609600" y="6248955"/>
            <a:ext cx="499329" cy="499329"/>
          </a:xfrm>
          <a:custGeom>
            <a:avLst/>
            <a:gdLst/>
            <a:ahLst/>
            <a:cxnLst/>
            <a:rect l="l" t="t" r="r" b="b"/>
            <a:pathLst>
              <a:path w="499329" h="499329">
                <a:moveTo>
                  <a:pt x="0" y="0"/>
                </a:moveTo>
                <a:lnTo>
                  <a:pt x="499329" y="0"/>
                </a:lnTo>
                <a:lnTo>
                  <a:pt x="499329" y="499329"/>
                </a:lnTo>
                <a:lnTo>
                  <a:pt x="0" y="49932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l-GR"/>
          </a:p>
        </p:txBody>
      </p:sp>
      <p:sp>
        <p:nvSpPr>
          <p:cNvPr id="7" name="Freeform 7"/>
          <p:cNvSpPr/>
          <p:nvPr/>
        </p:nvSpPr>
        <p:spPr>
          <a:xfrm>
            <a:off x="609600" y="5569519"/>
            <a:ext cx="499329" cy="499329"/>
          </a:xfrm>
          <a:custGeom>
            <a:avLst/>
            <a:gdLst/>
            <a:ahLst/>
            <a:cxnLst/>
            <a:rect l="l" t="t" r="r" b="b"/>
            <a:pathLst>
              <a:path w="499329" h="499329">
                <a:moveTo>
                  <a:pt x="0" y="0"/>
                </a:moveTo>
                <a:lnTo>
                  <a:pt x="499329" y="0"/>
                </a:lnTo>
                <a:lnTo>
                  <a:pt x="499329" y="499329"/>
                </a:lnTo>
                <a:lnTo>
                  <a:pt x="0" y="49932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l-GR"/>
          </a:p>
        </p:txBody>
      </p:sp>
      <p:sp>
        <p:nvSpPr>
          <p:cNvPr id="8" name="Freeform 8"/>
          <p:cNvSpPr/>
          <p:nvPr/>
        </p:nvSpPr>
        <p:spPr>
          <a:xfrm>
            <a:off x="609600" y="4815996"/>
            <a:ext cx="499329" cy="499329"/>
          </a:xfrm>
          <a:custGeom>
            <a:avLst/>
            <a:gdLst/>
            <a:ahLst/>
            <a:cxnLst/>
            <a:rect l="l" t="t" r="r" b="b"/>
            <a:pathLst>
              <a:path w="499329" h="499329">
                <a:moveTo>
                  <a:pt x="0" y="0"/>
                </a:moveTo>
                <a:lnTo>
                  <a:pt x="499329" y="0"/>
                </a:lnTo>
                <a:lnTo>
                  <a:pt x="499329" y="499329"/>
                </a:lnTo>
                <a:lnTo>
                  <a:pt x="0" y="49932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l-GR"/>
          </a:p>
        </p:txBody>
      </p:sp>
      <p:sp>
        <p:nvSpPr>
          <p:cNvPr id="9" name="Freeform 9"/>
          <p:cNvSpPr/>
          <p:nvPr/>
        </p:nvSpPr>
        <p:spPr>
          <a:xfrm>
            <a:off x="609600" y="4062473"/>
            <a:ext cx="499329" cy="499329"/>
          </a:xfrm>
          <a:custGeom>
            <a:avLst/>
            <a:gdLst/>
            <a:ahLst/>
            <a:cxnLst/>
            <a:rect l="l" t="t" r="r" b="b"/>
            <a:pathLst>
              <a:path w="499329" h="499329">
                <a:moveTo>
                  <a:pt x="0" y="0"/>
                </a:moveTo>
                <a:lnTo>
                  <a:pt x="499329" y="0"/>
                </a:lnTo>
                <a:lnTo>
                  <a:pt x="499329" y="499329"/>
                </a:lnTo>
                <a:lnTo>
                  <a:pt x="0" y="49932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l-GR"/>
          </a:p>
        </p:txBody>
      </p:sp>
      <p:sp>
        <p:nvSpPr>
          <p:cNvPr id="12" name="TextBox 12"/>
          <p:cNvSpPr txBox="1"/>
          <p:nvPr/>
        </p:nvSpPr>
        <p:spPr>
          <a:xfrm>
            <a:off x="5700394" y="2019300"/>
            <a:ext cx="6887212" cy="979755"/>
          </a:xfrm>
          <a:prstGeom prst="rect">
            <a:avLst/>
          </a:prstGeom>
        </p:spPr>
        <p:txBody>
          <a:bodyPr wrap="square" lIns="0" tIns="0" rIns="0" bIns="0" rtlCol="0" anchor="t">
            <a:spAutoFit/>
          </a:bodyPr>
          <a:lstStyle/>
          <a:p>
            <a:pPr algn="ctr">
              <a:lnSpc>
                <a:spcPts val="7150"/>
              </a:lnSpc>
            </a:pPr>
            <a:r>
              <a:rPr lang="en-US" sz="8000" b="1">
                <a:solidFill>
                  <a:srgbClr val="FFFFFF"/>
                </a:solidFill>
                <a:latin typeface="Poppins Bold"/>
                <a:ea typeface="Poppins Bold"/>
                <a:cs typeface="Poppins Bold"/>
                <a:sym typeface="Poppins Bold"/>
              </a:rPr>
              <a:t>Thank You!</a:t>
            </a:r>
          </a:p>
        </p:txBody>
      </p:sp>
      <p:sp>
        <p:nvSpPr>
          <p:cNvPr id="13" name="TextBox 13"/>
          <p:cNvSpPr txBox="1"/>
          <p:nvPr/>
        </p:nvSpPr>
        <p:spPr>
          <a:xfrm>
            <a:off x="1341974" y="4183256"/>
            <a:ext cx="5287425" cy="379848"/>
          </a:xfrm>
          <a:prstGeom prst="rect">
            <a:avLst/>
          </a:prstGeom>
        </p:spPr>
        <p:txBody>
          <a:bodyPr wrap="square" lIns="0" tIns="0" rIns="0" bIns="0" rtlCol="0" anchor="t">
            <a:spAutoFit/>
          </a:bodyPr>
          <a:lstStyle/>
          <a:p>
            <a:pPr algn="l">
              <a:lnSpc>
                <a:spcPts val="2887"/>
              </a:lnSpc>
              <a:spcBef>
                <a:spcPct val="0"/>
              </a:spcBef>
            </a:pPr>
            <a:r>
              <a:rPr lang="en-US" sz="2624" b="1" dirty="0">
                <a:solidFill>
                  <a:srgbClr val="FFFFFF"/>
                </a:solidFill>
                <a:latin typeface="Poppins"/>
                <a:ea typeface="Poppins"/>
                <a:cs typeface="Poppins"/>
                <a:sym typeface="Poppins"/>
              </a:rPr>
              <a:t>Name: Jon Switters</a:t>
            </a:r>
          </a:p>
        </p:txBody>
      </p:sp>
      <p:sp>
        <p:nvSpPr>
          <p:cNvPr id="14" name="TextBox 14"/>
          <p:cNvSpPr txBox="1"/>
          <p:nvPr/>
        </p:nvSpPr>
        <p:spPr>
          <a:xfrm>
            <a:off x="1296254" y="4879070"/>
            <a:ext cx="6171345" cy="379848"/>
          </a:xfrm>
          <a:prstGeom prst="rect">
            <a:avLst/>
          </a:prstGeom>
        </p:spPr>
        <p:txBody>
          <a:bodyPr wrap="square" lIns="0" tIns="0" rIns="0" bIns="0" rtlCol="0" anchor="t">
            <a:spAutoFit/>
          </a:bodyPr>
          <a:lstStyle/>
          <a:p>
            <a:pPr algn="l">
              <a:lnSpc>
                <a:spcPts val="2887"/>
              </a:lnSpc>
              <a:spcBef>
                <a:spcPct val="0"/>
              </a:spcBef>
            </a:pPr>
            <a:r>
              <a:rPr lang="en-US" sz="2624" b="1" dirty="0" err="1">
                <a:solidFill>
                  <a:srgbClr val="FFFFFF"/>
                </a:solidFill>
                <a:latin typeface="Poppins"/>
                <a:ea typeface="Poppins"/>
                <a:cs typeface="Poppins"/>
                <a:sym typeface="Poppins"/>
              </a:rPr>
              <a:t>Organisation</a:t>
            </a:r>
            <a:r>
              <a:rPr lang="en-US" sz="2624" b="1" dirty="0">
                <a:solidFill>
                  <a:srgbClr val="FFFFFF"/>
                </a:solidFill>
                <a:latin typeface="Poppins"/>
                <a:ea typeface="Poppins"/>
                <a:cs typeface="Poppins"/>
                <a:sym typeface="Poppins"/>
              </a:rPr>
              <a:t>: The Lisbon Council</a:t>
            </a:r>
          </a:p>
        </p:txBody>
      </p:sp>
      <p:sp>
        <p:nvSpPr>
          <p:cNvPr id="15" name="TextBox 15"/>
          <p:cNvSpPr txBox="1"/>
          <p:nvPr/>
        </p:nvSpPr>
        <p:spPr>
          <a:xfrm>
            <a:off x="1341974" y="5616054"/>
            <a:ext cx="11916826" cy="379848"/>
          </a:xfrm>
          <a:prstGeom prst="rect">
            <a:avLst/>
          </a:prstGeom>
        </p:spPr>
        <p:txBody>
          <a:bodyPr wrap="square" lIns="0" tIns="0" rIns="0" bIns="0" rtlCol="0" anchor="t">
            <a:spAutoFit/>
          </a:bodyPr>
          <a:lstStyle/>
          <a:p>
            <a:pPr algn="l">
              <a:lnSpc>
                <a:spcPts val="2887"/>
              </a:lnSpc>
              <a:spcBef>
                <a:spcPct val="0"/>
              </a:spcBef>
            </a:pPr>
            <a:r>
              <a:rPr lang="en-US" sz="2624" b="1" dirty="0">
                <a:solidFill>
                  <a:srgbClr val="FFFFFF"/>
                </a:solidFill>
                <a:latin typeface="Poppins"/>
                <a:ea typeface="Poppins"/>
                <a:cs typeface="Poppins"/>
                <a:sym typeface="Poppins"/>
              </a:rPr>
              <a:t>Email: </a:t>
            </a:r>
            <a:r>
              <a:rPr lang="en-US" sz="2624" b="1" dirty="0" err="1">
                <a:solidFill>
                  <a:srgbClr val="FFFFFF"/>
                </a:solidFill>
                <a:latin typeface="Poppins"/>
                <a:ea typeface="Poppins"/>
                <a:cs typeface="Poppins"/>
                <a:sym typeface="Poppins"/>
              </a:rPr>
              <a:t>jon.switters@lisboncouncil.net</a:t>
            </a:r>
            <a:endParaRPr lang="en-US" sz="2624" b="1" dirty="0">
              <a:solidFill>
                <a:srgbClr val="FFFFFF"/>
              </a:solidFill>
              <a:latin typeface="Poppins"/>
              <a:ea typeface="Poppins"/>
              <a:cs typeface="Poppins"/>
              <a:sym typeface="Poppins"/>
            </a:endParaRPr>
          </a:p>
        </p:txBody>
      </p:sp>
      <p:sp>
        <p:nvSpPr>
          <p:cNvPr id="16" name="TextBox 16"/>
          <p:cNvSpPr txBox="1"/>
          <p:nvPr/>
        </p:nvSpPr>
        <p:spPr>
          <a:xfrm>
            <a:off x="1311494" y="6370521"/>
            <a:ext cx="6308505" cy="379848"/>
          </a:xfrm>
          <a:prstGeom prst="rect">
            <a:avLst/>
          </a:prstGeom>
        </p:spPr>
        <p:txBody>
          <a:bodyPr wrap="square" lIns="0" tIns="0" rIns="0" bIns="0" rtlCol="0" anchor="t">
            <a:spAutoFit/>
          </a:bodyPr>
          <a:lstStyle/>
          <a:p>
            <a:pPr>
              <a:lnSpc>
                <a:spcPts val="2887"/>
              </a:lnSpc>
              <a:spcBef>
                <a:spcPct val="0"/>
              </a:spcBef>
            </a:pPr>
            <a:r>
              <a:rPr lang="en-US" sz="2624" b="1" dirty="0">
                <a:solidFill>
                  <a:srgbClr val="FFFFFF"/>
                </a:solidFill>
                <a:latin typeface="Poppins"/>
                <a:ea typeface="Poppins"/>
                <a:cs typeface="Poppins"/>
                <a:sym typeface="Poppins"/>
              </a:rPr>
              <a:t>Website</a:t>
            </a:r>
            <a:r>
              <a:rPr lang="en-US" sz="2624" dirty="0">
                <a:solidFill>
                  <a:srgbClr val="FFFFFF"/>
                </a:solidFill>
                <a:latin typeface="Poppins"/>
                <a:ea typeface="Poppins"/>
                <a:cs typeface="Poppins"/>
                <a:sym typeface="Poppins"/>
              </a:rPr>
              <a:t>: </a:t>
            </a:r>
            <a:r>
              <a:rPr lang="en-US" sz="2624" b="1" dirty="0">
                <a:solidFill>
                  <a:srgbClr val="FFFFFF"/>
                </a:solidFill>
                <a:latin typeface="Poppins"/>
                <a:ea typeface="Poppins"/>
                <a:cs typeface="Poppins"/>
                <a:sym typeface="Poppins"/>
              </a:rPr>
              <a:t>https://</a:t>
            </a:r>
            <a:r>
              <a:rPr lang="en-US" sz="2624" b="1" dirty="0" err="1">
                <a:solidFill>
                  <a:srgbClr val="FFFFFF"/>
                </a:solidFill>
                <a:latin typeface="Poppins"/>
                <a:ea typeface="Poppins"/>
                <a:cs typeface="Poppins"/>
                <a:sym typeface="Poppins"/>
              </a:rPr>
              <a:t>lisboncouncil.net</a:t>
            </a:r>
            <a:r>
              <a:rPr lang="en-US" sz="2624" b="1" dirty="0">
                <a:solidFill>
                  <a:srgbClr val="FFFFFF"/>
                </a:solidFill>
                <a:latin typeface="Poppins"/>
                <a:ea typeface="Poppins"/>
                <a:cs typeface="Poppins"/>
                <a:sym typeface="Poppins"/>
              </a:rPr>
              <a:t>/</a:t>
            </a:r>
          </a:p>
        </p:txBody>
      </p:sp>
    </p:spTree>
  </p:cSld>
  <p:clrMapOvr>
    <a:masterClrMapping/>
  </p:clrMapOvr>
</p:sld>
</file>

<file path=ppt/theme/theme1.xml><?xml version="1.0" encoding="utf-8"?>
<a:theme xmlns:a="http://schemas.openxmlformats.org/drawingml/2006/main" name="Office Theme">
  <a:themeElements>
    <a:clrScheme name="Custom 2">
      <a:dk1>
        <a:srgbClr val="0D3559"/>
      </a:dk1>
      <a:lt1>
        <a:sysClr val="window" lastClr="FFFFFF"/>
      </a:lt1>
      <a:dk2>
        <a:srgbClr val="ACE2DC"/>
      </a:dk2>
      <a:lt2>
        <a:srgbClr val="EEECE1"/>
      </a:lt2>
      <a:accent1>
        <a:srgbClr val="80ECDF"/>
      </a:accent1>
      <a:accent2>
        <a:srgbClr val="E6F0F2"/>
      </a:accent2>
      <a:accent3>
        <a:srgbClr val="9BBB59"/>
      </a:accent3>
      <a:accent4>
        <a:srgbClr val="B9FDF2"/>
      </a:accent4>
      <a:accent5>
        <a:srgbClr val="4BACC6"/>
      </a:accent5>
      <a:accent6>
        <a:srgbClr val="92D050"/>
      </a:accent6>
      <a:hlink>
        <a:srgbClr val="17365D"/>
      </a:hlink>
      <a:folHlink>
        <a:srgbClr val="36609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35e10ac4-31c1-4b75-a0a7-83de09211430" xsi:nil="true"/>
    <lcf76f155ced4ddcb4097134ff3c332f xmlns="38fd7e7d-5967-4b4d-be53-466628489046">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6FF2C8ECC173C4A85AFEBF9FF5C12F0" ma:contentTypeVersion="19" ma:contentTypeDescription="Create a new document." ma:contentTypeScope="" ma:versionID="2ddf32f61ac5c11bc05b3c661f3b0fa4">
  <xsd:schema xmlns:xsd="http://www.w3.org/2001/XMLSchema" xmlns:xs="http://www.w3.org/2001/XMLSchema" xmlns:p="http://schemas.microsoft.com/office/2006/metadata/properties" xmlns:ns2="38fd7e7d-5967-4b4d-be53-466628489046" xmlns:ns3="35e10ac4-31c1-4b75-a0a7-83de09211430" targetNamespace="http://schemas.microsoft.com/office/2006/metadata/properties" ma:root="true" ma:fieldsID="db6fce220d758b56d3969de431ea798e" ns2:_="" ns3:_="">
    <xsd:import namespace="38fd7e7d-5967-4b4d-be53-466628489046"/>
    <xsd:import namespace="35e10ac4-31c1-4b75-a0a7-83de0921143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fd7e7d-5967-4b4d-be53-4666284890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c7ce5425-a7ad-4e1f-9049-9b6455cea61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5e10ac4-31c1-4b75-a0a7-83de0921143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9d0f8d9f-ba36-4af0-bc14-8016ccfa9e81}" ma:internalName="TaxCatchAll" ma:showField="CatchAllData" ma:web="35e10ac4-31c1-4b75-a0a7-83de0921143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01A3DB2-419A-4FB5-A3EB-962C6EAA4710}">
  <ds:schemaRefs>
    <ds:schemaRef ds:uri="http://schemas.microsoft.com/sharepoint/v3/contenttype/forms"/>
  </ds:schemaRefs>
</ds:datastoreItem>
</file>

<file path=customXml/itemProps2.xml><?xml version="1.0" encoding="utf-8"?>
<ds:datastoreItem xmlns:ds="http://schemas.openxmlformats.org/officeDocument/2006/customXml" ds:itemID="{410A6AD1-4420-4221-80A9-CAE0158B3AC2}">
  <ds:schemaRefs>
    <ds:schemaRef ds:uri="http://schemas.microsoft.com/office/2006/metadata/properties"/>
    <ds:schemaRef ds:uri="http://schemas.microsoft.com/office/infopath/2007/PartnerControls"/>
    <ds:schemaRef ds:uri="35e10ac4-31c1-4b75-a0a7-83de09211430"/>
    <ds:schemaRef ds:uri="38fd7e7d-5967-4b4d-be53-466628489046"/>
  </ds:schemaRefs>
</ds:datastoreItem>
</file>

<file path=customXml/itemProps3.xml><?xml version="1.0" encoding="utf-8"?>
<ds:datastoreItem xmlns:ds="http://schemas.openxmlformats.org/officeDocument/2006/customXml" ds:itemID="{5752922F-BF54-4287-A409-BD7688B342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8fd7e7d-5967-4b4d-be53-466628489046"/>
    <ds:schemaRef ds:uri="35e10ac4-31c1-4b75-a0a7-83de0921143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925</TotalTime>
  <Words>592</Words>
  <Application>Microsoft Macintosh PowerPoint</Application>
  <PresentationFormat>Custom</PresentationFormat>
  <Paragraphs>51</Paragraphs>
  <Slides>12</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Poppins</vt:lpstr>
      <vt:lpstr>Arial</vt:lpstr>
      <vt:lpstr>Poppins Bold</vt:lpstr>
      <vt:lpstr>Calibri</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NEXTAIRE</dc:title>
  <cp:lastModifiedBy>Jon Switters</cp:lastModifiedBy>
  <cp:revision>24</cp:revision>
  <dcterms:created xsi:type="dcterms:W3CDTF">2006-08-16T00:00:00Z</dcterms:created>
  <dcterms:modified xsi:type="dcterms:W3CDTF">2026-09-09T05:50:27Z</dcterms:modified>
  <dc:identifier>DAG-e5vBqQY</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0x01010026FF2C8ECC173C4A85AFEBF9FF5C12F0</vt:lpwstr>
  </property>
  <property fmtid="{D5CDD505-2E9C-101B-9397-08002B2CF9AE}" pid="3" name="MediaServiceImageTags">
    <vt:lpwstr/>
  </property>
</Properties>
</file>