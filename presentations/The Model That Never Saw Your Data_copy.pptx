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Default Extension="jpg" ContentType="image/jpe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rts/chart1.xml" ContentType="application/vnd.openxmlformats-officedocument.drawingml.char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31"/>
  </p:notesMasterIdLst>
  <p:handoutMasterIdLst>
    <p:handoutMasterId r:id="rId32"/>
  </p:handoutMasterIdLst>
  <p:sldIdLst>
    <p:sldId id="265" r:id="rId5"/>
    <p:sldId id="310" r:id="rId6"/>
    <p:sldId id="320" r:id="rId7"/>
    <p:sldId id="321" r:id="rId8"/>
    <p:sldId id="322" r:id="rId9"/>
    <p:sldId id="323" r:id="rId10"/>
    <p:sldId id="326" r:id="rId11"/>
    <p:sldId id="325" r:id="rId12"/>
    <p:sldId id="327" r:id="rId13"/>
    <p:sldId id="328" r:id="rId14"/>
    <p:sldId id="329" r:id="rId15"/>
    <p:sldId id="330" r:id="rId16"/>
    <p:sldId id="332" r:id="rId17"/>
    <p:sldId id="331" r:id="rId18"/>
    <p:sldId id="333" r:id="rId19"/>
    <p:sldId id="334" r:id="rId20"/>
    <p:sldId id="335" r:id="rId21"/>
    <p:sldId id="336" r:id="rId22"/>
    <p:sldId id="337" r:id="rId23"/>
    <p:sldId id="338" r:id="rId24"/>
    <p:sldId id="339" r:id="rId25"/>
    <p:sldId id="340" r:id="rId26"/>
    <p:sldId id="344" r:id="rId27"/>
    <p:sldId id="342" r:id="rId28"/>
    <p:sldId id="311" r:id="rId29"/>
    <p:sldId id="343" r:id="rId30"/>
  </p:sldIdLst>
  <p:sldSz cx="12188825" cy="6858000"/>
  <p:notesSz cx="6858000" cy="9144000"/>
  <p:custDataLst>
    <p:tags r:id="rId3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39" userDrawn="1">
          <p15:clr>
            <a:srgbClr val="A4A3A4"/>
          </p15:clr>
        </p15:guide>
        <p15:guide id="2" orient="horz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862" autoAdjust="0"/>
    <p:restoredTop sz="83732" autoAdjust="0"/>
  </p:normalViewPr>
  <p:slideViewPr>
    <p:cSldViewPr showGuides="1">
      <p:cViewPr varScale="1">
        <p:scale>
          <a:sx n="71" d="100"/>
          <a:sy n="71" d="100"/>
        </p:scale>
        <p:origin x="379" y="62"/>
      </p:cViewPr>
      <p:guideLst>
        <p:guide pos="3839"/>
        <p:guide orient="horz"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howGuides="1">
      <p:cViewPr varScale="1">
        <p:scale>
          <a:sx n="63" d="100"/>
          <a:sy n="63" d="100"/>
        </p:scale>
        <p:origin x="1986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34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tags" Target="tags/tag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handoutMaster" Target="handoutMasters/handoutMaster1.xml"/><Relationship Id="rId37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viewProps" Target="viewProp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measured (past)</c:v>
                </c:pt>
              </c:strCache>
            </c:strRef>
          </c:tx>
          <c:spPr>
            <a:ln w="38100" cap="flat">
              <a:solidFill>
                <a:srgbClr val="00B4D8"/>
              </a:solidFill>
              <a:prstDash val="solid"/>
              <a:round/>
            </a:ln>
            <a:effectLst/>
          </c:spPr>
          <c:marker>
            <c:symbol val="none"/>
          </c:marker>
          <c:cat>
            <c:strRef>
              <c:f>Sheet1!$A$2:$A$13</c:f>
              <c:strCache>
                <c:ptCount val="12"/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12</c:v>
                </c:pt>
                <c:pt idx="1">
                  <c:v>15</c:v>
                </c:pt>
                <c:pt idx="2">
                  <c:v>13</c:v>
                </c:pt>
                <c:pt idx="3">
                  <c:v>18</c:v>
                </c:pt>
                <c:pt idx="4">
                  <c:v>20</c:v>
                </c:pt>
                <c:pt idx="5">
                  <c:v>17</c:v>
                </c:pt>
                <c:pt idx="6">
                  <c:v>22</c:v>
                </c:pt>
                <c:pt idx="7">
                  <c:v>21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F388-4D70-8CD6-9EF7DBD754E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forecast (future)</c:v>
                </c:pt>
              </c:strCache>
            </c:strRef>
          </c:tx>
          <c:spPr>
            <a:ln w="38100" cap="flat">
              <a:solidFill>
                <a:srgbClr val="FB8500"/>
              </a:solidFill>
              <a:prstDash val="solid"/>
              <a:round/>
            </a:ln>
            <a:effectLst/>
          </c:spPr>
          <c:marker>
            <c:symbol val="none"/>
          </c:marker>
          <c:cat>
            <c:strRef>
              <c:f>Sheet1!$A$2:$A$13</c:f>
              <c:strCache>
                <c:ptCount val="12"/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7">
                  <c:v>21</c:v>
                </c:pt>
                <c:pt idx="8">
                  <c:v>24</c:v>
                </c:pt>
                <c:pt idx="9">
                  <c:v>23</c:v>
                </c:pt>
                <c:pt idx="10">
                  <c:v>26</c:v>
                </c:pt>
                <c:pt idx="11">
                  <c:v>22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F388-4D70-8CD6-9EF7DBD754E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094734554"/>
        <c:axId val="2094734552"/>
      </c:lineChart>
      <c:catAx>
        <c:axId val="209473455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600">
              <a:solidFill>
                <a:srgbClr val="5C7080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9088EAF-6ECA-4616-85EF-35AA19C641F3}" type="datetimeFigureOut">
              <a:rPr lang="en-US"/>
              <a:t>9/7/2026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9F912AB-2776-42F2-A957-313FC7EFEDB9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3206574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ABD2D7A-D230-4F91-BD59-0A39C2703BA8}" type="datetimeFigureOut">
              <a:rPr lang="en-US"/>
              <a:t>9/7/2026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3199CD-3E1B-4AE6-990F-76F925F5EA9F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765798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tsfm.ai/blog/chronos-deep-dive" TargetMode="External"/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Relationship Id="rId5" Type="http://schemas.openxmlformats.org/officeDocument/2006/relationships/hyperlink" Target="https://tsfm.ai/blog/timesfm-google-overview" TargetMode="External"/><Relationship Id="rId4" Type="http://schemas.openxmlformats.org/officeDocument/2006/relationships/hyperlink" Target="https://arxiv.org/abs/1910.10683" TargetMode="Externa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SARIMA stands for 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Seasonal Autoregressive Integrated Moving Average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It is used when data shows both:</a:t>
            </a:r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Non‑seasonal structure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(trend, short‑term autocorrelation)</a:t>
            </a:r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Seasonal structure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(patterns repeating every 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periods, e.g., 12 months)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SARIMA is written as:</a:t>
            </a:r>
            <a:b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SARIMA (p, d, q) (P, D, Q)_S</a:t>
            </a:r>
            <a:b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Where:</a:t>
            </a:r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p, d, q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= non‑seasonal ARIMA terms</a:t>
            </a:r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P, D, Q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= seasonal AR, differencing, MA terms</a:t>
            </a:r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= length of seasonal cycle (e.g., 12 for monthly data with yearly seasonality)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3199CD-3E1B-4AE6-990F-76F925F5EA9F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80619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3199CD-3E1B-4AE6-990F-76F925F5EA9F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238096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electricity, weather, traffic, sensors</a:t>
            </a:r>
            <a:r>
              <a:rPr lang="hr-HR" dirty="0"/>
              <a:t>,...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3199CD-3E1B-4AE6-990F-76F925F5EA9F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66772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i="0" u="sng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/>
              </a:rPr>
              <a:t>Chronos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(Amazon, 2024): Encoder-decoder T5 architecture with value tokenization. Produces probabilistic forecasts. Pretrained on a mix of public datasets and synthetic Gaussian process data. Released openly on Hugging Face in sizes ranging from 20M to 710M parameters. </a:t>
            </a:r>
            <a:endParaRPr lang="hr-H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hr-HR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Chronos-Bolt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is a family of pretrained time series forecasting models which can be used for zero-shot forecasting. It is based on the </a:t>
            </a:r>
            <a:r>
              <a:rPr lang="en-US" sz="1200" b="0" i="0" u="sng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4"/>
              </a:rPr>
              <a:t>T5 encoder-decoder architecture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and has been trained on nearly 100 billion time series observations. </a:t>
            </a:r>
            <a:endParaRPr lang="hr-H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hr-H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Chronos-2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is a 120M-parameter, encoder-only time series foundation model for zero-shot forecasting. It supports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univariate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multivariate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and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covariate-informed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tasks within a single architecture. </a:t>
            </a:r>
            <a:endParaRPr lang="hr-H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hr-H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hr-H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- 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external signals are called covariates (also known as exogenous regressors or external features)</a:t>
            </a:r>
            <a:endParaRPr lang="hr-H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hr-H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1" i="0" u="sng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5"/>
              </a:rPr>
              <a:t>TimesFM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(Google, 2024): Decoder-only transformer pretrained on roughly 100 billion real-world time points sourced from Google Trends, Wikipedia pageviews, and synthetic augmentation. Uses input and output patching to handle variable-length horizons efficiently</a:t>
            </a:r>
            <a:endParaRPr lang="hr-H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hr-H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hr-H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Granite 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Tiny Time Mixer</a:t>
            </a:r>
            <a:r>
              <a:rPr lang="hr-H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(TTM) (IBM 2025)</a:t>
            </a:r>
          </a:p>
          <a:p>
            <a:endParaRPr lang="hr-H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hr-H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TSFM – Time Series Foundation Models</a:t>
            </a:r>
          </a:p>
          <a:p>
            <a:r>
              <a:rPr lang="hr-HR" dirty="0"/>
              <a:t>Sources </a:t>
            </a:r>
            <a:r>
              <a:rPr lang="en-US" dirty="0"/>
              <a:t>electricity, weather, traffic, sensors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3199CD-3E1B-4AE6-990F-76F925F5EA9F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31272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3199CD-3E1B-4AE6-990F-76F925F5EA9F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147101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3199CD-3E1B-4AE6-990F-76F925F5EA9F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650346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3199CD-3E1B-4AE6-990F-76F925F5EA9F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400711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hr-HR" sz="1200" b="1" dirty="0">
              <a:solidFill>
                <a:srgbClr val="12232E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3199CD-3E1B-4AE6-990F-76F925F5EA9F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880787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3199CD-3E1B-4AE6-990F-76F925F5EA9F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470854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3199CD-3E1B-4AE6-990F-76F925F5EA9F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344333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3199CD-3E1B-4AE6-990F-76F925F5EA9F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4243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3199CD-3E1B-4AE6-990F-76F925F5EA9F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081412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lnSpc>
                <a:spcPts val="2200"/>
              </a:lnSpc>
              <a:buNone/>
            </a:pPr>
            <a:r>
              <a:rPr lang="en-US" sz="1200" i="1" dirty="0">
                <a:solidFill>
                  <a:srgbClr val="9DB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Between your stations, you're guessing. A ‘network’ model guesses better than ‘nearest wins’.</a:t>
            </a:r>
            <a:endParaRPr lang="en-US" sz="1200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3199CD-3E1B-4AE6-990F-76F925F5EA9F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84449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3199CD-3E1B-4AE6-990F-76F925F5EA9F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689852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3199CD-3E1B-4AE6-990F-76F925F5EA9F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357450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en-US" b="1" dirty="0"/>
              <a:t>The setup.</a:t>
            </a:r>
            <a:r>
              <a:rPr lang="en-US" dirty="0"/>
              <a:t> You have 12 monitoring stations. The task is: hide one station's readings and predict them from the other 11 (plus the weather). "Node" is just the graph word for a station — in a graph, the things are </a:t>
            </a:r>
            <a:r>
              <a:rPr lang="en-US" i="1" dirty="0"/>
              <a:t>nodes</a:t>
            </a:r>
            <a:r>
              <a:rPr lang="en-US" dirty="0"/>
              <a:t> and the connections between them are </a:t>
            </a:r>
            <a:r>
              <a:rPr lang="en-US" i="1" dirty="0"/>
              <a:t>edges</a:t>
            </a:r>
            <a:r>
              <a:rPr lang="en-US" dirty="0"/>
              <a:t>, and your station network is a graph.</a:t>
            </a:r>
          </a:p>
          <a:p>
            <a:pPr rtl="0"/>
            <a:r>
              <a:rPr lang="en-US" b="1" dirty="0"/>
              <a:t>What "node-agnostic" means.</a:t>
            </a:r>
            <a:r>
              <a:rPr lang="en-US" dirty="0"/>
              <a:t> "Agnostic" here means "doesn't care which one." So a node-agnostic model is one that </a:t>
            </a:r>
            <a:r>
              <a:rPr lang="en-US" b="1" dirty="0"/>
              <a:t>isn't tied to a specific station</a:t>
            </a:r>
            <a:r>
              <a:rPr lang="en-US" dirty="0"/>
              <a:t>. It hasn't learned "how to reconstruct </a:t>
            </a:r>
            <a:r>
              <a:rPr lang="en-US" dirty="0" err="1"/>
              <a:t>Huairou</a:t>
            </a:r>
            <a:r>
              <a:rPr lang="en-US" dirty="0"/>
              <a:t>" — it has learned the </a:t>
            </a:r>
            <a:r>
              <a:rPr lang="en-US" i="1" dirty="0"/>
              <a:t>general skill</a:t>
            </a:r>
            <a:r>
              <a:rPr lang="en-US" dirty="0"/>
              <a:t> of "reconstruct whichever station is missing, from its </a:t>
            </a:r>
            <a:r>
              <a:rPr lang="en-US" dirty="0" err="1"/>
              <a:t>neighbours</a:t>
            </a:r>
            <a:r>
              <a:rPr lang="en-US" dirty="0"/>
              <a:t> and the weather." Point it at any hidden station and it does its thing.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3199CD-3E1B-4AE6-990F-76F925F5EA9F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307462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3199CD-3E1B-4AE6-990F-76F925F5EA9F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241587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3199CD-3E1B-4AE6-990F-76F925F5EA9F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72585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65214" y="1828800"/>
            <a:ext cx="8229600" cy="2895600"/>
          </a:xfrm>
        </p:spPr>
        <p:txBody>
          <a:bodyPr anchor="b">
            <a:normAutofit/>
          </a:bodyPr>
          <a:lstStyle>
            <a:lvl1pPr>
              <a:lnSpc>
                <a:spcPct val="80000"/>
              </a:lnSpc>
              <a:defRPr sz="6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5213" y="4800600"/>
            <a:ext cx="8229600" cy="1219200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2000" cap="all" spc="200" baseline="0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949990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  <a:lvl6pPr>
              <a:defRPr/>
            </a:lvl6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41C87-7AD9-4845-A077-840E4A0F3F06}" type="datetimeFigureOut">
              <a:rPr lang="en-US"/>
              <a:t>9/7/2026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13F82-EE5E-44EE-A61D-E31C6657F26F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382540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59614" y="2514600"/>
            <a:ext cx="8692399" cy="2819400"/>
          </a:xfrm>
        </p:spPr>
        <p:txBody>
          <a:bodyPr anchor="b">
            <a:normAutofit/>
          </a:bodyPr>
          <a:lstStyle>
            <a:lvl1pPr algn="l">
              <a:lnSpc>
                <a:spcPct val="80000"/>
              </a:lnSpc>
              <a:defRPr sz="4800" b="0" cap="none" baseline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5213" y="5410200"/>
            <a:ext cx="8687333" cy="609601"/>
          </a:xfrm>
        </p:spPr>
        <p:txBody>
          <a:bodyPr anchor="t">
            <a:normAutofit/>
          </a:bodyPr>
          <a:lstStyle>
            <a:lvl1pPr marL="0" indent="0">
              <a:spcBef>
                <a:spcPts val="0"/>
              </a:spcBef>
              <a:buNone/>
              <a:defRPr sz="2000" cap="all" spc="200" baseline="0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41C87-7AD9-4845-A077-840E4A0F3F06}" type="datetimeFigureOut">
              <a:rPr lang="en-US"/>
              <a:t>9/7/2026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13F82-EE5E-44EE-A61D-E31C6657F26F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618133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04781" y="1905001"/>
            <a:ext cx="4419599" cy="41148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29183" y="1905001"/>
            <a:ext cx="4419600" cy="41148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41C87-7AD9-4845-A077-840E4A0F3F06}" type="datetimeFigureOut">
              <a:rPr lang="en-US"/>
              <a:t>9/7/2026</a:t>
            </a:fld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13F82-EE5E-44EE-A61D-E31C6657F26F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253407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2411" y="1905000"/>
            <a:ext cx="4416552" cy="762000"/>
          </a:xfrm>
        </p:spPr>
        <p:txBody>
          <a:bodyPr anchor="ctr">
            <a:noAutofit/>
          </a:bodyPr>
          <a:lstStyle>
            <a:lvl1pPr marL="0" indent="0">
              <a:spcBef>
                <a:spcPts val="0"/>
              </a:spcBef>
              <a:buNone/>
              <a:defRPr sz="2000" b="0" cap="all" spc="20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22411" y="2743201"/>
            <a:ext cx="4416552" cy="32766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49861" y="1905000"/>
            <a:ext cx="4416552" cy="762000"/>
          </a:xfrm>
        </p:spPr>
        <p:txBody>
          <a:bodyPr anchor="ctr">
            <a:noAutofit/>
          </a:bodyPr>
          <a:lstStyle>
            <a:lvl1pPr marL="0" indent="0">
              <a:spcBef>
                <a:spcPts val="0"/>
              </a:spcBef>
              <a:buNone/>
              <a:defRPr sz="2000" b="0" cap="all" spc="20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49861" y="2743201"/>
            <a:ext cx="4416552" cy="32766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41C87-7AD9-4845-A077-840E4A0F3F06}" type="datetimeFigureOut">
              <a:rPr lang="en-US"/>
              <a:t>9/7/2026</a:t>
            </a:fld>
            <a:endParaRPr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13F82-EE5E-44EE-A61D-E31C6657F26F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084195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41C87-7AD9-4845-A077-840E4A0F3F06}" type="datetimeFigureOut">
              <a:rPr lang="en-US"/>
              <a:t>9/7/2026</a:t>
            </a:fld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13F82-EE5E-44EE-A61D-E31C6657F26F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266314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41C87-7AD9-4845-A077-840E4A0F3F06}" type="datetimeFigureOut">
              <a:rPr lang="en-US"/>
              <a:t>9/7/2026</a:t>
            </a:fld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13F82-EE5E-44EE-A61D-E31C6657F26F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075401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55604" y="1905000"/>
            <a:ext cx="3596607" cy="2667000"/>
          </a:xfrm>
        </p:spPr>
        <p:txBody>
          <a:bodyPr anchor="b">
            <a:noAutofit/>
          </a:bodyPr>
          <a:lstStyle>
            <a:lvl1pPr algn="l">
              <a:lnSpc>
                <a:spcPct val="90000"/>
              </a:lnSpc>
              <a:defRPr sz="3600" b="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65213" y="4648200"/>
            <a:ext cx="3581399" cy="13716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spcBef>
                <a:spcPts val="1200"/>
              </a:spcBef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51414" y="685800"/>
            <a:ext cx="6400800" cy="53340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41C87-7AD9-4845-A077-840E4A0F3F06}" type="datetimeFigureOut">
              <a:rPr lang="en-US"/>
              <a:t>9/7/2026</a:t>
            </a:fld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13F82-EE5E-44EE-A61D-E31C6657F26F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449815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55604" y="1905000"/>
            <a:ext cx="3596607" cy="2667000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3600" b="0" i="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65213" y="4648200"/>
            <a:ext cx="3581399" cy="13716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spcBef>
                <a:spcPts val="1200"/>
              </a:spcBef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Picture Placeholder 2" descr="An empty placeholder to add an image. Click on the placeholder and select the image that you wish to add."/>
          <p:cNvSpPr>
            <a:spLocks noGrp="1"/>
          </p:cNvSpPr>
          <p:nvPr>
            <p:ph type="pic" idx="1"/>
          </p:nvPr>
        </p:nvSpPr>
        <p:spPr>
          <a:xfrm>
            <a:off x="4951414" y="685800"/>
            <a:ext cx="6400799" cy="5334000"/>
          </a:xfrm>
          <a:solidFill>
            <a:schemeClr val="bg2"/>
          </a:solidFill>
          <a:ln w="76200">
            <a:solidFill>
              <a:schemeClr val="tx1"/>
            </a:solidFill>
            <a:miter lim="800000"/>
          </a:ln>
        </p:spPr>
        <p:txBody>
          <a:bodyPr>
            <a:normAutofit/>
          </a:bodyPr>
          <a:lstStyle>
            <a:lvl1pPr marL="0" indent="0" algn="ctr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41C87-7AD9-4845-A077-840E4A0F3F06}" type="datetimeFigureOut">
              <a:rPr lang="en-US"/>
              <a:pPr/>
              <a:t>9/7/2026</a:t>
            </a:fld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13F82-EE5E-44EE-A61D-E31C6657F26F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491721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41C87-7AD9-4845-A077-840E4A0F3F06}" type="datetimeFigureOut">
              <a:rPr lang="en-US"/>
              <a:t>9/7/2026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13F82-EE5E-44EE-A61D-E31C6657F26F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600953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142412" y="381001"/>
            <a:ext cx="1524001" cy="5638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522412" y="381001"/>
            <a:ext cx="7391399" cy="5638800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41C87-7AD9-4845-A077-840E4A0F3F06}" type="datetimeFigureOut">
              <a:rPr lang="en-US"/>
              <a:t>9/7/2026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13F82-EE5E-44EE-A61D-E31C6657F26F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790354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522413" y="381000"/>
            <a:ext cx="9144001" cy="13716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2413" y="1904999"/>
            <a:ext cx="9134391" cy="41148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522413" y="6400800"/>
            <a:ext cx="6553199" cy="2762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26422" y="6400800"/>
            <a:ext cx="1449389" cy="2762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F41C87-7AD9-4845-A077-840E4A0F3F06}" type="datetimeFigureOut">
              <a:rPr lang="en-US" smtClean="0"/>
              <a:pPr/>
              <a:t>9/7/2026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828211" y="6400800"/>
            <a:ext cx="838201" cy="2762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013F82-EE5E-44EE-A61D-E31C6657F26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305999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spc="1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3838" indent="-223838" algn="l" defTabSz="914400" rtl="0" eaLnBrk="1" latinLnBrk="0" hangingPunct="1">
        <a:lnSpc>
          <a:spcPct val="90000"/>
        </a:lnSpc>
        <a:spcBef>
          <a:spcPts val="1800"/>
        </a:spcBef>
        <a:buClr>
          <a:schemeClr val="accent1"/>
        </a:buClr>
        <a:buSzPct val="100000"/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463550" indent="-231775" algn="l" defTabSz="914400" rtl="0" eaLnBrk="1" latinLnBrk="0" hangingPunct="1">
        <a:lnSpc>
          <a:spcPct val="90000"/>
        </a:lnSpc>
        <a:spcBef>
          <a:spcPts val="1200"/>
        </a:spcBef>
        <a:buClr>
          <a:schemeClr val="accent1"/>
        </a:buClr>
        <a:buSzPct val="10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682625" indent="-219075" algn="l" defTabSz="914400" rtl="0" eaLnBrk="1" latinLnBrk="0" hangingPunct="1">
        <a:lnSpc>
          <a:spcPct val="90000"/>
        </a:lnSpc>
        <a:spcBef>
          <a:spcPts val="600"/>
        </a:spcBef>
        <a:buClr>
          <a:schemeClr val="accent1"/>
        </a:buClr>
        <a:buSzPct val="100000"/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857250" indent="-174625" algn="l" defTabSz="914400" rtl="0" eaLnBrk="1" latinLnBrk="0" hangingPunct="1">
        <a:lnSpc>
          <a:spcPct val="90000"/>
        </a:lnSpc>
        <a:spcBef>
          <a:spcPts val="600"/>
        </a:spcBef>
        <a:buClr>
          <a:schemeClr val="accent1"/>
        </a:buClr>
        <a:buSzPct val="100000"/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030288" indent="-173038" algn="l" defTabSz="914400" rtl="0" eaLnBrk="1" latinLnBrk="0" hangingPunct="1">
        <a:lnSpc>
          <a:spcPct val="90000"/>
        </a:lnSpc>
        <a:spcBef>
          <a:spcPts val="600"/>
        </a:spcBef>
        <a:buClr>
          <a:schemeClr val="accent1"/>
        </a:buClr>
        <a:buSzPct val="100000"/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207008" indent="-173736" algn="l" defTabSz="914400" rtl="0" eaLnBrk="1" latinLnBrk="0" hangingPunct="1">
        <a:spcBef>
          <a:spcPts val="6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380744" indent="-173736" algn="l" defTabSz="914400" rtl="0" eaLnBrk="1" latinLnBrk="0" hangingPunct="1">
        <a:spcBef>
          <a:spcPts val="6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554480" indent="-173736" algn="l" defTabSz="914400" rtl="0" eaLnBrk="1" latinLnBrk="0" hangingPunct="1">
        <a:spcBef>
          <a:spcPts val="6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1728216" indent="-173736" algn="l" defTabSz="914400" rtl="0" eaLnBrk="1" latinLnBrk="0" hangingPunct="1">
        <a:spcBef>
          <a:spcPts val="6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839" userDrawn="1">
          <p15:clr>
            <a:srgbClr val="F26B43"/>
          </p15:clr>
        </p15:guide>
        <p15:guide id="2" orient="horz" pos="216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7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ctrTitle"/>
          </p:nvPr>
        </p:nvSpPr>
        <p:spPr>
          <a:xfrm>
            <a:off x="1065214" y="1828800"/>
            <a:ext cx="8229600" cy="1744216"/>
          </a:xfrm>
        </p:spPr>
        <p:txBody>
          <a:bodyPr anchor="t"/>
          <a:lstStyle/>
          <a:p>
            <a:r>
              <a:rPr lang="en-US" dirty="0"/>
              <a:t>The Model That Never Saw Your Data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065213" y="3717032"/>
            <a:ext cx="8229600" cy="1219200"/>
          </a:xfrm>
        </p:spPr>
        <p:txBody>
          <a:bodyPr/>
          <a:lstStyle/>
          <a:p>
            <a:r>
              <a:rPr lang="en-US" dirty="0"/>
              <a:t>Modern AI Tools for Air-Quality Time Series</a:t>
            </a:r>
            <a:endParaRPr lang="hr-HR" dirty="0"/>
          </a:p>
          <a:p>
            <a:endParaRPr lang="hr-HR" dirty="0"/>
          </a:p>
          <a:p>
            <a:r>
              <a:rPr lang="hr-HR" sz="1600" dirty="0"/>
              <a:t>Sarajevo summer school </a:t>
            </a:r>
          </a:p>
          <a:p>
            <a:r>
              <a:rPr lang="hr-HR" sz="1600" dirty="0"/>
              <a:t>7-9 September 2026</a:t>
            </a:r>
            <a:endParaRPr lang="en-US" sz="1600" dirty="0"/>
          </a:p>
        </p:txBody>
      </p:sp>
      <p:sp>
        <p:nvSpPr>
          <p:cNvPr id="5" name="Subtitle 3">
            <a:extLst>
              <a:ext uri="{FF2B5EF4-FFF2-40B4-BE49-F238E27FC236}">
                <a16:creationId xmlns:a16="http://schemas.microsoft.com/office/drawing/2014/main" id="{F1C3481D-14F9-4686-A05B-B1052A5440AA}"/>
              </a:ext>
            </a:extLst>
          </p:cNvPr>
          <p:cNvSpPr txBox="1">
            <a:spLocks/>
          </p:cNvSpPr>
          <p:nvPr/>
        </p:nvSpPr>
        <p:spPr>
          <a:xfrm>
            <a:off x="1065213" y="5638800"/>
            <a:ext cx="8229600" cy="110256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Clr>
                <a:schemeClr val="accent1"/>
              </a:buClr>
              <a:buSzPct val="100000"/>
              <a:buFont typeface="Arial" pitchFamily="34" charset="0"/>
              <a:buNone/>
              <a:defRPr sz="2000" kern="1200" cap="all" spc="200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/>
              </a:buClr>
              <a:buSzPct val="100000"/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/>
              </a:buClr>
              <a:buSzPct val="100000"/>
              <a:buFont typeface="Arial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/>
              </a:buClr>
              <a:buSzPct val="100000"/>
              <a:buFont typeface="Arial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/>
              </a:buClr>
              <a:buSzPct val="100000"/>
              <a:buFont typeface="Arial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ts val="600"/>
              </a:spcBef>
              <a:buClr>
                <a:schemeClr val="accent1"/>
              </a:buClr>
              <a:buFont typeface="Arial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ts val="600"/>
              </a:spcBef>
              <a:buClr>
                <a:schemeClr val="accent1"/>
              </a:buClr>
              <a:buFont typeface="Arial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ts val="600"/>
              </a:spcBef>
              <a:buClr>
                <a:schemeClr val="accent1"/>
              </a:buClr>
              <a:buFont typeface="Arial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ts val="600"/>
              </a:spcBef>
              <a:buClr>
                <a:schemeClr val="accent1"/>
              </a:buClr>
              <a:buFont typeface="Arial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hr-HR" sz="1400" dirty="0">
                <a:solidFill>
                  <a:schemeClr val="tx1"/>
                </a:solidFill>
              </a:rPr>
              <a:t>Emmanuel Karlo Nyarko</a:t>
            </a:r>
          </a:p>
          <a:p>
            <a:r>
              <a:rPr lang="en-US" sz="1200" i="1" dirty="0">
                <a:solidFill>
                  <a:schemeClr val="tx1"/>
                </a:solidFill>
              </a:rPr>
              <a:t>Faculty of Electrical Engineering, Computer Science and Information Technology Osijek</a:t>
            </a:r>
            <a:endParaRPr lang="it-IT" sz="1200" i="1" dirty="0">
              <a:solidFill>
                <a:schemeClr val="tx1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70626F7-D4DB-4255-8C5E-EE8369DF5B7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1764" y="5635515"/>
            <a:ext cx="669942" cy="90807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155BBEA-CB49-CB09-EDF8-EB18132E6C3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748" y="116632"/>
            <a:ext cx="1222485" cy="1222485"/>
          </a:xfrm>
          <a:prstGeom prst="rect">
            <a:avLst/>
          </a:prstGeom>
        </p:spPr>
      </p:pic>
      <p:pic>
        <p:nvPicPr>
          <p:cNvPr id="1026" name="Picture 2" descr="Blue text on a white background&#10;&#10;AI-generated content may be incorrect.">
            <a:extLst>
              <a:ext uri="{FF2B5EF4-FFF2-40B4-BE49-F238E27FC236}">
                <a16:creationId xmlns:a16="http://schemas.microsoft.com/office/drawing/2014/main" id="{785037E6-24BF-8E41-DCD0-891954F656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12432" y="116632"/>
            <a:ext cx="3149600" cy="635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089201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By the end of the hour, you'll be able to…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F0DFB86-B0E1-4BEB-BB87-A1C4E21BED2D}"/>
              </a:ext>
            </a:extLst>
          </p:cNvPr>
          <p:cNvGrpSpPr/>
          <p:nvPr/>
        </p:nvGrpSpPr>
        <p:grpSpPr>
          <a:xfrm>
            <a:off x="896112" y="1988840"/>
            <a:ext cx="4874519" cy="1216136"/>
            <a:chOff x="896112" y="1988840"/>
            <a:chExt cx="4874519" cy="1216136"/>
          </a:xfrm>
        </p:grpSpPr>
        <p:sp>
          <p:nvSpPr>
            <p:cNvPr id="7" name="Shape 3">
              <a:extLst>
                <a:ext uri="{FF2B5EF4-FFF2-40B4-BE49-F238E27FC236}">
                  <a16:creationId xmlns:a16="http://schemas.microsoft.com/office/drawing/2014/main" id="{118A1B70-2EF3-43A4-B25C-C86EE7524B60}"/>
                </a:ext>
              </a:extLst>
            </p:cNvPr>
            <p:cNvSpPr/>
            <p:nvPr/>
          </p:nvSpPr>
          <p:spPr>
            <a:xfrm>
              <a:off x="896112" y="2240280"/>
              <a:ext cx="640080" cy="640080"/>
            </a:xfrm>
            <a:prstGeom prst="ellipse">
              <a:avLst/>
            </a:prstGeom>
            <a:solidFill>
              <a:srgbClr val="00B4D8"/>
            </a:solidFill>
            <a:ln/>
          </p:spPr>
        </p:sp>
        <p:sp>
          <p:nvSpPr>
            <p:cNvPr id="8" name="Text 4">
              <a:extLst>
                <a:ext uri="{FF2B5EF4-FFF2-40B4-BE49-F238E27FC236}">
                  <a16:creationId xmlns:a16="http://schemas.microsoft.com/office/drawing/2014/main" id="{A35588A8-8F70-48C7-8677-003B046F01D1}"/>
                </a:ext>
              </a:extLst>
            </p:cNvPr>
            <p:cNvSpPr/>
            <p:nvPr/>
          </p:nvSpPr>
          <p:spPr>
            <a:xfrm>
              <a:off x="896112" y="2240280"/>
              <a:ext cx="640080" cy="6400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400" b="1" dirty="0">
                  <a:solidFill>
                    <a:srgbClr val="FFFFFF"/>
                  </a:solidFill>
                  <a:ea typeface="Calibri" pitchFamily="34" charset="-122"/>
                  <a:cs typeface="Calibri" pitchFamily="34" charset="-120"/>
                </a:rPr>
                <a:t>1</a:t>
              </a:r>
              <a:endParaRPr lang="en-US" sz="2400" dirty="0"/>
            </a:p>
          </p:txBody>
        </p:sp>
        <p:sp>
          <p:nvSpPr>
            <p:cNvPr id="9" name="Text 5">
              <a:extLst>
                <a:ext uri="{FF2B5EF4-FFF2-40B4-BE49-F238E27FC236}">
                  <a16:creationId xmlns:a16="http://schemas.microsoft.com/office/drawing/2014/main" id="{D3B19CB1-D0B2-485A-BDA6-CE795159BD78}"/>
                </a:ext>
              </a:extLst>
            </p:cNvPr>
            <p:cNvSpPr/>
            <p:nvPr/>
          </p:nvSpPr>
          <p:spPr>
            <a:xfrm>
              <a:off x="1701551" y="1988840"/>
              <a:ext cx="4069080" cy="1216136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2400" b="1" dirty="0">
                  <a:ea typeface="Calibri" pitchFamily="34" charset="-122"/>
                  <a:cs typeface="Calibri" pitchFamily="34" charset="-120"/>
                </a:rPr>
                <a:t>Explain a ‘foundation model</a:t>
              </a:r>
              <a:r>
                <a:rPr lang="en-US" sz="2400" dirty="0">
                  <a:ea typeface="Calibri" pitchFamily="34" charset="-122"/>
                  <a:cs typeface="Calibri" pitchFamily="34" charset="-120"/>
                </a:rPr>
                <a:t>’</a:t>
              </a:r>
              <a:endParaRPr lang="hr-HR" sz="2400" dirty="0">
                <a:ea typeface="Calibri" pitchFamily="34" charset="-122"/>
                <a:cs typeface="Calibri" pitchFamily="34" charset="-120"/>
              </a:endParaRPr>
            </a:p>
            <a:p>
              <a:r>
                <a:rPr lang="en-US" sz="2000" dirty="0">
                  <a:ea typeface="Calibri" pitchFamily="34" charset="-122"/>
                  <a:cs typeface="Calibri" pitchFamily="34" charset="-120"/>
                </a:rPr>
                <a:t>and why it can forecast data it has never seen</a:t>
              </a:r>
              <a:r>
                <a:rPr lang="hr-HR" sz="2000" dirty="0">
                  <a:ea typeface="Calibri" pitchFamily="34" charset="-122"/>
                  <a:cs typeface="Calibri" pitchFamily="34" charset="-120"/>
                </a:rPr>
                <a:t>,</a:t>
              </a:r>
              <a:r>
                <a:rPr lang="en-US" sz="2000" dirty="0">
                  <a:ea typeface="Calibri" pitchFamily="34" charset="-122"/>
                  <a:cs typeface="Calibri" pitchFamily="34" charset="-120"/>
                </a:rPr>
                <a:t> no training needed.</a:t>
              </a:r>
              <a:endParaRPr lang="en-US" sz="2000" dirty="0"/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D9BF81C9-ADFC-48F1-B621-E72C7BB02555}"/>
              </a:ext>
            </a:extLst>
          </p:cNvPr>
          <p:cNvGrpSpPr/>
          <p:nvPr/>
        </p:nvGrpSpPr>
        <p:grpSpPr>
          <a:xfrm>
            <a:off x="6238428" y="1988840"/>
            <a:ext cx="4874519" cy="1216136"/>
            <a:chOff x="6238428" y="1988840"/>
            <a:chExt cx="4874519" cy="1216136"/>
          </a:xfrm>
        </p:grpSpPr>
        <p:sp>
          <p:nvSpPr>
            <p:cNvPr id="21" name="Shape 3">
              <a:extLst>
                <a:ext uri="{FF2B5EF4-FFF2-40B4-BE49-F238E27FC236}">
                  <a16:creationId xmlns:a16="http://schemas.microsoft.com/office/drawing/2014/main" id="{47E44E44-734A-424A-AA0C-80EB9E17635D}"/>
                </a:ext>
              </a:extLst>
            </p:cNvPr>
            <p:cNvSpPr/>
            <p:nvPr/>
          </p:nvSpPr>
          <p:spPr>
            <a:xfrm>
              <a:off x="6238428" y="2240280"/>
              <a:ext cx="640080" cy="640080"/>
            </a:xfrm>
            <a:prstGeom prst="ellipse">
              <a:avLst/>
            </a:prstGeom>
            <a:solidFill>
              <a:srgbClr val="92D050"/>
            </a:solidFill>
            <a:ln/>
          </p:spPr>
        </p:sp>
        <p:sp>
          <p:nvSpPr>
            <p:cNvPr id="22" name="Text 4">
              <a:extLst>
                <a:ext uri="{FF2B5EF4-FFF2-40B4-BE49-F238E27FC236}">
                  <a16:creationId xmlns:a16="http://schemas.microsoft.com/office/drawing/2014/main" id="{0F2020DE-3DDE-4C5D-B77D-7751A0A67CF6}"/>
                </a:ext>
              </a:extLst>
            </p:cNvPr>
            <p:cNvSpPr/>
            <p:nvPr/>
          </p:nvSpPr>
          <p:spPr>
            <a:xfrm>
              <a:off x="6238428" y="2240280"/>
              <a:ext cx="640080" cy="6400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hr-HR" sz="2400" b="1" dirty="0">
                  <a:solidFill>
                    <a:srgbClr val="FFFFFF"/>
                  </a:solidFill>
                  <a:ea typeface="Calibri" pitchFamily="34" charset="-122"/>
                  <a:cs typeface="Calibri" pitchFamily="34" charset="-120"/>
                </a:rPr>
                <a:t>2</a:t>
              </a:r>
              <a:endParaRPr lang="en-US" sz="2400" dirty="0"/>
            </a:p>
          </p:txBody>
        </p:sp>
        <p:sp>
          <p:nvSpPr>
            <p:cNvPr id="23" name="Text 5">
              <a:extLst>
                <a:ext uri="{FF2B5EF4-FFF2-40B4-BE49-F238E27FC236}">
                  <a16:creationId xmlns:a16="http://schemas.microsoft.com/office/drawing/2014/main" id="{240AF34C-3A1F-4BAC-A2CE-C1E69C715175}"/>
                </a:ext>
              </a:extLst>
            </p:cNvPr>
            <p:cNvSpPr/>
            <p:nvPr/>
          </p:nvSpPr>
          <p:spPr>
            <a:xfrm>
              <a:off x="7043867" y="1988840"/>
              <a:ext cx="4069080" cy="1216136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hr-HR" sz="2400" b="1" dirty="0">
                  <a:ea typeface="Calibri" pitchFamily="34" charset="-122"/>
                  <a:cs typeface="Calibri" pitchFamily="34" charset="-120"/>
                </a:rPr>
                <a:t>Read a real forecast</a:t>
              </a:r>
              <a:endParaRPr lang="hr-HR" sz="2400" dirty="0">
                <a:ea typeface="Calibri" pitchFamily="34" charset="-122"/>
                <a:cs typeface="Calibri" pitchFamily="34" charset="-120"/>
              </a:endParaRPr>
            </a:p>
            <a:p>
              <a:r>
                <a:rPr lang="en-US" sz="2000" dirty="0">
                  <a:ea typeface="Calibri" pitchFamily="34" charset="-122"/>
                  <a:cs typeface="Calibri" pitchFamily="34" charset="-120"/>
                </a:rPr>
                <a:t>of PM2.5, including the uncertainty (not just a single line).</a:t>
              </a: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E419EEBD-A996-43F7-AE9E-30748D5C658C}"/>
              </a:ext>
            </a:extLst>
          </p:cNvPr>
          <p:cNvGrpSpPr/>
          <p:nvPr/>
        </p:nvGrpSpPr>
        <p:grpSpPr>
          <a:xfrm>
            <a:off x="896112" y="4149080"/>
            <a:ext cx="4874519" cy="1216136"/>
            <a:chOff x="896112" y="1988840"/>
            <a:chExt cx="4874519" cy="1216136"/>
          </a:xfrm>
        </p:grpSpPr>
        <p:sp>
          <p:nvSpPr>
            <p:cNvPr id="25" name="Shape 3">
              <a:extLst>
                <a:ext uri="{FF2B5EF4-FFF2-40B4-BE49-F238E27FC236}">
                  <a16:creationId xmlns:a16="http://schemas.microsoft.com/office/drawing/2014/main" id="{1917F243-A564-438C-B84C-8F6E3C4F8823}"/>
                </a:ext>
              </a:extLst>
            </p:cNvPr>
            <p:cNvSpPr/>
            <p:nvPr/>
          </p:nvSpPr>
          <p:spPr>
            <a:xfrm>
              <a:off x="896112" y="2240280"/>
              <a:ext cx="640080" cy="640080"/>
            </a:xfrm>
            <a:prstGeom prst="ellipse">
              <a:avLst/>
            </a:prstGeom>
            <a:solidFill>
              <a:srgbClr val="FFC000"/>
            </a:solidFill>
            <a:ln/>
          </p:spPr>
        </p:sp>
        <p:sp>
          <p:nvSpPr>
            <p:cNvPr id="26" name="Text 4">
              <a:extLst>
                <a:ext uri="{FF2B5EF4-FFF2-40B4-BE49-F238E27FC236}">
                  <a16:creationId xmlns:a16="http://schemas.microsoft.com/office/drawing/2014/main" id="{C67DDACA-6523-42DA-8B00-ECD43CC8A990}"/>
                </a:ext>
              </a:extLst>
            </p:cNvPr>
            <p:cNvSpPr/>
            <p:nvPr/>
          </p:nvSpPr>
          <p:spPr>
            <a:xfrm>
              <a:off x="896112" y="2240280"/>
              <a:ext cx="640080" cy="6400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hr-HR" sz="2400" b="1" dirty="0">
                  <a:solidFill>
                    <a:srgbClr val="FFFFFF"/>
                  </a:solidFill>
                  <a:ea typeface="Calibri" pitchFamily="34" charset="-122"/>
                  <a:cs typeface="Calibri" pitchFamily="34" charset="-120"/>
                </a:rPr>
                <a:t>3</a:t>
              </a:r>
              <a:endParaRPr lang="en-US" sz="2400" dirty="0"/>
            </a:p>
          </p:txBody>
        </p:sp>
        <p:sp>
          <p:nvSpPr>
            <p:cNvPr id="27" name="Text 5">
              <a:extLst>
                <a:ext uri="{FF2B5EF4-FFF2-40B4-BE49-F238E27FC236}">
                  <a16:creationId xmlns:a16="http://schemas.microsoft.com/office/drawing/2014/main" id="{0D75ED8C-4E84-42E9-8090-829649302DE5}"/>
                </a:ext>
              </a:extLst>
            </p:cNvPr>
            <p:cNvSpPr/>
            <p:nvPr/>
          </p:nvSpPr>
          <p:spPr>
            <a:xfrm>
              <a:off x="1701551" y="1988840"/>
              <a:ext cx="4069080" cy="1216136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r>
                <a:rPr lang="en-US" sz="2400" b="1" dirty="0">
                  <a:ea typeface="Calibri" pitchFamily="34" charset="-122"/>
                  <a:cs typeface="Calibri" pitchFamily="34" charset="-120"/>
                </a:rPr>
                <a:t>Recognize two more tricks</a:t>
              </a:r>
            </a:p>
            <a:p>
              <a:r>
                <a:rPr lang="en-US" sz="2000" dirty="0">
                  <a:ea typeface="Calibri" pitchFamily="34" charset="-122"/>
                  <a:cs typeface="Calibri" pitchFamily="34" charset="-120"/>
                </a:rPr>
                <a:t>smart gap-filling in time, and filling the map between stations.</a:t>
              </a:r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90700B6F-020F-47B7-9E7C-5F883278B665}"/>
              </a:ext>
            </a:extLst>
          </p:cNvPr>
          <p:cNvGrpSpPr/>
          <p:nvPr/>
        </p:nvGrpSpPr>
        <p:grpSpPr>
          <a:xfrm>
            <a:off x="6238428" y="4112492"/>
            <a:ext cx="4874519" cy="1216136"/>
            <a:chOff x="896112" y="1988840"/>
            <a:chExt cx="4874519" cy="1216136"/>
          </a:xfrm>
        </p:grpSpPr>
        <p:sp>
          <p:nvSpPr>
            <p:cNvPr id="29" name="Shape 3">
              <a:extLst>
                <a:ext uri="{FF2B5EF4-FFF2-40B4-BE49-F238E27FC236}">
                  <a16:creationId xmlns:a16="http://schemas.microsoft.com/office/drawing/2014/main" id="{C4C08BAE-25E3-4CF9-AFED-DFBE6CFD3C72}"/>
                </a:ext>
              </a:extLst>
            </p:cNvPr>
            <p:cNvSpPr/>
            <p:nvPr/>
          </p:nvSpPr>
          <p:spPr>
            <a:xfrm>
              <a:off x="896112" y="2240280"/>
              <a:ext cx="640080" cy="640080"/>
            </a:xfrm>
            <a:prstGeom prst="ellipse">
              <a:avLst/>
            </a:prstGeom>
            <a:solidFill>
              <a:srgbClr val="7030A0"/>
            </a:solidFill>
            <a:ln/>
          </p:spPr>
        </p:sp>
        <p:sp>
          <p:nvSpPr>
            <p:cNvPr id="30" name="Text 4">
              <a:extLst>
                <a:ext uri="{FF2B5EF4-FFF2-40B4-BE49-F238E27FC236}">
                  <a16:creationId xmlns:a16="http://schemas.microsoft.com/office/drawing/2014/main" id="{B67610A0-1C86-44DF-A762-E1BB8E77AB88}"/>
                </a:ext>
              </a:extLst>
            </p:cNvPr>
            <p:cNvSpPr/>
            <p:nvPr/>
          </p:nvSpPr>
          <p:spPr>
            <a:xfrm>
              <a:off x="896112" y="2240280"/>
              <a:ext cx="640080" cy="6400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hr-HR" sz="2400" b="1" dirty="0">
                  <a:solidFill>
                    <a:srgbClr val="FFFFFF"/>
                  </a:solidFill>
                  <a:ea typeface="Calibri" pitchFamily="34" charset="-122"/>
                  <a:cs typeface="Calibri" pitchFamily="34" charset="-120"/>
                </a:rPr>
                <a:t>4</a:t>
              </a:r>
              <a:endParaRPr lang="en-US" sz="2400" dirty="0"/>
            </a:p>
          </p:txBody>
        </p:sp>
        <p:sp>
          <p:nvSpPr>
            <p:cNvPr id="31" name="Text 5">
              <a:extLst>
                <a:ext uri="{FF2B5EF4-FFF2-40B4-BE49-F238E27FC236}">
                  <a16:creationId xmlns:a16="http://schemas.microsoft.com/office/drawing/2014/main" id="{520476B9-8CA7-43C5-B693-9A02E2272AB7}"/>
                </a:ext>
              </a:extLst>
            </p:cNvPr>
            <p:cNvSpPr/>
            <p:nvPr/>
          </p:nvSpPr>
          <p:spPr>
            <a:xfrm>
              <a:off x="1701551" y="1988840"/>
              <a:ext cx="4069080" cy="1216136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r>
                <a:rPr lang="en-US" sz="2400" b="1" dirty="0">
                  <a:ea typeface="Calibri" pitchFamily="34" charset="-122"/>
                  <a:cs typeface="Calibri" pitchFamily="34" charset="-120"/>
                </a:rPr>
                <a:t>Know what to try and trust</a:t>
              </a:r>
            </a:p>
            <a:p>
              <a:r>
                <a:rPr lang="en-US" sz="2000" dirty="0">
                  <a:ea typeface="Calibri" pitchFamily="34" charset="-122"/>
                  <a:cs typeface="Calibri" pitchFamily="34" charset="-120"/>
                </a:rPr>
                <a:t>which tools are ready to use, and where to stay skeptical.</a:t>
              </a:r>
            </a:p>
          </p:txBody>
        </p:sp>
      </p:grpSp>
      <p:sp>
        <p:nvSpPr>
          <p:cNvPr id="33" name="Rectangle 32">
            <a:extLst>
              <a:ext uri="{FF2B5EF4-FFF2-40B4-BE49-F238E27FC236}">
                <a16:creationId xmlns:a16="http://schemas.microsoft.com/office/drawing/2014/main" id="{142A2E06-CA15-4578-AD16-A7AE91C51AA1}"/>
              </a:ext>
            </a:extLst>
          </p:cNvPr>
          <p:cNvSpPr/>
          <p:nvPr/>
        </p:nvSpPr>
        <p:spPr>
          <a:xfrm>
            <a:off x="2044215" y="5733256"/>
            <a:ext cx="810039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i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If you know what a pollution time series looks like, you're qualified for this.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91325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Three words we'll use a lot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CABF9A07-AD16-49C6-ACAF-0AE51106C9CF}"/>
              </a:ext>
            </a:extLst>
          </p:cNvPr>
          <p:cNvGrpSpPr/>
          <p:nvPr/>
        </p:nvGrpSpPr>
        <p:grpSpPr>
          <a:xfrm>
            <a:off x="333772" y="1988840"/>
            <a:ext cx="3758140" cy="1216136"/>
            <a:chOff x="896112" y="1988840"/>
            <a:chExt cx="3758140" cy="1216136"/>
          </a:xfrm>
        </p:grpSpPr>
        <p:sp>
          <p:nvSpPr>
            <p:cNvPr id="7" name="Shape 3">
              <a:extLst>
                <a:ext uri="{FF2B5EF4-FFF2-40B4-BE49-F238E27FC236}">
                  <a16:creationId xmlns:a16="http://schemas.microsoft.com/office/drawing/2014/main" id="{118A1B70-2EF3-43A4-B25C-C86EE7524B60}"/>
                </a:ext>
              </a:extLst>
            </p:cNvPr>
            <p:cNvSpPr/>
            <p:nvPr/>
          </p:nvSpPr>
          <p:spPr>
            <a:xfrm>
              <a:off x="896112" y="2240280"/>
              <a:ext cx="640080" cy="640080"/>
            </a:xfrm>
            <a:prstGeom prst="ellipse">
              <a:avLst/>
            </a:prstGeom>
            <a:solidFill>
              <a:srgbClr val="00B4D8"/>
            </a:solidFill>
            <a:ln/>
          </p:spPr>
        </p:sp>
        <p:sp>
          <p:nvSpPr>
            <p:cNvPr id="8" name="Text 4">
              <a:extLst>
                <a:ext uri="{FF2B5EF4-FFF2-40B4-BE49-F238E27FC236}">
                  <a16:creationId xmlns:a16="http://schemas.microsoft.com/office/drawing/2014/main" id="{A35588A8-8F70-48C7-8677-003B046F01D1}"/>
                </a:ext>
              </a:extLst>
            </p:cNvPr>
            <p:cNvSpPr/>
            <p:nvPr/>
          </p:nvSpPr>
          <p:spPr>
            <a:xfrm>
              <a:off x="896112" y="2240280"/>
              <a:ext cx="640080" cy="6400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400" b="1" dirty="0">
                  <a:solidFill>
                    <a:srgbClr val="FFFFFF"/>
                  </a:solidFill>
                  <a:ea typeface="Calibri" pitchFamily="34" charset="-122"/>
                  <a:cs typeface="Calibri" pitchFamily="34" charset="-120"/>
                </a:rPr>
                <a:t>1</a:t>
              </a:r>
              <a:endParaRPr lang="en-US" sz="2400" dirty="0"/>
            </a:p>
          </p:txBody>
        </p:sp>
        <p:sp>
          <p:nvSpPr>
            <p:cNvPr id="9" name="Text 5">
              <a:extLst>
                <a:ext uri="{FF2B5EF4-FFF2-40B4-BE49-F238E27FC236}">
                  <a16:creationId xmlns:a16="http://schemas.microsoft.com/office/drawing/2014/main" id="{D3B19CB1-D0B2-485A-BDA6-CE795159BD78}"/>
                </a:ext>
              </a:extLst>
            </p:cNvPr>
            <p:cNvSpPr/>
            <p:nvPr/>
          </p:nvSpPr>
          <p:spPr>
            <a:xfrm>
              <a:off x="1701551" y="1988840"/>
              <a:ext cx="2952701" cy="1216136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hr-HR" sz="2400" b="1" dirty="0">
                  <a:ea typeface="Calibri" pitchFamily="34" charset="-122"/>
                  <a:cs typeface="Calibri" pitchFamily="34" charset="-120"/>
                </a:rPr>
                <a:t>Time series</a:t>
              </a:r>
              <a:endParaRPr lang="hr-HR" sz="2400" dirty="0">
                <a:ea typeface="Calibri" pitchFamily="34" charset="-122"/>
                <a:cs typeface="Calibri" pitchFamily="34" charset="-120"/>
              </a:endParaRPr>
            </a:p>
            <a:p>
              <a:r>
                <a:rPr lang="en-US" sz="1600" dirty="0">
                  <a:ea typeface="Calibri" pitchFamily="34" charset="-122"/>
                  <a:cs typeface="Calibri" pitchFamily="34" charset="-120"/>
                </a:rPr>
                <a:t>Measurements over time </a:t>
              </a:r>
              <a:endParaRPr lang="hr-HR" sz="1600" dirty="0">
                <a:ea typeface="Calibri" pitchFamily="34" charset="-122"/>
                <a:cs typeface="Calibri" pitchFamily="34" charset="-120"/>
              </a:endParaRPr>
            </a:p>
            <a:p>
              <a:r>
                <a:rPr lang="hr-HR" sz="1600" dirty="0">
                  <a:ea typeface="Calibri" pitchFamily="34" charset="-122"/>
                  <a:cs typeface="Calibri" pitchFamily="34" charset="-120"/>
                </a:rPr>
                <a:t>(</a:t>
              </a:r>
              <a:r>
                <a:rPr lang="en-US" sz="1600" dirty="0">
                  <a:ea typeface="Calibri" pitchFamily="34" charset="-122"/>
                  <a:cs typeface="Calibri" pitchFamily="34" charset="-120"/>
                </a:rPr>
                <a:t>like your hourly PM2.5 readings</a:t>
              </a:r>
              <a:r>
                <a:rPr lang="hr-HR" sz="1600" dirty="0">
                  <a:ea typeface="Calibri" pitchFamily="34" charset="-122"/>
                  <a:cs typeface="Calibri" pitchFamily="34" charset="-120"/>
                </a:rPr>
                <a:t>)</a:t>
              </a:r>
              <a:endParaRPr lang="en-US" sz="1600" dirty="0">
                <a:ea typeface="Calibri" pitchFamily="34" charset="-122"/>
                <a:cs typeface="Calibri" pitchFamily="34" charset="-120"/>
              </a:endParaRPr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C9FF7E9E-47C5-4342-9E60-1EE81A23C3F2}"/>
              </a:ext>
            </a:extLst>
          </p:cNvPr>
          <p:cNvGrpSpPr/>
          <p:nvPr/>
        </p:nvGrpSpPr>
        <p:grpSpPr>
          <a:xfrm>
            <a:off x="4256095" y="1988840"/>
            <a:ext cx="3758140" cy="1216136"/>
            <a:chOff x="896112" y="1988840"/>
            <a:chExt cx="3758140" cy="1216136"/>
          </a:xfrm>
        </p:grpSpPr>
        <p:sp>
          <p:nvSpPr>
            <p:cNvPr id="35" name="Shape 3">
              <a:extLst>
                <a:ext uri="{FF2B5EF4-FFF2-40B4-BE49-F238E27FC236}">
                  <a16:creationId xmlns:a16="http://schemas.microsoft.com/office/drawing/2014/main" id="{FD75C70F-461B-4302-BAF1-50DFF9BEC6E0}"/>
                </a:ext>
              </a:extLst>
            </p:cNvPr>
            <p:cNvSpPr/>
            <p:nvPr/>
          </p:nvSpPr>
          <p:spPr>
            <a:xfrm>
              <a:off x="896112" y="2240280"/>
              <a:ext cx="640080" cy="640080"/>
            </a:xfrm>
            <a:prstGeom prst="ellipse">
              <a:avLst/>
            </a:prstGeom>
            <a:solidFill>
              <a:srgbClr val="92D050"/>
            </a:solidFill>
            <a:ln/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6" name="Text 4">
              <a:extLst>
                <a:ext uri="{FF2B5EF4-FFF2-40B4-BE49-F238E27FC236}">
                  <a16:creationId xmlns:a16="http://schemas.microsoft.com/office/drawing/2014/main" id="{2CED537E-C43C-4A0B-AE39-971D68E9549F}"/>
                </a:ext>
              </a:extLst>
            </p:cNvPr>
            <p:cNvSpPr/>
            <p:nvPr/>
          </p:nvSpPr>
          <p:spPr>
            <a:xfrm>
              <a:off x="896112" y="2240280"/>
              <a:ext cx="640080" cy="6400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hr-HR" sz="2400" b="1" dirty="0">
                  <a:solidFill>
                    <a:srgbClr val="FFFFFF"/>
                  </a:solidFill>
                  <a:ea typeface="Calibri" pitchFamily="34" charset="-122"/>
                  <a:cs typeface="Calibri" pitchFamily="34" charset="-120"/>
                </a:rPr>
                <a:t>2</a:t>
              </a:r>
              <a:endParaRPr lang="en-US" sz="2400" dirty="0"/>
            </a:p>
          </p:txBody>
        </p:sp>
        <p:sp>
          <p:nvSpPr>
            <p:cNvPr id="37" name="Text 5">
              <a:extLst>
                <a:ext uri="{FF2B5EF4-FFF2-40B4-BE49-F238E27FC236}">
                  <a16:creationId xmlns:a16="http://schemas.microsoft.com/office/drawing/2014/main" id="{E79FC663-CEB1-43E4-9FD6-B31E23757B21}"/>
                </a:ext>
              </a:extLst>
            </p:cNvPr>
            <p:cNvSpPr/>
            <p:nvPr/>
          </p:nvSpPr>
          <p:spPr>
            <a:xfrm>
              <a:off x="1701551" y="1988840"/>
              <a:ext cx="2952701" cy="1216136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hr-HR" sz="2400" b="1" dirty="0">
                  <a:ea typeface="Calibri" pitchFamily="34" charset="-122"/>
                  <a:cs typeface="Calibri" pitchFamily="34" charset="-120"/>
                </a:rPr>
                <a:t>Forecasting</a:t>
              </a:r>
              <a:endParaRPr lang="hr-HR" sz="2400" dirty="0">
                <a:ea typeface="Calibri" pitchFamily="34" charset="-122"/>
                <a:cs typeface="Calibri" pitchFamily="34" charset="-120"/>
              </a:endParaRPr>
            </a:p>
            <a:p>
              <a:r>
                <a:rPr lang="en-US" sz="1600" dirty="0">
                  <a:ea typeface="Calibri" pitchFamily="34" charset="-122"/>
                  <a:cs typeface="Calibri" pitchFamily="34" charset="-120"/>
                </a:rPr>
                <a:t>Predicting what comes next </a:t>
              </a:r>
              <a:endParaRPr lang="hr-HR" sz="1600" dirty="0">
                <a:ea typeface="Calibri" pitchFamily="34" charset="-122"/>
                <a:cs typeface="Calibri" pitchFamily="34" charset="-120"/>
              </a:endParaRPr>
            </a:p>
            <a:p>
              <a:r>
                <a:rPr lang="hr-HR" sz="1600" dirty="0">
                  <a:ea typeface="Calibri" pitchFamily="34" charset="-122"/>
                  <a:cs typeface="Calibri" pitchFamily="34" charset="-120"/>
                </a:rPr>
                <a:t>(</a:t>
              </a:r>
              <a:r>
                <a:rPr lang="en-US" sz="1600" dirty="0">
                  <a:ea typeface="Calibri" pitchFamily="34" charset="-122"/>
                  <a:cs typeface="Calibri" pitchFamily="34" charset="-120"/>
                </a:rPr>
                <a:t>the next hours or days</a:t>
              </a:r>
              <a:r>
                <a:rPr lang="hr-HR" sz="1600" dirty="0">
                  <a:ea typeface="Calibri" pitchFamily="34" charset="-122"/>
                  <a:cs typeface="Calibri" pitchFamily="34" charset="-120"/>
                </a:rPr>
                <a:t>)</a:t>
              </a:r>
              <a:endParaRPr lang="en-US" sz="1600" dirty="0">
                <a:ea typeface="Calibri" pitchFamily="34" charset="-122"/>
                <a:cs typeface="Calibri" pitchFamily="34" charset="-120"/>
              </a:endParaRPr>
            </a:p>
          </p:txBody>
        </p: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01ECB30D-340B-4034-A06F-D035CE77BCD2}"/>
              </a:ext>
            </a:extLst>
          </p:cNvPr>
          <p:cNvGrpSpPr/>
          <p:nvPr/>
        </p:nvGrpSpPr>
        <p:grpSpPr>
          <a:xfrm>
            <a:off x="8096913" y="1988840"/>
            <a:ext cx="3758140" cy="1216136"/>
            <a:chOff x="896112" y="1988840"/>
            <a:chExt cx="3758140" cy="1216136"/>
          </a:xfrm>
        </p:grpSpPr>
        <p:sp>
          <p:nvSpPr>
            <p:cNvPr id="39" name="Shape 3">
              <a:extLst>
                <a:ext uri="{FF2B5EF4-FFF2-40B4-BE49-F238E27FC236}">
                  <a16:creationId xmlns:a16="http://schemas.microsoft.com/office/drawing/2014/main" id="{5FED33A3-EDE3-4001-8106-044B4E705528}"/>
                </a:ext>
              </a:extLst>
            </p:cNvPr>
            <p:cNvSpPr/>
            <p:nvPr/>
          </p:nvSpPr>
          <p:spPr>
            <a:xfrm>
              <a:off x="896112" y="2240280"/>
              <a:ext cx="640080" cy="640080"/>
            </a:xfrm>
            <a:prstGeom prst="ellipse">
              <a:avLst/>
            </a:prstGeom>
            <a:solidFill>
              <a:srgbClr val="FFC000"/>
            </a:solidFill>
            <a:ln/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0" name="Text 4">
              <a:extLst>
                <a:ext uri="{FF2B5EF4-FFF2-40B4-BE49-F238E27FC236}">
                  <a16:creationId xmlns:a16="http://schemas.microsoft.com/office/drawing/2014/main" id="{B669F87A-822F-4055-B7E9-713B7FD01A6A}"/>
                </a:ext>
              </a:extLst>
            </p:cNvPr>
            <p:cNvSpPr/>
            <p:nvPr/>
          </p:nvSpPr>
          <p:spPr>
            <a:xfrm>
              <a:off x="896112" y="2240280"/>
              <a:ext cx="640080" cy="6400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hr-HR" sz="2400" b="1" dirty="0">
                  <a:solidFill>
                    <a:srgbClr val="FFFFFF"/>
                  </a:solidFill>
                  <a:ea typeface="Calibri" pitchFamily="34" charset="-122"/>
                  <a:cs typeface="Calibri" pitchFamily="34" charset="-120"/>
                </a:rPr>
                <a:t>3</a:t>
              </a:r>
              <a:endParaRPr lang="en-US" sz="2400" dirty="0"/>
            </a:p>
          </p:txBody>
        </p:sp>
        <p:sp>
          <p:nvSpPr>
            <p:cNvPr id="41" name="Text 5">
              <a:extLst>
                <a:ext uri="{FF2B5EF4-FFF2-40B4-BE49-F238E27FC236}">
                  <a16:creationId xmlns:a16="http://schemas.microsoft.com/office/drawing/2014/main" id="{582C8F27-1FF6-43CA-9FAA-57753586FAF6}"/>
                </a:ext>
              </a:extLst>
            </p:cNvPr>
            <p:cNvSpPr/>
            <p:nvPr/>
          </p:nvSpPr>
          <p:spPr>
            <a:xfrm>
              <a:off x="1701551" y="1988840"/>
              <a:ext cx="2952701" cy="1216136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hr-HR" sz="2400" b="1" dirty="0">
                  <a:ea typeface="Calibri" pitchFamily="34" charset="-122"/>
                  <a:cs typeface="Calibri" pitchFamily="34" charset="-120"/>
                </a:rPr>
                <a:t>A ‘model’</a:t>
              </a:r>
              <a:endParaRPr lang="hr-HR" sz="2400" dirty="0">
                <a:ea typeface="Calibri" pitchFamily="34" charset="-122"/>
                <a:cs typeface="Calibri" pitchFamily="34" charset="-120"/>
              </a:endParaRPr>
            </a:p>
            <a:p>
              <a:r>
                <a:rPr lang="en-US" sz="1600" dirty="0">
                  <a:ea typeface="Calibri" pitchFamily="34" charset="-122"/>
                  <a:cs typeface="Calibri" pitchFamily="34" charset="-120"/>
                </a:rPr>
                <a:t>A recipe that turns the past (and weather) into a prediction.</a:t>
              </a:r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C9F72F76-D529-4DE3-BF2B-F985FF41272C}"/>
              </a:ext>
            </a:extLst>
          </p:cNvPr>
          <p:cNvGrpSpPr/>
          <p:nvPr/>
        </p:nvGrpSpPr>
        <p:grpSpPr>
          <a:xfrm>
            <a:off x="640080" y="4114800"/>
            <a:ext cx="10881360" cy="1965960"/>
            <a:chOff x="640080" y="4114800"/>
            <a:chExt cx="10881360" cy="1965960"/>
          </a:xfrm>
        </p:grpSpPr>
        <p:sp>
          <p:nvSpPr>
            <p:cNvPr id="42" name="Shape 14">
              <a:extLst>
                <a:ext uri="{FF2B5EF4-FFF2-40B4-BE49-F238E27FC236}">
                  <a16:creationId xmlns:a16="http://schemas.microsoft.com/office/drawing/2014/main" id="{029C9188-9889-4087-A01E-57C1C443A3DD}"/>
                </a:ext>
              </a:extLst>
            </p:cNvPr>
            <p:cNvSpPr/>
            <p:nvPr/>
          </p:nvSpPr>
          <p:spPr>
            <a:xfrm>
              <a:off x="640080" y="4114800"/>
              <a:ext cx="10881360" cy="1965960"/>
            </a:xfrm>
            <a:prstGeom prst="roundRect">
              <a:avLst>
                <a:gd name="adj" fmla="val 3721"/>
              </a:avLst>
            </a:prstGeom>
            <a:solidFill>
              <a:srgbClr val="FFFFFF"/>
            </a:solidFill>
            <a:ln w="12700">
              <a:solidFill>
                <a:srgbClr val="DCE6EC"/>
              </a:solidFill>
              <a:prstDash val="solid"/>
            </a:ln>
            <a:effectLst>
              <a:outerShdw blurRad="101600" dist="25400" dir="5400000" algn="bl" rotWithShape="0">
                <a:srgbClr val="7A93A6">
                  <a:alpha val="25000"/>
                </a:srgbClr>
              </a:outerShdw>
            </a:effectLst>
          </p:spPr>
        </p:sp>
        <p:graphicFrame>
          <p:nvGraphicFramePr>
            <p:cNvPr id="43" name="Chart 0">
              <a:extLst>
                <a:ext uri="{FF2B5EF4-FFF2-40B4-BE49-F238E27FC236}">
                  <a16:creationId xmlns:a16="http://schemas.microsoft.com/office/drawing/2014/main" id="{1A5E6431-1AB4-4419-9C0F-B934053718A2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3239874274"/>
                </p:ext>
              </p:extLst>
            </p:nvPr>
          </p:nvGraphicFramePr>
          <p:xfrm>
            <a:off x="822960" y="4224528"/>
            <a:ext cx="7315200" cy="1737360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2"/>
            </a:graphicData>
          </a:graphic>
        </p:graphicFrame>
        <p:sp>
          <p:nvSpPr>
            <p:cNvPr id="44" name="Text 15">
              <a:extLst>
                <a:ext uri="{FF2B5EF4-FFF2-40B4-BE49-F238E27FC236}">
                  <a16:creationId xmlns:a16="http://schemas.microsoft.com/office/drawing/2014/main" id="{F2DAC73F-8A7E-44C7-ABE8-16E4D55DAD92}"/>
                </a:ext>
              </a:extLst>
            </p:cNvPr>
            <p:cNvSpPr/>
            <p:nvPr/>
          </p:nvSpPr>
          <p:spPr>
            <a:xfrm>
              <a:off x="8412480" y="4663440"/>
              <a:ext cx="2926080" cy="10972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lnSpc>
                  <a:spcPts val="2200"/>
                </a:lnSpc>
                <a:buNone/>
              </a:pPr>
              <a:r>
                <a:rPr lang="en-US" sz="1600" b="1" dirty="0">
                  <a:solidFill>
                    <a:srgbClr val="12232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That's the whole game:
</a:t>
              </a:r>
              <a:r>
                <a:rPr lang="en-US" sz="1600" dirty="0">
                  <a:solidFill>
                    <a:srgbClr val="5C708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use the </a:t>
              </a:r>
              <a:r>
                <a:rPr lang="en-US" sz="1600" b="1" dirty="0">
                  <a:solidFill>
                    <a:srgbClr val="0E6F8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measured past</a:t>
              </a:r>
              <a:r>
                <a:rPr lang="en-US" sz="1600" dirty="0">
                  <a:solidFill>
                    <a:srgbClr val="5C708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to predict the </a:t>
              </a:r>
              <a:r>
                <a:rPr lang="en-US" sz="1600" b="1" dirty="0">
                  <a:solidFill>
                    <a:srgbClr val="FB850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future</a:t>
              </a:r>
              <a:r>
                <a:rPr lang="en-US" sz="1600" dirty="0">
                  <a:solidFill>
                    <a:srgbClr val="5C708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.</a:t>
              </a:r>
              <a:endParaRPr lang="en-US" sz="1600" dirty="0"/>
            </a:p>
          </p:txBody>
        </p:sp>
      </p:grpSp>
    </p:spTree>
    <p:extLst>
      <p:ext uri="{BB962C8B-B14F-4D97-AF65-F5344CB8AC3E}">
        <p14:creationId xmlns:p14="http://schemas.microsoft.com/office/powerpoint/2010/main" val="41640482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Four </a:t>
            </a:r>
            <a:r>
              <a:rPr lang="hr-HR" dirty="0"/>
              <a:t>everyday </a:t>
            </a:r>
            <a:r>
              <a:rPr lang="en-US" dirty="0"/>
              <a:t>air-quality </a:t>
            </a:r>
            <a:r>
              <a:rPr lang="hr-HR" dirty="0"/>
              <a:t>problems</a:t>
            </a:r>
            <a:endParaRPr lang="en-US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CABF9A07-AD16-49C6-ACAF-0AE51106C9CF}"/>
              </a:ext>
            </a:extLst>
          </p:cNvPr>
          <p:cNvGrpSpPr/>
          <p:nvPr/>
        </p:nvGrpSpPr>
        <p:grpSpPr>
          <a:xfrm>
            <a:off x="1967253" y="2050557"/>
            <a:ext cx="3758140" cy="1216136"/>
            <a:chOff x="896112" y="1988840"/>
            <a:chExt cx="3758140" cy="1216136"/>
          </a:xfrm>
        </p:grpSpPr>
        <p:sp>
          <p:nvSpPr>
            <p:cNvPr id="7" name="Shape 3">
              <a:extLst>
                <a:ext uri="{FF2B5EF4-FFF2-40B4-BE49-F238E27FC236}">
                  <a16:creationId xmlns:a16="http://schemas.microsoft.com/office/drawing/2014/main" id="{118A1B70-2EF3-43A4-B25C-C86EE7524B60}"/>
                </a:ext>
              </a:extLst>
            </p:cNvPr>
            <p:cNvSpPr/>
            <p:nvPr/>
          </p:nvSpPr>
          <p:spPr>
            <a:xfrm>
              <a:off x="896112" y="2240280"/>
              <a:ext cx="640080" cy="640080"/>
            </a:xfrm>
            <a:prstGeom prst="ellipse">
              <a:avLst/>
            </a:prstGeom>
            <a:solidFill>
              <a:srgbClr val="00B4D8"/>
            </a:solidFill>
            <a:ln/>
          </p:spPr>
        </p:sp>
        <p:sp>
          <p:nvSpPr>
            <p:cNvPr id="8" name="Text 4">
              <a:extLst>
                <a:ext uri="{FF2B5EF4-FFF2-40B4-BE49-F238E27FC236}">
                  <a16:creationId xmlns:a16="http://schemas.microsoft.com/office/drawing/2014/main" id="{A35588A8-8F70-48C7-8677-003B046F01D1}"/>
                </a:ext>
              </a:extLst>
            </p:cNvPr>
            <p:cNvSpPr/>
            <p:nvPr/>
          </p:nvSpPr>
          <p:spPr>
            <a:xfrm>
              <a:off x="896112" y="2240280"/>
              <a:ext cx="640080" cy="6400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algn="ctr"/>
              <a:r>
                <a:rPr lang="en-US" sz="24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∅</a:t>
              </a:r>
              <a:endParaRPr lang="en-US" sz="2400" dirty="0"/>
            </a:p>
          </p:txBody>
        </p:sp>
        <p:sp>
          <p:nvSpPr>
            <p:cNvPr id="9" name="Text 5">
              <a:extLst>
                <a:ext uri="{FF2B5EF4-FFF2-40B4-BE49-F238E27FC236}">
                  <a16:creationId xmlns:a16="http://schemas.microsoft.com/office/drawing/2014/main" id="{D3B19CB1-D0B2-485A-BDA6-CE795159BD78}"/>
                </a:ext>
              </a:extLst>
            </p:cNvPr>
            <p:cNvSpPr/>
            <p:nvPr/>
          </p:nvSpPr>
          <p:spPr>
            <a:xfrm>
              <a:off x="1701551" y="1988840"/>
              <a:ext cx="2952701" cy="1216136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hr-HR" sz="2400" b="1" dirty="0">
                  <a:ea typeface="Calibri" pitchFamily="34" charset="-122"/>
                  <a:cs typeface="Calibri" pitchFamily="34" charset="-120"/>
                </a:rPr>
                <a:t>Gaps</a:t>
              </a:r>
              <a:endParaRPr lang="hr-HR" sz="2400" dirty="0">
                <a:ea typeface="Calibri" pitchFamily="34" charset="-122"/>
                <a:cs typeface="Calibri" pitchFamily="34" charset="-120"/>
              </a:endParaRPr>
            </a:p>
            <a:p>
              <a:r>
                <a:rPr lang="en-US" sz="1600" dirty="0">
                  <a:ea typeface="Calibri" pitchFamily="34" charset="-122"/>
                  <a:cs typeface="Calibri" pitchFamily="34" charset="-120"/>
                </a:rPr>
                <a:t>Holes in the data </a:t>
              </a:r>
              <a:r>
                <a:rPr lang="hr-HR" sz="1600" dirty="0">
                  <a:ea typeface="Calibri" pitchFamily="34" charset="-122"/>
                  <a:cs typeface="Calibri" pitchFamily="34" charset="-120"/>
                </a:rPr>
                <a:t>(</a:t>
              </a:r>
              <a:r>
                <a:rPr lang="en-US" sz="1600" dirty="0">
                  <a:ea typeface="Calibri" pitchFamily="34" charset="-122"/>
                  <a:cs typeface="Calibri" pitchFamily="34" charset="-120"/>
                </a:rPr>
                <a:t>sensor</a:t>
              </a:r>
            </a:p>
            <a:p>
              <a:r>
                <a:rPr lang="en-US" sz="1600" dirty="0">
                  <a:ea typeface="Calibri" pitchFamily="34" charset="-122"/>
                  <a:cs typeface="Calibri" pitchFamily="34" charset="-120"/>
                </a:rPr>
                <a:t>downtime, calibration</a:t>
              </a:r>
              <a:r>
                <a:rPr lang="hr-HR" sz="1600" dirty="0">
                  <a:ea typeface="Calibri" pitchFamily="34" charset="-122"/>
                  <a:cs typeface="Calibri" pitchFamily="34" charset="-120"/>
                </a:rPr>
                <a:t>,…)</a:t>
              </a:r>
              <a:endParaRPr lang="en-US" sz="1600" dirty="0">
                <a:ea typeface="Calibri" pitchFamily="34" charset="-122"/>
                <a:cs typeface="Calibri" pitchFamily="34" charset="-120"/>
              </a:endParaRPr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C9FF7E9E-47C5-4342-9E60-1EE81A23C3F2}"/>
              </a:ext>
            </a:extLst>
          </p:cNvPr>
          <p:cNvGrpSpPr/>
          <p:nvPr/>
        </p:nvGrpSpPr>
        <p:grpSpPr>
          <a:xfrm>
            <a:off x="6433366" y="2087145"/>
            <a:ext cx="3758140" cy="1216136"/>
            <a:chOff x="896112" y="1988840"/>
            <a:chExt cx="3758140" cy="1216136"/>
          </a:xfrm>
        </p:grpSpPr>
        <p:sp>
          <p:nvSpPr>
            <p:cNvPr id="35" name="Shape 3">
              <a:extLst>
                <a:ext uri="{FF2B5EF4-FFF2-40B4-BE49-F238E27FC236}">
                  <a16:creationId xmlns:a16="http://schemas.microsoft.com/office/drawing/2014/main" id="{FD75C70F-461B-4302-BAF1-50DFF9BEC6E0}"/>
                </a:ext>
              </a:extLst>
            </p:cNvPr>
            <p:cNvSpPr/>
            <p:nvPr/>
          </p:nvSpPr>
          <p:spPr>
            <a:xfrm>
              <a:off x="896112" y="2240280"/>
              <a:ext cx="640080" cy="640080"/>
            </a:xfrm>
            <a:prstGeom prst="ellipse">
              <a:avLst/>
            </a:prstGeom>
            <a:solidFill>
              <a:srgbClr val="92D050"/>
            </a:solidFill>
            <a:ln/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6" name="Text 4">
              <a:extLst>
                <a:ext uri="{FF2B5EF4-FFF2-40B4-BE49-F238E27FC236}">
                  <a16:creationId xmlns:a16="http://schemas.microsoft.com/office/drawing/2014/main" id="{2CED537E-C43C-4A0B-AE39-971D68E9549F}"/>
                </a:ext>
              </a:extLst>
            </p:cNvPr>
            <p:cNvSpPr/>
            <p:nvPr/>
          </p:nvSpPr>
          <p:spPr>
            <a:xfrm>
              <a:off x="896112" y="2240280"/>
              <a:ext cx="640080" cy="6400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algn="ctr"/>
              <a:r>
                <a:rPr lang="en-US" sz="24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▦</a:t>
              </a:r>
              <a:endParaRPr lang="en-US" sz="2400" dirty="0"/>
            </a:p>
          </p:txBody>
        </p:sp>
        <p:sp>
          <p:nvSpPr>
            <p:cNvPr id="37" name="Text 5">
              <a:extLst>
                <a:ext uri="{FF2B5EF4-FFF2-40B4-BE49-F238E27FC236}">
                  <a16:creationId xmlns:a16="http://schemas.microsoft.com/office/drawing/2014/main" id="{E79FC663-CEB1-43E4-9FD6-B31E23757B21}"/>
                </a:ext>
              </a:extLst>
            </p:cNvPr>
            <p:cNvSpPr/>
            <p:nvPr/>
          </p:nvSpPr>
          <p:spPr>
            <a:xfrm>
              <a:off x="1701551" y="1988840"/>
              <a:ext cx="2952701" cy="1216136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hr-HR" sz="2400" b="1" dirty="0">
                  <a:ea typeface="Calibri" pitchFamily="34" charset="-122"/>
                  <a:cs typeface="Calibri" pitchFamily="34" charset="-120"/>
                </a:rPr>
                <a:t>Between stations</a:t>
              </a:r>
              <a:endParaRPr lang="hr-HR" sz="2400" dirty="0">
                <a:ea typeface="Calibri" pitchFamily="34" charset="-122"/>
                <a:cs typeface="Calibri" pitchFamily="34" charset="-120"/>
              </a:endParaRPr>
            </a:p>
            <a:p>
              <a:r>
                <a:rPr lang="en-US" sz="1600" dirty="0">
                  <a:ea typeface="Calibri" pitchFamily="34" charset="-122"/>
                  <a:cs typeface="Calibri" pitchFamily="34" charset="-120"/>
                </a:rPr>
                <a:t>What's the air like where</a:t>
              </a:r>
            </a:p>
            <a:p>
              <a:r>
                <a:rPr lang="en-US" sz="1600" dirty="0">
                  <a:ea typeface="Calibri" pitchFamily="34" charset="-122"/>
                  <a:cs typeface="Calibri" pitchFamily="34" charset="-120"/>
                </a:rPr>
                <a:t>there's no monitor?</a:t>
              </a:r>
            </a:p>
          </p:txBody>
        </p: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01ECB30D-340B-4034-A06F-D035CE77BCD2}"/>
              </a:ext>
            </a:extLst>
          </p:cNvPr>
          <p:cNvGrpSpPr/>
          <p:nvPr/>
        </p:nvGrpSpPr>
        <p:grpSpPr>
          <a:xfrm>
            <a:off x="1969744" y="3889265"/>
            <a:ext cx="3758140" cy="1216136"/>
            <a:chOff x="896112" y="1988840"/>
            <a:chExt cx="3758140" cy="1216136"/>
          </a:xfrm>
        </p:grpSpPr>
        <p:sp>
          <p:nvSpPr>
            <p:cNvPr id="39" name="Shape 3">
              <a:extLst>
                <a:ext uri="{FF2B5EF4-FFF2-40B4-BE49-F238E27FC236}">
                  <a16:creationId xmlns:a16="http://schemas.microsoft.com/office/drawing/2014/main" id="{5FED33A3-EDE3-4001-8106-044B4E705528}"/>
                </a:ext>
              </a:extLst>
            </p:cNvPr>
            <p:cNvSpPr/>
            <p:nvPr/>
          </p:nvSpPr>
          <p:spPr>
            <a:xfrm>
              <a:off x="896112" y="2240280"/>
              <a:ext cx="640080" cy="640080"/>
            </a:xfrm>
            <a:prstGeom prst="ellipse">
              <a:avLst/>
            </a:prstGeom>
            <a:solidFill>
              <a:srgbClr val="FFC000"/>
            </a:solidFill>
            <a:ln/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0" name="Text 4">
              <a:extLst>
                <a:ext uri="{FF2B5EF4-FFF2-40B4-BE49-F238E27FC236}">
                  <a16:creationId xmlns:a16="http://schemas.microsoft.com/office/drawing/2014/main" id="{B669F87A-822F-4055-B7E9-713B7FD01A6A}"/>
                </a:ext>
              </a:extLst>
            </p:cNvPr>
            <p:cNvSpPr/>
            <p:nvPr/>
          </p:nvSpPr>
          <p:spPr>
            <a:xfrm>
              <a:off x="896112" y="2240280"/>
              <a:ext cx="640080" cy="6400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algn="ctr"/>
              <a:r>
                <a:rPr lang="en-US" sz="24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↗</a:t>
              </a:r>
              <a:endParaRPr lang="en-US" sz="2400" dirty="0"/>
            </a:p>
          </p:txBody>
        </p:sp>
        <p:sp>
          <p:nvSpPr>
            <p:cNvPr id="41" name="Text 5">
              <a:extLst>
                <a:ext uri="{FF2B5EF4-FFF2-40B4-BE49-F238E27FC236}">
                  <a16:creationId xmlns:a16="http://schemas.microsoft.com/office/drawing/2014/main" id="{582C8F27-1FF6-43CA-9FAA-57753586FAF6}"/>
                </a:ext>
              </a:extLst>
            </p:cNvPr>
            <p:cNvSpPr/>
            <p:nvPr/>
          </p:nvSpPr>
          <p:spPr>
            <a:xfrm>
              <a:off x="1701551" y="1988840"/>
              <a:ext cx="2952701" cy="1216136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hr-HR" sz="2400" b="1" dirty="0">
                  <a:ea typeface="Calibri" pitchFamily="34" charset="-122"/>
                  <a:cs typeface="Calibri" pitchFamily="34" charset="-120"/>
                </a:rPr>
                <a:t>Forecasting</a:t>
              </a:r>
              <a:endParaRPr lang="hr-HR" sz="2400" dirty="0">
                <a:ea typeface="Calibri" pitchFamily="34" charset="-122"/>
                <a:cs typeface="Calibri" pitchFamily="34" charset="-120"/>
              </a:endParaRPr>
            </a:p>
            <a:p>
              <a:r>
                <a:rPr lang="en-US" sz="1600" dirty="0">
                  <a:ea typeface="Calibri" pitchFamily="34" charset="-122"/>
                  <a:cs typeface="Calibri" pitchFamily="34" charset="-120"/>
                </a:rPr>
                <a:t>What happens in the next</a:t>
              </a:r>
            </a:p>
            <a:p>
              <a:r>
                <a:rPr lang="en-US" sz="1600" dirty="0">
                  <a:ea typeface="Calibri" pitchFamily="34" charset="-122"/>
                  <a:cs typeface="Calibri" pitchFamily="34" charset="-120"/>
                </a:rPr>
                <a:t>day or two? (our main focus)</a:t>
              </a:r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077DC504-724F-48D8-B648-9EDD2ECE7443}"/>
              </a:ext>
            </a:extLst>
          </p:cNvPr>
          <p:cNvGrpSpPr/>
          <p:nvPr/>
        </p:nvGrpSpPr>
        <p:grpSpPr>
          <a:xfrm>
            <a:off x="6433366" y="3889265"/>
            <a:ext cx="3758140" cy="1216136"/>
            <a:chOff x="896112" y="1988840"/>
            <a:chExt cx="3758140" cy="1216136"/>
          </a:xfrm>
        </p:grpSpPr>
        <p:sp>
          <p:nvSpPr>
            <p:cNvPr id="20" name="Shape 3">
              <a:extLst>
                <a:ext uri="{FF2B5EF4-FFF2-40B4-BE49-F238E27FC236}">
                  <a16:creationId xmlns:a16="http://schemas.microsoft.com/office/drawing/2014/main" id="{E84DA5A7-D645-4D22-ACA0-D33DEEEC03E0}"/>
                </a:ext>
              </a:extLst>
            </p:cNvPr>
            <p:cNvSpPr/>
            <p:nvPr/>
          </p:nvSpPr>
          <p:spPr>
            <a:xfrm>
              <a:off x="896112" y="2240280"/>
              <a:ext cx="640080" cy="640080"/>
            </a:xfrm>
            <a:prstGeom prst="ellipse">
              <a:avLst/>
            </a:prstGeom>
            <a:solidFill>
              <a:srgbClr val="7030A0"/>
            </a:solidFill>
            <a:ln/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1" name="Text 4">
              <a:extLst>
                <a:ext uri="{FF2B5EF4-FFF2-40B4-BE49-F238E27FC236}">
                  <a16:creationId xmlns:a16="http://schemas.microsoft.com/office/drawing/2014/main" id="{44B327A6-E28C-4883-9D5B-82A39CC7A283}"/>
                </a:ext>
              </a:extLst>
            </p:cNvPr>
            <p:cNvSpPr/>
            <p:nvPr/>
          </p:nvSpPr>
          <p:spPr>
            <a:xfrm>
              <a:off x="896112" y="2240280"/>
              <a:ext cx="640080" cy="6400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algn="ctr"/>
              <a:r>
                <a:rPr lang="en-US" sz="24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ƒ</a:t>
              </a:r>
              <a:endParaRPr lang="en-US" sz="2400" dirty="0"/>
            </a:p>
          </p:txBody>
        </p:sp>
        <p:sp>
          <p:nvSpPr>
            <p:cNvPr id="22" name="Text 5">
              <a:extLst>
                <a:ext uri="{FF2B5EF4-FFF2-40B4-BE49-F238E27FC236}">
                  <a16:creationId xmlns:a16="http://schemas.microsoft.com/office/drawing/2014/main" id="{A0448850-069D-4594-ACE7-6EB54AEF27D0}"/>
                </a:ext>
              </a:extLst>
            </p:cNvPr>
            <p:cNvSpPr/>
            <p:nvPr/>
          </p:nvSpPr>
          <p:spPr>
            <a:xfrm>
              <a:off x="1701551" y="1988840"/>
              <a:ext cx="2952701" cy="1216136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r>
                <a:rPr lang="hr-HR" sz="2400" b="1" dirty="0">
                  <a:ea typeface="Calibri" pitchFamily="34" charset="-122"/>
                  <a:cs typeface="Calibri" pitchFamily="34" charset="-120"/>
                </a:rPr>
                <a:t>Did it work?</a:t>
              </a:r>
            </a:p>
            <a:p>
              <a:r>
                <a:rPr lang="en-US" sz="1600" dirty="0">
                  <a:ea typeface="Calibri" pitchFamily="34" charset="-122"/>
                  <a:cs typeface="Calibri" pitchFamily="34" charset="-120"/>
                </a:rPr>
                <a:t>Was it the new policy — or</a:t>
              </a:r>
            </a:p>
            <a:p>
              <a:r>
                <a:rPr lang="en-US" sz="1600" dirty="0">
                  <a:ea typeface="Calibri" pitchFamily="34" charset="-122"/>
                  <a:cs typeface="Calibri" pitchFamily="34" charset="-120"/>
                </a:rPr>
                <a:t>just a windy month?</a:t>
              </a:r>
            </a:p>
          </p:txBody>
        </p:sp>
      </p:grpSp>
      <p:sp>
        <p:nvSpPr>
          <p:cNvPr id="4" name="Rectangle 3">
            <a:extLst>
              <a:ext uri="{FF2B5EF4-FFF2-40B4-BE49-F238E27FC236}">
                <a16:creationId xmlns:a16="http://schemas.microsoft.com/office/drawing/2014/main" id="{FAEFA02A-D542-4EDF-94E7-387A176F3D78}"/>
              </a:ext>
            </a:extLst>
          </p:cNvPr>
          <p:cNvSpPr/>
          <p:nvPr/>
        </p:nvSpPr>
        <p:spPr>
          <a:xfrm>
            <a:off x="3047999" y="5506719"/>
            <a:ext cx="6092825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b="1" i="1" dirty="0">
                <a:ea typeface="Calibri" pitchFamily="34" charset="-122"/>
                <a:cs typeface="Calibri" pitchFamily="34" charset="-120"/>
              </a:rPr>
              <a:t>Today: </a:t>
            </a:r>
            <a:r>
              <a:rPr lang="en-US" i="1" dirty="0">
                <a:ea typeface="Calibri" pitchFamily="34" charset="-122"/>
                <a:cs typeface="Calibri" pitchFamily="34" charset="-120"/>
              </a:rPr>
              <a:t>mostly forecasting, with quick looks at gaps and maps</a:t>
            </a:r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19017764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it's usually done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Pick one station and one pollutant</a:t>
            </a:r>
          </a:p>
          <a:p>
            <a:r>
              <a:rPr lang="en-US" dirty="0"/>
              <a:t>Fit a classic stats model (e.g. SARIMA)</a:t>
            </a:r>
          </a:p>
          <a:p>
            <a:r>
              <a:rPr lang="en-US" dirty="0"/>
              <a:t>Tune it and check it works</a:t>
            </a:r>
          </a:p>
          <a:p>
            <a:pPr>
              <a:buClr>
                <a:srgbClr val="FFC000"/>
              </a:buClr>
            </a:pPr>
            <a:r>
              <a:rPr lang="en-US" dirty="0"/>
              <a:t>Sensor drifts or moves → redo it</a:t>
            </a:r>
          </a:p>
          <a:p>
            <a:pPr>
              <a:buClr>
                <a:srgbClr val="FFC000"/>
              </a:buClr>
            </a:pPr>
            <a:r>
              <a:rPr lang="en-US" dirty="0"/>
              <a:t>Repeat for every station and pollutant</a:t>
            </a:r>
          </a:p>
          <a:p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AC78473-E53C-4803-AB33-E12C83EE889E}"/>
              </a:ext>
            </a:extLst>
          </p:cNvPr>
          <p:cNvSpPr/>
          <p:nvPr/>
        </p:nvSpPr>
        <p:spPr>
          <a:xfrm>
            <a:off x="1522413" y="5987536"/>
            <a:ext cx="609339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i="1" dirty="0">
                <a:ea typeface="Calibri" pitchFamily="34" charset="-122"/>
                <a:cs typeface="Calibri" pitchFamily="34" charset="-120"/>
              </a:rPr>
              <a:t>SARIMA = a classic seasonal forecasting method from statistics.</a:t>
            </a:r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E660538-6129-4314-82DA-E67802FD7912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hr-HR" dirty="0"/>
              <a:t>12 </a:t>
            </a:r>
            <a:r>
              <a:rPr lang="en-US" dirty="0"/>
              <a:t>stations × 6 pollutants = a lot of models to build and babysit</a:t>
            </a:r>
          </a:p>
          <a:p>
            <a:r>
              <a:rPr lang="en-US" dirty="0"/>
              <a:t>It works</a:t>
            </a:r>
            <a:r>
              <a:rPr lang="hr-HR" dirty="0"/>
              <a:t>,</a:t>
            </a:r>
            <a:r>
              <a:rPr lang="en-US" dirty="0"/>
              <a:t> it's just a lot of hand-work</a:t>
            </a:r>
          </a:p>
          <a:p>
            <a:pPr>
              <a:buClr>
                <a:srgbClr val="FFC000"/>
              </a:buClr>
            </a:pPr>
            <a:r>
              <a:rPr lang="en-US" dirty="0"/>
              <a:t>And you redo much of it whenever a sensor changes. Wouldn't it be nice if one ready-made model just handled any series?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44566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59614" y="2514600"/>
            <a:ext cx="9355278" cy="2819400"/>
          </a:xfrm>
        </p:spPr>
        <p:txBody>
          <a:bodyPr/>
          <a:lstStyle/>
          <a:p>
            <a:r>
              <a:rPr lang="hr-HR" dirty="0"/>
              <a:t>Part 1</a:t>
            </a:r>
            <a:br>
              <a:rPr lang="hr-HR" dirty="0"/>
            </a:br>
            <a:br>
              <a:rPr lang="hr-HR" dirty="0"/>
            </a:br>
            <a:r>
              <a:rPr lang="en-US" dirty="0"/>
              <a:t>The big idea: a model that already learned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The same trick behind AI chatbots — reused for numbers instead of words.</a:t>
            </a:r>
          </a:p>
        </p:txBody>
      </p:sp>
    </p:spTree>
    <p:extLst>
      <p:ext uri="{BB962C8B-B14F-4D97-AF65-F5344CB8AC3E}">
        <p14:creationId xmlns:p14="http://schemas.microsoft.com/office/powerpoint/2010/main" val="29847775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Two ways to get a forecast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OLD WAY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hr-HR" dirty="0">
                <a:solidFill>
                  <a:schemeClr val="tx1">
                    <a:lumMod val="85000"/>
                  </a:schemeClr>
                </a:solidFill>
              </a:rPr>
              <a:t>Learns from </a:t>
            </a:r>
            <a:r>
              <a:rPr lang="hr-HR" b="1" dirty="0"/>
              <a:t>only your one series</a:t>
            </a:r>
            <a:endParaRPr lang="en-US" b="1" dirty="0"/>
          </a:p>
          <a:p>
            <a:r>
              <a:rPr lang="hr-HR" dirty="0">
                <a:solidFill>
                  <a:schemeClr val="tx1">
                    <a:lumMod val="85000"/>
                  </a:schemeClr>
                </a:solidFill>
              </a:rPr>
              <a:t>Before it predicts?  </a:t>
            </a:r>
            <a:r>
              <a:rPr lang="hr-HR" b="1" dirty="0">
                <a:solidFill>
                  <a:schemeClr val="tx1">
                    <a:lumMod val="85000"/>
                  </a:schemeClr>
                </a:solidFill>
              </a:rPr>
              <a:t>Y</a:t>
            </a:r>
            <a:r>
              <a:rPr lang="hr-HR" b="1" dirty="0"/>
              <a:t>ou fit and tune it</a:t>
            </a:r>
            <a:endParaRPr lang="en-US" b="1" dirty="0"/>
          </a:p>
          <a:p>
            <a:r>
              <a:rPr lang="hr-HR" dirty="0">
                <a:solidFill>
                  <a:schemeClr val="tx1">
                    <a:lumMod val="85000"/>
                  </a:schemeClr>
                </a:solidFill>
              </a:rPr>
              <a:t>A new station? </a:t>
            </a:r>
            <a:r>
              <a:rPr lang="hr-HR" b="1" dirty="0"/>
              <a:t>Start over</a:t>
            </a:r>
            <a:endParaRPr lang="en-US" b="1" dirty="0"/>
          </a:p>
          <a:p>
            <a:r>
              <a:rPr lang="hr-HR" dirty="0">
                <a:solidFill>
                  <a:schemeClr val="tx1">
                    <a:lumMod val="85000"/>
                  </a:schemeClr>
                </a:solidFill>
              </a:rPr>
              <a:t>Sense of how data behaves? </a:t>
            </a:r>
            <a:r>
              <a:rPr lang="hr-HR" b="1" dirty="0"/>
              <a:t>None. You bring it.</a:t>
            </a:r>
            <a:endParaRPr lang="en-US" b="1" dirty="0"/>
          </a:p>
          <a:p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hr-HR" dirty="0"/>
              <a:t>THE NEW WAY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hr-HR" dirty="0">
                <a:solidFill>
                  <a:schemeClr val="tx1">
                    <a:lumMod val="85000"/>
                  </a:schemeClr>
                </a:solidFill>
              </a:rPr>
              <a:t>Learned from </a:t>
            </a:r>
            <a:r>
              <a:rPr lang="hr-HR" b="1" dirty="0"/>
              <a:t>millions of series, everywhere</a:t>
            </a:r>
            <a:endParaRPr lang="en-US" b="1" dirty="0"/>
          </a:p>
          <a:p>
            <a:r>
              <a:rPr lang="hr-HR" dirty="0">
                <a:solidFill>
                  <a:schemeClr val="tx1">
                    <a:lumMod val="85000"/>
                  </a:schemeClr>
                </a:solidFill>
              </a:rPr>
              <a:t>Before it predicts? </a:t>
            </a:r>
            <a:r>
              <a:rPr lang="hr-HR" b="1" dirty="0"/>
              <a:t>Nothing, it’s ready</a:t>
            </a:r>
            <a:endParaRPr lang="en-US" b="1" dirty="0"/>
          </a:p>
          <a:p>
            <a:r>
              <a:rPr lang="hr-HR" dirty="0">
                <a:solidFill>
                  <a:schemeClr val="tx1">
                    <a:lumMod val="85000"/>
                  </a:schemeClr>
                </a:solidFill>
              </a:rPr>
              <a:t>A new station? </a:t>
            </a:r>
            <a:r>
              <a:rPr lang="hr-HR" b="1" dirty="0"/>
              <a:t>Just plug it in</a:t>
            </a:r>
            <a:endParaRPr lang="en-US" b="1" dirty="0"/>
          </a:p>
          <a:p>
            <a:r>
              <a:rPr lang="hr-HR" dirty="0">
                <a:solidFill>
                  <a:schemeClr val="tx1">
                    <a:lumMod val="85000"/>
                  </a:schemeClr>
                </a:solidFill>
              </a:rPr>
              <a:t>Sense of how data behaves? </a:t>
            </a:r>
            <a:r>
              <a:rPr lang="hr-HR" b="1" dirty="0"/>
              <a:t>Already learned</a:t>
            </a:r>
            <a:endParaRPr lang="en-US" b="1" dirty="0"/>
          </a:p>
          <a:p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1CB99BC-07BE-4A6E-A4CC-C53805EB4245}"/>
              </a:ext>
            </a:extLst>
          </p:cNvPr>
          <p:cNvSpPr/>
          <p:nvPr/>
        </p:nvSpPr>
        <p:spPr>
          <a:xfrm>
            <a:off x="2343775" y="5987536"/>
            <a:ext cx="750127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i="1" dirty="0">
                <a:ea typeface="Cambria" pitchFamily="34" charset="-122"/>
                <a:cs typeface="Cambria" pitchFamily="34" charset="-120"/>
              </a:rPr>
              <a:t>“Zero-shot” = it works on your data with no training. Just plug in and predict.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80815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r-HR" dirty="0"/>
              <a:t>How does it work ? It reads your data like reading a sentence.</a:t>
            </a:r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C12E5EF5-E294-425E-BBCD-74009D0D1D90}"/>
              </a:ext>
            </a:extLst>
          </p:cNvPr>
          <p:cNvGrpSpPr/>
          <p:nvPr/>
        </p:nvGrpSpPr>
        <p:grpSpPr>
          <a:xfrm>
            <a:off x="868680" y="2240280"/>
            <a:ext cx="3108960" cy="1371600"/>
            <a:chOff x="868680" y="2240280"/>
            <a:chExt cx="3108960" cy="1371600"/>
          </a:xfrm>
        </p:grpSpPr>
        <p:sp>
          <p:nvSpPr>
            <p:cNvPr id="19" name="Shape 2">
              <a:extLst>
                <a:ext uri="{FF2B5EF4-FFF2-40B4-BE49-F238E27FC236}">
                  <a16:creationId xmlns:a16="http://schemas.microsoft.com/office/drawing/2014/main" id="{FE7E48C1-6FFC-4DBE-92A4-8AAA3864B409}"/>
                </a:ext>
              </a:extLst>
            </p:cNvPr>
            <p:cNvSpPr/>
            <p:nvPr/>
          </p:nvSpPr>
          <p:spPr>
            <a:xfrm>
              <a:off x="868680" y="2240280"/>
              <a:ext cx="3108960" cy="1371600"/>
            </a:xfrm>
            <a:prstGeom prst="roundRect">
              <a:avLst>
                <a:gd name="adj" fmla="val 5333"/>
              </a:avLst>
            </a:prstGeom>
            <a:solidFill>
              <a:srgbClr val="FFFFFF"/>
            </a:solidFill>
            <a:ln w="12700">
              <a:solidFill>
                <a:srgbClr val="DCE6EC"/>
              </a:solidFill>
              <a:prstDash val="solid"/>
            </a:ln>
            <a:effectLst>
              <a:outerShdw blurRad="101600" dist="25400" dir="5400000" algn="bl" rotWithShape="0">
                <a:srgbClr val="7A93A6">
                  <a:alpha val="25000"/>
                </a:srgbClr>
              </a:outerShdw>
            </a:effectLst>
          </p:spPr>
        </p:sp>
        <p:sp>
          <p:nvSpPr>
            <p:cNvPr id="20" name="Text 3">
              <a:extLst>
                <a:ext uri="{FF2B5EF4-FFF2-40B4-BE49-F238E27FC236}">
                  <a16:creationId xmlns:a16="http://schemas.microsoft.com/office/drawing/2014/main" id="{A0852692-B149-4B4B-B1E4-3F498CA6BBBC}"/>
                </a:ext>
              </a:extLst>
            </p:cNvPr>
            <p:cNvSpPr/>
            <p:nvPr/>
          </p:nvSpPr>
          <p:spPr>
            <a:xfrm>
              <a:off x="1005840" y="2478024"/>
              <a:ext cx="283464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b="1" dirty="0">
                  <a:solidFill>
                    <a:srgbClr val="00B0F0"/>
                  </a:solidFill>
                  <a:ea typeface="Calibri" pitchFamily="34" charset="-122"/>
                  <a:cs typeface="Calibri" pitchFamily="34" charset="-120"/>
                </a:rPr>
                <a:t>Your data</a:t>
              </a:r>
              <a:endParaRPr lang="en-US" dirty="0">
                <a:solidFill>
                  <a:srgbClr val="00B0F0"/>
                </a:solidFill>
              </a:endParaRPr>
            </a:p>
          </p:txBody>
        </p:sp>
        <p:sp>
          <p:nvSpPr>
            <p:cNvPr id="21" name="Text 4">
              <a:extLst>
                <a:ext uri="{FF2B5EF4-FFF2-40B4-BE49-F238E27FC236}">
                  <a16:creationId xmlns:a16="http://schemas.microsoft.com/office/drawing/2014/main" id="{753CFC3A-4A02-40C2-82E4-47040C93A6CA}"/>
                </a:ext>
              </a:extLst>
            </p:cNvPr>
            <p:cNvSpPr/>
            <p:nvPr/>
          </p:nvSpPr>
          <p:spPr>
            <a:xfrm>
              <a:off x="1005840" y="2953512"/>
              <a:ext cx="283464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dirty="0">
                  <a:solidFill>
                    <a:schemeClr val="bg1"/>
                  </a:solidFill>
                  <a:ea typeface="Calibri" pitchFamily="34" charset="-122"/>
                  <a:cs typeface="Calibri" pitchFamily="34" charset="-120"/>
                </a:rPr>
                <a:t>the pollution history</a:t>
              </a:r>
              <a:endParaRPr lang="en-US" dirty="0">
                <a:solidFill>
                  <a:schemeClr val="bg1"/>
                </a:solidFill>
              </a:endParaRPr>
            </a:p>
          </p:txBody>
        </p:sp>
      </p:grpSp>
      <p:sp>
        <p:nvSpPr>
          <p:cNvPr id="22" name="Text 5">
            <a:extLst>
              <a:ext uri="{FF2B5EF4-FFF2-40B4-BE49-F238E27FC236}">
                <a16:creationId xmlns:a16="http://schemas.microsoft.com/office/drawing/2014/main" id="{903BD35E-BF80-4458-B856-1415A59FD6D6}"/>
              </a:ext>
            </a:extLst>
          </p:cNvPr>
          <p:cNvSpPr/>
          <p:nvPr/>
        </p:nvSpPr>
        <p:spPr>
          <a:xfrm>
            <a:off x="4087368" y="2560320"/>
            <a:ext cx="457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5C7080"/>
                </a:solidFill>
                <a:ea typeface="Calibri" pitchFamily="34" charset="-122"/>
                <a:cs typeface="Calibri" pitchFamily="34" charset="-120"/>
              </a:rPr>
              <a:t>→</a:t>
            </a:r>
            <a:endParaRPr lang="en-US" sz="2800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49B8AC87-C581-497D-86C4-E8F29B00B0DF}"/>
              </a:ext>
            </a:extLst>
          </p:cNvPr>
          <p:cNvGrpSpPr/>
          <p:nvPr/>
        </p:nvGrpSpPr>
        <p:grpSpPr>
          <a:xfrm>
            <a:off x="4617720" y="2240280"/>
            <a:ext cx="3108960" cy="1371600"/>
            <a:chOff x="4617720" y="2240280"/>
            <a:chExt cx="3108960" cy="1371600"/>
          </a:xfrm>
        </p:grpSpPr>
        <p:sp>
          <p:nvSpPr>
            <p:cNvPr id="23" name="Shape 6">
              <a:extLst>
                <a:ext uri="{FF2B5EF4-FFF2-40B4-BE49-F238E27FC236}">
                  <a16:creationId xmlns:a16="http://schemas.microsoft.com/office/drawing/2014/main" id="{F59DE7AB-8AE5-43CD-A47B-EE17DD14B3FD}"/>
                </a:ext>
              </a:extLst>
            </p:cNvPr>
            <p:cNvSpPr/>
            <p:nvPr/>
          </p:nvSpPr>
          <p:spPr>
            <a:xfrm>
              <a:off x="4617720" y="2240280"/>
              <a:ext cx="3108960" cy="1371600"/>
            </a:xfrm>
            <a:prstGeom prst="roundRect">
              <a:avLst>
                <a:gd name="adj" fmla="val 5333"/>
              </a:avLst>
            </a:prstGeom>
            <a:solidFill>
              <a:srgbClr val="FFFFFF"/>
            </a:solidFill>
            <a:ln w="12700">
              <a:solidFill>
                <a:srgbClr val="DCE6EC"/>
              </a:solidFill>
              <a:prstDash val="solid"/>
            </a:ln>
            <a:effectLst>
              <a:outerShdw blurRad="101600" dist="25400" dir="5400000" algn="bl" rotWithShape="0">
                <a:srgbClr val="7A93A6">
                  <a:alpha val="25000"/>
                </a:srgbClr>
              </a:outerShdw>
            </a:effectLst>
          </p:spPr>
        </p:sp>
        <p:sp>
          <p:nvSpPr>
            <p:cNvPr id="24" name="Text 7">
              <a:extLst>
                <a:ext uri="{FF2B5EF4-FFF2-40B4-BE49-F238E27FC236}">
                  <a16:creationId xmlns:a16="http://schemas.microsoft.com/office/drawing/2014/main" id="{F554CAEE-35B0-48E4-AAB3-97D1A719F632}"/>
                </a:ext>
              </a:extLst>
            </p:cNvPr>
            <p:cNvSpPr/>
            <p:nvPr/>
          </p:nvSpPr>
          <p:spPr>
            <a:xfrm>
              <a:off x="4754880" y="2478024"/>
              <a:ext cx="283464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b="1" dirty="0">
                  <a:solidFill>
                    <a:srgbClr val="00B050"/>
                  </a:solidFill>
                  <a:ea typeface="Calibri" pitchFamily="34" charset="-122"/>
                  <a:cs typeface="Calibri" pitchFamily="34" charset="-120"/>
                </a:rPr>
                <a:t>Read in chunks</a:t>
              </a:r>
              <a:endParaRPr lang="en-US" dirty="0">
                <a:solidFill>
                  <a:srgbClr val="00B050"/>
                </a:solidFill>
              </a:endParaRPr>
            </a:p>
          </p:txBody>
        </p:sp>
        <p:sp>
          <p:nvSpPr>
            <p:cNvPr id="25" name="Text 8">
              <a:extLst>
                <a:ext uri="{FF2B5EF4-FFF2-40B4-BE49-F238E27FC236}">
                  <a16:creationId xmlns:a16="http://schemas.microsoft.com/office/drawing/2014/main" id="{F9409A27-3B36-4590-9A27-1BD07BCA2905}"/>
                </a:ext>
              </a:extLst>
            </p:cNvPr>
            <p:cNvSpPr/>
            <p:nvPr/>
          </p:nvSpPr>
          <p:spPr>
            <a:xfrm>
              <a:off x="4754880" y="2953512"/>
              <a:ext cx="283464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dirty="0">
                  <a:solidFill>
                    <a:schemeClr val="bg1"/>
                  </a:solidFill>
                  <a:ea typeface="Calibri" pitchFamily="34" charset="-122"/>
                  <a:cs typeface="Calibri" pitchFamily="34" charset="-120"/>
                </a:rPr>
                <a:t>spot the patterns</a:t>
              </a:r>
              <a:endParaRPr lang="en-US" dirty="0">
                <a:solidFill>
                  <a:schemeClr val="bg1"/>
                </a:solidFill>
              </a:endParaRPr>
            </a:p>
          </p:txBody>
        </p:sp>
      </p:grpSp>
      <p:sp>
        <p:nvSpPr>
          <p:cNvPr id="26" name="Text 9">
            <a:extLst>
              <a:ext uri="{FF2B5EF4-FFF2-40B4-BE49-F238E27FC236}">
                <a16:creationId xmlns:a16="http://schemas.microsoft.com/office/drawing/2014/main" id="{37D59D97-5779-441D-A144-FB5E78DDCFAA}"/>
              </a:ext>
            </a:extLst>
          </p:cNvPr>
          <p:cNvSpPr/>
          <p:nvPr/>
        </p:nvSpPr>
        <p:spPr>
          <a:xfrm>
            <a:off x="7836408" y="2560320"/>
            <a:ext cx="457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5C7080"/>
                </a:solidFill>
                <a:ea typeface="Calibri" pitchFamily="34" charset="-122"/>
                <a:cs typeface="Calibri" pitchFamily="34" charset="-120"/>
              </a:rPr>
              <a:t>→</a:t>
            </a:r>
            <a:endParaRPr lang="en-US" sz="2800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338428E8-A408-44AF-92DF-ABC24435AB6B}"/>
              </a:ext>
            </a:extLst>
          </p:cNvPr>
          <p:cNvGrpSpPr/>
          <p:nvPr/>
        </p:nvGrpSpPr>
        <p:grpSpPr>
          <a:xfrm>
            <a:off x="8366760" y="2240280"/>
            <a:ext cx="3108960" cy="1371600"/>
            <a:chOff x="8366760" y="2240280"/>
            <a:chExt cx="3108960" cy="1371600"/>
          </a:xfrm>
        </p:grpSpPr>
        <p:sp>
          <p:nvSpPr>
            <p:cNvPr id="27" name="Shape 10">
              <a:extLst>
                <a:ext uri="{FF2B5EF4-FFF2-40B4-BE49-F238E27FC236}">
                  <a16:creationId xmlns:a16="http://schemas.microsoft.com/office/drawing/2014/main" id="{3025AE90-3CB8-4CC5-A709-CD65B2D10DE5}"/>
                </a:ext>
              </a:extLst>
            </p:cNvPr>
            <p:cNvSpPr/>
            <p:nvPr/>
          </p:nvSpPr>
          <p:spPr>
            <a:xfrm>
              <a:off x="8366760" y="2240280"/>
              <a:ext cx="3108960" cy="1371600"/>
            </a:xfrm>
            <a:prstGeom prst="roundRect">
              <a:avLst>
                <a:gd name="adj" fmla="val 5333"/>
              </a:avLst>
            </a:prstGeom>
            <a:solidFill>
              <a:srgbClr val="FFFFFF"/>
            </a:solidFill>
            <a:ln w="12700">
              <a:solidFill>
                <a:srgbClr val="DCE6EC"/>
              </a:solidFill>
              <a:prstDash val="solid"/>
            </a:ln>
            <a:effectLst>
              <a:outerShdw blurRad="101600" dist="25400" dir="5400000" algn="bl" rotWithShape="0">
                <a:srgbClr val="7A93A6">
                  <a:alpha val="25000"/>
                </a:srgbClr>
              </a:outerShdw>
            </a:effectLst>
          </p:spPr>
        </p:sp>
        <p:sp>
          <p:nvSpPr>
            <p:cNvPr id="28" name="Text 11">
              <a:extLst>
                <a:ext uri="{FF2B5EF4-FFF2-40B4-BE49-F238E27FC236}">
                  <a16:creationId xmlns:a16="http://schemas.microsoft.com/office/drawing/2014/main" id="{CF4F3E9E-F914-43F1-AA77-A833ED9F6A66}"/>
                </a:ext>
              </a:extLst>
            </p:cNvPr>
            <p:cNvSpPr/>
            <p:nvPr/>
          </p:nvSpPr>
          <p:spPr>
            <a:xfrm>
              <a:off x="8503920" y="2478024"/>
              <a:ext cx="283464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b="1" dirty="0">
                  <a:solidFill>
                    <a:srgbClr val="7030A0"/>
                  </a:solidFill>
                  <a:ea typeface="Calibri" pitchFamily="34" charset="-122"/>
                  <a:cs typeface="Calibri" pitchFamily="34" charset="-120"/>
                </a:rPr>
                <a:t>Predict a range</a:t>
              </a:r>
              <a:endParaRPr lang="en-US" dirty="0">
                <a:solidFill>
                  <a:srgbClr val="7030A0"/>
                </a:solidFill>
              </a:endParaRPr>
            </a:p>
          </p:txBody>
        </p:sp>
        <p:sp>
          <p:nvSpPr>
            <p:cNvPr id="29" name="Text 12">
              <a:extLst>
                <a:ext uri="{FF2B5EF4-FFF2-40B4-BE49-F238E27FC236}">
                  <a16:creationId xmlns:a16="http://schemas.microsoft.com/office/drawing/2014/main" id="{5BDF1B54-30A1-4651-BE38-3D27D0F2D712}"/>
                </a:ext>
              </a:extLst>
            </p:cNvPr>
            <p:cNvSpPr/>
            <p:nvPr/>
          </p:nvSpPr>
          <p:spPr>
            <a:xfrm>
              <a:off x="8503920" y="2953512"/>
              <a:ext cx="283464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dirty="0">
                  <a:solidFill>
                    <a:schemeClr val="bg1"/>
                  </a:solidFill>
                  <a:ea typeface="Calibri" pitchFamily="34" charset="-122"/>
                  <a:cs typeface="Calibri" pitchFamily="34" charset="-120"/>
                </a:rPr>
                <a:t>best guess + uncertainty</a:t>
              </a:r>
              <a:endParaRPr lang="en-US" dirty="0">
                <a:solidFill>
                  <a:schemeClr val="bg1"/>
                </a:solidFill>
              </a:endParaRPr>
            </a:p>
          </p:txBody>
        </p:sp>
      </p:grpSp>
      <p:sp>
        <p:nvSpPr>
          <p:cNvPr id="30" name="Shape 13">
            <a:extLst>
              <a:ext uri="{FF2B5EF4-FFF2-40B4-BE49-F238E27FC236}">
                <a16:creationId xmlns:a16="http://schemas.microsoft.com/office/drawing/2014/main" id="{D06B7C73-0BFD-445B-8AB5-D2DAD9E44EAF}"/>
              </a:ext>
            </a:extLst>
          </p:cNvPr>
          <p:cNvSpPr/>
          <p:nvPr/>
        </p:nvSpPr>
        <p:spPr>
          <a:xfrm>
            <a:off x="868680" y="4160520"/>
            <a:ext cx="10607040" cy="1783080"/>
          </a:xfrm>
          <a:prstGeom prst="roundRect">
            <a:avLst>
              <a:gd name="adj" fmla="val 4103"/>
            </a:avLst>
          </a:prstGeom>
          <a:solidFill>
            <a:srgbClr val="F5F8FA"/>
          </a:solidFill>
          <a:ln w="12700">
            <a:solidFill>
              <a:srgbClr val="DCE6EC"/>
            </a:solidFill>
            <a:prstDash val="solid"/>
          </a:ln>
          <a:effectLst>
            <a:outerShdw blurRad="101600" dist="25400" dir="5400000" algn="bl" rotWithShape="0">
              <a:srgbClr val="7A93A6">
                <a:alpha val="25000"/>
              </a:srgbClr>
            </a:outerShdw>
          </a:effectLst>
        </p:spPr>
      </p:sp>
      <p:sp>
        <p:nvSpPr>
          <p:cNvPr id="31" name="Shape 14">
            <a:extLst>
              <a:ext uri="{FF2B5EF4-FFF2-40B4-BE49-F238E27FC236}">
                <a16:creationId xmlns:a16="http://schemas.microsoft.com/office/drawing/2014/main" id="{8E9B3362-6B66-4E37-9BCA-36C7156865CD}"/>
              </a:ext>
            </a:extLst>
          </p:cNvPr>
          <p:cNvSpPr/>
          <p:nvPr/>
        </p:nvSpPr>
        <p:spPr>
          <a:xfrm>
            <a:off x="1186688" y="4425696"/>
            <a:ext cx="146304" cy="146304"/>
          </a:xfrm>
          <a:prstGeom prst="ellipse">
            <a:avLst/>
          </a:prstGeom>
          <a:solidFill>
            <a:srgbClr val="00B050"/>
          </a:solidFill>
          <a:ln/>
        </p:spPr>
      </p:sp>
      <p:sp>
        <p:nvSpPr>
          <p:cNvPr id="32" name="Text 15">
            <a:extLst>
              <a:ext uri="{FF2B5EF4-FFF2-40B4-BE49-F238E27FC236}">
                <a16:creationId xmlns:a16="http://schemas.microsoft.com/office/drawing/2014/main" id="{FB1203BC-EC4C-4971-81C0-0F50832AEC2D}"/>
              </a:ext>
            </a:extLst>
          </p:cNvPr>
          <p:cNvSpPr/>
          <p:nvPr/>
        </p:nvSpPr>
        <p:spPr>
          <a:xfrm>
            <a:off x="1325880" y="4315968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2232E"/>
                </a:solidFill>
                <a:ea typeface="Calibri" pitchFamily="34" charset="-122"/>
                <a:cs typeface="Calibri" pitchFamily="34" charset="-120"/>
              </a:rPr>
              <a:t>Reads in chunks</a:t>
            </a:r>
            <a:endParaRPr lang="en-US" sz="1600" dirty="0"/>
          </a:p>
        </p:txBody>
      </p:sp>
      <p:sp>
        <p:nvSpPr>
          <p:cNvPr id="33" name="Text 16">
            <a:extLst>
              <a:ext uri="{FF2B5EF4-FFF2-40B4-BE49-F238E27FC236}">
                <a16:creationId xmlns:a16="http://schemas.microsoft.com/office/drawing/2014/main" id="{839EB5A0-3D52-488C-B4D2-6D6BAD58F532}"/>
              </a:ext>
            </a:extLst>
          </p:cNvPr>
          <p:cNvSpPr/>
          <p:nvPr/>
        </p:nvSpPr>
        <p:spPr>
          <a:xfrm>
            <a:off x="1325880" y="4681728"/>
            <a:ext cx="2761488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600" dirty="0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Short windows of readings, like words in a sentence</a:t>
            </a:r>
            <a:r>
              <a:rPr lang="hr-HR" sz="1600" dirty="0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, </a:t>
            </a:r>
            <a:r>
              <a:rPr lang="en-US" sz="1600" dirty="0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so it catches the shape.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45" name="Shape 17">
            <a:extLst>
              <a:ext uri="{FF2B5EF4-FFF2-40B4-BE49-F238E27FC236}">
                <a16:creationId xmlns:a16="http://schemas.microsoft.com/office/drawing/2014/main" id="{E0B283E9-5F73-4B38-A59B-5FEC88B57DA7}"/>
              </a:ext>
            </a:extLst>
          </p:cNvPr>
          <p:cNvSpPr/>
          <p:nvPr/>
        </p:nvSpPr>
        <p:spPr>
          <a:xfrm>
            <a:off x="4694936" y="4425696"/>
            <a:ext cx="146304" cy="146304"/>
          </a:xfrm>
          <a:prstGeom prst="ellipse">
            <a:avLst/>
          </a:prstGeom>
          <a:solidFill>
            <a:srgbClr val="FFC000"/>
          </a:solidFill>
          <a:ln/>
        </p:spPr>
      </p:sp>
      <p:sp>
        <p:nvSpPr>
          <p:cNvPr id="46" name="Text 18">
            <a:extLst>
              <a:ext uri="{FF2B5EF4-FFF2-40B4-BE49-F238E27FC236}">
                <a16:creationId xmlns:a16="http://schemas.microsoft.com/office/drawing/2014/main" id="{5161502C-714D-4B15-9D9E-A204A6A36A97}"/>
              </a:ext>
            </a:extLst>
          </p:cNvPr>
          <p:cNvSpPr/>
          <p:nvPr/>
        </p:nvSpPr>
        <p:spPr>
          <a:xfrm>
            <a:off x="4846320" y="4315968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2232E"/>
                </a:solidFill>
                <a:ea typeface="Calibri" pitchFamily="34" charset="-122"/>
                <a:cs typeface="Calibri" pitchFamily="34" charset="-120"/>
              </a:rPr>
              <a:t>Learned once</a:t>
            </a:r>
            <a:endParaRPr lang="en-US" sz="1600" dirty="0"/>
          </a:p>
        </p:txBody>
      </p:sp>
      <p:sp>
        <p:nvSpPr>
          <p:cNvPr id="47" name="Text 19">
            <a:extLst>
              <a:ext uri="{FF2B5EF4-FFF2-40B4-BE49-F238E27FC236}">
                <a16:creationId xmlns:a16="http://schemas.microsoft.com/office/drawing/2014/main" id="{EBF08CEE-88AD-4488-BFCC-514695135D7D}"/>
              </a:ext>
            </a:extLst>
          </p:cNvPr>
          <p:cNvSpPr/>
          <p:nvPr/>
        </p:nvSpPr>
        <p:spPr>
          <a:xfrm>
            <a:off x="4846320" y="4681728"/>
            <a:ext cx="3108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600" dirty="0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From millions of series of every kind. You just download it, ready to go.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48" name="Shape 20">
            <a:extLst>
              <a:ext uri="{FF2B5EF4-FFF2-40B4-BE49-F238E27FC236}">
                <a16:creationId xmlns:a16="http://schemas.microsoft.com/office/drawing/2014/main" id="{1F90EC34-4D9D-438F-953C-BB14D594BED0}"/>
              </a:ext>
            </a:extLst>
          </p:cNvPr>
          <p:cNvSpPr/>
          <p:nvPr/>
        </p:nvSpPr>
        <p:spPr>
          <a:xfrm>
            <a:off x="8220456" y="4425696"/>
            <a:ext cx="146304" cy="146304"/>
          </a:xfrm>
          <a:prstGeom prst="ellipse">
            <a:avLst/>
          </a:prstGeom>
          <a:solidFill>
            <a:srgbClr val="7030A0"/>
          </a:solidFill>
          <a:ln/>
        </p:spPr>
      </p:sp>
      <p:sp>
        <p:nvSpPr>
          <p:cNvPr id="49" name="Text 21">
            <a:extLst>
              <a:ext uri="{FF2B5EF4-FFF2-40B4-BE49-F238E27FC236}">
                <a16:creationId xmlns:a16="http://schemas.microsoft.com/office/drawing/2014/main" id="{13745457-40CE-483E-BAD9-C2A628C8118D}"/>
              </a:ext>
            </a:extLst>
          </p:cNvPr>
          <p:cNvSpPr/>
          <p:nvPr/>
        </p:nvSpPr>
        <p:spPr>
          <a:xfrm>
            <a:off x="8366760" y="4315968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2232E"/>
                </a:solidFill>
                <a:ea typeface="Calibri" pitchFamily="34" charset="-122"/>
                <a:cs typeface="Calibri" pitchFamily="34" charset="-120"/>
              </a:rPr>
              <a:t>Gives a range</a:t>
            </a:r>
            <a:endParaRPr lang="en-US" sz="1600" dirty="0"/>
          </a:p>
        </p:txBody>
      </p:sp>
      <p:sp>
        <p:nvSpPr>
          <p:cNvPr id="50" name="Text 22">
            <a:extLst>
              <a:ext uri="{FF2B5EF4-FFF2-40B4-BE49-F238E27FC236}">
                <a16:creationId xmlns:a16="http://schemas.microsoft.com/office/drawing/2014/main" id="{F8D3AAF2-83FC-4054-9A5A-F80131C89593}"/>
              </a:ext>
            </a:extLst>
          </p:cNvPr>
          <p:cNvSpPr/>
          <p:nvPr/>
        </p:nvSpPr>
        <p:spPr>
          <a:xfrm>
            <a:off x="8366760" y="4681728"/>
            <a:ext cx="3200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600" dirty="0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Not a single line</a:t>
            </a:r>
            <a:r>
              <a:rPr lang="hr-HR" sz="1600" dirty="0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,</a:t>
            </a:r>
            <a:r>
              <a:rPr lang="en-US" sz="1600" dirty="0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 a best guess plus how sure it is.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9D96C49-AADC-48FC-807A-94EBCD161A09}"/>
              </a:ext>
            </a:extLst>
          </p:cNvPr>
          <p:cNvSpPr/>
          <p:nvPr/>
        </p:nvSpPr>
        <p:spPr>
          <a:xfrm>
            <a:off x="790892" y="6178296"/>
            <a:ext cx="1060704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i="1" dirty="0">
                <a:ea typeface="Calibri" pitchFamily="34" charset="-122"/>
                <a:cs typeface="Calibri" pitchFamily="34" charset="-120"/>
              </a:rPr>
              <a:t>(The technical name is a ‘transformer’ </a:t>
            </a:r>
            <a:r>
              <a:rPr lang="hr-HR" i="1" dirty="0">
                <a:ea typeface="Calibri" pitchFamily="34" charset="-122"/>
                <a:cs typeface="Calibri" pitchFamily="34" charset="-120"/>
              </a:rPr>
              <a:t>,</a:t>
            </a:r>
            <a:r>
              <a:rPr lang="en-US" i="1" dirty="0">
                <a:ea typeface="Calibri" pitchFamily="34" charset="-122"/>
                <a:cs typeface="Calibri" pitchFamily="34" charset="-120"/>
              </a:rPr>
              <a:t> the same family behind chatbots. You don't need the details today.)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14996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r-HR" dirty="0"/>
              <a:t>The toolbox in 2026 (These run on a normal laptop)</a:t>
            </a:r>
            <a:endParaRPr lang="en-US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4B737305-C4B6-457C-B0C8-4FBB792FF5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03479103"/>
              </p:ext>
            </p:extLst>
          </p:nvPr>
        </p:nvGraphicFramePr>
        <p:xfrm>
          <a:off x="1398645" y="2564904"/>
          <a:ext cx="9391533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30511">
                  <a:extLst>
                    <a:ext uri="{9D8B030D-6E8A-4147-A177-3AD203B41FA5}">
                      <a16:colId xmlns:a16="http://schemas.microsoft.com/office/drawing/2014/main" val="3370873178"/>
                    </a:ext>
                  </a:extLst>
                </a:gridCol>
                <a:gridCol w="2660623">
                  <a:extLst>
                    <a:ext uri="{9D8B030D-6E8A-4147-A177-3AD203B41FA5}">
                      <a16:colId xmlns:a16="http://schemas.microsoft.com/office/drawing/2014/main" val="3277491426"/>
                    </a:ext>
                  </a:extLst>
                </a:gridCol>
                <a:gridCol w="3600399">
                  <a:extLst>
                    <a:ext uri="{9D8B030D-6E8A-4147-A177-3AD203B41FA5}">
                      <a16:colId xmlns:a16="http://schemas.microsoft.com/office/drawing/2014/main" val="34317445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hr-HR" dirty="0"/>
                        <a:t>MODEL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r-HR" dirty="0"/>
                        <a:t>RUNS ON A LAPTOP?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r-HR" dirty="0"/>
                        <a:t>WHAT IT’S GOOD FOR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37969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hr-HR" dirty="0"/>
                        <a:t>Chronos-Bolt  (Amazon)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r-HR" dirty="0"/>
                        <a:t>Yes, fast even on a CPU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r-HR" dirty="0"/>
                        <a:t>Quick forecasts, a strong baseline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20094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hr-HR" dirty="0"/>
                        <a:t>Chronos-2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r-HR" dirty="0"/>
                        <a:t>Yes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r-HR" dirty="0"/>
                        <a:t>Forecasts that also use weather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27118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hr-HR" dirty="0"/>
                        <a:t>TimesFM  (Google)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r-HR" dirty="0"/>
                        <a:t>Yes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r-HR" dirty="0"/>
                        <a:t>General purpose forecasts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655833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hr-HR" dirty="0"/>
                        <a:t>Granite TTM  (IBM)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r-HR" dirty="0"/>
                        <a:t>Yes, tiny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r-HR" dirty="0"/>
                        <a:t>A quick sanity check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58972065"/>
                  </a:ext>
                </a:extLst>
              </a:tr>
            </a:tbl>
          </a:graphicData>
        </a:graphic>
      </p:graphicFrame>
      <p:grpSp>
        <p:nvGrpSpPr>
          <p:cNvPr id="3" name="Group 2">
            <a:extLst>
              <a:ext uri="{FF2B5EF4-FFF2-40B4-BE49-F238E27FC236}">
                <a16:creationId xmlns:a16="http://schemas.microsoft.com/office/drawing/2014/main" id="{C042E8D8-2EE9-4564-A9E5-1F41215CB1FB}"/>
              </a:ext>
            </a:extLst>
          </p:cNvPr>
          <p:cNvGrpSpPr/>
          <p:nvPr/>
        </p:nvGrpSpPr>
        <p:grpSpPr>
          <a:xfrm>
            <a:off x="822960" y="5715000"/>
            <a:ext cx="10528036" cy="822960"/>
            <a:chOff x="822960" y="5715000"/>
            <a:chExt cx="10528036" cy="822960"/>
          </a:xfrm>
        </p:grpSpPr>
        <p:sp>
          <p:nvSpPr>
            <p:cNvPr id="40" name="Shape 25">
              <a:extLst>
                <a:ext uri="{FF2B5EF4-FFF2-40B4-BE49-F238E27FC236}">
                  <a16:creationId xmlns:a16="http://schemas.microsoft.com/office/drawing/2014/main" id="{CDC24406-27F6-4326-A1BE-24F5EC646BCF}"/>
                </a:ext>
              </a:extLst>
            </p:cNvPr>
            <p:cNvSpPr/>
            <p:nvPr/>
          </p:nvSpPr>
          <p:spPr>
            <a:xfrm>
              <a:off x="822960" y="5715000"/>
              <a:ext cx="10528036" cy="822960"/>
            </a:xfrm>
            <a:prstGeom prst="roundRect">
              <a:avLst>
                <a:gd name="adj" fmla="val 8889"/>
              </a:avLst>
            </a:prstGeom>
            <a:solidFill>
              <a:srgbClr val="0B1E2D"/>
            </a:solidFill>
            <a:ln w="12700">
              <a:solidFill>
                <a:srgbClr val="DCE6EC"/>
              </a:solidFill>
              <a:prstDash val="solid"/>
            </a:ln>
            <a:effectLst>
              <a:outerShdw blurRad="101600" dist="25400" dir="5400000" algn="bl" rotWithShape="0">
                <a:srgbClr val="7A93A6">
                  <a:alpha val="25000"/>
                </a:srgbClr>
              </a:outerShdw>
            </a:effectLst>
          </p:spPr>
        </p:sp>
        <p:sp>
          <p:nvSpPr>
            <p:cNvPr id="41" name="Text 26">
              <a:extLst>
                <a:ext uri="{FF2B5EF4-FFF2-40B4-BE49-F238E27FC236}">
                  <a16:creationId xmlns:a16="http://schemas.microsoft.com/office/drawing/2014/main" id="{978F0AF3-DAE3-4E5F-BDF7-08CCFBF510AD}"/>
                </a:ext>
              </a:extLst>
            </p:cNvPr>
            <p:cNvSpPr/>
            <p:nvPr/>
          </p:nvSpPr>
          <p:spPr>
            <a:xfrm>
              <a:off x="1097280" y="5806440"/>
              <a:ext cx="1554480" cy="6400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2400" b="1" dirty="0">
                  <a:solidFill>
                    <a:srgbClr val="00B4D8"/>
                  </a:solidFill>
                  <a:ea typeface="Calibri" pitchFamily="34" charset="-122"/>
                  <a:cs typeface="Calibri" pitchFamily="34" charset="-120"/>
                </a:rPr>
                <a:t>600M+</a:t>
              </a:r>
              <a:endParaRPr lang="en-US" sz="2400" dirty="0"/>
            </a:p>
          </p:txBody>
        </p:sp>
        <p:sp>
          <p:nvSpPr>
            <p:cNvPr id="42" name="Text 27">
              <a:extLst>
                <a:ext uri="{FF2B5EF4-FFF2-40B4-BE49-F238E27FC236}">
                  <a16:creationId xmlns:a16="http://schemas.microsoft.com/office/drawing/2014/main" id="{BC905E46-70A9-4F5F-A1CE-A0A089F95E6E}"/>
                </a:ext>
              </a:extLst>
            </p:cNvPr>
            <p:cNvSpPr/>
            <p:nvPr/>
          </p:nvSpPr>
          <p:spPr>
            <a:xfrm>
              <a:off x="2133972" y="5825584"/>
              <a:ext cx="2460536" cy="6858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lnSpc>
                  <a:spcPts val="1400"/>
                </a:lnSpc>
                <a:buNone/>
              </a:pPr>
              <a:r>
                <a:rPr lang="en-US" sz="1400" dirty="0">
                  <a:ea typeface="Calibri" pitchFamily="34" charset="-122"/>
                  <a:cs typeface="Calibri" pitchFamily="34" charset="-120"/>
                </a:rPr>
                <a:t>downloads (people trust these)</a:t>
              </a:r>
              <a:endParaRPr lang="en-US" sz="1400" dirty="0"/>
            </a:p>
          </p:txBody>
        </p:sp>
        <p:sp>
          <p:nvSpPr>
            <p:cNvPr id="43" name="Text 28">
              <a:extLst>
                <a:ext uri="{FF2B5EF4-FFF2-40B4-BE49-F238E27FC236}">
                  <a16:creationId xmlns:a16="http://schemas.microsoft.com/office/drawing/2014/main" id="{B177C7B6-7EFF-425F-A620-AFC1B73D5B81}"/>
                </a:ext>
              </a:extLst>
            </p:cNvPr>
            <p:cNvSpPr/>
            <p:nvPr/>
          </p:nvSpPr>
          <p:spPr>
            <a:xfrm>
              <a:off x="4794076" y="5806440"/>
              <a:ext cx="1554480" cy="6400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2400" b="1" dirty="0">
                  <a:solidFill>
                    <a:srgbClr val="00B4D8"/>
                  </a:solidFill>
                  <a:ea typeface="Calibri" pitchFamily="34" charset="-122"/>
                  <a:cs typeface="Calibri" pitchFamily="34" charset="-120"/>
                </a:rPr>
                <a:t>laptop</a:t>
              </a:r>
              <a:endParaRPr lang="en-US" sz="2400" dirty="0"/>
            </a:p>
          </p:txBody>
        </p:sp>
        <p:sp>
          <p:nvSpPr>
            <p:cNvPr id="44" name="Text 29">
              <a:extLst>
                <a:ext uri="{FF2B5EF4-FFF2-40B4-BE49-F238E27FC236}">
                  <a16:creationId xmlns:a16="http://schemas.microsoft.com/office/drawing/2014/main" id="{B206702A-FAF9-4668-9E60-7504B9014FE3}"/>
                </a:ext>
              </a:extLst>
            </p:cNvPr>
            <p:cNvSpPr/>
            <p:nvPr/>
          </p:nvSpPr>
          <p:spPr>
            <a:xfrm>
              <a:off x="5754196" y="5805264"/>
              <a:ext cx="2460536" cy="6858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lnSpc>
                  <a:spcPts val="1400"/>
                </a:lnSpc>
                <a:buNone/>
              </a:pPr>
              <a:r>
                <a:rPr lang="en-US" sz="1400" dirty="0">
                  <a:ea typeface="Calibri" pitchFamily="34" charset="-122"/>
                  <a:cs typeface="Calibri" pitchFamily="34" charset="-120"/>
                </a:rPr>
                <a:t>no supercomputer needed</a:t>
              </a:r>
              <a:endParaRPr lang="en-US" sz="1400" dirty="0"/>
            </a:p>
          </p:txBody>
        </p:sp>
        <p:sp>
          <p:nvSpPr>
            <p:cNvPr id="51" name="Text 30">
              <a:extLst>
                <a:ext uri="{FF2B5EF4-FFF2-40B4-BE49-F238E27FC236}">
                  <a16:creationId xmlns:a16="http://schemas.microsoft.com/office/drawing/2014/main" id="{0A685592-4DDB-4E54-9BF8-F6732BAA5354}"/>
                </a:ext>
              </a:extLst>
            </p:cNvPr>
            <p:cNvSpPr/>
            <p:nvPr/>
          </p:nvSpPr>
          <p:spPr>
            <a:xfrm>
              <a:off x="8321040" y="5806440"/>
              <a:ext cx="1554480" cy="6400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2400" b="1" dirty="0">
                  <a:solidFill>
                    <a:srgbClr val="00B4D8"/>
                  </a:solidFill>
                  <a:ea typeface="Calibri" pitchFamily="34" charset="-122"/>
                  <a:cs typeface="Calibri" pitchFamily="34" charset="-120"/>
                </a:rPr>
                <a:t>0</a:t>
              </a:r>
              <a:endParaRPr lang="en-US" sz="2400" dirty="0"/>
            </a:p>
          </p:txBody>
        </p:sp>
        <p:sp>
          <p:nvSpPr>
            <p:cNvPr id="52" name="Text 31">
              <a:extLst>
                <a:ext uri="{FF2B5EF4-FFF2-40B4-BE49-F238E27FC236}">
                  <a16:creationId xmlns:a16="http://schemas.microsoft.com/office/drawing/2014/main" id="{21B075D6-1F6F-4BFA-9A98-76115BD06D6C}"/>
                </a:ext>
              </a:extLst>
            </p:cNvPr>
            <p:cNvSpPr/>
            <p:nvPr/>
          </p:nvSpPr>
          <p:spPr>
            <a:xfrm>
              <a:off x="8580492" y="5805264"/>
              <a:ext cx="2460536" cy="6858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lnSpc>
                  <a:spcPts val="1400"/>
                </a:lnSpc>
                <a:buNone/>
              </a:pPr>
              <a:r>
                <a:rPr lang="en-US" sz="1400" dirty="0">
                  <a:ea typeface="Calibri" pitchFamily="34" charset="-122"/>
                  <a:cs typeface="Calibri" pitchFamily="34" charset="-120"/>
                </a:rPr>
                <a:t>training on your data</a:t>
              </a:r>
              <a:endParaRPr lang="en-US" sz="1400" dirty="0"/>
            </a:p>
          </p:txBody>
        </p:sp>
      </p:grpSp>
    </p:spTree>
    <p:extLst>
      <p:ext uri="{BB962C8B-B14F-4D97-AF65-F5344CB8AC3E}">
        <p14:creationId xmlns:p14="http://schemas.microsoft.com/office/powerpoint/2010/main" val="30227291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59614" y="2514600"/>
            <a:ext cx="9355278" cy="2819400"/>
          </a:xfrm>
        </p:spPr>
        <p:txBody>
          <a:bodyPr/>
          <a:lstStyle/>
          <a:p>
            <a:r>
              <a:rPr lang="hr-HR" dirty="0"/>
              <a:t>Part 2</a:t>
            </a:r>
            <a:br>
              <a:rPr lang="hr-HR" dirty="0"/>
            </a:br>
            <a:br>
              <a:rPr lang="hr-HR" dirty="0"/>
            </a:br>
            <a:r>
              <a:rPr lang="hr-HR" dirty="0"/>
              <a:t>Let’s forecast some data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0420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2413" y="381000"/>
            <a:ext cx="9144001" cy="743744"/>
          </a:xfrm>
        </p:spPr>
        <p:txBody>
          <a:bodyPr anchor="t"/>
          <a:lstStyle/>
          <a:p>
            <a:r>
              <a:rPr lang="en-US" dirty="0"/>
              <a:t>Beijing Multi-Site Air Quality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04781" y="1141338"/>
            <a:ext cx="4419599" cy="4114800"/>
          </a:xfrm>
        </p:spPr>
        <p:txBody>
          <a:bodyPr>
            <a:normAutofit/>
          </a:bodyPr>
          <a:lstStyle/>
          <a:p>
            <a:r>
              <a:rPr lang="hr-HR" dirty="0"/>
              <a:t>12 </a:t>
            </a:r>
            <a:r>
              <a:rPr lang="en-US" dirty="0"/>
              <a:t>monitoring stations across the city</a:t>
            </a:r>
          </a:p>
          <a:p>
            <a:r>
              <a:rPr lang="hr-HR" dirty="0"/>
              <a:t>4 yrs every hour, 2013–2017</a:t>
            </a:r>
          </a:p>
          <a:p>
            <a:r>
              <a:rPr lang="hr-HR" dirty="0"/>
              <a:t>6 pollutants: PM2.5, PM10, SO₂, NO₂, CO, O₃</a:t>
            </a:r>
          </a:p>
          <a:p>
            <a:r>
              <a:rPr lang="hr-HR" dirty="0"/>
              <a:t>+ </a:t>
            </a:r>
            <a:r>
              <a:rPr lang="en-US" dirty="0"/>
              <a:t>weather: temp, pressure, wind, rain…</a:t>
            </a:r>
          </a:p>
          <a:p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8C31A10-A1CC-4957-9E8F-A689A8AF046E}"/>
              </a:ext>
            </a:extLst>
          </p:cNvPr>
          <p:cNvSpPr/>
          <p:nvPr/>
        </p:nvSpPr>
        <p:spPr>
          <a:xfrm>
            <a:off x="1783920" y="6381328"/>
            <a:ext cx="8280920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/>
              <a:t>https://archive.ics.uci.edu/static/public/501/beijing+multi+site+air+quality+data.zip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A0484C1-13F4-41FF-A29A-2613BCA0B20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30516" y="1103140"/>
            <a:ext cx="4608512" cy="51177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76750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r>
              <a:rPr lang="hr-HR" dirty="0"/>
              <a:t>Demo 1: Forecast with no training</a:t>
            </a:r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1D6AA9D-CDBB-46FA-8C8E-5AB5C5F3074A}"/>
              </a:ext>
            </a:extLst>
          </p:cNvPr>
          <p:cNvSpPr/>
          <p:nvPr/>
        </p:nvSpPr>
        <p:spPr>
          <a:xfrm>
            <a:off x="3965926" y="6292334"/>
            <a:ext cx="424744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Chronos-Bolt (zero-shot) vs tuned SARIMA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D48CF3D-BFA2-4AE0-A7B0-9E9FABA9CBA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8228" y="1196752"/>
            <a:ext cx="9502842" cy="4857009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F5B6DED4-ACDB-4DDB-8A29-A7FAC2147694}"/>
              </a:ext>
            </a:extLst>
          </p:cNvPr>
          <p:cNvSpPr/>
          <p:nvPr/>
        </p:nvSpPr>
        <p:spPr>
          <a:xfrm>
            <a:off x="10841070" y="5368860"/>
            <a:ext cx="145103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hr-HR" sz="1600" dirty="0"/>
              <a:t>512 hrs history </a:t>
            </a:r>
          </a:p>
          <a:p>
            <a:r>
              <a:rPr lang="hr-HR" sz="1600" dirty="0"/>
              <a:t>72 hrs horizon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003450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r>
              <a:rPr lang="hr-HR" dirty="0"/>
              <a:t>Demo 2: A range, not just a line</a:t>
            </a:r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1D6AA9D-CDBB-46FA-8C8E-5AB5C5F3074A}"/>
              </a:ext>
            </a:extLst>
          </p:cNvPr>
          <p:cNvSpPr/>
          <p:nvPr/>
        </p:nvSpPr>
        <p:spPr>
          <a:xfrm>
            <a:off x="2030350" y="6259560"/>
            <a:ext cx="812812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hr-HR" dirty="0"/>
              <a:t>T</a:t>
            </a:r>
            <a:r>
              <a:rPr lang="en-US" dirty="0"/>
              <a:t>he forecast </a:t>
            </a:r>
            <a:r>
              <a:rPr lang="hr-HR" dirty="0"/>
              <a:t>(Chronos-Bolt) </a:t>
            </a:r>
            <a:r>
              <a:rPr lang="en-US" dirty="0"/>
              <a:t>as a shaded range, with health-guideline lines drawn 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9930062-ACF1-49C0-AA43-D65592A6DC3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1981" y="1196752"/>
            <a:ext cx="9464860" cy="48375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91915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r>
              <a:rPr lang="hr-HR" dirty="0"/>
              <a:t>Demo 3: Now give it the weather</a:t>
            </a:r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1D6AA9D-CDBB-46FA-8C8E-5AB5C5F3074A}"/>
              </a:ext>
            </a:extLst>
          </p:cNvPr>
          <p:cNvSpPr/>
          <p:nvPr/>
        </p:nvSpPr>
        <p:spPr>
          <a:xfrm>
            <a:off x="2739850" y="6153834"/>
            <a:ext cx="6699591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/>
              <a:t>Chronos-</a:t>
            </a:r>
            <a:r>
              <a:rPr lang="hr-HR" dirty="0"/>
              <a:t>2</a:t>
            </a:r>
            <a:r>
              <a:rPr lang="en-US" dirty="0"/>
              <a:t> </a:t>
            </a:r>
            <a:r>
              <a:rPr lang="hr-HR" dirty="0"/>
              <a:t>with and without covariates(temperature. wind, pressure)</a:t>
            </a:r>
          </a:p>
          <a:p>
            <a:pPr algn="ctr"/>
            <a:r>
              <a:rPr lang="en-US" dirty="0"/>
              <a:t>MAE</a:t>
            </a:r>
            <a:r>
              <a:rPr lang="hr-HR" dirty="0"/>
              <a:t>:</a:t>
            </a:r>
            <a:r>
              <a:rPr lang="en-US" dirty="0"/>
              <a:t>  Chronos-2 (no </a:t>
            </a:r>
            <a:r>
              <a:rPr lang="en-US" dirty="0" err="1"/>
              <a:t>cov</a:t>
            </a:r>
            <a:r>
              <a:rPr lang="en-US" dirty="0"/>
              <a:t>)=109.92   (</a:t>
            </a:r>
            <a:r>
              <a:rPr lang="hr-HR" dirty="0"/>
              <a:t>with</a:t>
            </a:r>
            <a:r>
              <a:rPr lang="en-US" dirty="0"/>
              <a:t> </a:t>
            </a:r>
            <a:r>
              <a:rPr lang="en-US" dirty="0" err="1"/>
              <a:t>cov</a:t>
            </a:r>
            <a:r>
              <a:rPr lang="en-US" dirty="0"/>
              <a:t>)=14.87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EBA39EF-076D-4182-BF27-1F2A211D970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7216" y="1196752"/>
            <a:ext cx="9464860" cy="48375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55362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/>
              <a:t>Where it still struggles</a:t>
            </a:r>
            <a:endParaRPr lang="en-US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F0DFB86-B0E1-4BEB-BB87-A1C4E21BED2D}"/>
              </a:ext>
            </a:extLst>
          </p:cNvPr>
          <p:cNvGrpSpPr/>
          <p:nvPr/>
        </p:nvGrpSpPr>
        <p:grpSpPr>
          <a:xfrm>
            <a:off x="896112" y="1988840"/>
            <a:ext cx="4874519" cy="1216136"/>
            <a:chOff x="896112" y="1988840"/>
            <a:chExt cx="4874519" cy="1216136"/>
          </a:xfrm>
        </p:grpSpPr>
        <p:sp>
          <p:nvSpPr>
            <p:cNvPr id="7" name="Shape 3">
              <a:extLst>
                <a:ext uri="{FF2B5EF4-FFF2-40B4-BE49-F238E27FC236}">
                  <a16:creationId xmlns:a16="http://schemas.microsoft.com/office/drawing/2014/main" id="{118A1B70-2EF3-43A4-B25C-C86EE7524B60}"/>
                </a:ext>
              </a:extLst>
            </p:cNvPr>
            <p:cNvSpPr/>
            <p:nvPr/>
          </p:nvSpPr>
          <p:spPr>
            <a:xfrm>
              <a:off x="896112" y="2240280"/>
              <a:ext cx="640080" cy="640080"/>
            </a:xfrm>
            <a:prstGeom prst="ellipse">
              <a:avLst/>
            </a:prstGeom>
            <a:solidFill>
              <a:srgbClr val="00B4D8"/>
            </a:solidFill>
            <a:ln/>
          </p:spPr>
          <p:txBody>
            <a:bodyPr anchor="ctr"/>
            <a:lstStyle/>
            <a:p>
              <a:pPr algn="ctr"/>
              <a:r>
                <a:rPr lang="hr-HR" dirty="0"/>
                <a:t> </a:t>
              </a:r>
              <a:r>
                <a:rPr lang="hr-HR" sz="2400" b="1" dirty="0"/>
                <a:t>1</a:t>
              </a:r>
              <a:endParaRPr lang="en-US" sz="2400" b="1" dirty="0"/>
            </a:p>
          </p:txBody>
        </p:sp>
        <p:sp>
          <p:nvSpPr>
            <p:cNvPr id="8" name="Text 4">
              <a:extLst>
                <a:ext uri="{FF2B5EF4-FFF2-40B4-BE49-F238E27FC236}">
                  <a16:creationId xmlns:a16="http://schemas.microsoft.com/office/drawing/2014/main" id="{A35588A8-8F70-48C7-8677-003B046F01D1}"/>
                </a:ext>
              </a:extLst>
            </p:cNvPr>
            <p:cNvSpPr/>
            <p:nvPr/>
          </p:nvSpPr>
          <p:spPr>
            <a:xfrm>
              <a:off x="896112" y="2240280"/>
              <a:ext cx="640080" cy="6400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endParaRPr lang="en-US" sz="2400" dirty="0"/>
            </a:p>
          </p:txBody>
        </p:sp>
        <p:sp>
          <p:nvSpPr>
            <p:cNvPr id="9" name="Text 5">
              <a:extLst>
                <a:ext uri="{FF2B5EF4-FFF2-40B4-BE49-F238E27FC236}">
                  <a16:creationId xmlns:a16="http://schemas.microsoft.com/office/drawing/2014/main" id="{D3B19CB1-D0B2-485A-BDA6-CE795159BD78}"/>
                </a:ext>
              </a:extLst>
            </p:cNvPr>
            <p:cNvSpPr/>
            <p:nvPr/>
          </p:nvSpPr>
          <p:spPr>
            <a:xfrm>
              <a:off x="1701551" y="1988840"/>
              <a:ext cx="4069080" cy="1216136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hr-HR" sz="2400" b="1" dirty="0">
                  <a:ea typeface="Calibri" pitchFamily="34" charset="-122"/>
                  <a:cs typeface="Calibri" pitchFamily="34" charset="-120"/>
                </a:rPr>
                <a:t>Big spikes</a:t>
              </a:r>
              <a:endParaRPr lang="hr-HR" sz="2400" dirty="0">
                <a:ea typeface="Calibri" pitchFamily="34" charset="-122"/>
                <a:cs typeface="Calibri" pitchFamily="34" charset="-120"/>
              </a:endParaRPr>
            </a:p>
            <a:p>
              <a:r>
                <a:rPr lang="en-US" sz="2000" dirty="0">
                  <a:ea typeface="Calibri" pitchFamily="34" charset="-122"/>
                  <a:cs typeface="Calibri" pitchFamily="34" charset="-120"/>
                </a:rPr>
                <a:t>Rare pollution episodes are uncommon in its training, so it can under-shoot them.</a:t>
              </a:r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D9BF81C9-ADFC-48F1-B621-E72C7BB02555}"/>
              </a:ext>
            </a:extLst>
          </p:cNvPr>
          <p:cNvGrpSpPr/>
          <p:nvPr/>
        </p:nvGrpSpPr>
        <p:grpSpPr>
          <a:xfrm>
            <a:off x="6238428" y="1988840"/>
            <a:ext cx="4874519" cy="1216136"/>
            <a:chOff x="6238428" y="1988840"/>
            <a:chExt cx="4874519" cy="1216136"/>
          </a:xfrm>
        </p:grpSpPr>
        <p:sp>
          <p:nvSpPr>
            <p:cNvPr id="21" name="Shape 3">
              <a:extLst>
                <a:ext uri="{FF2B5EF4-FFF2-40B4-BE49-F238E27FC236}">
                  <a16:creationId xmlns:a16="http://schemas.microsoft.com/office/drawing/2014/main" id="{47E44E44-734A-424A-AA0C-80EB9E17635D}"/>
                </a:ext>
              </a:extLst>
            </p:cNvPr>
            <p:cNvSpPr/>
            <p:nvPr/>
          </p:nvSpPr>
          <p:spPr>
            <a:xfrm>
              <a:off x="6238428" y="2240280"/>
              <a:ext cx="640080" cy="640080"/>
            </a:xfrm>
            <a:prstGeom prst="ellipse">
              <a:avLst/>
            </a:prstGeom>
            <a:solidFill>
              <a:srgbClr val="92D050"/>
            </a:solidFill>
            <a:ln/>
          </p:spPr>
          <p:txBody>
            <a:bodyPr/>
            <a:lstStyle/>
            <a:p>
              <a:pPr algn="ctr"/>
              <a:r>
                <a:rPr lang="hr-HR" sz="2400" b="1" dirty="0"/>
                <a:t>2</a:t>
              </a:r>
              <a:endParaRPr lang="en-US" sz="2400" b="1" dirty="0"/>
            </a:p>
          </p:txBody>
        </p:sp>
        <p:sp>
          <p:nvSpPr>
            <p:cNvPr id="22" name="Text 4">
              <a:extLst>
                <a:ext uri="{FF2B5EF4-FFF2-40B4-BE49-F238E27FC236}">
                  <a16:creationId xmlns:a16="http://schemas.microsoft.com/office/drawing/2014/main" id="{0F2020DE-3DDE-4C5D-B77D-7751A0A67CF6}"/>
                </a:ext>
              </a:extLst>
            </p:cNvPr>
            <p:cNvSpPr/>
            <p:nvPr/>
          </p:nvSpPr>
          <p:spPr>
            <a:xfrm>
              <a:off x="6238428" y="2240280"/>
              <a:ext cx="640080" cy="6400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endParaRPr lang="en-US" sz="2400" dirty="0"/>
            </a:p>
          </p:txBody>
        </p:sp>
        <p:sp>
          <p:nvSpPr>
            <p:cNvPr id="23" name="Text 5">
              <a:extLst>
                <a:ext uri="{FF2B5EF4-FFF2-40B4-BE49-F238E27FC236}">
                  <a16:creationId xmlns:a16="http://schemas.microsoft.com/office/drawing/2014/main" id="{240AF34C-3A1F-4BAC-A2CE-C1E69C715175}"/>
                </a:ext>
              </a:extLst>
            </p:cNvPr>
            <p:cNvSpPr/>
            <p:nvPr/>
          </p:nvSpPr>
          <p:spPr>
            <a:xfrm>
              <a:off x="7043867" y="1988840"/>
              <a:ext cx="4069080" cy="1216136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r>
                <a:rPr lang="hr-HR" sz="2400" b="1" dirty="0">
                  <a:ea typeface="Calibri" pitchFamily="34" charset="-122"/>
                  <a:cs typeface="Calibri" pitchFamily="34" charset="-120"/>
                </a:rPr>
                <a:t>Bad weather input</a:t>
              </a:r>
            </a:p>
            <a:p>
              <a:r>
                <a:rPr lang="en-US" sz="2000" dirty="0">
                  <a:ea typeface="Calibri" pitchFamily="34" charset="-122"/>
                  <a:cs typeface="Calibri" pitchFamily="34" charset="-120"/>
                </a:rPr>
                <a:t>A wrong weather forecast going in means a weaker pollution forecast coming out.</a:t>
              </a: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E419EEBD-A996-43F7-AE9E-30748D5C658C}"/>
              </a:ext>
            </a:extLst>
          </p:cNvPr>
          <p:cNvGrpSpPr/>
          <p:nvPr/>
        </p:nvGrpSpPr>
        <p:grpSpPr>
          <a:xfrm>
            <a:off x="896112" y="4149080"/>
            <a:ext cx="4874519" cy="1216136"/>
            <a:chOff x="896112" y="1988840"/>
            <a:chExt cx="4874519" cy="1216136"/>
          </a:xfrm>
        </p:grpSpPr>
        <p:sp>
          <p:nvSpPr>
            <p:cNvPr id="25" name="Shape 3">
              <a:extLst>
                <a:ext uri="{FF2B5EF4-FFF2-40B4-BE49-F238E27FC236}">
                  <a16:creationId xmlns:a16="http://schemas.microsoft.com/office/drawing/2014/main" id="{1917F243-A564-438C-B84C-8F6E3C4F8823}"/>
                </a:ext>
              </a:extLst>
            </p:cNvPr>
            <p:cNvSpPr/>
            <p:nvPr/>
          </p:nvSpPr>
          <p:spPr>
            <a:xfrm>
              <a:off x="896112" y="2240280"/>
              <a:ext cx="640080" cy="640080"/>
            </a:xfrm>
            <a:prstGeom prst="ellipse">
              <a:avLst/>
            </a:prstGeom>
            <a:solidFill>
              <a:srgbClr val="FFC000"/>
            </a:solidFill>
            <a:ln/>
          </p:spPr>
          <p:txBody>
            <a:bodyPr/>
            <a:lstStyle/>
            <a:p>
              <a:pPr algn="ctr"/>
              <a:r>
                <a:rPr lang="hr-HR" sz="2400" b="1" dirty="0"/>
                <a:t>3</a:t>
              </a:r>
              <a:endParaRPr lang="en-US" sz="2400" b="1" dirty="0"/>
            </a:p>
          </p:txBody>
        </p:sp>
        <p:sp>
          <p:nvSpPr>
            <p:cNvPr id="26" name="Text 4">
              <a:extLst>
                <a:ext uri="{FF2B5EF4-FFF2-40B4-BE49-F238E27FC236}">
                  <a16:creationId xmlns:a16="http://schemas.microsoft.com/office/drawing/2014/main" id="{C67DDACA-6523-42DA-8B00-ECD43CC8A990}"/>
                </a:ext>
              </a:extLst>
            </p:cNvPr>
            <p:cNvSpPr/>
            <p:nvPr/>
          </p:nvSpPr>
          <p:spPr>
            <a:xfrm>
              <a:off x="896112" y="2240280"/>
              <a:ext cx="640080" cy="6400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endParaRPr lang="en-US" sz="2400" dirty="0"/>
            </a:p>
          </p:txBody>
        </p:sp>
        <p:sp>
          <p:nvSpPr>
            <p:cNvPr id="27" name="Text 5">
              <a:extLst>
                <a:ext uri="{FF2B5EF4-FFF2-40B4-BE49-F238E27FC236}">
                  <a16:creationId xmlns:a16="http://schemas.microsoft.com/office/drawing/2014/main" id="{0D75ED8C-4E84-42E9-8090-829649302DE5}"/>
                </a:ext>
              </a:extLst>
            </p:cNvPr>
            <p:cNvSpPr/>
            <p:nvPr/>
          </p:nvSpPr>
          <p:spPr>
            <a:xfrm>
              <a:off x="1701551" y="1988840"/>
              <a:ext cx="4069080" cy="1216136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r>
                <a:rPr lang="en-US" sz="2400" b="1" dirty="0">
                  <a:ea typeface="Calibri" pitchFamily="34" charset="-122"/>
                  <a:cs typeface="Calibri" pitchFamily="34" charset="-120"/>
                </a:rPr>
                <a:t>Far ahead</a:t>
              </a:r>
            </a:p>
            <a:p>
              <a:r>
                <a:rPr lang="en-US" sz="2000" dirty="0">
                  <a:ea typeface="Calibri" pitchFamily="34" charset="-122"/>
                  <a:cs typeface="Calibri" pitchFamily="34" charset="-120"/>
                </a:rPr>
                <a:t>The further out you predict, the shakier it gets</a:t>
              </a:r>
              <a:r>
                <a:rPr lang="hr-HR" sz="2000" dirty="0">
                  <a:ea typeface="Calibri" pitchFamily="34" charset="-122"/>
                  <a:cs typeface="Calibri" pitchFamily="34" charset="-120"/>
                </a:rPr>
                <a:t>.</a:t>
              </a:r>
              <a:r>
                <a:rPr lang="en-US" sz="2000" dirty="0">
                  <a:ea typeface="Calibri" pitchFamily="34" charset="-122"/>
                  <a:cs typeface="Calibri" pitchFamily="34" charset="-120"/>
                </a:rPr>
                <a:t> </a:t>
              </a:r>
              <a:r>
                <a:rPr lang="hr-HR" sz="2000" dirty="0">
                  <a:ea typeface="Calibri" pitchFamily="34" charset="-122"/>
                  <a:cs typeface="Calibri" pitchFamily="34" charset="-120"/>
                </a:rPr>
                <a:t>I</a:t>
              </a:r>
              <a:r>
                <a:rPr lang="en-US" sz="2000" dirty="0">
                  <a:ea typeface="Calibri" pitchFamily="34" charset="-122"/>
                  <a:cs typeface="Calibri" pitchFamily="34" charset="-120"/>
                </a:rPr>
                <a:t>t</a:t>
              </a:r>
              <a:r>
                <a:rPr lang="hr-HR" sz="2000" dirty="0">
                  <a:ea typeface="Calibri" pitchFamily="34" charset="-122"/>
                  <a:cs typeface="Calibri" pitchFamily="34" charset="-120"/>
                </a:rPr>
                <a:t> i</a:t>
              </a:r>
              <a:r>
                <a:rPr lang="en-US" sz="2000" dirty="0">
                  <a:ea typeface="Calibri" pitchFamily="34" charset="-122"/>
                  <a:cs typeface="Calibri" pitchFamily="34" charset="-120"/>
                </a:rPr>
                <a:t>s not a crystal ball.</a:t>
              </a:r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90700B6F-020F-47B7-9E7C-5F883278B665}"/>
              </a:ext>
            </a:extLst>
          </p:cNvPr>
          <p:cNvGrpSpPr/>
          <p:nvPr/>
        </p:nvGrpSpPr>
        <p:grpSpPr>
          <a:xfrm>
            <a:off x="6238428" y="4112492"/>
            <a:ext cx="4874519" cy="1216136"/>
            <a:chOff x="896112" y="1988840"/>
            <a:chExt cx="4874519" cy="1216136"/>
          </a:xfrm>
        </p:grpSpPr>
        <p:sp>
          <p:nvSpPr>
            <p:cNvPr id="29" name="Shape 3">
              <a:extLst>
                <a:ext uri="{FF2B5EF4-FFF2-40B4-BE49-F238E27FC236}">
                  <a16:creationId xmlns:a16="http://schemas.microsoft.com/office/drawing/2014/main" id="{C4C08BAE-25E3-4CF9-AFED-DFBE6CFD3C72}"/>
                </a:ext>
              </a:extLst>
            </p:cNvPr>
            <p:cNvSpPr/>
            <p:nvPr/>
          </p:nvSpPr>
          <p:spPr>
            <a:xfrm>
              <a:off x="896112" y="2240280"/>
              <a:ext cx="640080" cy="640080"/>
            </a:xfrm>
            <a:prstGeom prst="ellipse">
              <a:avLst/>
            </a:prstGeom>
            <a:solidFill>
              <a:srgbClr val="7030A0"/>
            </a:solidFill>
            <a:ln/>
          </p:spPr>
          <p:txBody>
            <a:bodyPr/>
            <a:lstStyle/>
            <a:p>
              <a:pPr algn="ctr"/>
              <a:r>
                <a:rPr lang="hr-HR" sz="2400" b="1" dirty="0"/>
                <a:t>4</a:t>
              </a:r>
              <a:endParaRPr lang="en-US" sz="2400" b="1" dirty="0"/>
            </a:p>
          </p:txBody>
        </p:sp>
        <p:sp>
          <p:nvSpPr>
            <p:cNvPr id="30" name="Text 4">
              <a:extLst>
                <a:ext uri="{FF2B5EF4-FFF2-40B4-BE49-F238E27FC236}">
                  <a16:creationId xmlns:a16="http://schemas.microsoft.com/office/drawing/2014/main" id="{B67610A0-1C86-44DF-A762-E1BB8E77AB88}"/>
                </a:ext>
              </a:extLst>
            </p:cNvPr>
            <p:cNvSpPr/>
            <p:nvPr/>
          </p:nvSpPr>
          <p:spPr>
            <a:xfrm>
              <a:off x="896112" y="2240280"/>
              <a:ext cx="640080" cy="6400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endParaRPr lang="en-US" sz="2400" dirty="0"/>
            </a:p>
          </p:txBody>
        </p:sp>
        <p:sp>
          <p:nvSpPr>
            <p:cNvPr id="31" name="Text 5">
              <a:extLst>
                <a:ext uri="{FF2B5EF4-FFF2-40B4-BE49-F238E27FC236}">
                  <a16:creationId xmlns:a16="http://schemas.microsoft.com/office/drawing/2014/main" id="{520476B9-8CA7-43C5-B693-9A02E2272AB7}"/>
                </a:ext>
              </a:extLst>
            </p:cNvPr>
            <p:cNvSpPr/>
            <p:nvPr/>
          </p:nvSpPr>
          <p:spPr>
            <a:xfrm>
              <a:off x="1701551" y="1988840"/>
              <a:ext cx="4069080" cy="1216136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r>
                <a:rPr lang="en-US" sz="2400" b="1" dirty="0">
                  <a:ea typeface="Calibri" pitchFamily="34" charset="-122"/>
                  <a:cs typeface="Calibri" pitchFamily="34" charset="-120"/>
                </a:rPr>
                <a:t>Sometimes local wins</a:t>
              </a:r>
            </a:p>
            <a:p>
              <a:r>
                <a:rPr lang="en-US" sz="2000" dirty="0">
                  <a:ea typeface="Calibri" pitchFamily="34" charset="-122"/>
                  <a:cs typeface="Calibri" pitchFamily="34" charset="-120"/>
                </a:rPr>
                <a:t>With lots of clean history for one steady station, a hand-built model can still edge ahead</a:t>
              </a:r>
              <a:r>
                <a:rPr lang="hr-HR" sz="2000" dirty="0">
                  <a:ea typeface="Calibri" pitchFamily="34" charset="-122"/>
                  <a:cs typeface="Calibri" pitchFamily="34" charset="-120"/>
                </a:rPr>
                <a:t>.</a:t>
              </a:r>
              <a:endParaRPr lang="en-US" sz="2000" dirty="0">
                <a:ea typeface="Calibri" pitchFamily="34" charset="-122"/>
                <a:cs typeface="Calibri" pitchFamily="34" charset="-120"/>
              </a:endParaRPr>
            </a:p>
          </p:txBody>
        </p:sp>
      </p:grpSp>
      <p:sp>
        <p:nvSpPr>
          <p:cNvPr id="33" name="Rectangle 32">
            <a:extLst>
              <a:ext uri="{FF2B5EF4-FFF2-40B4-BE49-F238E27FC236}">
                <a16:creationId xmlns:a16="http://schemas.microsoft.com/office/drawing/2014/main" id="{142A2E06-CA15-4578-AD16-A7AE91C51AA1}"/>
              </a:ext>
            </a:extLst>
          </p:cNvPr>
          <p:cNvSpPr/>
          <p:nvPr/>
        </p:nvSpPr>
        <p:spPr>
          <a:xfrm>
            <a:off x="1477025" y="5903400"/>
            <a:ext cx="923477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i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The habit to keep: always compare against a simple baseline, and don't blindly trust one line</a:t>
            </a:r>
            <a:r>
              <a:rPr lang="hr-HR" i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08427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59614" y="2514600"/>
            <a:ext cx="9355278" cy="2819400"/>
          </a:xfrm>
        </p:spPr>
        <p:txBody>
          <a:bodyPr/>
          <a:lstStyle/>
          <a:p>
            <a:r>
              <a:rPr lang="hr-HR" dirty="0"/>
              <a:t>Bonus #1 </a:t>
            </a:r>
            <a:br>
              <a:rPr lang="hr-HR" dirty="0"/>
            </a:br>
            <a:br>
              <a:rPr lang="hr-HR" dirty="0"/>
            </a:br>
            <a:r>
              <a:rPr lang="hr-HR" dirty="0"/>
              <a:t>Filling the gaps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20495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r>
              <a:rPr lang="hr-HR" dirty="0"/>
              <a:t>Smart gap-filling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B818BFD-D265-4C27-A8B8-E6CE355515E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6480" y="1066800"/>
            <a:ext cx="9546336" cy="508254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6FA838C1-05B9-4666-8AB4-C164C4CB3ED1}"/>
              </a:ext>
            </a:extLst>
          </p:cNvPr>
          <p:cNvSpPr/>
          <p:nvPr/>
        </p:nvSpPr>
        <p:spPr>
          <a:xfrm>
            <a:off x="10841070" y="5368860"/>
            <a:ext cx="145103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hr-HR" sz="1600" dirty="0"/>
              <a:t>48 hrs window </a:t>
            </a:r>
          </a:p>
          <a:p>
            <a:r>
              <a:rPr lang="hr-HR" sz="1600" dirty="0"/>
              <a:t>12 hrs gap</a:t>
            </a:r>
            <a:endParaRPr lang="en-US" sz="160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11CD39E-967E-47BC-A335-24391A4C024E}"/>
              </a:ext>
            </a:extLst>
          </p:cNvPr>
          <p:cNvSpPr/>
          <p:nvPr/>
        </p:nvSpPr>
        <p:spPr>
          <a:xfrm>
            <a:off x="2998068" y="6211669"/>
            <a:ext cx="5765746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hr-HR" i="1" dirty="0">
                <a:ea typeface="Calibri" pitchFamily="34" charset="-122"/>
                <a:cs typeface="Calibri" pitchFamily="34" charset="-120"/>
              </a:rPr>
              <a:t>SAITS - </a:t>
            </a:r>
            <a:r>
              <a:rPr lang="en-US" b="1" dirty="0"/>
              <a:t>Self-Attention-based Imputation for Time Series</a:t>
            </a:r>
            <a:endParaRPr lang="hr-HR" b="1" dirty="0"/>
          </a:p>
          <a:p>
            <a:pPr algn="ctr"/>
            <a:r>
              <a:rPr lang="hr-HR" i="1" dirty="0">
                <a:ea typeface="Calibri" pitchFamily="34" charset="-122"/>
                <a:cs typeface="Calibri" pitchFamily="34" charset="-120"/>
              </a:rPr>
              <a:t>CSDI - </a:t>
            </a:r>
            <a:r>
              <a:rPr lang="hr-HR" b="1" dirty="0"/>
              <a:t>Conditional Score-Based Diffusion Models</a:t>
            </a:r>
          </a:p>
        </p:txBody>
      </p:sp>
    </p:spTree>
    <p:extLst>
      <p:ext uri="{BB962C8B-B14F-4D97-AF65-F5344CB8AC3E}">
        <p14:creationId xmlns:p14="http://schemas.microsoft.com/office/powerpoint/2010/main" val="20385531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59614" y="2514600"/>
            <a:ext cx="9355278" cy="2819400"/>
          </a:xfrm>
        </p:spPr>
        <p:txBody>
          <a:bodyPr/>
          <a:lstStyle/>
          <a:p>
            <a:r>
              <a:rPr lang="hr-HR" dirty="0"/>
              <a:t>Bonus #2 </a:t>
            </a:r>
            <a:br>
              <a:rPr lang="hr-HR" dirty="0"/>
            </a:br>
            <a:br>
              <a:rPr lang="hr-HR" dirty="0"/>
            </a:br>
            <a:r>
              <a:rPr lang="hr-HR" dirty="0"/>
              <a:t>Filling the map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33269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Your stations are a network</a:t>
            </a:r>
            <a:endParaRPr lang="hr-HR" dirty="0"/>
          </a:p>
        </p:txBody>
      </p:sp>
      <p:sp>
        <p:nvSpPr>
          <p:cNvPr id="14" name="Shape 9">
            <a:extLst>
              <a:ext uri="{FF2B5EF4-FFF2-40B4-BE49-F238E27FC236}">
                <a16:creationId xmlns:a16="http://schemas.microsoft.com/office/drawing/2014/main" id="{5C39F43C-0884-414C-A4A1-5E4E8232CFAB}"/>
              </a:ext>
            </a:extLst>
          </p:cNvPr>
          <p:cNvSpPr/>
          <p:nvPr/>
        </p:nvSpPr>
        <p:spPr>
          <a:xfrm flipH="1">
            <a:off x="1648469" y="3839352"/>
            <a:ext cx="267207" cy="777240"/>
          </a:xfrm>
          <a:prstGeom prst="line">
            <a:avLst/>
          </a:prstGeom>
          <a:noFill/>
          <a:ln w="19050">
            <a:solidFill>
              <a:srgbClr val="00B4D8"/>
            </a:solidFill>
            <a:prstDash val="solid"/>
          </a:ln>
        </p:spPr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A763A2FA-38F9-4901-BF55-5AF9B22D5C2C}"/>
              </a:ext>
            </a:extLst>
          </p:cNvPr>
          <p:cNvGrpSpPr/>
          <p:nvPr/>
        </p:nvGrpSpPr>
        <p:grpSpPr>
          <a:xfrm>
            <a:off x="1549916" y="2467752"/>
            <a:ext cx="3017520" cy="2148836"/>
            <a:chOff x="1549916" y="2467752"/>
            <a:chExt cx="3017520" cy="2148836"/>
          </a:xfrm>
        </p:grpSpPr>
        <p:sp>
          <p:nvSpPr>
            <p:cNvPr id="7" name="Shape 3">
              <a:extLst>
                <a:ext uri="{FF2B5EF4-FFF2-40B4-BE49-F238E27FC236}">
                  <a16:creationId xmlns:a16="http://schemas.microsoft.com/office/drawing/2014/main" id="{AFB3F8DA-1613-4933-918E-5E23EB6335D1}"/>
                </a:ext>
              </a:extLst>
            </p:cNvPr>
            <p:cNvSpPr/>
            <p:nvPr/>
          </p:nvSpPr>
          <p:spPr>
            <a:xfrm>
              <a:off x="1549916" y="2467752"/>
              <a:ext cx="1554480" cy="0"/>
            </a:xfrm>
            <a:prstGeom prst="line">
              <a:avLst/>
            </a:prstGeom>
            <a:noFill/>
            <a:ln w="19050">
              <a:solidFill>
                <a:srgbClr val="00B4D8"/>
              </a:solidFill>
              <a:prstDash val="solid"/>
            </a:ln>
          </p:spPr>
        </p:sp>
        <p:sp>
          <p:nvSpPr>
            <p:cNvPr id="8" name="Shape 4">
              <a:extLst>
                <a:ext uri="{FF2B5EF4-FFF2-40B4-BE49-F238E27FC236}">
                  <a16:creationId xmlns:a16="http://schemas.microsoft.com/office/drawing/2014/main" id="{BF0D5DE9-58D3-4259-A890-9B491652D229}"/>
                </a:ext>
              </a:extLst>
            </p:cNvPr>
            <p:cNvSpPr/>
            <p:nvPr/>
          </p:nvSpPr>
          <p:spPr>
            <a:xfrm>
              <a:off x="3195836" y="2517536"/>
              <a:ext cx="1371600" cy="731520"/>
            </a:xfrm>
            <a:prstGeom prst="line">
              <a:avLst/>
            </a:prstGeom>
            <a:noFill/>
            <a:ln w="19050">
              <a:solidFill>
                <a:srgbClr val="00B4D8"/>
              </a:solidFill>
              <a:prstDash val="solid"/>
            </a:ln>
          </p:spPr>
        </p:sp>
        <p:sp>
          <p:nvSpPr>
            <p:cNvPr id="9" name="Shape 5">
              <a:extLst>
                <a:ext uri="{FF2B5EF4-FFF2-40B4-BE49-F238E27FC236}">
                  <a16:creationId xmlns:a16="http://schemas.microsoft.com/office/drawing/2014/main" id="{373ACFB0-1E0D-4EEA-8686-6E3D6C1BA1B1}"/>
                </a:ext>
              </a:extLst>
            </p:cNvPr>
            <p:cNvSpPr/>
            <p:nvPr/>
          </p:nvSpPr>
          <p:spPr>
            <a:xfrm>
              <a:off x="1549916" y="2467752"/>
              <a:ext cx="365760" cy="1371600"/>
            </a:xfrm>
            <a:prstGeom prst="line">
              <a:avLst/>
            </a:prstGeom>
            <a:noFill/>
            <a:ln w="19050">
              <a:solidFill>
                <a:srgbClr val="00B4D8"/>
              </a:solidFill>
              <a:prstDash val="solid"/>
            </a:ln>
          </p:spPr>
        </p:sp>
        <p:sp>
          <p:nvSpPr>
            <p:cNvPr id="10" name="Shape 6">
              <a:extLst>
                <a:ext uri="{FF2B5EF4-FFF2-40B4-BE49-F238E27FC236}">
                  <a16:creationId xmlns:a16="http://schemas.microsoft.com/office/drawing/2014/main" id="{FFC0CD1C-8C13-44F2-9AB9-59587BE0802B}"/>
                </a:ext>
              </a:extLst>
            </p:cNvPr>
            <p:cNvSpPr/>
            <p:nvPr/>
          </p:nvSpPr>
          <p:spPr>
            <a:xfrm>
              <a:off x="3104395" y="2584591"/>
              <a:ext cx="365755" cy="1958839"/>
            </a:xfrm>
            <a:prstGeom prst="line">
              <a:avLst/>
            </a:prstGeom>
            <a:noFill/>
            <a:ln w="19050">
              <a:solidFill>
                <a:srgbClr val="00B4D8"/>
              </a:solidFill>
              <a:prstDash val="solid"/>
            </a:ln>
          </p:spPr>
        </p:sp>
        <p:sp>
          <p:nvSpPr>
            <p:cNvPr id="11" name="Shape 7">
              <a:extLst>
                <a:ext uri="{FF2B5EF4-FFF2-40B4-BE49-F238E27FC236}">
                  <a16:creationId xmlns:a16="http://schemas.microsoft.com/office/drawing/2014/main" id="{F143CEA8-79AC-4642-9AD3-748AD0021A63}"/>
                </a:ext>
              </a:extLst>
            </p:cNvPr>
            <p:cNvSpPr/>
            <p:nvPr/>
          </p:nvSpPr>
          <p:spPr>
            <a:xfrm>
              <a:off x="1915676" y="3839351"/>
              <a:ext cx="1543295" cy="777237"/>
            </a:xfrm>
            <a:prstGeom prst="line">
              <a:avLst/>
            </a:prstGeom>
            <a:noFill/>
            <a:ln w="19050">
              <a:solidFill>
                <a:srgbClr val="00B4D8"/>
              </a:solidFill>
              <a:prstDash val="solid"/>
            </a:ln>
          </p:spPr>
        </p:sp>
        <p:sp>
          <p:nvSpPr>
            <p:cNvPr id="12" name="Shape 8">
              <a:extLst>
                <a:ext uri="{FF2B5EF4-FFF2-40B4-BE49-F238E27FC236}">
                  <a16:creationId xmlns:a16="http://schemas.microsoft.com/office/drawing/2014/main" id="{BB92758E-D743-41A1-9220-A7D590FBFA7C}"/>
                </a:ext>
              </a:extLst>
            </p:cNvPr>
            <p:cNvSpPr/>
            <p:nvPr/>
          </p:nvSpPr>
          <p:spPr>
            <a:xfrm flipH="1">
              <a:off x="3577842" y="3361832"/>
              <a:ext cx="950986" cy="1254756"/>
            </a:xfrm>
            <a:prstGeom prst="line">
              <a:avLst/>
            </a:prstGeom>
            <a:noFill/>
            <a:ln w="19050">
              <a:solidFill>
                <a:srgbClr val="00B4D8"/>
              </a:solidFill>
              <a:prstDash val="solid"/>
            </a:ln>
          </p:spPr>
        </p:sp>
        <p:sp>
          <p:nvSpPr>
            <p:cNvPr id="15" name="Shape 10">
              <a:extLst>
                <a:ext uri="{FF2B5EF4-FFF2-40B4-BE49-F238E27FC236}">
                  <a16:creationId xmlns:a16="http://schemas.microsoft.com/office/drawing/2014/main" id="{D8AA5DAC-0DCB-4764-BE5D-F4A0C7B34699}"/>
                </a:ext>
              </a:extLst>
            </p:cNvPr>
            <p:cNvSpPr/>
            <p:nvPr/>
          </p:nvSpPr>
          <p:spPr>
            <a:xfrm>
              <a:off x="1549916" y="2467752"/>
              <a:ext cx="0" cy="2103120"/>
            </a:xfrm>
            <a:prstGeom prst="line">
              <a:avLst/>
            </a:prstGeom>
            <a:noFill/>
            <a:ln w="19050">
              <a:solidFill>
                <a:srgbClr val="00B4D8"/>
              </a:solidFill>
              <a:prstDash val="solid"/>
            </a:ln>
          </p:spPr>
        </p:sp>
      </p:grpSp>
      <p:sp>
        <p:nvSpPr>
          <p:cNvPr id="22" name="Text 17">
            <a:extLst>
              <a:ext uri="{FF2B5EF4-FFF2-40B4-BE49-F238E27FC236}">
                <a16:creationId xmlns:a16="http://schemas.microsoft.com/office/drawing/2014/main" id="{8482A055-D2D8-4150-8B26-277F67940B95}"/>
              </a:ext>
            </a:extLst>
          </p:cNvPr>
          <p:cNvSpPr/>
          <p:nvPr/>
        </p:nvSpPr>
        <p:spPr>
          <a:xfrm>
            <a:off x="3194312" y="4768981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B85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hidden</a:t>
            </a:r>
            <a:endParaRPr lang="en-US" sz="1100" dirty="0"/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FC503428-5456-46EC-A583-D5A44CC64F48}"/>
              </a:ext>
            </a:extLst>
          </p:cNvPr>
          <p:cNvGrpSpPr/>
          <p:nvPr/>
        </p:nvGrpSpPr>
        <p:grpSpPr>
          <a:xfrm>
            <a:off x="909836" y="2348880"/>
            <a:ext cx="4572000" cy="3090672"/>
            <a:chOff x="909836" y="2348880"/>
            <a:chExt cx="4572000" cy="3090672"/>
          </a:xfrm>
        </p:grpSpPr>
        <p:sp>
          <p:nvSpPr>
            <p:cNvPr id="16" name="Shape 11">
              <a:extLst>
                <a:ext uri="{FF2B5EF4-FFF2-40B4-BE49-F238E27FC236}">
                  <a16:creationId xmlns:a16="http://schemas.microsoft.com/office/drawing/2014/main" id="{F4861B03-F1E2-4AFF-BF0B-9C1F75412064}"/>
                </a:ext>
              </a:extLst>
            </p:cNvPr>
            <p:cNvSpPr/>
            <p:nvPr/>
          </p:nvSpPr>
          <p:spPr>
            <a:xfrm>
              <a:off x="1431044" y="2348880"/>
              <a:ext cx="237744" cy="237744"/>
            </a:xfrm>
            <a:prstGeom prst="ellipse">
              <a:avLst/>
            </a:prstGeom>
            <a:solidFill>
              <a:srgbClr val="0E6F8C"/>
            </a:solidFill>
            <a:ln/>
          </p:spPr>
        </p:sp>
        <p:sp>
          <p:nvSpPr>
            <p:cNvPr id="17" name="Shape 12">
              <a:extLst>
                <a:ext uri="{FF2B5EF4-FFF2-40B4-BE49-F238E27FC236}">
                  <a16:creationId xmlns:a16="http://schemas.microsoft.com/office/drawing/2014/main" id="{634D51B7-44F4-433C-B459-83F7A2D0E458}"/>
                </a:ext>
              </a:extLst>
            </p:cNvPr>
            <p:cNvSpPr/>
            <p:nvPr/>
          </p:nvSpPr>
          <p:spPr>
            <a:xfrm>
              <a:off x="2985524" y="2359040"/>
              <a:ext cx="237744" cy="237744"/>
            </a:xfrm>
            <a:prstGeom prst="ellipse">
              <a:avLst/>
            </a:prstGeom>
            <a:solidFill>
              <a:srgbClr val="0E6F8C"/>
            </a:solidFill>
            <a:ln/>
          </p:spPr>
        </p:sp>
        <p:sp>
          <p:nvSpPr>
            <p:cNvPr id="18" name="Shape 13">
              <a:extLst>
                <a:ext uri="{FF2B5EF4-FFF2-40B4-BE49-F238E27FC236}">
                  <a16:creationId xmlns:a16="http://schemas.microsoft.com/office/drawing/2014/main" id="{F08C64D7-A1A6-45F5-9019-452E2615FF00}"/>
                </a:ext>
              </a:extLst>
            </p:cNvPr>
            <p:cNvSpPr/>
            <p:nvPr/>
          </p:nvSpPr>
          <p:spPr>
            <a:xfrm>
              <a:off x="4409956" y="3171840"/>
              <a:ext cx="237744" cy="237744"/>
            </a:xfrm>
            <a:prstGeom prst="ellipse">
              <a:avLst/>
            </a:prstGeom>
            <a:solidFill>
              <a:srgbClr val="0E6F8C"/>
            </a:solidFill>
            <a:ln/>
          </p:spPr>
        </p:sp>
        <p:sp>
          <p:nvSpPr>
            <p:cNvPr id="19" name="Shape 14">
              <a:extLst>
                <a:ext uri="{FF2B5EF4-FFF2-40B4-BE49-F238E27FC236}">
                  <a16:creationId xmlns:a16="http://schemas.microsoft.com/office/drawing/2014/main" id="{1AD254FC-4F8A-4CC4-922C-960C279CBB6F}"/>
                </a:ext>
              </a:extLst>
            </p:cNvPr>
            <p:cNvSpPr/>
            <p:nvPr/>
          </p:nvSpPr>
          <p:spPr>
            <a:xfrm>
              <a:off x="1796804" y="3720480"/>
              <a:ext cx="237744" cy="237744"/>
            </a:xfrm>
            <a:prstGeom prst="ellipse">
              <a:avLst/>
            </a:prstGeom>
            <a:solidFill>
              <a:srgbClr val="0E6F8C"/>
            </a:solidFill>
            <a:ln/>
          </p:spPr>
        </p:sp>
        <p:sp>
          <p:nvSpPr>
            <p:cNvPr id="20" name="Shape 15">
              <a:extLst>
                <a:ext uri="{FF2B5EF4-FFF2-40B4-BE49-F238E27FC236}">
                  <a16:creationId xmlns:a16="http://schemas.microsoft.com/office/drawing/2014/main" id="{F1AB7B64-DF4D-45B5-86A6-F5D0B710DD16}"/>
                </a:ext>
              </a:extLst>
            </p:cNvPr>
            <p:cNvSpPr/>
            <p:nvPr/>
          </p:nvSpPr>
          <p:spPr>
            <a:xfrm>
              <a:off x="3383288" y="4543440"/>
              <a:ext cx="237744" cy="237744"/>
            </a:xfrm>
            <a:prstGeom prst="ellipse">
              <a:avLst/>
            </a:prstGeom>
            <a:solidFill>
              <a:srgbClr val="FB8500"/>
            </a:solidFill>
            <a:ln/>
          </p:spPr>
        </p:sp>
        <p:sp>
          <p:nvSpPr>
            <p:cNvPr id="21" name="Shape 16">
              <a:extLst>
                <a:ext uri="{FF2B5EF4-FFF2-40B4-BE49-F238E27FC236}">
                  <a16:creationId xmlns:a16="http://schemas.microsoft.com/office/drawing/2014/main" id="{D17F22AA-CB6B-4CAC-A90E-5BE5D16E256E}"/>
                </a:ext>
              </a:extLst>
            </p:cNvPr>
            <p:cNvSpPr/>
            <p:nvPr/>
          </p:nvSpPr>
          <p:spPr>
            <a:xfrm>
              <a:off x="1431044" y="4574428"/>
              <a:ext cx="237744" cy="237744"/>
            </a:xfrm>
            <a:prstGeom prst="ellipse">
              <a:avLst/>
            </a:prstGeom>
            <a:solidFill>
              <a:srgbClr val="0E6F8C"/>
            </a:solidFill>
            <a:ln/>
          </p:spPr>
        </p:sp>
        <p:sp>
          <p:nvSpPr>
            <p:cNvPr id="23" name="Text 18">
              <a:extLst>
                <a:ext uri="{FF2B5EF4-FFF2-40B4-BE49-F238E27FC236}">
                  <a16:creationId xmlns:a16="http://schemas.microsoft.com/office/drawing/2014/main" id="{84F5A1CC-1030-4A8F-A452-BADA5EDC2D91}"/>
                </a:ext>
              </a:extLst>
            </p:cNvPr>
            <p:cNvSpPr/>
            <p:nvPr/>
          </p:nvSpPr>
          <p:spPr>
            <a:xfrm>
              <a:off x="909836" y="4982352"/>
              <a:ext cx="457200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300" i="1" dirty="0">
                  <a:ea typeface="Calibri" pitchFamily="34" charset="-122"/>
                  <a:cs typeface="Calibri" pitchFamily="34" charset="-120"/>
                </a:rPr>
                <a:t>Guess the </a:t>
              </a:r>
              <a:r>
                <a:rPr lang="hr-HR" sz="1300" i="1" dirty="0">
                  <a:ea typeface="Calibri" pitchFamily="34" charset="-122"/>
                  <a:cs typeface="Calibri" pitchFamily="34" charset="-120"/>
                </a:rPr>
                <a:t>„orange”</a:t>
              </a:r>
              <a:r>
                <a:rPr lang="en-US" sz="1300" i="1" dirty="0">
                  <a:ea typeface="Calibri" pitchFamily="34" charset="-122"/>
                  <a:cs typeface="Calibri" pitchFamily="34" charset="-120"/>
                </a:rPr>
                <a:t> station from its neighbours + the weather.</a:t>
              </a:r>
              <a:endParaRPr lang="en-US" sz="1300" dirty="0"/>
            </a:p>
          </p:txBody>
        </p:sp>
      </p:grpSp>
      <p:sp>
        <p:nvSpPr>
          <p:cNvPr id="24" name="Rectangle 23">
            <a:extLst>
              <a:ext uri="{FF2B5EF4-FFF2-40B4-BE49-F238E27FC236}">
                <a16:creationId xmlns:a16="http://schemas.microsoft.com/office/drawing/2014/main" id="{5EC67948-327D-49C8-BB34-3478F9907EE2}"/>
              </a:ext>
            </a:extLst>
          </p:cNvPr>
          <p:cNvSpPr/>
          <p:nvPr/>
        </p:nvSpPr>
        <p:spPr>
          <a:xfrm>
            <a:off x="6129316" y="1965960"/>
            <a:ext cx="5659636" cy="129586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>
                <a:ea typeface="Courier New" pitchFamily="34" charset="-122"/>
                <a:cs typeface="Courier New" pitchFamily="34" charset="-120"/>
              </a:rPr>
              <a:t>‘NEAREST WINS’</a:t>
            </a:r>
            <a:endParaRPr lang="en-US" dirty="0"/>
          </a:p>
          <a:p>
            <a:pPr>
              <a:lnSpc>
                <a:spcPct val="150000"/>
              </a:lnSpc>
            </a:pPr>
            <a:r>
              <a:rPr lang="en-US" dirty="0">
                <a:ea typeface="Calibri" pitchFamily="34" charset="-122"/>
                <a:cs typeface="Calibri" pitchFamily="34" charset="-120"/>
              </a:rPr>
              <a:t>The classic map fill: closer stations count more. Simple, but blind to roads, hills and wind.</a:t>
            </a:r>
            <a:endParaRPr lang="en-US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0A98D63-EF43-4211-83BD-ADC963F78413}"/>
              </a:ext>
            </a:extLst>
          </p:cNvPr>
          <p:cNvSpPr/>
          <p:nvPr/>
        </p:nvSpPr>
        <p:spPr>
          <a:xfrm>
            <a:off x="6102096" y="4206239"/>
            <a:ext cx="5659636" cy="129586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hr-HR" b="1" dirty="0">
                <a:ea typeface="Courier New" pitchFamily="34" charset="-122"/>
                <a:cs typeface="Courier New" pitchFamily="34" charset="-120"/>
              </a:rPr>
              <a:t>NETWORK MODEL</a:t>
            </a:r>
            <a:endParaRPr lang="en-US" dirty="0"/>
          </a:p>
          <a:p>
            <a:pPr>
              <a:lnSpc>
                <a:spcPct val="150000"/>
              </a:lnSpc>
            </a:pPr>
            <a:r>
              <a:rPr lang="en-US" dirty="0">
                <a:ea typeface="Calibri" pitchFamily="34" charset="-122"/>
                <a:cs typeface="Calibri" pitchFamily="34" charset="-120"/>
              </a:rPr>
              <a:t>Learns how stations really relate</a:t>
            </a:r>
            <a:r>
              <a:rPr lang="hr-HR" dirty="0">
                <a:ea typeface="Calibri" pitchFamily="34" charset="-122"/>
                <a:cs typeface="Calibri" pitchFamily="34" charset="-120"/>
              </a:rPr>
              <a:t>. A</a:t>
            </a:r>
            <a:r>
              <a:rPr lang="en-US" dirty="0">
                <a:ea typeface="Calibri" pitchFamily="34" charset="-122"/>
                <a:cs typeface="Calibri" pitchFamily="34" charset="-120"/>
              </a:rPr>
              <a:t> neighbor can matter more than a closer station that's different.</a:t>
            </a:r>
          </a:p>
        </p:txBody>
      </p:sp>
    </p:spTree>
    <p:extLst>
      <p:ext uri="{BB962C8B-B14F-4D97-AF65-F5344CB8AC3E}">
        <p14:creationId xmlns:p14="http://schemas.microsoft.com/office/powerpoint/2010/main" val="22622757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 anchor="t">
            <a:normAutofit/>
          </a:bodyPr>
          <a:lstStyle/>
          <a:p>
            <a:r>
              <a:rPr lang="hr-HR" dirty="0"/>
              <a:t>Guess a hidden station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14CFCEF-8A64-47A9-BD15-B4BF556BF97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51385" y="1228948"/>
            <a:ext cx="5417544" cy="516556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4338340-F615-44E1-99D8-6F3094693A96}"/>
              </a:ext>
            </a:extLst>
          </p:cNvPr>
          <p:cNvSpPr txBox="1"/>
          <p:nvPr/>
        </p:nvSpPr>
        <p:spPr>
          <a:xfrm>
            <a:off x="765820" y="2068656"/>
            <a:ext cx="5607561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r-HR" b="1" u="sng" dirty="0"/>
              <a:t>Inverse Distance Weighting (IDW)</a:t>
            </a:r>
            <a:r>
              <a:rPr lang="hr-HR" b="1" dirty="0"/>
              <a:t> </a:t>
            </a:r>
            <a:r>
              <a:rPr lang="hr-HR" dirty="0"/>
              <a:t>: </a:t>
            </a:r>
          </a:p>
          <a:p>
            <a:r>
              <a:rPr lang="hr-HR" dirty="0"/>
              <a:t>A</a:t>
            </a:r>
            <a:r>
              <a:rPr lang="en-US" dirty="0"/>
              <a:t> classic, pre-machine-learning way to estimate a value </a:t>
            </a:r>
            <a:endParaRPr lang="hr-HR" dirty="0"/>
          </a:p>
          <a:p>
            <a:r>
              <a:rPr lang="en-US" dirty="0"/>
              <a:t>at a place where you have no measurement, using the </a:t>
            </a:r>
            <a:endParaRPr lang="hr-HR" dirty="0"/>
          </a:p>
          <a:p>
            <a:r>
              <a:rPr lang="en-US" dirty="0"/>
              <a:t>measurements you </a:t>
            </a:r>
            <a:r>
              <a:rPr lang="en-US" i="1" dirty="0"/>
              <a:t>do</a:t>
            </a:r>
            <a:r>
              <a:rPr lang="en-US" dirty="0"/>
              <a:t> have nearby.</a:t>
            </a:r>
            <a:endParaRPr lang="hr-HR" dirty="0"/>
          </a:p>
          <a:p>
            <a:pPr algn="just"/>
            <a:endParaRPr lang="hr-HR" dirty="0"/>
          </a:p>
          <a:p>
            <a:r>
              <a:rPr lang="hr-HR" dirty="0"/>
              <a:t>Y</a:t>
            </a:r>
            <a:r>
              <a:rPr lang="en-US" dirty="0" err="1"/>
              <a:t>ou</a:t>
            </a:r>
            <a:r>
              <a:rPr lang="en-US" dirty="0"/>
              <a:t> take an </a:t>
            </a:r>
            <a:r>
              <a:rPr lang="en-US" b="1" dirty="0"/>
              <a:t>average of the </a:t>
            </a:r>
            <a:r>
              <a:rPr lang="en-US" b="1" dirty="0" err="1"/>
              <a:t>neighbours</a:t>
            </a:r>
            <a:r>
              <a:rPr lang="hr-HR" b="1" dirty="0"/>
              <a:t>, </a:t>
            </a:r>
            <a:r>
              <a:rPr lang="en-US" b="1" dirty="0"/>
              <a:t>but a weighted </a:t>
            </a:r>
            <a:endParaRPr lang="hr-HR" b="1" dirty="0"/>
          </a:p>
          <a:p>
            <a:r>
              <a:rPr lang="en-US" b="1" dirty="0"/>
              <a:t>one, where closer stations count more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17558DF-E7E5-4129-AF76-F8FC74314F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95901" y="4360637"/>
            <a:ext cx="3191320" cy="8478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77033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 anchor="t">
            <a:normAutofit/>
          </a:bodyPr>
          <a:lstStyle/>
          <a:p>
            <a:r>
              <a:rPr lang="hr-HR" dirty="0"/>
              <a:t>Guess a hidden station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4338340-F615-44E1-99D8-6F3094693A96}"/>
              </a:ext>
            </a:extLst>
          </p:cNvPr>
          <p:cNvSpPr txBox="1"/>
          <p:nvPr/>
        </p:nvSpPr>
        <p:spPr>
          <a:xfrm>
            <a:off x="765820" y="2068656"/>
            <a:ext cx="5556778" cy="25853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r-HR" b="1" u="sng" dirty="0"/>
              <a:t>Graph Neural Network (GNN)</a:t>
            </a:r>
            <a:r>
              <a:rPr lang="hr-HR" b="1" dirty="0"/>
              <a:t> </a:t>
            </a:r>
            <a:r>
              <a:rPr lang="hr-HR" dirty="0"/>
              <a:t>: </a:t>
            </a:r>
          </a:p>
          <a:p>
            <a:r>
              <a:rPr lang="hr-HR" dirty="0"/>
              <a:t>The </a:t>
            </a:r>
            <a:r>
              <a:rPr lang="en-US" dirty="0"/>
              <a:t>model is trained node-agnostically </a:t>
            </a:r>
            <a:endParaRPr lang="hr-HR" dirty="0"/>
          </a:p>
          <a:p>
            <a:r>
              <a:rPr lang="en-US" dirty="0"/>
              <a:t>(mask a RANDOM node each step), so </a:t>
            </a:r>
            <a:endParaRPr lang="hr-HR" dirty="0"/>
          </a:p>
          <a:p>
            <a:r>
              <a:rPr lang="en-US" dirty="0"/>
              <a:t>ONE</a:t>
            </a:r>
            <a:r>
              <a:rPr lang="hr-HR" dirty="0"/>
              <a:t> </a:t>
            </a:r>
            <a:r>
              <a:rPr lang="en-US" dirty="0"/>
              <a:t>trained model reconstructs ANY station.</a:t>
            </a:r>
            <a:endParaRPr lang="hr-HR" dirty="0"/>
          </a:p>
          <a:p>
            <a:endParaRPr lang="hr-HR" dirty="0"/>
          </a:p>
          <a:p>
            <a:r>
              <a:rPr lang="hr-HR" dirty="0"/>
              <a:t>This way </a:t>
            </a:r>
            <a:r>
              <a:rPr lang="en-US" dirty="0"/>
              <a:t>the model never gets to memorize one station. </a:t>
            </a:r>
            <a:endParaRPr lang="hr-HR" dirty="0"/>
          </a:p>
          <a:p>
            <a:r>
              <a:rPr lang="en-US" dirty="0"/>
              <a:t>To keep doing well across all of them, it's forced to learn </a:t>
            </a:r>
            <a:endParaRPr lang="hr-HR" dirty="0"/>
          </a:p>
          <a:p>
            <a:r>
              <a:rPr lang="en-US" dirty="0"/>
              <a:t>the </a:t>
            </a:r>
            <a:r>
              <a:rPr lang="en-US" i="1" dirty="0"/>
              <a:t>general rule</a:t>
            </a:r>
            <a:r>
              <a:rPr lang="en-US" dirty="0"/>
              <a:t> of spatial interpolation rather than a </a:t>
            </a:r>
            <a:endParaRPr lang="hr-HR" dirty="0"/>
          </a:p>
          <a:p>
            <a:r>
              <a:rPr lang="en-US" dirty="0"/>
              <a:t>station-specific shortcut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9C4648C-9B8D-3FAA-9579-8993E950876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51385" y="1228948"/>
            <a:ext cx="5417544" cy="51655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65253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 anchor="t">
            <a:normAutofit/>
          </a:bodyPr>
          <a:lstStyle/>
          <a:p>
            <a:r>
              <a:rPr lang="hr-HR" dirty="0"/>
              <a:t>Guess a hidden station</a:t>
            </a:r>
          </a:p>
        </p:txBody>
      </p:sp>
      <p:sp>
        <p:nvSpPr>
          <p:cNvPr id="26" name="Text 8">
            <a:extLst>
              <a:ext uri="{FF2B5EF4-FFF2-40B4-BE49-F238E27FC236}">
                <a16:creationId xmlns:a16="http://schemas.microsoft.com/office/drawing/2014/main" id="{DFFE5824-44E8-4AA0-A164-093718068CEE}"/>
              </a:ext>
            </a:extLst>
          </p:cNvPr>
          <p:cNvSpPr/>
          <p:nvPr/>
        </p:nvSpPr>
        <p:spPr>
          <a:xfrm>
            <a:off x="2802571" y="6316980"/>
            <a:ext cx="6583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ea typeface="Courier New" pitchFamily="34" charset="-122"/>
                <a:cs typeface="Courier New" pitchFamily="34" charset="-120"/>
              </a:rPr>
              <a:t>hide one station; classic estimate vs classic + a learned correction</a:t>
            </a:r>
            <a:endParaRPr lang="en-US" sz="1600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BEE54FC8-FE10-4EE9-A82A-A68968E812F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47830289"/>
              </p:ext>
            </p:extLst>
          </p:nvPr>
        </p:nvGraphicFramePr>
        <p:xfrm>
          <a:off x="2031469" y="1085676"/>
          <a:ext cx="8125885" cy="509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5177">
                  <a:extLst>
                    <a:ext uri="{9D8B030D-6E8A-4147-A177-3AD203B41FA5}">
                      <a16:colId xmlns:a16="http://schemas.microsoft.com/office/drawing/2014/main" val="2573327571"/>
                    </a:ext>
                  </a:extLst>
                </a:gridCol>
                <a:gridCol w="1625177">
                  <a:extLst>
                    <a:ext uri="{9D8B030D-6E8A-4147-A177-3AD203B41FA5}">
                      <a16:colId xmlns:a16="http://schemas.microsoft.com/office/drawing/2014/main" val="2282145888"/>
                    </a:ext>
                  </a:extLst>
                </a:gridCol>
                <a:gridCol w="1625177">
                  <a:extLst>
                    <a:ext uri="{9D8B030D-6E8A-4147-A177-3AD203B41FA5}">
                      <a16:colId xmlns:a16="http://schemas.microsoft.com/office/drawing/2014/main" val="3292970347"/>
                    </a:ext>
                  </a:extLst>
                </a:gridCol>
                <a:gridCol w="1625177">
                  <a:extLst>
                    <a:ext uri="{9D8B030D-6E8A-4147-A177-3AD203B41FA5}">
                      <a16:colId xmlns:a16="http://schemas.microsoft.com/office/drawing/2014/main" val="3147611755"/>
                    </a:ext>
                  </a:extLst>
                </a:gridCol>
                <a:gridCol w="1625177">
                  <a:extLst>
                    <a:ext uri="{9D8B030D-6E8A-4147-A177-3AD203B41FA5}">
                      <a16:colId xmlns:a16="http://schemas.microsoft.com/office/drawing/2014/main" val="429162721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station</a:t>
                      </a:r>
                      <a:r>
                        <a:rPr lang="en-US" dirty="0"/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isol</a:t>
                      </a:r>
                      <a:r>
                        <a:rPr lang="en-US" dirty="0"/>
                        <a:t>. </a:t>
                      </a:r>
                    </a:p>
                    <a:p>
                      <a:pPr algn="ctr"/>
                      <a:r>
                        <a:rPr lang="en-US" dirty="0"/>
                        <a:t>(avg. km)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IDW (MAE)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GNN+IDW (MAE)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win</a:t>
                      </a:r>
                      <a:r>
                        <a:rPr lang="en-US" dirty="0"/>
                        <a:t>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899110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Huairou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34.1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21.87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21.17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*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7266706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Dingling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28.8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21.03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20.36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*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7682906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Shunyi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26.6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19.45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19.23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*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6991377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Changping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24.4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18.02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17.68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*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4873365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Gucheng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14.9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17.12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17.49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7822843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Wanliu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10.6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11.25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10.97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*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5038527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Aotizhongxin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7.7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9.71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9.55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*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5180423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Wanshouxigong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7.5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11.46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11.86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8731373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Nongzhanguan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7.3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10.57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10.66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4029753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Guanyuan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6.9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10.02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10.46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3767881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Tiantan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6.1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10.29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10.18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*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0053836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Dongsi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5.4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10.6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11.32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90606192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239080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 anchor="t">
            <a:normAutofit/>
          </a:bodyPr>
          <a:lstStyle/>
          <a:p>
            <a:r>
              <a:rPr lang="hr-HR" dirty="0"/>
              <a:t>Guess a hidden station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D25C599-BA46-4CEE-8346-61939238F92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0330" y="1268760"/>
            <a:ext cx="11568163" cy="48375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86000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/>
              <a:t>The whole hour ....</a:t>
            </a:r>
            <a:endParaRPr lang="en-US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CABF9A07-AD16-49C6-ACAF-0AE51106C9CF}"/>
              </a:ext>
            </a:extLst>
          </p:cNvPr>
          <p:cNvGrpSpPr/>
          <p:nvPr/>
        </p:nvGrpSpPr>
        <p:grpSpPr>
          <a:xfrm>
            <a:off x="261959" y="2702812"/>
            <a:ext cx="3758140" cy="1216136"/>
            <a:chOff x="896112" y="1988840"/>
            <a:chExt cx="3758140" cy="1216136"/>
          </a:xfrm>
        </p:grpSpPr>
        <p:sp>
          <p:nvSpPr>
            <p:cNvPr id="7" name="Shape 3">
              <a:extLst>
                <a:ext uri="{FF2B5EF4-FFF2-40B4-BE49-F238E27FC236}">
                  <a16:creationId xmlns:a16="http://schemas.microsoft.com/office/drawing/2014/main" id="{118A1B70-2EF3-43A4-B25C-C86EE7524B60}"/>
                </a:ext>
              </a:extLst>
            </p:cNvPr>
            <p:cNvSpPr/>
            <p:nvPr/>
          </p:nvSpPr>
          <p:spPr>
            <a:xfrm>
              <a:off x="896112" y="2240280"/>
              <a:ext cx="640080" cy="640080"/>
            </a:xfrm>
            <a:prstGeom prst="ellipse">
              <a:avLst/>
            </a:prstGeom>
            <a:solidFill>
              <a:srgbClr val="00B4D8"/>
            </a:solidFill>
            <a:ln/>
          </p:spPr>
        </p:sp>
        <p:sp>
          <p:nvSpPr>
            <p:cNvPr id="8" name="Text 4">
              <a:extLst>
                <a:ext uri="{FF2B5EF4-FFF2-40B4-BE49-F238E27FC236}">
                  <a16:creationId xmlns:a16="http://schemas.microsoft.com/office/drawing/2014/main" id="{A35588A8-8F70-48C7-8677-003B046F01D1}"/>
                </a:ext>
              </a:extLst>
            </p:cNvPr>
            <p:cNvSpPr/>
            <p:nvPr/>
          </p:nvSpPr>
          <p:spPr>
            <a:xfrm>
              <a:off x="896112" y="2240280"/>
              <a:ext cx="640080" cy="6400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algn="ctr"/>
              <a:r>
                <a:rPr lang="en-US" sz="24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∅</a:t>
              </a:r>
              <a:endParaRPr lang="en-US" sz="2400" dirty="0"/>
            </a:p>
          </p:txBody>
        </p:sp>
        <p:sp>
          <p:nvSpPr>
            <p:cNvPr id="9" name="Text 5">
              <a:extLst>
                <a:ext uri="{FF2B5EF4-FFF2-40B4-BE49-F238E27FC236}">
                  <a16:creationId xmlns:a16="http://schemas.microsoft.com/office/drawing/2014/main" id="{D3B19CB1-D0B2-485A-BDA6-CE795159BD78}"/>
                </a:ext>
              </a:extLst>
            </p:cNvPr>
            <p:cNvSpPr/>
            <p:nvPr/>
          </p:nvSpPr>
          <p:spPr>
            <a:xfrm>
              <a:off x="1701551" y="1988840"/>
              <a:ext cx="2952701" cy="1216136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hr-HR" sz="2400" b="1" dirty="0">
                  <a:ea typeface="Calibri" pitchFamily="34" charset="-122"/>
                  <a:cs typeface="Calibri" pitchFamily="34" charset="-120"/>
                </a:rPr>
                <a:t>Forecast</a:t>
              </a:r>
              <a:endParaRPr lang="hr-HR" sz="2400" dirty="0">
                <a:ea typeface="Calibri" pitchFamily="34" charset="-122"/>
                <a:cs typeface="Calibri" pitchFamily="34" charset="-120"/>
              </a:endParaRPr>
            </a:p>
            <a:p>
              <a:r>
                <a:rPr lang="en-US" sz="1600" dirty="0">
                  <a:ea typeface="Calibri" pitchFamily="34" charset="-122"/>
                  <a:cs typeface="Calibri" pitchFamily="34" charset="-120"/>
                </a:rPr>
                <a:t>a ready-made model predicts your series</a:t>
              </a:r>
              <a:r>
                <a:rPr lang="hr-HR" sz="1600" dirty="0">
                  <a:ea typeface="Calibri" pitchFamily="34" charset="-122"/>
                  <a:cs typeface="Calibri" pitchFamily="34" charset="-120"/>
                </a:rPr>
                <a:t>,</a:t>
              </a:r>
              <a:r>
                <a:rPr lang="en-US" sz="1600" dirty="0">
                  <a:ea typeface="Calibri" pitchFamily="34" charset="-122"/>
                  <a:cs typeface="Calibri" pitchFamily="34" charset="-120"/>
                </a:rPr>
                <a:t> no training</a:t>
              </a:r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C9FF7E9E-47C5-4342-9E60-1EE81A23C3F2}"/>
              </a:ext>
            </a:extLst>
          </p:cNvPr>
          <p:cNvGrpSpPr/>
          <p:nvPr/>
        </p:nvGrpSpPr>
        <p:grpSpPr>
          <a:xfrm>
            <a:off x="4215342" y="2702812"/>
            <a:ext cx="3758140" cy="1216136"/>
            <a:chOff x="896112" y="1988840"/>
            <a:chExt cx="3758140" cy="1216136"/>
          </a:xfrm>
        </p:grpSpPr>
        <p:sp>
          <p:nvSpPr>
            <p:cNvPr id="35" name="Shape 3">
              <a:extLst>
                <a:ext uri="{FF2B5EF4-FFF2-40B4-BE49-F238E27FC236}">
                  <a16:creationId xmlns:a16="http://schemas.microsoft.com/office/drawing/2014/main" id="{FD75C70F-461B-4302-BAF1-50DFF9BEC6E0}"/>
                </a:ext>
              </a:extLst>
            </p:cNvPr>
            <p:cNvSpPr/>
            <p:nvPr/>
          </p:nvSpPr>
          <p:spPr>
            <a:xfrm>
              <a:off x="896112" y="2240280"/>
              <a:ext cx="640080" cy="640080"/>
            </a:xfrm>
            <a:prstGeom prst="ellipse">
              <a:avLst/>
            </a:prstGeom>
            <a:solidFill>
              <a:srgbClr val="92D050"/>
            </a:solidFill>
            <a:ln/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6" name="Text 4">
              <a:extLst>
                <a:ext uri="{FF2B5EF4-FFF2-40B4-BE49-F238E27FC236}">
                  <a16:creationId xmlns:a16="http://schemas.microsoft.com/office/drawing/2014/main" id="{2CED537E-C43C-4A0B-AE39-971D68E9549F}"/>
                </a:ext>
              </a:extLst>
            </p:cNvPr>
            <p:cNvSpPr/>
            <p:nvPr/>
          </p:nvSpPr>
          <p:spPr>
            <a:xfrm>
              <a:off x="896112" y="2240280"/>
              <a:ext cx="640080" cy="6400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algn="ctr"/>
              <a:r>
                <a:rPr lang="en-US" sz="24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▦</a:t>
              </a:r>
              <a:endParaRPr lang="en-US" sz="2400" dirty="0"/>
            </a:p>
          </p:txBody>
        </p:sp>
        <p:sp>
          <p:nvSpPr>
            <p:cNvPr id="37" name="Text 5">
              <a:extLst>
                <a:ext uri="{FF2B5EF4-FFF2-40B4-BE49-F238E27FC236}">
                  <a16:creationId xmlns:a16="http://schemas.microsoft.com/office/drawing/2014/main" id="{E79FC663-CEB1-43E4-9FD6-B31E23757B21}"/>
                </a:ext>
              </a:extLst>
            </p:cNvPr>
            <p:cNvSpPr/>
            <p:nvPr/>
          </p:nvSpPr>
          <p:spPr>
            <a:xfrm>
              <a:off x="1701551" y="1988840"/>
              <a:ext cx="2952701" cy="1216136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hr-HR" sz="2400" b="1" dirty="0">
                  <a:ea typeface="Calibri" pitchFamily="34" charset="-122"/>
                  <a:cs typeface="Calibri" pitchFamily="34" charset="-120"/>
                </a:rPr>
                <a:t>Fill Gaps</a:t>
              </a:r>
              <a:endParaRPr lang="hr-HR" sz="2400" dirty="0">
                <a:ea typeface="Calibri" pitchFamily="34" charset="-122"/>
                <a:cs typeface="Calibri" pitchFamily="34" charset="-120"/>
              </a:endParaRPr>
            </a:p>
            <a:p>
              <a:r>
                <a:rPr lang="en-US" sz="1600" dirty="0">
                  <a:ea typeface="Calibri" pitchFamily="34" charset="-122"/>
                  <a:cs typeface="Calibri" pitchFamily="34" charset="-120"/>
                </a:rPr>
                <a:t>smart gap-filling that shows its doubt</a:t>
              </a:r>
            </a:p>
          </p:txBody>
        </p: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01ECB30D-340B-4034-A06F-D035CE77BCD2}"/>
              </a:ext>
            </a:extLst>
          </p:cNvPr>
          <p:cNvGrpSpPr/>
          <p:nvPr/>
        </p:nvGrpSpPr>
        <p:grpSpPr>
          <a:xfrm>
            <a:off x="8455266" y="2702812"/>
            <a:ext cx="3758140" cy="1216136"/>
            <a:chOff x="896112" y="1988840"/>
            <a:chExt cx="3758140" cy="1216136"/>
          </a:xfrm>
        </p:grpSpPr>
        <p:sp>
          <p:nvSpPr>
            <p:cNvPr id="39" name="Shape 3">
              <a:extLst>
                <a:ext uri="{FF2B5EF4-FFF2-40B4-BE49-F238E27FC236}">
                  <a16:creationId xmlns:a16="http://schemas.microsoft.com/office/drawing/2014/main" id="{5FED33A3-EDE3-4001-8106-044B4E705528}"/>
                </a:ext>
              </a:extLst>
            </p:cNvPr>
            <p:cNvSpPr/>
            <p:nvPr/>
          </p:nvSpPr>
          <p:spPr>
            <a:xfrm>
              <a:off x="896112" y="2240280"/>
              <a:ext cx="640080" cy="640080"/>
            </a:xfrm>
            <a:prstGeom prst="ellipse">
              <a:avLst/>
            </a:prstGeom>
            <a:solidFill>
              <a:srgbClr val="FFC000"/>
            </a:solidFill>
            <a:ln/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0" name="Text 4">
              <a:extLst>
                <a:ext uri="{FF2B5EF4-FFF2-40B4-BE49-F238E27FC236}">
                  <a16:creationId xmlns:a16="http://schemas.microsoft.com/office/drawing/2014/main" id="{B669F87A-822F-4055-B7E9-713B7FD01A6A}"/>
                </a:ext>
              </a:extLst>
            </p:cNvPr>
            <p:cNvSpPr/>
            <p:nvPr/>
          </p:nvSpPr>
          <p:spPr>
            <a:xfrm>
              <a:off x="896112" y="2240280"/>
              <a:ext cx="640080" cy="6400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algn="ctr"/>
              <a:r>
                <a:rPr lang="en-US" sz="24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↗</a:t>
              </a:r>
              <a:endParaRPr lang="en-US" sz="2400" dirty="0"/>
            </a:p>
          </p:txBody>
        </p:sp>
        <p:sp>
          <p:nvSpPr>
            <p:cNvPr id="41" name="Text 5">
              <a:extLst>
                <a:ext uri="{FF2B5EF4-FFF2-40B4-BE49-F238E27FC236}">
                  <a16:creationId xmlns:a16="http://schemas.microsoft.com/office/drawing/2014/main" id="{582C8F27-1FF6-43CA-9FAA-57753586FAF6}"/>
                </a:ext>
              </a:extLst>
            </p:cNvPr>
            <p:cNvSpPr/>
            <p:nvPr/>
          </p:nvSpPr>
          <p:spPr>
            <a:xfrm>
              <a:off x="1701551" y="1988840"/>
              <a:ext cx="2952701" cy="1216136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r>
                <a:rPr lang="hr-HR" sz="2400" b="1" dirty="0">
                  <a:ea typeface="Calibri" pitchFamily="34" charset="-122"/>
                  <a:cs typeface="Calibri" pitchFamily="34" charset="-120"/>
                </a:rPr>
                <a:t>Fill the map</a:t>
              </a:r>
            </a:p>
            <a:p>
              <a:r>
                <a:rPr lang="en-US" sz="1600" dirty="0">
                  <a:ea typeface="Calibri" pitchFamily="34" charset="-122"/>
                  <a:cs typeface="Calibri" pitchFamily="34" charset="-120"/>
                </a:rPr>
                <a:t>a network model guesses between stations</a:t>
              </a:r>
            </a:p>
          </p:txBody>
        </p:sp>
      </p:grpSp>
      <p:sp>
        <p:nvSpPr>
          <p:cNvPr id="4" name="Rectangle 3">
            <a:extLst>
              <a:ext uri="{FF2B5EF4-FFF2-40B4-BE49-F238E27FC236}">
                <a16:creationId xmlns:a16="http://schemas.microsoft.com/office/drawing/2014/main" id="{FAEFA02A-D542-4EDF-94E7-387A176F3D78}"/>
              </a:ext>
            </a:extLst>
          </p:cNvPr>
          <p:cNvSpPr/>
          <p:nvPr/>
        </p:nvSpPr>
        <p:spPr>
          <a:xfrm>
            <a:off x="616128" y="4797434"/>
            <a:ext cx="1095656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b="1" i="1" dirty="0">
                <a:ea typeface="Calibri" pitchFamily="34" charset="-122"/>
                <a:cs typeface="Calibri" pitchFamily="34" charset="-120"/>
              </a:rPr>
              <a:t>Forecasting is plug-and-play (pretrained). Gaps</a:t>
            </a:r>
            <a:r>
              <a:rPr lang="hr-HR" sz="2400" b="1" i="1" dirty="0">
                <a:ea typeface="Calibri" pitchFamily="34" charset="-122"/>
                <a:cs typeface="Calibri" pitchFamily="34" charset="-120"/>
              </a:rPr>
              <a:t> and </a:t>
            </a:r>
            <a:r>
              <a:rPr lang="en-US" sz="2400" b="1" i="1" dirty="0">
                <a:ea typeface="Calibri" pitchFamily="34" charset="-122"/>
                <a:cs typeface="Calibri" pitchFamily="34" charset="-120"/>
              </a:rPr>
              <a:t>maps</a:t>
            </a:r>
            <a:r>
              <a:rPr lang="hr-HR" sz="2400" b="1" i="1" dirty="0">
                <a:ea typeface="Calibri" pitchFamily="34" charset="-122"/>
                <a:cs typeface="Calibri" pitchFamily="34" charset="-120"/>
              </a:rPr>
              <a:t> </a:t>
            </a:r>
            <a:r>
              <a:rPr lang="en-US" sz="2400" b="1" i="1" dirty="0">
                <a:ea typeface="Calibri" pitchFamily="34" charset="-122"/>
                <a:cs typeface="Calibri" pitchFamily="34" charset="-120"/>
              </a:rPr>
              <a:t>you train</a:t>
            </a:r>
            <a:r>
              <a:rPr lang="hr-HR" sz="2400" b="1" i="1" dirty="0">
                <a:ea typeface="Calibri" pitchFamily="34" charset="-122"/>
                <a:cs typeface="Calibri" pitchFamily="34" charset="-120"/>
              </a:rPr>
              <a:t>, </a:t>
            </a:r>
            <a:r>
              <a:rPr lang="en-US" sz="2400" b="1" i="1" dirty="0">
                <a:ea typeface="Calibri" pitchFamily="34" charset="-122"/>
                <a:cs typeface="Calibri" pitchFamily="34" charset="-120"/>
              </a:rPr>
              <a:t>but on modest data, in minutes, on a laptop.</a:t>
            </a:r>
          </a:p>
        </p:txBody>
      </p:sp>
    </p:spTree>
    <p:extLst>
      <p:ext uri="{BB962C8B-B14F-4D97-AF65-F5344CB8AC3E}">
        <p14:creationId xmlns:p14="http://schemas.microsoft.com/office/powerpoint/2010/main" val="37506425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Take Away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9E4365-8396-C712-2975-7754755726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lnSpc>
                <a:spcPts val="4400"/>
              </a:lnSpc>
              <a:buNone/>
            </a:pPr>
            <a:r>
              <a:rPr lang="en-US" sz="2400" b="1" dirty="0">
                <a:solidFill>
                  <a:srgbClr val="00B0F0"/>
                </a:solidFill>
                <a:ea typeface="Calibri" pitchFamily="34" charset="-122"/>
                <a:cs typeface="Calibri" pitchFamily="34" charset="-120"/>
              </a:rPr>
              <a:t>You can get a strong forecast on day one, no years of stats first…?!</a:t>
            </a:r>
          </a:p>
          <a:p>
            <a:pPr marL="0" indent="0">
              <a:lnSpc>
                <a:spcPts val="4400"/>
              </a:lnSpc>
              <a:buNone/>
            </a:pPr>
            <a:r>
              <a:rPr lang="en-US" sz="2400" dirty="0">
                <a:ea typeface="Calibri" pitchFamily="34" charset="-122"/>
                <a:cs typeface="Calibri" pitchFamily="34" charset="-120"/>
              </a:rPr>
              <a:t>These tools do the heavy lifting. What makes a forecast trustworthy is still </a:t>
            </a:r>
            <a:r>
              <a:rPr lang="en-US" sz="2400" b="1" dirty="0">
                <a:solidFill>
                  <a:srgbClr val="00B0F0"/>
                </a:solidFill>
                <a:ea typeface="Calibri" pitchFamily="34" charset="-122"/>
                <a:cs typeface="Calibri" pitchFamily="34" charset="-120"/>
              </a:rPr>
              <a:t>you</a:t>
            </a:r>
            <a:r>
              <a:rPr lang="en-US" sz="2400" dirty="0">
                <a:ea typeface="Calibri" pitchFamily="34" charset="-122"/>
                <a:cs typeface="Calibri" pitchFamily="34" charset="-120"/>
              </a:rPr>
              <a:t>…  your knowledge of the chemistry, the sensors, and when a number looks wrong. That judgement is the valuable part.</a:t>
            </a:r>
            <a:endParaRPr lang="en-US" sz="2400" dirty="0"/>
          </a:p>
          <a:p>
            <a:pPr marL="0" indent="0">
              <a:lnSpc>
                <a:spcPts val="4400"/>
              </a:lnSpc>
              <a:buNone/>
            </a:pPr>
            <a:endParaRPr lang="en-US" sz="2400" b="1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lnSpc>
                <a:spcPts val="4400"/>
              </a:lnSpc>
              <a:buNone/>
            </a:pPr>
            <a:endParaRPr lang="en-US" sz="24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62068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r>
              <a:rPr lang="hr-HR" dirty="0"/>
              <a:t>THANK YOU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B7EB956-C6EF-45C5-AA2D-A7DA8CAF031C}"/>
              </a:ext>
            </a:extLst>
          </p:cNvPr>
          <p:cNvSpPr txBox="1"/>
          <p:nvPr/>
        </p:nvSpPr>
        <p:spPr>
          <a:xfrm>
            <a:off x="1522413" y="2095593"/>
            <a:ext cx="7137980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r-HR" sz="3200" dirty="0"/>
              <a:t>Questions? </a:t>
            </a:r>
          </a:p>
          <a:p>
            <a:endParaRPr lang="hr-HR" sz="2800" dirty="0"/>
          </a:p>
          <a:p>
            <a:endParaRPr lang="hr-HR" sz="2800" dirty="0"/>
          </a:p>
          <a:p>
            <a:pPr marL="285750" indent="-285750">
              <a:buClr>
                <a:srgbClr val="00B0F0"/>
              </a:buClr>
              <a:buFont typeface="Arial" panose="020B0604020202020204" pitchFamily="34" charset="0"/>
              <a:buChar char="•"/>
            </a:pPr>
            <a:r>
              <a:rPr lang="hr-HR" sz="2800" dirty="0" err="1"/>
              <a:t>Try</a:t>
            </a:r>
            <a:r>
              <a:rPr lang="hr-HR" sz="2800" dirty="0"/>
              <a:t> </a:t>
            </a:r>
            <a:r>
              <a:rPr lang="hr-HR" sz="2800" dirty="0" err="1"/>
              <a:t>it</a:t>
            </a:r>
            <a:r>
              <a:rPr lang="hr-HR" sz="2800" dirty="0"/>
              <a:t>: Free </a:t>
            </a:r>
            <a:r>
              <a:rPr lang="hr-HR" sz="2800" dirty="0" err="1"/>
              <a:t>models</a:t>
            </a:r>
            <a:r>
              <a:rPr lang="hr-HR" sz="2800" dirty="0"/>
              <a:t>: </a:t>
            </a:r>
            <a:r>
              <a:rPr lang="hr-HR" sz="2800" dirty="0" err="1"/>
              <a:t>chronos</a:t>
            </a:r>
            <a:r>
              <a:rPr lang="hr-HR" sz="2800" dirty="0"/>
              <a:t>, </a:t>
            </a:r>
            <a:r>
              <a:rPr lang="hr-HR" sz="2800" dirty="0" err="1"/>
              <a:t>pypots</a:t>
            </a:r>
            <a:r>
              <a:rPr lang="hr-HR" sz="2800" dirty="0"/>
              <a:t>,… </a:t>
            </a:r>
          </a:p>
          <a:p>
            <a:pPr marL="285750" indent="-285750">
              <a:buClr>
                <a:srgbClr val="00B0F0"/>
              </a:buClr>
              <a:buFont typeface="Arial" panose="020B0604020202020204" pitchFamily="34" charset="0"/>
              <a:buChar char="•"/>
            </a:pPr>
            <a:r>
              <a:rPr lang="hr-HR" sz="2800" dirty="0"/>
              <a:t>Data: </a:t>
            </a:r>
            <a:r>
              <a:rPr lang="en-US" sz="2800" dirty="0"/>
              <a:t>Beijing Multi-Site Air Quality</a:t>
            </a:r>
            <a:r>
              <a:rPr lang="hr-HR" sz="2800" dirty="0"/>
              <a:t> (UCI, free)</a:t>
            </a:r>
            <a:endParaRPr lang="en-US" sz="28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24A8C98-FA83-4EA6-B898-018D29953649}"/>
              </a:ext>
            </a:extLst>
          </p:cNvPr>
          <p:cNvSpPr txBox="1"/>
          <p:nvPr/>
        </p:nvSpPr>
        <p:spPr>
          <a:xfrm>
            <a:off x="1520676" y="6129347"/>
            <a:ext cx="21547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r-HR" dirty="0"/>
              <a:t>karlo.nyark@ferit.hr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537EDBE-B7AB-E041-62A6-5A4FC918E6B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194" y="5813349"/>
            <a:ext cx="669942" cy="90807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3248455-C158-6430-1D67-348567F3D89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748" y="116632"/>
            <a:ext cx="1222485" cy="1222485"/>
          </a:xfrm>
          <a:prstGeom prst="rect">
            <a:avLst/>
          </a:prstGeom>
        </p:spPr>
      </p:pic>
      <p:pic>
        <p:nvPicPr>
          <p:cNvPr id="5" name="Picture 2" descr="Blue text on a white background&#10;&#10;AI-generated content may be incorrect.">
            <a:extLst>
              <a:ext uri="{FF2B5EF4-FFF2-40B4-BE49-F238E27FC236}">
                <a16:creationId xmlns:a16="http://schemas.microsoft.com/office/drawing/2014/main" id="{91C4BA30-BA66-BB3B-5268-1BEAC237E4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12432" y="116632"/>
            <a:ext cx="3149600" cy="635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137597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PROJECT_OPEN" val="0"/>
</p:tagLst>
</file>

<file path=ppt/theme/theme1.xml><?xml version="1.0" encoding="utf-8"?>
<a:theme xmlns:a="http://schemas.openxmlformats.org/drawingml/2006/main" name="Digital Blue Tunnel 16x9">
  <a:themeElements>
    <a:clrScheme name="Digital Blue Tunnel">
      <a:dk1>
        <a:srgbClr val="000000"/>
      </a:dk1>
      <a:lt1>
        <a:sysClr val="window" lastClr="FFFFFF"/>
      </a:lt1>
      <a:dk2>
        <a:srgbClr val="001027"/>
      </a:dk2>
      <a:lt2>
        <a:srgbClr val="C1EBF7"/>
      </a:lt2>
      <a:accent1>
        <a:srgbClr val="56C5FF"/>
      </a:accent1>
      <a:accent2>
        <a:srgbClr val="4BB836"/>
      </a:accent2>
      <a:accent3>
        <a:srgbClr val="F8B004"/>
      </a:accent3>
      <a:accent4>
        <a:srgbClr val="972ACD"/>
      </a:accent4>
      <a:accent5>
        <a:srgbClr val="F86E24"/>
      </a:accent5>
      <a:accent6>
        <a:srgbClr val="DB30C7"/>
      </a:accent6>
      <a:hlink>
        <a:srgbClr val="F8B004"/>
      </a:hlink>
      <a:folHlink>
        <a:srgbClr val="969696"/>
      </a:folHlink>
    </a:clrScheme>
    <a:fontScheme name="Corbel">
      <a:majorFont>
        <a:latin typeface="Corbe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02895261.potx" id="{4CBF9558-C12D-4F51-9AA3-9D0796951DBC}" vid="{FFC159E6-A134-46E7-B1A0-C306E39FC295}"/>
    </a:ext>
  </a:extLst>
</a:theme>
</file>

<file path=ppt/theme/theme2.xml><?xml version="1.0" encoding="utf-8"?>
<a:theme xmlns:a="http://schemas.openxmlformats.org/drawingml/2006/main" name="Office Theme">
  <a:themeElements>
    <a:clrScheme name="Digital Blue Tunnel">
      <a:dk1>
        <a:srgbClr val="000000"/>
      </a:dk1>
      <a:lt1>
        <a:sysClr val="window" lastClr="FFFFFF"/>
      </a:lt1>
      <a:dk2>
        <a:srgbClr val="001027"/>
      </a:dk2>
      <a:lt2>
        <a:srgbClr val="C1EBF7"/>
      </a:lt2>
      <a:accent1>
        <a:srgbClr val="56C5FF"/>
      </a:accent1>
      <a:accent2>
        <a:srgbClr val="4BB836"/>
      </a:accent2>
      <a:accent3>
        <a:srgbClr val="F8B004"/>
      </a:accent3>
      <a:accent4>
        <a:srgbClr val="972ACD"/>
      </a:accent4>
      <a:accent5>
        <a:srgbClr val="F86E24"/>
      </a:accent5>
      <a:accent6>
        <a:srgbClr val="DB30C7"/>
      </a:accent6>
      <a:hlink>
        <a:srgbClr val="F8B004"/>
      </a:hlink>
      <a:folHlink>
        <a:srgbClr val="969696"/>
      </a:folHlink>
    </a:clrScheme>
    <a:fontScheme name="Corbel">
      <a:majorFont>
        <a:latin typeface="Corbe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Digital Blue Tunnel">
      <a:dk1>
        <a:srgbClr val="000000"/>
      </a:dk1>
      <a:lt1>
        <a:sysClr val="window" lastClr="FFFFFF"/>
      </a:lt1>
      <a:dk2>
        <a:srgbClr val="001027"/>
      </a:dk2>
      <a:lt2>
        <a:srgbClr val="C1EBF7"/>
      </a:lt2>
      <a:accent1>
        <a:srgbClr val="56C5FF"/>
      </a:accent1>
      <a:accent2>
        <a:srgbClr val="4BB836"/>
      </a:accent2>
      <a:accent3>
        <a:srgbClr val="F8B004"/>
      </a:accent3>
      <a:accent4>
        <a:srgbClr val="972ACD"/>
      </a:accent4>
      <a:accent5>
        <a:srgbClr val="F86E24"/>
      </a:accent5>
      <a:accent6>
        <a:srgbClr val="DB30C7"/>
      </a:accent6>
      <a:hlink>
        <a:srgbClr val="F8B004"/>
      </a:hlink>
      <a:folHlink>
        <a:srgbClr val="969696"/>
      </a:folHlink>
    </a:clrScheme>
    <a:fontScheme name="Corbel">
      <a:majorFont>
        <a:latin typeface="Corbe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285A2FCDD361D43A9386C06852F9731" ma:contentTypeVersion="18" ma:contentTypeDescription="Create a new document." ma:contentTypeScope="" ma:versionID="e8fea4044a51386e481cf74caaed97d6">
  <xsd:schema xmlns:xsd="http://www.w3.org/2001/XMLSchema" xmlns:xs="http://www.w3.org/2001/XMLSchema" xmlns:p="http://schemas.microsoft.com/office/2006/metadata/properties" xmlns:ns3="f9bfae9b-c2ed-4f04-8be9-a5d20304fedb" xmlns:ns4="122d8aaf-a161-4f87-b1ec-3caa0fece98d" targetNamespace="http://schemas.microsoft.com/office/2006/metadata/properties" ma:root="true" ma:fieldsID="167717fd38610ed51f9b5fa8953323c9" ns3:_="" ns4:_="">
    <xsd:import namespace="f9bfae9b-c2ed-4f04-8be9-a5d20304fedb"/>
    <xsd:import namespace="122d8aaf-a161-4f87-b1ec-3caa0fece98d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OCR" minOccurs="0"/>
                <xsd:element ref="ns3:MediaServiceDateTaken" minOccurs="0"/>
                <xsd:element ref="ns3:MediaServiceGenerationTime" minOccurs="0"/>
                <xsd:element ref="ns3:MediaServiceEventHashCode" minOccurs="0"/>
                <xsd:element ref="ns3:MediaServiceAutoKeyPoints" minOccurs="0"/>
                <xsd:element ref="ns3:MediaServiceKeyPoints" minOccurs="0"/>
                <xsd:element ref="ns3:MediaLengthInSeconds" minOccurs="0"/>
                <xsd:element ref="ns3:MediaServiceObjectDetectorVersions" minOccurs="0"/>
                <xsd:element ref="ns3:_activity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SystemTags" minOccurs="0"/>
                <xsd:element ref="ns3:MediaServiceSearchProperties" minOccurs="0"/>
                <xsd:element ref="ns3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9bfae9b-c2ed-4f04-8be9-a5d20304fed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description="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18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_activity" ma:index="19" nillable="true" ma:displayName="_activity" ma:hidden="true" ma:internalName="_activity">
      <xsd:simpleType>
        <xsd:restriction base="dms:Note"/>
      </xsd:simpleType>
    </xsd:element>
    <xsd:element name="MediaServiceSystemTags" ma:index="23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5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22d8aaf-a161-4f87-b1ec-3caa0fece98d" elementFormDefault="qualified">
    <xsd:import namespace="http://schemas.microsoft.com/office/2006/documentManagement/types"/>
    <xsd:import namespace="http://schemas.microsoft.com/office/infopath/2007/PartnerControls"/>
    <xsd:element name="SharedWithUsers" ma:index="2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22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f9bfae9b-c2ed-4f04-8be9-a5d20304fedb" xsi:nil="true"/>
  </documentManagement>
</p:properties>
</file>

<file path=customXml/itemProps1.xml><?xml version="1.0" encoding="utf-8"?>
<ds:datastoreItem xmlns:ds="http://schemas.openxmlformats.org/officeDocument/2006/customXml" ds:itemID="{FAACD2B5-DB15-4A58-8B9D-C051D730B0D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9bfae9b-c2ed-4f04-8be9-a5d20304fedb"/>
    <ds:schemaRef ds:uri="122d8aaf-a161-4f87-b1ec-3caa0fece98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27DE7137-3684-41EF-A2B0-6AE64B685E4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79C5153-A981-451B-B7ED-F089506086F4}">
  <ds:schemaRefs>
    <ds:schemaRef ds:uri="http://purl.org/dc/terms/"/>
    <ds:schemaRef ds:uri="http://schemas.microsoft.com/office/2006/metadata/properties"/>
    <ds:schemaRef ds:uri="http://schemas.openxmlformats.org/package/2006/metadata/core-properties"/>
    <ds:schemaRef ds:uri="http://www.w3.org/XML/1998/namespace"/>
    <ds:schemaRef ds:uri="f9bfae9b-c2ed-4f04-8be9-a5d20304fedb"/>
    <ds:schemaRef ds:uri="http://schemas.microsoft.com/office/2006/documentManagement/types"/>
    <ds:schemaRef ds:uri="http://purl.org/dc/dcmitype/"/>
    <ds:schemaRef ds:uri="122d8aaf-a161-4f87-b1ec-3caa0fece98d"/>
    <ds:schemaRef ds:uri="http://schemas.microsoft.com/office/infopath/2007/PartnerControls"/>
    <ds:schemaRef ds:uri="http://purl.org/dc/elements/1.1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Business digital blue tunnel presentation (widescreen)</Template>
  <TotalTime>889</TotalTime>
  <Words>1933</Words>
  <Application>Microsoft Office PowerPoint</Application>
  <PresentationFormat>Custom</PresentationFormat>
  <Paragraphs>305</Paragraphs>
  <Slides>26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2" baseType="lpstr">
      <vt:lpstr>Arial</vt:lpstr>
      <vt:lpstr>Calibri</vt:lpstr>
      <vt:lpstr>Cambria</vt:lpstr>
      <vt:lpstr>Corbel</vt:lpstr>
      <vt:lpstr>Courier New</vt:lpstr>
      <vt:lpstr>Digital Blue Tunnel 16x9</vt:lpstr>
      <vt:lpstr>The Model That Never Saw Your Data</vt:lpstr>
      <vt:lpstr>By the end of the hour, you'll be able to…</vt:lpstr>
      <vt:lpstr>Three words we'll use a lot</vt:lpstr>
      <vt:lpstr>Four everyday air-quality problems</vt:lpstr>
      <vt:lpstr>How it's usually done</vt:lpstr>
      <vt:lpstr>Part 1  The big idea: a model that already learned</vt:lpstr>
      <vt:lpstr>Two ways to get a forecast</vt:lpstr>
      <vt:lpstr>How does it work ? It reads your data like reading a sentence.</vt:lpstr>
      <vt:lpstr>The toolbox in 2026 (These run on a normal laptop)</vt:lpstr>
      <vt:lpstr>Part 2  Let’s forecast some data</vt:lpstr>
      <vt:lpstr>Beijing Multi-Site Air Quality</vt:lpstr>
      <vt:lpstr>Demo 1: Forecast with no training</vt:lpstr>
      <vt:lpstr>Demo 2: A range, not just a line</vt:lpstr>
      <vt:lpstr>Demo 3: Now give it the weather</vt:lpstr>
      <vt:lpstr>Where it still struggles</vt:lpstr>
      <vt:lpstr>Bonus #1   Filling the gaps</vt:lpstr>
      <vt:lpstr>Smart gap-filling</vt:lpstr>
      <vt:lpstr>Bonus #2   Filling the map</vt:lpstr>
      <vt:lpstr>Your stations are a network</vt:lpstr>
      <vt:lpstr>Guess a hidden station</vt:lpstr>
      <vt:lpstr>Guess a hidden station</vt:lpstr>
      <vt:lpstr>Guess a hidden station</vt:lpstr>
      <vt:lpstr>Guess a hidden station</vt:lpstr>
      <vt:lpstr>The whole hour ....</vt:lpstr>
      <vt:lpstr>The Take Away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Model That Never Saw Your Data</dc:title>
  <dc:creator>Emmanuel Karlo Nyarko</dc:creator>
  <cp:lastModifiedBy>Emmanuel Karlo Nyarko</cp:lastModifiedBy>
  <cp:revision>21</cp:revision>
  <dcterms:created xsi:type="dcterms:W3CDTF">2026-09-06T00:20:08Z</dcterms:created>
  <dcterms:modified xsi:type="dcterms:W3CDTF">2026-09-08T05:35:53Z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nternalTags">
    <vt:lpwstr/>
  </property>
  <property fmtid="{D5CDD505-2E9C-101B-9397-08002B2CF9AE}" pid="3" name="ContentTypeId">
    <vt:lpwstr>0x0101002285A2FCDD361D43A9386C06852F9731</vt:lpwstr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ScenarioTags">
    <vt:lpwstr/>
  </property>
  <property fmtid="{D5CDD505-2E9C-101B-9397-08002B2CF9AE}" pid="7" name="CampaignTags">
    <vt:lpwstr/>
  </property>
</Properties>
</file>