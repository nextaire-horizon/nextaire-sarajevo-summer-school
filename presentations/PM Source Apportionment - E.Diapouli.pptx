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99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78" d="100"/>
          <a:sy n="78" d="100"/>
        </p:scale>
        <p:origin x="1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la Diapouli" userId="56994a4fbe1b8b67" providerId="LiveId" clId="{5855D1AF-4C59-4556-831E-8D59558840CD}"/>
    <pc:docChg chg="undo custSel addSld delSld modSld">
      <pc:chgData name="Lila Diapouli" userId="56994a4fbe1b8b67" providerId="LiveId" clId="{5855D1AF-4C59-4556-831E-8D59558840CD}" dt="2026-09-07T08:34:53.344" v="217" actId="478"/>
      <pc:docMkLst>
        <pc:docMk/>
      </pc:docMkLst>
      <pc:sldChg chg="addSp modSp mod">
        <pc:chgData name="Lila Diapouli" userId="56994a4fbe1b8b67" providerId="LiveId" clId="{5855D1AF-4C59-4556-831E-8D59558840CD}" dt="2026-09-07T08:29:56.817" v="93" actId="20577"/>
        <pc:sldMkLst>
          <pc:docMk/>
          <pc:sldMk cId="3221394564" sldId="257"/>
        </pc:sldMkLst>
        <pc:spChg chg="add mod">
          <ac:chgData name="Lila Diapouli" userId="56994a4fbe1b8b67" providerId="LiveId" clId="{5855D1AF-4C59-4556-831E-8D59558840CD}" dt="2026-09-07T08:29:56.817" v="93" actId="20577"/>
          <ac:spMkLst>
            <pc:docMk/>
            <pc:sldMk cId="3221394564" sldId="257"/>
            <ac:spMk id="3" creationId="{E2893DFC-F183-B83B-6EBC-4A7F32EA8E61}"/>
          </ac:spMkLst>
        </pc:spChg>
        <pc:picChg chg="mod">
          <ac:chgData name="Lila Diapouli" userId="56994a4fbe1b8b67" providerId="LiveId" clId="{5855D1AF-4C59-4556-831E-8D59558840CD}" dt="2026-09-07T08:24:40.319" v="0" actId="1076"/>
          <ac:picMkLst>
            <pc:docMk/>
            <pc:sldMk cId="3221394564" sldId="257"/>
            <ac:picMk id="12" creationId="{00000000-0000-0000-0000-000000000000}"/>
          </ac:picMkLst>
        </pc:picChg>
      </pc:sldChg>
      <pc:sldChg chg="addSp modSp mod">
        <pc:chgData name="Lila Diapouli" userId="56994a4fbe1b8b67" providerId="LiveId" clId="{5855D1AF-4C59-4556-831E-8D59558840CD}" dt="2026-09-07T08:30:01.670" v="97" actId="20577"/>
        <pc:sldMkLst>
          <pc:docMk/>
          <pc:sldMk cId="1308400759" sldId="258"/>
        </pc:sldMkLst>
        <pc:spChg chg="add mod">
          <ac:chgData name="Lila Diapouli" userId="56994a4fbe1b8b67" providerId="LiveId" clId="{5855D1AF-4C59-4556-831E-8D59558840CD}" dt="2026-09-07T08:30:01.670" v="97" actId="20577"/>
          <ac:spMkLst>
            <pc:docMk/>
            <pc:sldMk cId="1308400759" sldId="258"/>
            <ac:spMk id="6" creationId="{645D1469-FA4D-1B8E-334C-2B417BBCBA6C}"/>
          </ac:spMkLst>
        </pc:spChg>
      </pc:sldChg>
      <pc:sldChg chg="addSp modSp mod">
        <pc:chgData name="Lila Diapouli" userId="56994a4fbe1b8b67" providerId="LiveId" clId="{5855D1AF-4C59-4556-831E-8D59558840CD}" dt="2026-09-07T08:29:39.551" v="89" actId="20577"/>
        <pc:sldMkLst>
          <pc:docMk/>
          <pc:sldMk cId="2986457716" sldId="259"/>
        </pc:sldMkLst>
        <pc:spChg chg="add mod">
          <ac:chgData name="Lila Diapouli" userId="56994a4fbe1b8b67" providerId="LiveId" clId="{5855D1AF-4C59-4556-831E-8D59558840CD}" dt="2026-09-07T08:29:39.551" v="89" actId="20577"/>
          <ac:spMkLst>
            <pc:docMk/>
            <pc:sldMk cId="2986457716" sldId="259"/>
            <ac:spMk id="3" creationId="{2284E09F-548C-5B96-58D2-FECB70333D24}"/>
          </ac:spMkLst>
        </pc:spChg>
        <pc:picChg chg="mod">
          <ac:chgData name="Lila Diapouli" userId="56994a4fbe1b8b67" providerId="LiveId" clId="{5855D1AF-4C59-4556-831E-8D59558840CD}" dt="2026-09-07T08:24:50.706" v="2" actId="1076"/>
          <ac:picMkLst>
            <pc:docMk/>
            <pc:sldMk cId="2986457716" sldId="259"/>
            <ac:picMk id="12" creationId="{00000000-0000-0000-0000-000000000000}"/>
          </ac:picMkLst>
        </pc:picChg>
      </pc:sldChg>
      <pc:sldChg chg="addSp modSp mod">
        <pc:chgData name="Lila Diapouli" userId="56994a4fbe1b8b67" providerId="LiveId" clId="{5855D1AF-4C59-4556-831E-8D59558840CD}" dt="2026-09-07T08:30:09.275" v="101" actId="20577"/>
        <pc:sldMkLst>
          <pc:docMk/>
          <pc:sldMk cId="3350866437" sldId="260"/>
        </pc:sldMkLst>
        <pc:spChg chg="add mod">
          <ac:chgData name="Lila Diapouli" userId="56994a4fbe1b8b67" providerId="LiveId" clId="{5855D1AF-4C59-4556-831E-8D59558840CD}" dt="2026-09-07T08:30:09.275" v="101" actId="20577"/>
          <ac:spMkLst>
            <pc:docMk/>
            <pc:sldMk cId="3350866437" sldId="260"/>
            <ac:spMk id="6" creationId="{8EF0AEB4-844B-200D-4EB8-493A05429B25}"/>
          </ac:spMkLst>
        </pc:spChg>
      </pc:sldChg>
      <pc:sldChg chg="addSp modSp mod">
        <pc:chgData name="Lila Diapouli" userId="56994a4fbe1b8b67" providerId="LiveId" clId="{5855D1AF-4C59-4556-831E-8D59558840CD}" dt="2026-09-07T08:30:15.890" v="107" actId="20577"/>
        <pc:sldMkLst>
          <pc:docMk/>
          <pc:sldMk cId="1483887118" sldId="261"/>
        </pc:sldMkLst>
        <pc:spChg chg="add mod">
          <ac:chgData name="Lila Diapouli" userId="56994a4fbe1b8b67" providerId="LiveId" clId="{5855D1AF-4C59-4556-831E-8D59558840CD}" dt="2026-09-07T08:30:15.890" v="107" actId="20577"/>
          <ac:spMkLst>
            <pc:docMk/>
            <pc:sldMk cId="1483887118" sldId="261"/>
            <ac:spMk id="6" creationId="{B5A7E930-E8ED-1AC6-51F2-2E43D4C59840}"/>
          </ac:spMkLst>
        </pc:spChg>
      </pc:sldChg>
      <pc:sldChg chg="addSp modSp mod">
        <pc:chgData name="Lila Diapouli" userId="56994a4fbe1b8b67" providerId="LiveId" clId="{5855D1AF-4C59-4556-831E-8D59558840CD}" dt="2026-09-07T08:30:22.346" v="113" actId="20577"/>
        <pc:sldMkLst>
          <pc:docMk/>
          <pc:sldMk cId="935312859" sldId="262"/>
        </pc:sldMkLst>
        <pc:spChg chg="add mod">
          <ac:chgData name="Lila Diapouli" userId="56994a4fbe1b8b67" providerId="LiveId" clId="{5855D1AF-4C59-4556-831E-8D59558840CD}" dt="2026-09-07T08:30:22.346" v="113" actId="20577"/>
          <ac:spMkLst>
            <pc:docMk/>
            <pc:sldMk cId="935312859" sldId="262"/>
            <ac:spMk id="3" creationId="{87F6F327-0E6C-4B8A-81A3-BCEF2999C451}"/>
          </ac:spMkLst>
        </pc:spChg>
      </pc:sldChg>
      <pc:sldChg chg="addSp modSp mod">
        <pc:chgData name="Lila Diapouli" userId="56994a4fbe1b8b67" providerId="LiveId" clId="{5855D1AF-4C59-4556-831E-8D59558840CD}" dt="2026-09-07T08:30:28.379" v="119" actId="20577"/>
        <pc:sldMkLst>
          <pc:docMk/>
          <pc:sldMk cId="1434327086" sldId="263"/>
        </pc:sldMkLst>
        <pc:spChg chg="add mod">
          <ac:chgData name="Lila Diapouli" userId="56994a4fbe1b8b67" providerId="LiveId" clId="{5855D1AF-4C59-4556-831E-8D59558840CD}" dt="2026-09-07T08:30:28.379" v="119" actId="20577"/>
          <ac:spMkLst>
            <pc:docMk/>
            <pc:sldMk cId="1434327086" sldId="263"/>
            <ac:spMk id="3" creationId="{F51038B9-5B42-2D17-137C-87CCECB5D8AC}"/>
          </ac:spMkLst>
        </pc:spChg>
      </pc:sldChg>
      <pc:sldChg chg="addSp modSp mod">
        <pc:chgData name="Lila Diapouli" userId="56994a4fbe1b8b67" providerId="LiveId" clId="{5855D1AF-4C59-4556-831E-8D59558840CD}" dt="2026-09-07T08:30:55.236" v="135" actId="20577"/>
        <pc:sldMkLst>
          <pc:docMk/>
          <pc:sldMk cId="762258665" sldId="264"/>
        </pc:sldMkLst>
        <pc:spChg chg="add mod">
          <ac:chgData name="Lila Diapouli" userId="56994a4fbe1b8b67" providerId="LiveId" clId="{5855D1AF-4C59-4556-831E-8D59558840CD}" dt="2026-09-07T08:30:55.236" v="135" actId="20577"/>
          <ac:spMkLst>
            <pc:docMk/>
            <pc:sldMk cId="762258665" sldId="264"/>
            <ac:spMk id="8" creationId="{1C0F206C-1476-0825-047B-F3FB2E2D3855}"/>
          </ac:spMkLst>
        </pc:spChg>
      </pc:sldChg>
      <pc:sldChg chg="addSp modSp mod">
        <pc:chgData name="Lila Diapouli" userId="56994a4fbe1b8b67" providerId="LiveId" clId="{5855D1AF-4C59-4556-831E-8D59558840CD}" dt="2026-09-07T08:30:45.842" v="133" actId="20577"/>
        <pc:sldMkLst>
          <pc:docMk/>
          <pc:sldMk cId="1574426687" sldId="265"/>
        </pc:sldMkLst>
        <pc:spChg chg="add mod">
          <ac:chgData name="Lila Diapouli" userId="56994a4fbe1b8b67" providerId="LiveId" clId="{5855D1AF-4C59-4556-831E-8D59558840CD}" dt="2026-09-07T08:30:45.842" v="133" actId="20577"/>
          <ac:spMkLst>
            <pc:docMk/>
            <pc:sldMk cId="1574426687" sldId="265"/>
            <ac:spMk id="3" creationId="{3D9A5CD3-1F21-8BD7-4478-E1B50DF2E1D0}"/>
          </ac:spMkLst>
        </pc:spChg>
      </pc:sldChg>
      <pc:sldChg chg="addSp modSp mod">
        <pc:chgData name="Lila Diapouli" userId="56994a4fbe1b8b67" providerId="LiveId" clId="{5855D1AF-4C59-4556-831E-8D59558840CD}" dt="2026-09-07T08:31:06.768" v="142" actId="20577"/>
        <pc:sldMkLst>
          <pc:docMk/>
          <pc:sldMk cId="238526297" sldId="266"/>
        </pc:sldMkLst>
        <pc:spChg chg="add mod">
          <ac:chgData name="Lila Diapouli" userId="56994a4fbe1b8b67" providerId="LiveId" clId="{5855D1AF-4C59-4556-831E-8D59558840CD}" dt="2026-09-07T08:31:06.768" v="142" actId="20577"/>
          <ac:spMkLst>
            <pc:docMk/>
            <pc:sldMk cId="238526297" sldId="266"/>
            <ac:spMk id="3" creationId="{00128774-9A98-401A-E09D-C8CDB60397F0}"/>
          </ac:spMkLst>
        </pc:spChg>
      </pc:sldChg>
      <pc:sldChg chg="addSp modSp mod">
        <pc:chgData name="Lila Diapouli" userId="56994a4fbe1b8b67" providerId="LiveId" clId="{5855D1AF-4C59-4556-831E-8D59558840CD}" dt="2026-09-07T08:31:20.681" v="153" actId="20577"/>
        <pc:sldMkLst>
          <pc:docMk/>
          <pc:sldMk cId="752384100" sldId="267"/>
        </pc:sldMkLst>
        <pc:spChg chg="add mod">
          <ac:chgData name="Lila Diapouli" userId="56994a4fbe1b8b67" providerId="LiveId" clId="{5855D1AF-4C59-4556-831E-8D59558840CD}" dt="2026-09-07T08:31:20.681" v="153" actId="20577"/>
          <ac:spMkLst>
            <pc:docMk/>
            <pc:sldMk cId="752384100" sldId="267"/>
            <ac:spMk id="3" creationId="{D77A5F83-3B0A-287A-4376-8FF9E2EBB66D}"/>
          </ac:spMkLst>
        </pc:spChg>
      </pc:sldChg>
      <pc:sldChg chg="addSp modSp mod">
        <pc:chgData name="Lila Diapouli" userId="56994a4fbe1b8b67" providerId="LiveId" clId="{5855D1AF-4C59-4556-831E-8D59558840CD}" dt="2026-09-07T08:31:26.856" v="159" actId="20577"/>
        <pc:sldMkLst>
          <pc:docMk/>
          <pc:sldMk cId="347659311" sldId="268"/>
        </pc:sldMkLst>
        <pc:spChg chg="add mod">
          <ac:chgData name="Lila Diapouli" userId="56994a4fbe1b8b67" providerId="LiveId" clId="{5855D1AF-4C59-4556-831E-8D59558840CD}" dt="2026-09-07T08:31:26.856" v="159" actId="20577"/>
          <ac:spMkLst>
            <pc:docMk/>
            <pc:sldMk cId="347659311" sldId="268"/>
            <ac:spMk id="7" creationId="{1D1960A7-47FE-BF32-00C1-90BD4B0D3F74}"/>
          </ac:spMkLst>
        </pc:spChg>
      </pc:sldChg>
      <pc:sldChg chg="addSp modSp mod">
        <pc:chgData name="Lila Diapouli" userId="56994a4fbe1b8b67" providerId="LiveId" clId="{5855D1AF-4C59-4556-831E-8D59558840CD}" dt="2026-09-07T08:31:33.152" v="165" actId="20577"/>
        <pc:sldMkLst>
          <pc:docMk/>
          <pc:sldMk cId="748823559" sldId="269"/>
        </pc:sldMkLst>
        <pc:spChg chg="add mod">
          <ac:chgData name="Lila Diapouli" userId="56994a4fbe1b8b67" providerId="LiveId" clId="{5855D1AF-4C59-4556-831E-8D59558840CD}" dt="2026-09-07T08:31:33.152" v="165" actId="20577"/>
          <ac:spMkLst>
            <pc:docMk/>
            <pc:sldMk cId="748823559" sldId="269"/>
            <ac:spMk id="7" creationId="{EBC2DE3C-0FA6-F95A-09F5-40F2D57616E8}"/>
          </ac:spMkLst>
        </pc:spChg>
      </pc:sldChg>
      <pc:sldChg chg="addSp modSp mod">
        <pc:chgData name="Lila Diapouli" userId="56994a4fbe1b8b67" providerId="LiveId" clId="{5855D1AF-4C59-4556-831E-8D59558840CD}" dt="2026-09-07T08:31:47.432" v="177" actId="20577"/>
        <pc:sldMkLst>
          <pc:docMk/>
          <pc:sldMk cId="2817843120" sldId="270"/>
        </pc:sldMkLst>
        <pc:spChg chg="add mod">
          <ac:chgData name="Lila Diapouli" userId="56994a4fbe1b8b67" providerId="LiveId" clId="{5855D1AF-4C59-4556-831E-8D59558840CD}" dt="2026-09-07T08:31:47.432" v="177" actId="20577"/>
          <ac:spMkLst>
            <pc:docMk/>
            <pc:sldMk cId="2817843120" sldId="270"/>
            <ac:spMk id="7" creationId="{79865F65-10D6-699C-0C60-30247DC55FC0}"/>
          </ac:spMkLst>
        </pc:spChg>
      </pc:sldChg>
      <pc:sldChg chg="addSp modSp mod">
        <pc:chgData name="Lila Diapouli" userId="56994a4fbe1b8b67" providerId="LiveId" clId="{5855D1AF-4C59-4556-831E-8D59558840CD}" dt="2026-09-07T08:31:39.501" v="171" actId="20577"/>
        <pc:sldMkLst>
          <pc:docMk/>
          <pc:sldMk cId="2152620243" sldId="271"/>
        </pc:sldMkLst>
        <pc:spChg chg="add mod">
          <ac:chgData name="Lila Diapouli" userId="56994a4fbe1b8b67" providerId="LiveId" clId="{5855D1AF-4C59-4556-831E-8D59558840CD}" dt="2026-09-07T08:31:39.501" v="171" actId="20577"/>
          <ac:spMkLst>
            <pc:docMk/>
            <pc:sldMk cId="2152620243" sldId="271"/>
            <ac:spMk id="3" creationId="{9F9B3526-6995-D017-D03B-FE566A6AAA2D}"/>
          </ac:spMkLst>
        </pc:spChg>
      </pc:sldChg>
      <pc:sldChg chg="addSp modSp mod">
        <pc:chgData name="Lila Diapouli" userId="56994a4fbe1b8b67" providerId="LiveId" clId="{5855D1AF-4C59-4556-831E-8D59558840CD}" dt="2026-09-07T08:31:54.919" v="183" actId="20577"/>
        <pc:sldMkLst>
          <pc:docMk/>
          <pc:sldMk cId="2801026640" sldId="272"/>
        </pc:sldMkLst>
        <pc:spChg chg="add mod">
          <ac:chgData name="Lila Diapouli" userId="56994a4fbe1b8b67" providerId="LiveId" clId="{5855D1AF-4C59-4556-831E-8D59558840CD}" dt="2026-09-07T08:31:54.919" v="183" actId="20577"/>
          <ac:spMkLst>
            <pc:docMk/>
            <pc:sldMk cId="2801026640" sldId="272"/>
            <ac:spMk id="6" creationId="{84EE3010-595E-88FA-C112-23D32A03ACE9}"/>
          </ac:spMkLst>
        </pc:spChg>
      </pc:sldChg>
      <pc:sldChg chg="addSp modSp mod">
        <pc:chgData name="Lila Diapouli" userId="56994a4fbe1b8b67" providerId="LiveId" clId="{5855D1AF-4C59-4556-831E-8D59558840CD}" dt="2026-09-07T08:32:01.689" v="189" actId="20577"/>
        <pc:sldMkLst>
          <pc:docMk/>
          <pc:sldMk cId="4245450836" sldId="273"/>
        </pc:sldMkLst>
        <pc:spChg chg="add mod">
          <ac:chgData name="Lila Diapouli" userId="56994a4fbe1b8b67" providerId="LiveId" clId="{5855D1AF-4C59-4556-831E-8D59558840CD}" dt="2026-09-07T08:32:01.689" v="189" actId="20577"/>
          <ac:spMkLst>
            <pc:docMk/>
            <pc:sldMk cId="4245450836" sldId="273"/>
            <ac:spMk id="3" creationId="{DD8EAE3F-0B90-77F6-AD13-CE63E21D697C}"/>
          </ac:spMkLst>
        </pc:spChg>
      </pc:sldChg>
      <pc:sldChg chg="addSp modSp mod">
        <pc:chgData name="Lila Diapouli" userId="56994a4fbe1b8b67" providerId="LiveId" clId="{5855D1AF-4C59-4556-831E-8D59558840CD}" dt="2026-09-07T08:32:10.845" v="195" actId="20577"/>
        <pc:sldMkLst>
          <pc:docMk/>
          <pc:sldMk cId="383475014" sldId="274"/>
        </pc:sldMkLst>
        <pc:spChg chg="add mod">
          <ac:chgData name="Lila Diapouli" userId="56994a4fbe1b8b67" providerId="LiveId" clId="{5855D1AF-4C59-4556-831E-8D59558840CD}" dt="2026-09-07T08:32:10.845" v="195" actId="20577"/>
          <ac:spMkLst>
            <pc:docMk/>
            <pc:sldMk cId="383475014" sldId="274"/>
            <ac:spMk id="8" creationId="{DAFC4AF9-1B9E-16FF-5260-7E09CD143D12}"/>
          </ac:spMkLst>
        </pc:spChg>
      </pc:sldChg>
      <pc:sldChg chg="addSp modSp mod">
        <pc:chgData name="Lila Diapouli" userId="56994a4fbe1b8b67" providerId="LiveId" clId="{5855D1AF-4C59-4556-831E-8D59558840CD}" dt="2026-09-07T08:34:30.927" v="216" actId="6549"/>
        <pc:sldMkLst>
          <pc:docMk/>
          <pc:sldMk cId="2361761166" sldId="275"/>
        </pc:sldMkLst>
        <pc:spChg chg="add mod">
          <ac:chgData name="Lila Diapouli" userId="56994a4fbe1b8b67" providerId="LiveId" clId="{5855D1AF-4C59-4556-831E-8D59558840CD}" dt="2026-09-07T08:32:16.296" v="203" actId="20577"/>
          <ac:spMkLst>
            <pc:docMk/>
            <pc:sldMk cId="2361761166" sldId="275"/>
            <ac:spMk id="3" creationId="{D10409F9-874B-CD8A-7311-ECEA35D49417}"/>
          </ac:spMkLst>
        </pc:spChg>
        <pc:spChg chg="mod">
          <ac:chgData name="Lila Diapouli" userId="56994a4fbe1b8b67" providerId="LiveId" clId="{5855D1AF-4C59-4556-831E-8D59558840CD}" dt="2026-09-07T08:34:30.927" v="216" actId="6549"/>
          <ac:spMkLst>
            <pc:docMk/>
            <pc:sldMk cId="2361761166" sldId="275"/>
            <ac:spMk id="13" creationId="{00000000-0000-0000-0000-000000000000}"/>
          </ac:spMkLst>
        </pc:spChg>
      </pc:sldChg>
      <pc:sldChg chg="addSp delSp modSp mod">
        <pc:chgData name="Lila Diapouli" userId="56994a4fbe1b8b67" providerId="LiveId" clId="{5855D1AF-4C59-4556-831E-8D59558840CD}" dt="2026-09-07T08:34:53.344" v="217" actId="478"/>
        <pc:sldMkLst>
          <pc:docMk/>
          <pc:sldMk cId="42060087" sldId="276"/>
        </pc:sldMkLst>
        <pc:spChg chg="add del mod">
          <ac:chgData name="Lila Diapouli" userId="56994a4fbe1b8b67" providerId="LiveId" clId="{5855D1AF-4C59-4556-831E-8D59558840CD}" dt="2026-09-07T08:34:53.344" v="217" actId="478"/>
          <ac:spMkLst>
            <pc:docMk/>
            <pc:sldMk cId="42060087" sldId="276"/>
            <ac:spMk id="13" creationId="{8803386E-A65C-8DD0-76DD-DD12D7C2CBFB}"/>
          </ac:spMkLst>
        </pc:spChg>
      </pc:sldChg>
      <pc:sldChg chg="add del">
        <pc:chgData name="Lila Diapouli" userId="56994a4fbe1b8b67" providerId="LiveId" clId="{5855D1AF-4C59-4556-831E-8D59558840CD}" dt="2026-09-07T08:26:53.662" v="25"/>
        <pc:sldMkLst>
          <pc:docMk/>
          <pc:sldMk cId="2193730119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33A1EF-819B-4AA8-BB65-908F0B9C8034}" type="datetimeFigureOut">
              <a:rPr lang="en-GB" smtClean="0"/>
              <a:t>07/09/2026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5DE5B-4E5E-42CD-BA06-E23A434D14A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9666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DE75-8297-4948-A4F3-587565C46C9A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64E2-8DE5-4AF3-8C49-EA3690CC1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24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BAD36A-1D6E-4EED-AA32-96469624F821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64E2-8DE5-4AF3-8C49-EA3690CC1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880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DC9DF-5B72-4F92-85AE-0D0EA62B5DF6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64E2-8DE5-4AF3-8C49-EA3690CC1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231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23247-480B-49FF-915E-8F78F063105D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64E2-8DE5-4AF3-8C49-EA3690CC1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062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CE028-71EC-4D62-BA8F-FA24ADDC2F44}" type="datetime1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64E2-8DE5-4AF3-8C49-EA3690CC1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55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40F8C-AF60-47AD-884E-BD094ED7A4BC}" type="datetime1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64E2-8DE5-4AF3-8C49-EA3690CC1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94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84596-DFE1-466B-8979-560BD384D6C4}" type="datetime1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64E2-8DE5-4AF3-8C49-EA3690CC1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76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6EB0C-347D-41DD-9479-E8C1229B3646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64E2-8DE5-4AF3-8C49-EA3690CC1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082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8A8B-2D1A-4AE2-BF5B-A1EAC0655D01}" type="datetime1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64E2-8DE5-4AF3-8C49-EA3690CC1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380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7659C-C236-42FC-8BDF-FE2EC8637473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64E2-8DE5-4AF3-8C49-EA3690CC1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89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83620-BA65-4608-A8D2-85D3CB5301E5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5364E2-8DE5-4AF3-8C49-EA3690CC1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082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EB2DCC-A333-4E8A-97A3-1739F7C4D64B}" type="datetime1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5364E2-8DE5-4AF3-8C49-EA3690CC1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611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pt/url?sa=i&amp;rct=j&amp;q=&amp;esrc=s&amp;source=images&amp;cd=&amp;cad=rja&amp;uact=8&amp;ved=0ahUKEwiN5LbjrrfPAhWM8RQKHcc4DrkQjRwIBw&amp;url=http://transcriptorium.eu/consortium/national-centre-for-scientific-research-demokritos/&amp;psig=AFQjCNEDXb6InhtmyYYeDf5ac8Phj-IOjw&amp;ust=1475334278765970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ldiapouli@ipta.demokritos.gr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hyperlink" Target="http://www.google.pt/url?sa=i&amp;rct=j&amp;q=&amp;esrc=s&amp;source=images&amp;cd=&amp;cad=rja&amp;uact=8&amp;ved=0ahUKEwiN5LbjrrfPAhWM8RQKHcc4DrkQjRwIBw&amp;url=http://transcriptorium.eu/consortium/national-centre-for-scientific-research-demokritos/&amp;psig=AFQjCNEDXb6InhtmyYYeDf5ac8Phj-IOjw&amp;ust=1475334278765970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13" Type="http://schemas.openxmlformats.org/officeDocument/2006/relationships/image" Target="../media/image15.jpeg"/><Relationship Id="rId3" Type="http://schemas.openxmlformats.org/officeDocument/2006/relationships/image" Target="../media/image1.jpeg"/><Relationship Id="rId7" Type="http://schemas.openxmlformats.org/officeDocument/2006/relationships/image" Target="../media/image9.jpeg"/><Relationship Id="rId12" Type="http://schemas.openxmlformats.org/officeDocument/2006/relationships/image" Target="../media/image14.jpg"/><Relationship Id="rId2" Type="http://schemas.openxmlformats.org/officeDocument/2006/relationships/hyperlink" Target="http://www.google.pt/url?sa=i&amp;rct=j&amp;q=&amp;esrc=s&amp;source=images&amp;cd=&amp;cad=rja&amp;uact=8&amp;ved=0ahUKEwiN5LbjrrfPAhWM8RQKHcc4DrkQjRwIBw&amp;url=http://transcriptorium.eu/consortium/national-centre-for-scientific-research-demokritos/&amp;psig=AFQjCNEDXb6InhtmyYYeDf5ac8Phj-IOjw&amp;ust=1475334278765970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g"/><Relationship Id="rId11" Type="http://schemas.openxmlformats.org/officeDocument/2006/relationships/image" Target="../media/image13.jpg"/><Relationship Id="rId5" Type="http://schemas.openxmlformats.org/officeDocument/2006/relationships/image" Target="../media/image7.jpg"/><Relationship Id="rId10" Type="http://schemas.openxmlformats.org/officeDocument/2006/relationships/image" Target="../media/image12.jpeg"/><Relationship Id="rId4" Type="http://schemas.openxmlformats.org/officeDocument/2006/relationships/image" Target="../media/image2.png"/><Relationship Id="rId9" Type="http://schemas.openxmlformats.org/officeDocument/2006/relationships/image" Target="../media/image11.png"/><Relationship Id="rId14" Type="http://schemas.openxmlformats.org/officeDocument/2006/relationships/image" Target="../media/image1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pt/url?sa=i&amp;rct=j&amp;q=&amp;esrc=s&amp;source=images&amp;cd=&amp;cad=rja&amp;uact=8&amp;ved=0ahUKEwiN5LbjrrfPAhWM8RQKHcc4DrkQjRwIBw&amp;url=http://transcriptorium.eu/consortium/national-centre-for-scientific-research-demokritos/&amp;psig=AFQjCNEDXb6InhtmyYYeDf5ac8Phj-IOjw&amp;ust=1475334278765970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pt/url?sa=i&amp;rct=j&amp;q=&amp;esrc=s&amp;source=images&amp;cd=&amp;cad=rja&amp;uact=8&amp;ved=0ahUKEwiN5LbjrrfPAhWM8RQKHcc4DrkQjRwIBw&amp;url=http://transcriptorium.eu/consortium/national-centre-for-scientific-research-demokritos/&amp;psig=AFQjCNEDXb6InhtmyYYeDf5ac8Phj-IOjw&amp;ust=1475334278765970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pt/url?sa=i&amp;rct=j&amp;q=&amp;esrc=s&amp;source=images&amp;cd=&amp;cad=rja&amp;uact=8&amp;ved=0ahUKEwiN5LbjrrfPAhWM8RQKHcc4DrkQjRwIBw&amp;url=http://transcriptorium.eu/consortium/national-centre-for-scientific-research-demokritos/&amp;psig=AFQjCNEDXb6InhtmyYYeDf5ac8Phj-IOjw&amp;ust=1475334278765970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pt/url?sa=i&amp;rct=j&amp;q=&amp;esrc=s&amp;source=images&amp;cd=&amp;cad=rja&amp;uact=8&amp;ved=0ahUKEwiN5LbjrrfPAhWM8RQKHcc4DrkQjRwIBw&amp;url=http://transcriptorium.eu/consortium/national-centre-for-scientific-research-demokritos/&amp;psig=AFQjCNEDXb6InhtmyYYeDf5ac8Phj-IOjw&amp;ust=1475334278765970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emf"/><Relationship Id="rId5" Type="http://schemas.openxmlformats.org/officeDocument/2006/relationships/image" Target="../media/image17.emf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13" Type="http://schemas.openxmlformats.org/officeDocument/2006/relationships/image" Target="../media/image27.jpeg"/><Relationship Id="rId18" Type="http://schemas.openxmlformats.org/officeDocument/2006/relationships/image" Target="../media/image32.png"/><Relationship Id="rId3" Type="http://schemas.openxmlformats.org/officeDocument/2006/relationships/image" Target="../media/image20.emf"/><Relationship Id="rId7" Type="http://schemas.openxmlformats.org/officeDocument/2006/relationships/hyperlink" Target="http://www.google.pt/url?sa=i&amp;rct=j&amp;q=&amp;esrc=s&amp;source=images&amp;cd=&amp;cad=rja&amp;uact=8&amp;ved=0ahUKEwiN5LbjrrfPAhWM8RQKHcc4DrkQjRwIBw&amp;url=http://transcriptorium.eu/consortium/national-centre-for-scientific-research-demokritos/&amp;psig=AFQjCNEDXb6InhtmyYYeDf5ac8Phj-IOjw&amp;ust=1475334278765970" TargetMode="External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" Type="http://schemas.openxmlformats.org/officeDocument/2006/relationships/image" Target="../media/image19.emf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emf"/><Relationship Id="rId11" Type="http://schemas.openxmlformats.org/officeDocument/2006/relationships/image" Target="../media/image25.png"/><Relationship Id="rId5" Type="http://schemas.openxmlformats.org/officeDocument/2006/relationships/image" Target="../media/image22.emf"/><Relationship Id="rId15" Type="http://schemas.openxmlformats.org/officeDocument/2006/relationships/image" Target="../media/image29.jpe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4" Type="http://schemas.openxmlformats.org/officeDocument/2006/relationships/image" Target="../media/image21.emf"/><Relationship Id="rId9" Type="http://schemas.openxmlformats.org/officeDocument/2006/relationships/image" Target="../media/image2.png"/><Relationship Id="rId1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pt/url?sa=i&amp;rct=j&amp;q=&amp;esrc=s&amp;source=images&amp;cd=&amp;cad=rja&amp;uact=8&amp;ved=0ahUKEwiN5LbjrrfPAhWM8RQKHcc4DrkQjRwIBw&amp;url=http://transcriptorium.eu/consortium/national-centre-for-scientific-research-demokritos/&amp;psig=AFQjCNEDXb6InhtmyYYeDf5ac8Phj-IOjw&amp;ust=1475334278765970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5.wmf"/><Relationship Id="rId2" Type="http://schemas.openxmlformats.org/officeDocument/2006/relationships/hyperlink" Target="http://www.google.pt/url?sa=i&amp;rct=j&amp;q=&amp;esrc=s&amp;source=images&amp;cd=&amp;cad=rja&amp;uact=8&amp;ved=0ahUKEwiN5LbjrrfPAhWM8RQKHcc4DrkQjRwIBw&amp;url=http://transcriptorium.eu/consortium/national-centre-for-scientific-research-demokritos/&amp;psig=AFQjCNEDXb6InhtmyYYeDf5ac8Phj-IOjw&amp;ust=1475334278765970" TargetMode="Externa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6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pt/url?sa=i&amp;rct=j&amp;q=&amp;esrc=s&amp;source=images&amp;cd=&amp;cad=rja&amp;uact=8&amp;ved=0ahUKEwiN5LbjrrfPAhWM8RQKHcc4DrkQjRwIBw&amp;url=http://transcriptorium.eu/consortium/national-centre-for-scientific-research-demokritos/&amp;psig=AFQjCNEDXb6InhtmyYYeDf5ac8Phj-IOjw&amp;ust=1475334278765970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jpeg"/><Relationship Id="rId3" Type="http://schemas.openxmlformats.org/officeDocument/2006/relationships/image" Target="../media/image1.jpeg"/><Relationship Id="rId7" Type="http://schemas.openxmlformats.org/officeDocument/2006/relationships/image" Target="../media/image39.jpeg"/><Relationship Id="rId2" Type="http://schemas.openxmlformats.org/officeDocument/2006/relationships/hyperlink" Target="http://www.google.pt/url?sa=i&amp;rct=j&amp;q=&amp;esrc=s&amp;source=images&amp;cd=&amp;cad=rja&amp;uact=8&amp;ved=0ahUKEwiN5LbjrrfPAhWM8RQKHcc4DrkQjRwIBw&amp;url=http://transcriptorium.eu/consortium/national-centre-for-scientific-research-demokritos/&amp;psig=AFQjCNEDXb6InhtmyYYeDf5ac8Phj-IOjw&amp;ust=1475334278765970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jpeg"/><Relationship Id="rId11" Type="http://schemas.openxmlformats.org/officeDocument/2006/relationships/image" Target="../media/image43.emf"/><Relationship Id="rId5" Type="http://schemas.openxmlformats.org/officeDocument/2006/relationships/image" Target="../media/image37.jpeg"/><Relationship Id="rId10" Type="http://schemas.openxmlformats.org/officeDocument/2006/relationships/image" Target="../media/image42.emf"/><Relationship Id="rId4" Type="http://schemas.openxmlformats.org/officeDocument/2006/relationships/image" Target="../media/image2.png"/><Relationship Id="rId9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pt/url?sa=i&amp;rct=j&amp;q=&amp;esrc=s&amp;source=images&amp;cd=&amp;cad=rja&amp;uact=8&amp;ved=0ahUKEwiN5LbjrrfPAhWM8RQKHcc4DrkQjRwIBw&amp;url=http://transcriptorium.eu/consortium/national-centre-for-scientific-research-demokritos/&amp;psig=AFQjCNEDXb6InhtmyYYeDf5ac8Phj-IOjw&amp;ust=1475334278765970" TargetMode="External"/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pt/url?sa=i&amp;rct=j&amp;q=&amp;esrc=s&amp;source=images&amp;cd=&amp;cad=rja&amp;uact=8&amp;ved=0ahUKEwiN5LbjrrfPAhWM8RQKHcc4DrkQjRwIBw&amp;url=http://transcriptorium.eu/consortium/national-centre-for-scientific-research-demokritos/&amp;psig=AFQjCNEDXb6InhtmyYYeDf5ac8Phj-IOjw&amp;ust=1475334278765970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pt/url?sa=i&amp;rct=j&amp;q=&amp;esrc=s&amp;source=images&amp;cd=&amp;cad=rja&amp;uact=8&amp;ved=0ahUKEwiN5LbjrrfPAhWM8RQKHcc4DrkQjRwIBw&amp;url=http://transcriptorium.eu/consortium/national-centre-for-scientific-research-demokritos/&amp;psig=AFQjCNEDXb6InhtmyYYeDf5ac8Phj-IOjw&amp;ust=1475334278765970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pt/url?sa=i&amp;rct=j&amp;q=&amp;esrc=s&amp;source=images&amp;cd=&amp;cad=rja&amp;uact=8&amp;ved=0ahUKEwiN5LbjrrfPAhWM8RQKHcc4DrkQjRwIBw&amp;url=http://transcriptorium.eu/consortium/national-centre-for-scientific-research-demokritos/&amp;psig=AFQjCNEDXb6InhtmyYYeDf5ac8Phj-IOjw&amp;ust=1475334278765970" TargetMode="External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0.png"/><Relationship Id="rId2" Type="http://schemas.openxmlformats.org/officeDocument/2006/relationships/hyperlink" Target="http://www.google.pt/url?sa=i&amp;rct=j&amp;q=&amp;esrc=s&amp;source=images&amp;cd=&amp;cad=rja&amp;uact=8&amp;ved=0ahUKEwiN5LbjrrfPAhWM8RQKHcc4DrkQjRwIBw&amp;url=http://transcriptorium.eu/consortium/national-centre-for-scientific-research-demokritos/&amp;psig=AFQjCNEDXb6InhtmyYYeDf5ac8Phj-IOjw&amp;ust=1475334278765970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jpeg"/><Relationship Id="rId7" Type="http://schemas.openxmlformats.org/officeDocument/2006/relationships/image" Target="../media/image52.png"/><Relationship Id="rId2" Type="http://schemas.openxmlformats.org/officeDocument/2006/relationships/hyperlink" Target="http://www.google.pt/url?sa=i&amp;rct=j&amp;q=&amp;esrc=s&amp;source=images&amp;cd=&amp;cad=rja&amp;uact=8&amp;ved=0ahUKEwiN5LbjrrfPAhWM8RQKHcc4DrkQjRwIBw&amp;url=http://transcriptorium.eu/consortium/national-centre-for-scientific-research-demokritos/&amp;psig=AFQjCNEDXb6InhtmyYYeDf5ac8Phj-IOjw&amp;ust=1475334278765970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41.png"/><Relationship Id="rId10" Type="http://schemas.openxmlformats.org/officeDocument/2006/relationships/image" Target="../media/image55.png"/><Relationship Id="rId4" Type="http://schemas.openxmlformats.org/officeDocument/2006/relationships/image" Target="../media/image2.png"/><Relationship Id="rId9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pt/url?sa=i&amp;rct=j&amp;q=&amp;esrc=s&amp;source=images&amp;cd=&amp;cad=rja&amp;uact=8&amp;ved=0ahUKEwiN5LbjrrfPAhWM8RQKHcc4DrkQjRwIBw&amp;url=http://transcriptorium.eu/consortium/national-centre-for-scientific-research-demokritos/&amp;psig=AFQjCNEDXb6InhtmyYYeDf5ac8Phj-IOjw&amp;ust=1475334278765970" TargetMode="External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google.pt/url?sa=i&amp;rct=j&amp;q=&amp;esrc=s&amp;source=images&amp;cd=&amp;cad=rja&amp;uact=8&amp;ved=0ahUKEwiN5LbjrrfPAhWM8RQKHcc4DrkQjRwIBw&amp;url=http://transcriptorium.eu/consortium/national-centre-for-scientific-research-demokritos/&amp;psig=AFQjCNEDXb6InhtmyYYeDf5ac8Phj-IOjw&amp;ust=1475334278765970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epa.gov/air-research/forms/registration-download-and-use-epa-pmf-50" TargetMode="Externa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jpeg"/><Relationship Id="rId18" Type="http://schemas.openxmlformats.org/officeDocument/2006/relationships/image" Target="../media/image72.jpeg"/><Relationship Id="rId3" Type="http://schemas.openxmlformats.org/officeDocument/2006/relationships/image" Target="../media/image1.jpeg"/><Relationship Id="rId7" Type="http://schemas.openxmlformats.org/officeDocument/2006/relationships/image" Target="../media/image61.png"/><Relationship Id="rId12" Type="http://schemas.openxmlformats.org/officeDocument/2006/relationships/image" Target="../media/image66.jpeg"/><Relationship Id="rId17" Type="http://schemas.openxmlformats.org/officeDocument/2006/relationships/image" Target="../media/image71.jpeg"/><Relationship Id="rId2" Type="http://schemas.openxmlformats.org/officeDocument/2006/relationships/hyperlink" Target="http://www.google.pt/url?sa=i&amp;rct=j&amp;q=&amp;esrc=s&amp;source=images&amp;cd=&amp;cad=rja&amp;uact=8&amp;ved=0ahUKEwiN5LbjrrfPAhWM8RQKHcc4DrkQjRwIBw&amp;url=http://transcriptorium.eu/consortium/national-centre-for-scientific-research-demokritos/&amp;psig=AFQjCNEDXb6InhtmyYYeDf5ac8Phj-IOjw&amp;ust=1475334278765970" TargetMode="External"/><Relationship Id="rId16" Type="http://schemas.openxmlformats.org/officeDocument/2006/relationships/image" Target="../media/image70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jpeg"/><Relationship Id="rId11" Type="http://schemas.openxmlformats.org/officeDocument/2006/relationships/image" Target="../media/image65.jpeg"/><Relationship Id="rId5" Type="http://schemas.openxmlformats.org/officeDocument/2006/relationships/image" Target="../media/image59.jpg"/><Relationship Id="rId15" Type="http://schemas.openxmlformats.org/officeDocument/2006/relationships/image" Target="../media/image69.jpg"/><Relationship Id="rId10" Type="http://schemas.openxmlformats.org/officeDocument/2006/relationships/image" Target="../media/image64.jpeg"/><Relationship Id="rId4" Type="http://schemas.openxmlformats.org/officeDocument/2006/relationships/image" Target="../media/image2.png"/><Relationship Id="rId9" Type="http://schemas.openxmlformats.org/officeDocument/2006/relationships/image" Target="../media/image63.jpeg"/><Relationship Id="rId14" Type="http://schemas.openxmlformats.org/officeDocument/2006/relationships/image" Target="../media/image6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 rot="10800000" flipH="1">
            <a:off x="0" y="0"/>
            <a:ext cx="768765" cy="6858000"/>
          </a:xfrm>
          <a:prstGeom prst="triangle">
            <a:avLst>
              <a:gd name="adj" fmla="val 0"/>
            </a:avLst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 flipH="1">
            <a:off x="11125199" y="0"/>
            <a:ext cx="1064127" cy="685800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/>
          <p:cNvSpPr/>
          <p:nvPr/>
        </p:nvSpPr>
        <p:spPr>
          <a:xfrm rot="10800000">
            <a:off x="11125199" y="0"/>
            <a:ext cx="1064128" cy="6858000"/>
          </a:xfrm>
          <a:prstGeom prst="rtTriangle">
            <a:avLst/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ultado de imagem para demokritos">
            <a:hlinkClick r:id="rId2"/>
            <a:extLst>
              <a:ext uri="{FF2B5EF4-FFF2-40B4-BE49-F238E27FC236}">
                <a16:creationId xmlns:a16="http://schemas.microsoft.com/office/drawing/2014/main" id="{1EB37741-AED2-48BF-9ADA-3EAE5431D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"/>
          <a:stretch>
            <a:fillRect/>
          </a:stretch>
        </p:blipFill>
        <p:spPr bwMode="auto">
          <a:xfrm>
            <a:off x="1494293" y="4110929"/>
            <a:ext cx="1323624" cy="1368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152525" y="2044004"/>
            <a:ext cx="9829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From aerosol chemistry to environmental policy: </a:t>
            </a:r>
            <a:endParaRPr lang="el-GR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Introduction to receptor modeling </a:t>
            </a:r>
            <a:endParaRPr lang="el-GR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for PM source apportionment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149450"/>
            <a:ext cx="119348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Sarajevo Summer School in Next-Generation Air Quality</a:t>
            </a:r>
            <a:r>
              <a:rPr lang="el-GR" sz="2400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7 – 8 </a:t>
            </a:r>
            <a:r>
              <a:rPr lang="en-GB" sz="2400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September</a:t>
            </a:r>
            <a:r>
              <a:rPr lang="en-GB" sz="2400" b="0" i="0" u="none" strike="noStrike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sz="2400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7474" y="703244"/>
            <a:ext cx="985647" cy="117781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000376" y="4110929"/>
            <a:ext cx="812482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err="1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Evangelia</a:t>
            </a:r>
            <a:r>
              <a:rPr lang="en-GB" sz="28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 (Lila) Diapouli</a:t>
            </a:r>
          </a:p>
          <a:p>
            <a:r>
              <a:rPr lang="en-GB" sz="28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National Centre for Scientific Research “</a:t>
            </a:r>
            <a:r>
              <a:rPr lang="en-GB" sz="2800" b="1" dirty="0" err="1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Demokritos</a:t>
            </a:r>
            <a:r>
              <a:rPr lang="en-GB" sz="28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</a:p>
          <a:p>
            <a:r>
              <a:rPr lang="en-GB" sz="28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  <a:hlinkClick r:id="rId5"/>
              </a:rPr>
              <a:t>ldiapouli@ipta.demokritos.gr</a:t>
            </a:r>
            <a:endParaRPr lang="en-US" sz="28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350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 rot="10800000" flipH="1">
            <a:off x="0" y="0"/>
            <a:ext cx="768765" cy="6858000"/>
          </a:xfrm>
          <a:prstGeom prst="triangle">
            <a:avLst>
              <a:gd name="adj" fmla="val 0"/>
            </a:avLst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ultado de imagem para demokritos">
            <a:hlinkClick r:id="rId2"/>
            <a:extLst>
              <a:ext uri="{FF2B5EF4-FFF2-40B4-BE49-F238E27FC236}">
                <a16:creationId xmlns:a16="http://schemas.microsoft.com/office/drawing/2014/main" id="{1EB37741-AED2-48BF-9ADA-3EAE5431D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"/>
          <a:stretch>
            <a:fillRect/>
          </a:stretch>
        </p:blipFill>
        <p:spPr bwMode="auto">
          <a:xfrm>
            <a:off x="11201400" y="0"/>
            <a:ext cx="933450" cy="9649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35466" y="159299"/>
            <a:ext cx="1043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Why do we need aerosol source apportionment?</a:t>
            </a:r>
            <a:endParaRPr lang="en-US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9633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Sarajevo Summer School in Next-Generation Air Quality</a:t>
            </a:r>
            <a:r>
              <a:rPr lang="el-GR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7 – 8 </a:t>
            </a:r>
            <a:r>
              <a:rPr lang="en-GB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September</a:t>
            </a:r>
            <a:r>
              <a:rPr lang="en-GB" b="0" i="0" u="none" strike="noStrike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2650" y="5680183"/>
            <a:ext cx="985647" cy="1177817"/>
          </a:xfrm>
          <a:prstGeom prst="rect">
            <a:avLst/>
          </a:prstGeom>
        </p:spPr>
      </p:pic>
      <p:pic>
        <p:nvPicPr>
          <p:cNvPr id="28" name="Picture 14" descr="PM size distribution - Chem. species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986" y="964929"/>
            <a:ext cx="9899651" cy="5767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19" descr="Soot image.jp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715" y="1697643"/>
            <a:ext cx="1641059" cy="1629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17" descr="Sea salt image.jp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5762" y="3033862"/>
            <a:ext cx="1615849" cy="1599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18" descr="Dust image.jp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5762" y="1383707"/>
            <a:ext cx="1585095" cy="1578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893DFC-F183-B83B-6EBC-4A7F32EA8E61}"/>
              </a:ext>
            </a:extLst>
          </p:cNvPr>
          <p:cNvSpPr txBox="1"/>
          <p:nvPr/>
        </p:nvSpPr>
        <p:spPr>
          <a:xfrm>
            <a:off x="158020" y="6449982"/>
            <a:ext cx="62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1/17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1394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 rot="10800000" flipH="1">
            <a:off x="0" y="0"/>
            <a:ext cx="768765" cy="6858000"/>
          </a:xfrm>
          <a:prstGeom prst="triangle">
            <a:avLst>
              <a:gd name="adj" fmla="val 0"/>
            </a:avLst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ultado de imagem para demokritos">
            <a:hlinkClick r:id="rId2"/>
            <a:extLst>
              <a:ext uri="{FF2B5EF4-FFF2-40B4-BE49-F238E27FC236}">
                <a16:creationId xmlns:a16="http://schemas.microsoft.com/office/drawing/2014/main" id="{1EB37741-AED2-48BF-9ADA-3EAE5431D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"/>
          <a:stretch>
            <a:fillRect/>
          </a:stretch>
        </p:blipFill>
        <p:spPr bwMode="auto">
          <a:xfrm>
            <a:off x="11258550" y="0"/>
            <a:ext cx="933450" cy="9649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35466" y="159299"/>
            <a:ext cx="1043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Why do we need aerosol source apportionment?</a:t>
            </a:r>
            <a:endParaRPr lang="en-US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9633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Sarajevo Summer School in Next-Generation Air Quality</a:t>
            </a:r>
            <a:r>
              <a:rPr lang="el-GR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7 – 8 </a:t>
            </a:r>
            <a:r>
              <a:rPr lang="en-GB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September</a:t>
            </a:r>
            <a:r>
              <a:rPr lang="en-GB" b="0" i="0" u="none" strike="noStrike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6353" y="5680183"/>
            <a:ext cx="985647" cy="1177817"/>
          </a:xfrm>
          <a:prstGeom prst="rect">
            <a:avLst/>
          </a:prstGeom>
        </p:spPr>
      </p:pic>
      <p:grpSp>
        <p:nvGrpSpPr>
          <p:cNvPr id="13" name="Group 12"/>
          <p:cNvGrpSpPr/>
          <p:nvPr/>
        </p:nvGrpSpPr>
        <p:grpSpPr>
          <a:xfrm>
            <a:off x="5156186" y="2134769"/>
            <a:ext cx="5746397" cy="3727564"/>
            <a:chOff x="6390209" y="1199524"/>
            <a:chExt cx="5746397" cy="3727564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90209" y="1199524"/>
              <a:ext cx="4333909" cy="2428365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38333" y="2865328"/>
              <a:ext cx="3098273" cy="2061760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97533" y="1199524"/>
              <a:ext cx="2239073" cy="1669699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90209" y="2865328"/>
              <a:ext cx="2752554" cy="2061759"/>
            </a:xfrm>
            <a:prstGeom prst="rect">
              <a:avLst/>
            </a:prstGeom>
          </p:spPr>
        </p:pic>
      </p:grpSp>
      <p:grpSp>
        <p:nvGrpSpPr>
          <p:cNvPr id="18" name="Group 17"/>
          <p:cNvGrpSpPr/>
          <p:nvPr/>
        </p:nvGrpSpPr>
        <p:grpSpPr>
          <a:xfrm>
            <a:off x="888252" y="1725707"/>
            <a:ext cx="4193566" cy="4572563"/>
            <a:chOff x="372967" y="1260227"/>
            <a:chExt cx="4193566" cy="4572563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967" y="1260227"/>
              <a:ext cx="4193566" cy="1397855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968" y="2417992"/>
              <a:ext cx="2405050" cy="1603366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0494" y="4021358"/>
              <a:ext cx="2715704" cy="1811432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967" y="5000760"/>
              <a:ext cx="1477527" cy="832030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967" y="4021358"/>
              <a:ext cx="1477527" cy="984378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1147" y="2417991"/>
              <a:ext cx="2405051" cy="1603367"/>
            </a:xfrm>
            <a:prstGeom prst="rect">
              <a:avLst/>
            </a:prstGeom>
          </p:spPr>
        </p:pic>
      </p:grpSp>
      <p:sp>
        <p:nvSpPr>
          <p:cNvPr id="2" name="TextBox 1"/>
          <p:cNvSpPr txBox="1"/>
          <p:nvPr/>
        </p:nvSpPr>
        <p:spPr>
          <a:xfrm>
            <a:off x="2415432" y="1068096"/>
            <a:ext cx="90576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Anthropogenic and natural sources define the PM levels and its chemical composition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5D1469-FA4D-1B8E-334C-2B417BBCBA6C}"/>
              </a:ext>
            </a:extLst>
          </p:cNvPr>
          <p:cNvSpPr txBox="1"/>
          <p:nvPr/>
        </p:nvSpPr>
        <p:spPr>
          <a:xfrm>
            <a:off x="158020" y="6449982"/>
            <a:ext cx="62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2/17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08400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 rot="10800000" flipH="1">
            <a:off x="0" y="0"/>
            <a:ext cx="768765" cy="6858000"/>
          </a:xfrm>
          <a:prstGeom prst="triangle">
            <a:avLst>
              <a:gd name="adj" fmla="val 0"/>
            </a:avLst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ultado de imagem para demokritos">
            <a:hlinkClick r:id="rId2"/>
            <a:extLst>
              <a:ext uri="{FF2B5EF4-FFF2-40B4-BE49-F238E27FC236}">
                <a16:creationId xmlns:a16="http://schemas.microsoft.com/office/drawing/2014/main" id="{1EB37741-AED2-48BF-9ADA-3EAE5431D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"/>
          <a:stretch>
            <a:fillRect/>
          </a:stretch>
        </p:blipFill>
        <p:spPr bwMode="auto">
          <a:xfrm>
            <a:off x="11258550" y="0"/>
            <a:ext cx="933450" cy="9649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35466" y="159299"/>
            <a:ext cx="1043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Why do we need aerosol source apportionment?</a:t>
            </a:r>
            <a:endParaRPr lang="en-US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9633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Sarajevo Summer School in Next-Generation Air Quality</a:t>
            </a:r>
            <a:r>
              <a:rPr lang="el-GR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7 – 8 </a:t>
            </a:r>
            <a:r>
              <a:rPr lang="en-GB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September</a:t>
            </a:r>
            <a:r>
              <a:rPr lang="en-GB" b="0" i="0" u="none" strike="noStrike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6353" y="5680183"/>
            <a:ext cx="985647" cy="117781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01142" y="1288238"/>
            <a:ext cx="10119284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800"/>
              </a:spcAft>
              <a:buFont typeface="Wingdings" panose="05000000000000000000" pitchFamily="2" charset="2"/>
              <a:buChar char="Ø"/>
            </a:pP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Reliable and quantitative information on pollution sources is essential for policy makers to</a:t>
            </a:r>
          </a:p>
          <a:p>
            <a:pPr marL="1371600" lvl="2" indent="-45720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implement targeted environmental policies</a:t>
            </a:r>
          </a:p>
          <a:p>
            <a:pPr marL="1371600" lvl="2" indent="-45720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the cause of exceedances (related to natural or anthropogenic sources) and develop mitigation measures</a:t>
            </a:r>
          </a:p>
          <a:p>
            <a:pPr marL="1371600" lvl="2" indent="-45720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quantify transboundary pollution</a:t>
            </a:r>
          </a:p>
          <a:p>
            <a:pPr marL="1371600" lvl="2" indent="-45720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 the public.</a:t>
            </a:r>
          </a:p>
          <a:p>
            <a:pPr>
              <a:spcAft>
                <a:spcPts val="1200"/>
              </a:spcAft>
            </a:pP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84E09F-548C-5B96-58D2-FECB70333D24}"/>
              </a:ext>
            </a:extLst>
          </p:cNvPr>
          <p:cNvSpPr txBox="1"/>
          <p:nvPr/>
        </p:nvSpPr>
        <p:spPr>
          <a:xfrm>
            <a:off x="158020" y="6449982"/>
            <a:ext cx="62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3/17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6457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 rot="10800000" flipH="1">
            <a:off x="0" y="0"/>
            <a:ext cx="768765" cy="6858000"/>
          </a:xfrm>
          <a:prstGeom prst="triangle">
            <a:avLst>
              <a:gd name="adj" fmla="val 0"/>
            </a:avLst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ultado de imagem para demokritos">
            <a:hlinkClick r:id="rId2"/>
            <a:extLst>
              <a:ext uri="{FF2B5EF4-FFF2-40B4-BE49-F238E27FC236}">
                <a16:creationId xmlns:a16="http://schemas.microsoft.com/office/drawing/2014/main" id="{1EB37741-AED2-48BF-9ADA-3EAE5431D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"/>
          <a:stretch>
            <a:fillRect/>
          </a:stretch>
        </p:blipFill>
        <p:spPr bwMode="auto">
          <a:xfrm>
            <a:off x="11258550" y="0"/>
            <a:ext cx="933450" cy="9649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35466" y="159299"/>
            <a:ext cx="1043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How can we apportion PM to its sources?</a:t>
            </a:r>
            <a:endParaRPr lang="en-US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9633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Sarajevo Summer School in Next-Generation Air Quality</a:t>
            </a:r>
            <a:r>
              <a:rPr lang="el-GR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7 – 8 </a:t>
            </a:r>
            <a:r>
              <a:rPr lang="en-GB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September</a:t>
            </a:r>
            <a:r>
              <a:rPr lang="en-GB" b="0" i="0" u="none" strike="noStrike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6353" y="5680183"/>
            <a:ext cx="985647" cy="1177817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1598438" y="819016"/>
            <a:ext cx="8830440" cy="5484986"/>
            <a:chOff x="1572339" y="865182"/>
            <a:chExt cx="8830440" cy="548498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D91D159-4097-4F53-BDD4-D8B454C4D0C6}"/>
                </a:ext>
              </a:extLst>
            </p:cNvPr>
            <p:cNvGrpSpPr/>
            <p:nvPr/>
          </p:nvGrpSpPr>
          <p:grpSpPr>
            <a:xfrm>
              <a:off x="1572339" y="865182"/>
              <a:ext cx="8830440" cy="5438820"/>
              <a:chOff x="1550504" y="967010"/>
              <a:chExt cx="8830440" cy="5438820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8A73703-FAB6-4DBF-807C-CE5EB4C4C4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50504" y="967010"/>
                <a:ext cx="8830440" cy="5313665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7F4593DF-7368-4031-AD63-22FF6DAD7D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50504" y="6199982"/>
                <a:ext cx="5376288" cy="205848"/>
              </a:xfrm>
              <a:prstGeom prst="rect">
                <a:avLst/>
              </a:prstGeom>
            </p:spPr>
          </p:pic>
        </p:grpSp>
        <p:sp>
          <p:nvSpPr>
            <p:cNvPr id="17" name="Rectangle 16"/>
            <p:cNvSpPr/>
            <p:nvPr/>
          </p:nvSpPr>
          <p:spPr>
            <a:xfrm>
              <a:off x="2363473" y="3867361"/>
              <a:ext cx="2571198" cy="11360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669659" y="1138285"/>
              <a:ext cx="1855311" cy="27704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388448" y="1138286"/>
              <a:ext cx="6625112" cy="7873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772572" y="4832084"/>
              <a:ext cx="3650188" cy="12034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642442" y="4080037"/>
              <a:ext cx="1880684" cy="22701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EF0AEB4-844B-200D-4EB8-493A05429B25}"/>
              </a:ext>
            </a:extLst>
          </p:cNvPr>
          <p:cNvSpPr txBox="1"/>
          <p:nvPr/>
        </p:nvSpPr>
        <p:spPr>
          <a:xfrm>
            <a:off x="158020" y="6449982"/>
            <a:ext cx="62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4/17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0866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 rot="10800000" flipH="1">
            <a:off x="0" y="0"/>
            <a:ext cx="768765" cy="6858000"/>
          </a:xfrm>
          <a:prstGeom prst="triangle">
            <a:avLst>
              <a:gd name="adj" fmla="val 0"/>
            </a:avLst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ultado de imagem para demokritos">
            <a:hlinkClick r:id="rId2"/>
            <a:extLst>
              <a:ext uri="{FF2B5EF4-FFF2-40B4-BE49-F238E27FC236}">
                <a16:creationId xmlns:a16="http://schemas.microsoft.com/office/drawing/2014/main" id="{1EB37741-AED2-48BF-9ADA-3EAE5431D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"/>
          <a:stretch>
            <a:fillRect/>
          </a:stretch>
        </p:blipFill>
        <p:spPr bwMode="auto">
          <a:xfrm>
            <a:off x="11258550" y="0"/>
            <a:ext cx="933450" cy="9649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35466" y="159299"/>
            <a:ext cx="1043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Why do we need aerosol source apportionment?</a:t>
            </a:r>
            <a:endParaRPr lang="en-US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9633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Sarajevo Summer School in Next-Generation Air Quality</a:t>
            </a:r>
            <a:r>
              <a:rPr lang="el-GR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7 – 8 </a:t>
            </a:r>
            <a:r>
              <a:rPr lang="en-GB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September</a:t>
            </a:r>
            <a:r>
              <a:rPr lang="en-GB" b="0" i="0" u="none" strike="noStrike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6353" y="5680183"/>
            <a:ext cx="985647" cy="1177817"/>
          </a:xfrm>
          <a:prstGeom prst="rect">
            <a:avLst/>
          </a:prstGeom>
        </p:spPr>
      </p:pic>
      <p:grpSp>
        <p:nvGrpSpPr>
          <p:cNvPr id="2" name="Group 1"/>
          <p:cNvGrpSpPr/>
          <p:nvPr/>
        </p:nvGrpSpPr>
        <p:grpSpPr>
          <a:xfrm>
            <a:off x="1598438" y="819016"/>
            <a:ext cx="8830440" cy="5484986"/>
            <a:chOff x="1572339" y="865182"/>
            <a:chExt cx="8830440" cy="548498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D91D159-4097-4F53-BDD4-D8B454C4D0C6}"/>
                </a:ext>
              </a:extLst>
            </p:cNvPr>
            <p:cNvGrpSpPr/>
            <p:nvPr/>
          </p:nvGrpSpPr>
          <p:grpSpPr>
            <a:xfrm>
              <a:off x="1572339" y="865182"/>
              <a:ext cx="8830440" cy="5438820"/>
              <a:chOff x="1550504" y="967010"/>
              <a:chExt cx="8830440" cy="5438820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8A73703-FAB6-4DBF-807C-CE5EB4C4C4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50504" y="967010"/>
                <a:ext cx="8830440" cy="5313665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7F4593DF-7368-4031-AD63-22FF6DAD7D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50504" y="6199982"/>
                <a:ext cx="5376288" cy="205848"/>
              </a:xfrm>
              <a:prstGeom prst="rect">
                <a:avLst/>
              </a:prstGeom>
            </p:spPr>
          </p:pic>
        </p:grpSp>
        <p:sp>
          <p:nvSpPr>
            <p:cNvPr id="17" name="Rectangle 16"/>
            <p:cNvSpPr/>
            <p:nvPr/>
          </p:nvSpPr>
          <p:spPr>
            <a:xfrm>
              <a:off x="2363473" y="3867361"/>
              <a:ext cx="2571198" cy="11360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3772572" y="4832084"/>
              <a:ext cx="3650188" cy="12034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642442" y="4080037"/>
              <a:ext cx="1880684" cy="22701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5A7E930-E8ED-1AC6-51F2-2E43D4C59840}"/>
              </a:ext>
            </a:extLst>
          </p:cNvPr>
          <p:cNvSpPr txBox="1"/>
          <p:nvPr/>
        </p:nvSpPr>
        <p:spPr>
          <a:xfrm>
            <a:off x="158020" y="6449982"/>
            <a:ext cx="62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4/17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3887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 rot="10800000" flipH="1">
            <a:off x="0" y="0"/>
            <a:ext cx="768765" cy="6858000"/>
          </a:xfrm>
          <a:prstGeom prst="triangle">
            <a:avLst>
              <a:gd name="adj" fmla="val 0"/>
            </a:avLst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ultado de imagem para demokritos">
            <a:hlinkClick r:id="rId2"/>
            <a:extLst>
              <a:ext uri="{FF2B5EF4-FFF2-40B4-BE49-F238E27FC236}">
                <a16:creationId xmlns:a16="http://schemas.microsoft.com/office/drawing/2014/main" id="{1EB37741-AED2-48BF-9ADA-3EAE5431D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"/>
          <a:stretch>
            <a:fillRect/>
          </a:stretch>
        </p:blipFill>
        <p:spPr bwMode="auto">
          <a:xfrm>
            <a:off x="11258550" y="0"/>
            <a:ext cx="933450" cy="9649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35466" y="159299"/>
            <a:ext cx="1043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Why do we need aerosol source apportionment?</a:t>
            </a:r>
            <a:endParaRPr lang="en-US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9633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Sarajevo Summer School in Next-Generation Air Quality</a:t>
            </a:r>
            <a:r>
              <a:rPr lang="el-GR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7 – 8 </a:t>
            </a:r>
            <a:r>
              <a:rPr lang="en-GB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September</a:t>
            </a:r>
            <a:r>
              <a:rPr lang="en-GB" b="0" i="0" u="none" strike="noStrike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6353" y="5680183"/>
            <a:ext cx="985647" cy="117781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7D91D159-4097-4F53-BDD4-D8B454C4D0C6}"/>
              </a:ext>
            </a:extLst>
          </p:cNvPr>
          <p:cNvGrpSpPr/>
          <p:nvPr/>
        </p:nvGrpSpPr>
        <p:grpSpPr>
          <a:xfrm>
            <a:off x="1598438" y="819016"/>
            <a:ext cx="8830440" cy="5438820"/>
            <a:chOff x="1550504" y="967010"/>
            <a:chExt cx="8830440" cy="543882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A8A73703-FAB6-4DBF-807C-CE5EB4C4C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50504" y="967010"/>
              <a:ext cx="8830440" cy="531366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7F4593DF-7368-4031-AD63-22FF6DAD7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50504" y="6199982"/>
              <a:ext cx="5376288" cy="205848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7F6F327-0E6C-4B8A-81A3-BCEF2999C451}"/>
              </a:ext>
            </a:extLst>
          </p:cNvPr>
          <p:cNvSpPr txBox="1"/>
          <p:nvPr/>
        </p:nvSpPr>
        <p:spPr>
          <a:xfrm>
            <a:off x="158020" y="6449982"/>
            <a:ext cx="62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4/17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312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982" y="637602"/>
            <a:ext cx="5988675" cy="5368934"/>
          </a:xfrm>
          <a:prstGeom prst="rect">
            <a:avLst/>
          </a:prstGeom>
        </p:spPr>
      </p:pic>
      <p:pic>
        <p:nvPicPr>
          <p:cNvPr id="2054" name="Picture 20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557" y="438344"/>
            <a:ext cx="5988675" cy="5368934"/>
          </a:xfrm>
          <a:prstGeom prst="rect">
            <a:avLst/>
          </a:prstGeom>
        </p:spPr>
      </p:pic>
      <p:pic>
        <p:nvPicPr>
          <p:cNvPr id="2068" name="Picture 206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5093" y="438344"/>
            <a:ext cx="5988675" cy="5368934"/>
          </a:xfrm>
          <a:prstGeom prst="rect">
            <a:avLst/>
          </a:prstGeom>
        </p:spPr>
      </p:pic>
      <p:pic>
        <p:nvPicPr>
          <p:cNvPr id="2051" name="Picture 20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30816" y="596382"/>
            <a:ext cx="5988675" cy="5368934"/>
          </a:xfrm>
          <a:prstGeom prst="rect">
            <a:avLst/>
          </a:prstGeom>
        </p:spPr>
      </p:pic>
      <p:pic>
        <p:nvPicPr>
          <p:cNvPr id="2056" name="Picture 205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63325" y="427083"/>
            <a:ext cx="5988675" cy="53689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27915" y="2056642"/>
            <a:ext cx="17240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Elemental &amp; Organic carbon</a:t>
            </a:r>
            <a:endParaRPr lang="en-US" sz="2000" b="1" dirty="0"/>
          </a:p>
        </p:txBody>
      </p:sp>
      <p:sp>
        <p:nvSpPr>
          <p:cNvPr id="4" name="Isosceles Triangle 3"/>
          <p:cNvSpPr/>
          <p:nvPr/>
        </p:nvSpPr>
        <p:spPr>
          <a:xfrm rot="10800000" flipH="1">
            <a:off x="0" y="0"/>
            <a:ext cx="768765" cy="6858000"/>
          </a:xfrm>
          <a:prstGeom prst="triangle">
            <a:avLst>
              <a:gd name="adj" fmla="val 0"/>
            </a:avLst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ultado de imagem para demokritos">
            <a:hlinkClick r:id="rId7"/>
            <a:extLst>
              <a:ext uri="{FF2B5EF4-FFF2-40B4-BE49-F238E27FC236}">
                <a16:creationId xmlns:a16="http://schemas.microsoft.com/office/drawing/2014/main" id="{1EB37741-AED2-48BF-9ADA-3EAE5431DBC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"/>
          <a:stretch>
            <a:fillRect/>
          </a:stretch>
        </p:blipFill>
        <p:spPr bwMode="auto">
          <a:xfrm>
            <a:off x="11258550" y="0"/>
            <a:ext cx="933450" cy="9649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35466" y="159299"/>
            <a:ext cx="1043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How does aerosol chemistry lead us to its sources?</a:t>
            </a:r>
            <a:endParaRPr lang="en-US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9633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Sarajevo Summer School in Next-Generation Air Quality</a:t>
            </a:r>
            <a:r>
              <a:rPr lang="el-GR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7 – 8 </a:t>
            </a:r>
            <a:r>
              <a:rPr lang="en-GB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September</a:t>
            </a:r>
            <a:r>
              <a:rPr lang="en-GB" b="0" i="0" u="none" strike="noStrike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06353" y="5680183"/>
            <a:ext cx="985647" cy="1177817"/>
          </a:xfrm>
          <a:prstGeom prst="rect">
            <a:avLst/>
          </a:prstGeom>
        </p:spPr>
      </p:pic>
      <p:pic>
        <p:nvPicPr>
          <p:cNvPr id="58" name="26 Imagen">
            <a:extLst>
              <a:ext uri="{FF2B5EF4-FFF2-40B4-BE49-F238E27FC236}">
                <a16:creationId xmlns:a16="http://schemas.microsoft.com/office/drawing/2014/main" id="{58547286-F8D5-DAA7-7B3E-15021B0436C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613"/>
          <a:stretch>
            <a:fillRect/>
          </a:stretch>
        </p:blipFill>
        <p:spPr bwMode="auto">
          <a:xfrm>
            <a:off x="9950632" y="3083406"/>
            <a:ext cx="1465699" cy="1440114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29 Imagen">
            <a:extLst>
              <a:ext uri="{FF2B5EF4-FFF2-40B4-BE49-F238E27FC236}">
                <a16:creationId xmlns:a16="http://schemas.microsoft.com/office/drawing/2014/main" id="{31EBE0A4-B02F-7B58-9A72-C01CC315C8D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232" y="2507277"/>
            <a:ext cx="1400684" cy="118813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" name="87 Imagen">
            <a:extLst>
              <a:ext uri="{FF2B5EF4-FFF2-40B4-BE49-F238E27FC236}">
                <a16:creationId xmlns:a16="http://schemas.microsoft.com/office/drawing/2014/main" id="{4CD517A1-578E-47F1-5E85-7AF07BC920B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8422" y="1253206"/>
            <a:ext cx="952003" cy="1565184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 descr="Master These 7 Tips for Safer Heavy Traffic Driving - Nerger's Auto Express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9111" y="1004733"/>
            <a:ext cx="1814252" cy="1209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TextBox 63"/>
          <p:cNvSpPr txBox="1"/>
          <p:nvPr/>
        </p:nvSpPr>
        <p:spPr>
          <a:xfrm>
            <a:off x="4846066" y="4375343"/>
            <a:ext cx="22227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Secondary Inorganic species (SO</a:t>
            </a:r>
            <a:r>
              <a:rPr lang="en-GB" sz="2000" b="1" baseline="-25000" dirty="0"/>
              <a:t>4</a:t>
            </a:r>
            <a:r>
              <a:rPr lang="en-GB" sz="2000" b="1" baseline="30000" dirty="0"/>
              <a:t>2-</a:t>
            </a:r>
            <a:r>
              <a:rPr lang="en-GB" sz="2000" b="1" dirty="0"/>
              <a:t>, NO</a:t>
            </a:r>
            <a:r>
              <a:rPr lang="en-GB" sz="2000" b="1" baseline="-25000" dirty="0"/>
              <a:t>3</a:t>
            </a:r>
            <a:r>
              <a:rPr lang="en-GB" sz="2000" b="1" baseline="30000" dirty="0"/>
              <a:t>-</a:t>
            </a:r>
            <a:r>
              <a:rPr lang="en-GB" sz="2000" b="1" dirty="0"/>
              <a:t>, NH</a:t>
            </a:r>
            <a:r>
              <a:rPr lang="en-GB" sz="2000" b="1" baseline="-25000" dirty="0"/>
              <a:t>4</a:t>
            </a:r>
            <a:r>
              <a:rPr lang="en-GB" sz="2000" b="1" baseline="30000" dirty="0"/>
              <a:t>+</a:t>
            </a:r>
            <a:r>
              <a:rPr lang="en-GB" sz="2000" b="1" dirty="0"/>
              <a:t>)</a:t>
            </a:r>
            <a:endParaRPr lang="en-US" sz="2000" b="1" dirty="0"/>
          </a:p>
        </p:txBody>
      </p:sp>
      <p:sp>
        <p:nvSpPr>
          <p:cNvPr id="2052" name="TextBox 2051"/>
          <p:cNvSpPr txBox="1"/>
          <p:nvPr/>
        </p:nvSpPr>
        <p:spPr>
          <a:xfrm rot="19425853">
            <a:off x="3550403" y="4100178"/>
            <a:ext cx="1964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Trace elements</a:t>
            </a:r>
            <a:endParaRPr lang="en-US" sz="2000" b="1" dirty="0"/>
          </a:p>
        </p:txBody>
      </p:sp>
      <p:sp>
        <p:nvSpPr>
          <p:cNvPr id="2055" name="TextBox 2054"/>
          <p:cNvSpPr txBox="1"/>
          <p:nvPr/>
        </p:nvSpPr>
        <p:spPr>
          <a:xfrm rot="20723375">
            <a:off x="3292419" y="3495446"/>
            <a:ext cx="1943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Marine aerosol</a:t>
            </a:r>
            <a:endParaRPr lang="en-US" sz="2000" b="1" dirty="0"/>
          </a:p>
        </p:txBody>
      </p:sp>
      <p:sp>
        <p:nvSpPr>
          <p:cNvPr id="2057" name="TextBox 2056"/>
          <p:cNvSpPr txBox="1"/>
          <p:nvPr/>
        </p:nvSpPr>
        <p:spPr>
          <a:xfrm>
            <a:off x="3607067" y="1941321"/>
            <a:ext cx="17607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Mineral components</a:t>
            </a:r>
            <a:endParaRPr lang="en-US" sz="2000" b="1" dirty="0"/>
          </a:p>
        </p:txBody>
      </p:sp>
      <p:pic>
        <p:nvPicPr>
          <p:cNvPr id="78" name="31 Imagen">
            <a:extLst>
              <a:ext uri="{FF2B5EF4-FFF2-40B4-BE49-F238E27FC236}">
                <a16:creationId xmlns:a16="http://schemas.microsoft.com/office/drawing/2014/main" id="{04C299D3-AEFE-7814-7DD4-0B7BDD6499EC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3"/>
          <a:stretch>
            <a:fillRect/>
          </a:stretch>
        </p:blipFill>
        <p:spPr bwMode="auto">
          <a:xfrm>
            <a:off x="7844117" y="4180463"/>
            <a:ext cx="1905829" cy="898498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" name="Picture 64" descr="\\cendat\u3244\Mis Documentos\Mis imágenes\volcano3.jpg">
            <a:extLst>
              <a:ext uri="{FF2B5EF4-FFF2-40B4-BE49-F238E27FC236}">
                <a16:creationId xmlns:a16="http://schemas.microsoft.com/office/drawing/2014/main" id="{F50D3D39-7F51-FF37-24A5-13B43B142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5036" y="5260427"/>
            <a:ext cx="1500112" cy="1015131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0" name="30 Imagen">
            <a:extLst>
              <a:ext uri="{FF2B5EF4-FFF2-40B4-BE49-F238E27FC236}">
                <a16:creationId xmlns:a16="http://schemas.microsoft.com/office/drawing/2014/main" id="{4AF32EFB-E2E3-A5EC-FDAF-2574C63087F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5425" y="5214307"/>
            <a:ext cx="1873533" cy="108073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1" name="Picture 6" descr="What is industrial emissions? Treatment methods | GAS SOUTH - SOUTHERN GAS  TRADING JOINT STOCK COMPANY"/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19" r="17614"/>
          <a:stretch/>
        </p:blipFill>
        <p:spPr bwMode="auto">
          <a:xfrm>
            <a:off x="1553858" y="5286370"/>
            <a:ext cx="2315258" cy="1382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24 Imagen">
            <a:extLst>
              <a:ext uri="{FF2B5EF4-FFF2-40B4-BE49-F238E27FC236}">
                <a16:creationId xmlns:a16="http://schemas.microsoft.com/office/drawing/2014/main" id="{CCF7943A-D696-A5AC-4CA6-055B37D64AF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52" y="3526104"/>
            <a:ext cx="2436641" cy="159566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" name="23 Imagen">
            <a:extLst>
              <a:ext uri="{FF2B5EF4-FFF2-40B4-BE49-F238E27FC236}">
                <a16:creationId xmlns:a16="http://schemas.microsoft.com/office/drawing/2014/main" id="{E3F2BBC8-9100-B197-678E-614FACF8F0F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785" y="932149"/>
            <a:ext cx="2058903" cy="1220105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5" name="22 Imagen">
            <a:extLst>
              <a:ext uri="{FF2B5EF4-FFF2-40B4-BE49-F238E27FC236}">
                <a16:creationId xmlns:a16="http://schemas.microsoft.com/office/drawing/2014/main" id="{149FB953-134F-B2BA-032A-B0FCA705835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174" y="2249261"/>
            <a:ext cx="1863813" cy="112996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1038B9-5B42-2D17-137C-87CCECB5D8AC}"/>
              </a:ext>
            </a:extLst>
          </p:cNvPr>
          <p:cNvSpPr txBox="1"/>
          <p:nvPr/>
        </p:nvSpPr>
        <p:spPr>
          <a:xfrm>
            <a:off x="158020" y="6449982"/>
            <a:ext cx="62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5/17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432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4" grpId="0"/>
      <p:bldP spid="2052" grpId="0"/>
      <p:bldP spid="2055" grpId="0"/>
      <p:bldP spid="20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 rot="10800000" flipH="1">
            <a:off x="0" y="0"/>
            <a:ext cx="768765" cy="6858000"/>
          </a:xfrm>
          <a:prstGeom prst="triangle">
            <a:avLst>
              <a:gd name="adj" fmla="val 0"/>
            </a:avLst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ultado de imagem para demokritos">
            <a:hlinkClick r:id="rId2"/>
            <a:extLst>
              <a:ext uri="{FF2B5EF4-FFF2-40B4-BE49-F238E27FC236}">
                <a16:creationId xmlns:a16="http://schemas.microsoft.com/office/drawing/2014/main" id="{1EB37741-AED2-48BF-9ADA-3EAE5431D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"/>
          <a:stretch>
            <a:fillRect/>
          </a:stretch>
        </p:blipFill>
        <p:spPr bwMode="auto">
          <a:xfrm>
            <a:off x="11258550" y="0"/>
            <a:ext cx="933450" cy="9649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35466" y="159299"/>
            <a:ext cx="1043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Receptor models</a:t>
            </a:r>
            <a:endParaRPr lang="en-US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9633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Sarajevo Summer School in Next-Generation Air Quality</a:t>
            </a:r>
            <a:r>
              <a:rPr lang="el-GR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7 – 8 </a:t>
            </a:r>
            <a:r>
              <a:rPr lang="en-GB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September</a:t>
            </a:r>
            <a:r>
              <a:rPr lang="en-GB" b="0" i="0" u="none" strike="noStrike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6353" y="5680183"/>
            <a:ext cx="985647" cy="117781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90753" y="1124523"/>
            <a:ext cx="107564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fundamental principle of receptor modelling is that </a:t>
            </a:r>
            <a:r>
              <a:rPr lang="en-GB" sz="24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mass conservation </a:t>
            </a: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between the emission source and the study site can be assumed, and a mass balance analysis can be used to identify and apportion sources of atmospheric pollutants. </a:t>
            </a:r>
          </a:p>
          <a:p>
            <a:endParaRPr lang="en-US" sz="2400" dirty="0"/>
          </a:p>
        </p:txBody>
      </p:sp>
      <p:sp>
        <p:nvSpPr>
          <p:cNvPr id="3" name="Rounded Rectangle 2"/>
          <p:cNvSpPr/>
          <p:nvPr/>
        </p:nvSpPr>
        <p:spPr>
          <a:xfrm>
            <a:off x="739287" y="1026225"/>
            <a:ext cx="11029944" cy="1907459"/>
          </a:xfrm>
          <a:prstGeom prst="roundRect">
            <a:avLst/>
          </a:prstGeom>
          <a:noFill/>
          <a:ln w="31750">
            <a:solidFill>
              <a:srgbClr val="33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7F250FDC-16FC-47B4-9A53-839E088B8722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941041450"/>
              </p:ext>
            </p:extLst>
          </p:nvPr>
        </p:nvGraphicFramePr>
        <p:xfrm>
          <a:off x="2685028" y="3291760"/>
          <a:ext cx="6152202" cy="2512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65200" imgH="444500" progId="Equation.3">
                  <p:embed/>
                </p:oleObj>
              </mc:Choice>
              <mc:Fallback>
                <p:oleObj name="Equation" r:id="rId5" imgW="965200" imgH="444500" progId="Equation.3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7F250FDC-16FC-47B4-9A53-839E088B872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5028" y="3291760"/>
                        <a:ext cx="6152202" cy="25126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ounded Rectangular Callout 6"/>
          <p:cNvSpPr/>
          <p:nvPr/>
        </p:nvSpPr>
        <p:spPr>
          <a:xfrm>
            <a:off x="428625" y="3750026"/>
            <a:ext cx="1781175" cy="1069624"/>
          </a:xfrm>
          <a:prstGeom prst="wedgeRoundRectCallout">
            <a:avLst>
              <a:gd name="adj1" fmla="val 86780"/>
              <a:gd name="adj2" fmla="val 1555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OC (</a:t>
            </a:r>
            <a:r>
              <a:rPr lang="el-GR" sz="2000" dirty="0"/>
              <a:t>μ</a:t>
            </a:r>
            <a:r>
              <a:rPr lang="en-GB" sz="2000" dirty="0"/>
              <a:t>g/m</a:t>
            </a:r>
            <a:r>
              <a:rPr lang="en-GB" sz="2000" baseline="30000" dirty="0"/>
              <a:t>3</a:t>
            </a:r>
            <a:r>
              <a:rPr lang="en-GB" sz="2000" dirty="0"/>
              <a:t>) measured in time </a:t>
            </a:r>
            <a:r>
              <a:rPr lang="en-GB" sz="2000" dirty="0" err="1"/>
              <a:t>i</a:t>
            </a:r>
            <a:endParaRPr lang="en-US" sz="2000" dirty="0"/>
          </a:p>
        </p:txBody>
      </p:sp>
      <p:sp>
        <p:nvSpPr>
          <p:cNvPr id="17" name="Rounded Rectangular Callout 16"/>
          <p:cNvSpPr/>
          <p:nvPr/>
        </p:nvSpPr>
        <p:spPr>
          <a:xfrm>
            <a:off x="6096000" y="2994979"/>
            <a:ext cx="3216458" cy="755047"/>
          </a:xfrm>
          <a:prstGeom prst="wedgeRoundRectCallout">
            <a:avLst>
              <a:gd name="adj1" fmla="val -53463"/>
              <a:gd name="adj2" fmla="val 113875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Contribution to PM (</a:t>
            </a:r>
            <a:r>
              <a:rPr lang="el-GR" sz="2000" dirty="0"/>
              <a:t>μ</a:t>
            </a:r>
            <a:r>
              <a:rPr lang="en-GB" sz="2000" dirty="0"/>
              <a:t>g/m</a:t>
            </a:r>
            <a:r>
              <a:rPr lang="en-GB" sz="2000" baseline="30000" dirty="0"/>
              <a:t>3</a:t>
            </a:r>
            <a:r>
              <a:rPr lang="en-GB" sz="2000" dirty="0"/>
              <a:t>) of a source (k) in time </a:t>
            </a:r>
            <a:r>
              <a:rPr lang="en-GB" sz="2000" dirty="0" err="1"/>
              <a:t>i</a:t>
            </a:r>
            <a:endParaRPr lang="en-US" sz="2000" dirty="0"/>
          </a:p>
        </p:txBody>
      </p:sp>
      <p:sp>
        <p:nvSpPr>
          <p:cNvPr id="18" name="Rounded Rectangular Callout 17"/>
          <p:cNvSpPr/>
          <p:nvPr/>
        </p:nvSpPr>
        <p:spPr>
          <a:xfrm>
            <a:off x="6268998" y="5497602"/>
            <a:ext cx="3503652" cy="705939"/>
          </a:xfrm>
          <a:prstGeom prst="wedgeRoundRectCallout">
            <a:avLst>
              <a:gd name="adj1" fmla="val -43110"/>
              <a:gd name="adj2" fmla="val -145482"/>
              <a:gd name="adj3" fmla="val 16667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/>
              <a:t>Relative mass of OC in the chemical profile of a source (k)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0F206C-1476-0825-047B-F3FB2E2D3855}"/>
              </a:ext>
            </a:extLst>
          </p:cNvPr>
          <p:cNvSpPr txBox="1"/>
          <p:nvPr/>
        </p:nvSpPr>
        <p:spPr>
          <a:xfrm>
            <a:off x="158020" y="6449982"/>
            <a:ext cx="62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6/17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225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7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 rot="10800000" flipH="1">
            <a:off x="0" y="0"/>
            <a:ext cx="768765" cy="6858000"/>
          </a:xfrm>
          <a:prstGeom prst="triangle">
            <a:avLst>
              <a:gd name="adj" fmla="val 0"/>
            </a:avLst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ultado de imagem para demokritos">
            <a:hlinkClick r:id="rId2"/>
            <a:extLst>
              <a:ext uri="{FF2B5EF4-FFF2-40B4-BE49-F238E27FC236}">
                <a16:creationId xmlns:a16="http://schemas.microsoft.com/office/drawing/2014/main" id="{1EB37741-AED2-48BF-9ADA-3EAE5431D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"/>
          <a:stretch>
            <a:fillRect/>
          </a:stretch>
        </p:blipFill>
        <p:spPr bwMode="auto">
          <a:xfrm>
            <a:off x="11258550" y="0"/>
            <a:ext cx="933450" cy="9649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35466" y="159299"/>
            <a:ext cx="1043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Receptor models</a:t>
            </a:r>
            <a:endParaRPr lang="en-US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9633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Sarajevo Summer School in Next-Generation Air Quality</a:t>
            </a:r>
            <a:r>
              <a:rPr lang="el-GR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7 – 8 </a:t>
            </a:r>
            <a:r>
              <a:rPr lang="en-GB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September</a:t>
            </a:r>
            <a:r>
              <a:rPr lang="en-GB" b="0" i="0" u="none" strike="noStrike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6353" y="5680183"/>
            <a:ext cx="985647" cy="117781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F9F6542C-C281-4DBD-9AAD-EA9B7D104D8C}"/>
              </a:ext>
            </a:extLst>
          </p:cNvPr>
          <p:cNvGrpSpPr/>
          <p:nvPr/>
        </p:nvGrpSpPr>
        <p:grpSpPr>
          <a:xfrm>
            <a:off x="3483269" y="1270017"/>
            <a:ext cx="8559211" cy="3974193"/>
            <a:chOff x="3192527" y="2522002"/>
            <a:chExt cx="8559211" cy="3974193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613BC22-A82B-48C5-A6F6-C1BFD574A2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51274" y="2522002"/>
              <a:ext cx="8200464" cy="3702852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D65F819-99F0-43A1-84F9-6C10CE883A61}"/>
                </a:ext>
              </a:extLst>
            </p:cNvPr>
            <p:cNvSpPr txBox="1"/>
            <p:nvPr/>
          </p:nvSpPr>
          <p:spPr>
            <a:xfrm>
              <a:off x="3192527" y="6126863"/>
              <a:ext cx="23258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Viana et al., 2008</a:t>
              </a:r>
            </a:p>
          </p:txBody>
        </p:sp>
      </p:grp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7F250FDC-16FC-47B4-9A53-839E088B8722}"/>
              </a:ext>
            </a:extLst>
          </p:cNvPr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1324758186"/>
              </p:ext>
            </p:extLst>
          </p:nvPr>
        </p:nvGraphicFramePr>
        <p:xfrm>
          <a:off x="791600" y="3233316"/>
          <a:ext cx="2668835" cy="10899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65200" imgH="444500" progId="Equation.3">
                  <p:embed/>
                </p:oleObj>
              </mc:Choice>
              <mc:Fallback>
                <p:oleObj name="Equation" r:id="rId6" imgW="965200" imgH="444500" progId="Equation.3">
                  <p:embed/>
                  <p:pic>
                    <p:nvPicPr>
                      <p:cNvPr id="19" name="Object 18">
                        <a:extLst>
                          <a:ext uri="{FF2B5EF4-FFF2-40B4-BE49-F238E27FC236}">
                            <a16:creationId xmlns:a16="http://schemas.microsoft.com/office/drawing/2014/main" id="{7F250FDC-16FC-47B4-9A53-839E088B872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600" y="3233316"/>
                        <a:ext cx="2668835" cy="10899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lowchart: Alternate Process 5"/>
          <p:cNvSpPr/>
          <p:nvPr/>
        </p:nvSpPr>
        <p:spPr>
          <a:xfrm>
            <a:off x="666750" y="3121443"/>
            <a:ext cx="2816519" cy="1355307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/>
          <p:cNvSpPr/>
          <p:nvPr/>
        </p:nvSpPr>
        <p:spPr>
          <a:xfrm>
            <a:off x="824314" y="3244727"/>
            <a:ext cx="228600" cy="3480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own Arrow 19"/>
          <p:cNvSpPr/>
          <p:nvPr/>
        </p:nvSpPr>
        <p:spPr>
          <a:xfrm flipH="1" flipV="1">
            <a:off x="2058830" y="3230724"/>
            <a:ext cx="228600" cy="3293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342978" y="3395378"/>
            <a:ext cx="438322" cy="719422"/>
          </a:xfrm>
          <a:prstGeom prst="ellipse">
            <a:avLst/>
          </a:prstGeom>
          <a:noFill/>
          <a:ln w="22225">
            <a:solidFill>
              <a:srgbClr val="0099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9A5CD3-1F21-8BD7-4478-E1B50DF2E1D0}"/>
              </a:ext>
            </a:extLst>
          </p:cNvPr>
          <p:cNvSpPr txBox="1"/>
          <p:nvPr/>
        </p:nvSpPr>
        <p:spPr>
          <a:xfrm>
            <a:off x="158020" y="6449982"/>
            <a:ext cx="620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7/17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4426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 rot="10800000" flipH="1">
            <a:off x="0" y="0"/>
            <a:ext cx="768765" cy="6858000"/>
          </a:xfrm>
          <a:prstGeom prst="triangle">
            <a:avLst>
              <a:gd name="adj" fmla="val 0"/>
            </a:avLst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ultado de imagem para demokritos">
            <a:hlinkClick r:id="rId2"/>
            <a:extLst>
              <a:ext uri="{FF2B5EF4-FFF2-40B4-BE49-F238E27FC236}">
                <a16:creationId xmlns:a16="http://schemas.microsoft.com/office/drawing/2014/main" id="{1EB37741-AED2-48BF-9ADA-3EAE5431D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"/>
          <a:stretch>
            <a:fillRect/>
          </a:stretch>
        </p:blipFill>
        <p:spPr bwMode="auto">
          <a:xfrm>
            <a:off x="11258550" y="0"/>
            <a:ext cx="933450" cy="9649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35466" y="159299"/>
            <a:ext cx="1043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Basic assumptions</a:t>
            </a:r>
            <a:endParaRPr lang="en-US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9633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Sarajevo Summer School in Next-Generation Air Quality</a:t>
            </a:r>
            <a:r>
              <a:rPr lang="el-GR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7 – 8 </a:t>
            </a:r>
            <a:r>
              <a:rPr lang="en-GB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September</a:t>
            </a:r>
            <a:r>
              <a:rPr lang="en-GB" b="0" i="0" u="none" strike="noStrike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6353" y="5680183"/>
            <a:ext cx="985647" cy="117781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EB34C23-59C5-4B5D-8E63-07DC43E07BA6}"/>
              </a:ext>
            </a:extLst>
          </p:cNvPr>
          <p:cNvSpPr txBox="1"/>
          <p:nvPr/>
        </p:nvSpPr>
        <p:spPr>
          <a:xfrm>
            <a:off x="1035466" y="1214065"/>
            <a:ext cx="10577916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 profiles do not change significantly over time 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 significant changes in data collection/analysis methodology have occurred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are representative of the area and its typical sources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Sources have sufficient variability in time and space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If source profiles are provided as input, it is important to have good knowledge of the type of sources and to use representative for the study area source profiles.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128774-9A98-401A-E09D-C8CDB60397F0}"/>
              </a:ext>
            </a:extLst>
          </p:cNvPr>
          <p:cNvSpPr txBox="1"/>
          <p:nvPr/>
        </p:nvSpPr>
        <p:spPr>
          <a:xfrm>
            <a:off x="158020" y="6449982"/>
            <a:ext cx="877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8/17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526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 rot="10800000" flipH="1">
            <a:off x="0" y="0"/>
            <a:ext cx="768765" cy="6858000"/>
          </a:xfrm>
          <a:prstGeom prst="triangle">
            <a:avLst>
              <a:gd name="adj" fmla="val 0"/>
            </a:avLst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ultado de imagem para demokritos">
            <a:hlinkClick r:id="rId2"/>
            <a:extLst>
              <a:ext uri="{FF2B5EF4-FFF2-40B4-BE49-F238E27FC236}">
                <a16:creationId xmlns:a16="http://schemas.microsoft.com/office/drawing/2014/main" id="{1EB37741-AED2-48BF-9ADA-3EAE5431D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"/>
          <a:stretch>
            <a:fillRect/>
          </a:stretch>
        </p:blipFill>
        <p:spPr bwMode="auto">
          <a:xfrm>
            <a:off x="11258550" y="0"/>
            <a:ext cx="933450" cy="9649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35466" y="159299"/>
            <a:ext cx="1043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Characterization of road dust chemical profile</a:t>
            </a:r>
            <a:endParaRPr lang="en-US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9633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Sarajevo Summer School in Next-Generation Air Quality</a:t>
            </a:r>
            <a:r>
              <a:rPr lang="el-GR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7 – 8 </a:t>
            </a:r>
            <a:r>
              <a:rPr lang="en-GB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September</a:t>
            </a:r>
            <a:r>
              <a:rPr lang="en-GB" b="0" i="0" u="none" strike="noStrike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6353" y="5680183"/>
            <a:ext cx="985647" cy="1177817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1762915" y="1574117"/>
            <a:ext cx="8386619" cy="4764291"/>
            <a:chOff x="5057918" y="4619255"/>
            <a:chExt cx="3525967" cy="2181825"/>
          </a:xfrm>
        </p:grpSpPr>
        <p:pic>
          <p:nvPicPr>
            <p:cNvPr id="9" name="Picture 59" descr="X:\My Pictures\AIRUSE project\Agia Paraskevi-Jan.2014\IMG_1459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065190" y="4619255"/>
              <a:ext cx="1978670" cy="1110833"/>
            </a:xfrm>
            <a:prstGeom prst="rect">
              <a:avLst/>
            </a:prstGeom>
            <a:noFill/>
          </p:spPr>
        </p:pic>
        <p:pic>
          <p:nvPicPr>
            <p:cNvPr id="13" name="Picture 60" descr="X:\My Pictures\AIRUSE project\_AND7161-by Andronikos Chatzikostis.jp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7036221" y="4619255"/>
              <a:ext cx="1547664" cy="1031776"/>
            </a:xfrm>
            <a:prstGeom prst="rect">
              <a:avLst/>
            </a:prstGeom>
            <a:noFill/>
          </p:spPr>
        </p:pic>
        <p:pic>
          <p:nvPicPr>
            <p:cNvPr id="14" name="Picture 61" descr="X:\My Pictures\AIRUSE project\Vouliagmenis-Feb2014\IMG_1421.JP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5057918" y="5730088"/>
              <a:ext cx="1907704" cy="1070992"/>
            </a:xfrm>
            <a:prstGeom prst="rect">
              <a:avLst/>
            </a:prstGeom>
            <a:noFill/>
          </p:spPr>
        </p:pic>
        <p:pic>
          <p:nvPicPr>
            <p:cNvPr id="15" name="Picture 62" descr="X:\My Pictures\Road dust campaign-Demokritos\WP_20131110_014.jpg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6883528" y="5526145"/>
              <a:ext cx="1700357" cy="1274935"/>
            </a:xfrm>
            <a:prstGeom prst="rect">
              <a:avLst/>
            </a:prstGeom>
            <a:noFill/>
          </p:spPr>
        </p:pic>
      </p:grpSp>
      <p:pic>
        <p:nvPicPr>
          <p:cNvPr id="19" name="Picture 18" descr="http://airuse.eu/wp-content/themes/vigilance/images/top-banner/logo-horizontal-596px.pn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68766" y="982456"/>
            <a:ext cx="2500480" cy="537017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3458178" y="1083488"/>
            <a:ext cx="6691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Road dust sampling campaign in Athens (Greece)</a:t>
            </a:r>
            <a:endParaRPr lang="en-US" sz="2400" b="1" dirty="0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9687" y="3983084"/>
            <a:ext cx="8922137" cy="246689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49948" y="1565207"/>
            <a:ext cx="8941616" cy="24122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7A5F83-3B0A-287A-4376-8FF9E2EBB66D}"/>
              </a:ext>
            </a:extLst>
          </p:cNvPr>
          <p:cNvSpPr txBox="1"/>
          <p:nvPr/>
        </p:nvSpPr>
        <p:spPr>
          <a:xfrm>
            <a:off x="158020" y="6449982"/>
            <a:ext cx="877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9/17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238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84" y="482464"/>
            <a:ext cx="5988675" cy="5368934"/>
          </a:xfrm>
          <a:prstGeom prst="rect">
            <a:avLst/>
          </a:prstGeom>
        </p:spPr>
      </p:pic>
      <p:sp>
        <p:nvSpPr>
          <p:cNvPr id="4" name="Isosceles Triangle 3"/>
          <p:cNvSpPr/>
          <p:nvPr/>
        </p:nvSpPr>
        <p:spPr>
          <a:xfrm rot="10800000" flipH="1">
            <a:off x="0" y="0"/>
            <a:ext cx="768765" cy="6858000"/>
          </a:xfrm>
          <a:prstGeom prst="triangle">
            <a:avLst>
              <a:gd name="adj" fmla="val 0"/>
            </a:avLst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ultado de imagem para demokritos">
            <a:hlinkClick r:id="rId3"/>
            <a:extLst>
              <a:ext uri="{FF2B5EF4-FFF2-40B4-BE49-F238E27FC236}">
                <a16:creationId xmlns:a16="http://schemas.microsoft.com/office/drawing/2014/main" id="{1EB37741-AED2-48BF-9ADA-3EAE5431DB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"/>
          <a:stretch>
            <a:fillRect/>
          </a:stretch>
        </p:blipFill>
        <p:spPr bwMode="auto">
          <a:xfrm>
            <a:off x="11258550" y="0"/>
            <a:ext cx="933450" cy="9649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35466" y="159299"/>
            <a:ext cx="1043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What do we need to apply receptor modelling?</a:t>
            </a:r>
            <a:endParaRPr lang="en-US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9633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Sarajevo Summer School in Next-Generation Air Quality</a:t>
            </a:r>
            <a:r>
              <a:rPr lang="el-GR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7 – 8 </a:t>
            </a:r>
            <a:r>
              <a:rPr lang="en-GB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September</a:t>
            </a:r>
            <a:r>
              <a:rPr lang="en-GB" b="0" i="0" u="none" strike="noStrike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6353" y="5680183"/>
            <a:ext cx="985647" cy="11778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07499" y="2151268"/>
            <a:ext cx="17240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Elemental &amp; Organic carbon</a:t>
            </a:r>
            <a:endParaRPr lang="en-US" sz="20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2679470" y="4148433"/>
            <a:ext cx="22227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Secondary Inorganic species (SO</a:t>
            </a:r>
            <a:r>
              <a:rPr lang="en-GB" sz="2000" b="1" baseline="-25000" dirty="0"/>
              <a:t>4</a:t>
            </a:r>
            <a:r>
              <a:rPr lang="en-GB" sz="2000" b="1" baseline="30000" dirty="0"/>
              <a:t>2-</a:t>
            </a:r>
            <a:r>
              <a:rPr lang="en-GB" sz="2000" b="1" dirty="0"/>
              <a:t>, NO</a:t>
            </a:r>
            <a:r>
              <a:rPr lang="en-GB" sz="2000" b="1" baseline="-25000" dirty="0"/>
              <a:t>3</a:t>
            </a:r>
            <a:r>
              <a:rPr lang="en-GB" sz="2000" b="1" baseline="30000" dirty="0"/>
              <a:t>-</a:t>
            </a:r>
            <a:r>
              <a:rPr lang="en-GB" sz="2000" b="1" dirty="0"/>
              <a:t>, NH</a:t>
            </a:r>
            <a:r>
              <a:rPr lang="en-GB" sz="2000" b="1" baseline="-25000" dirty="0"/>
              <a:t>4</a:t>
            </a:r>
            <a:r>
              <a:rPr lang="en-GB" sz="2000" b="1" baseline="30000" dirty="0"/>
              <a:t>+</a:t>
            </a:r>
            <a:r>
              <a:rPr lang="en-GB" sz="2000" b="1" dirty="0"/>
              <a:t>)</a:t>
            </a:r>
            <a:endParaRPr lang="en-US" sz="2000" b="1" dirty="0"/>
          </a:p>
        </p:txBody>
      </p:sp>
      <p:sp>
        <p:nvSpPr>
          <p:cNvPr id="14" name="TextBox 13"/>
          <p:cNvSpPr txBox="1"/>
          <p:nvPr/>
        </p:nvSpPr>
        <p:spPr>
          <a:xfrm rot="19425853">
            <a:off x="1377762" y="3971046"/>
            <a:ext cx="1964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Trace elements</a:t>
            </a:r>
            <a:endParaRPr lang="en-US" sz="2000" b="1" dirty="0"/>
          </a:p>
        </p:txBody>
      </p:sp>
      <p:sp>
        <p:nvSpPr>
          <p:cNvPr id="15" name="TextBox 14"/>
          <p:cNvSpPr txBox="1"/>
          <p:nvPr/>
        </p:nvSpPr>
        <p:spPr>
          <a:xfrm rot="20743727">
            <a:off x="1178046" y="3531080"/>
            <a:ext cx="19431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Marine aerosol</a:t>
            </a:r>
            <a:endParaRPr lang="en-US" sz="20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1555076" y="1988263"/>
            <a:ext cx="17607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/>
              <a:t>Mineral components</a:t>
            </a:r>
            <a:endParaRPr 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962894" y="1244200"/>
            <a:ext cx="5932853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GB" sz="2400" dirty="0"/>
              <a:t>Comprehensive characterization of aerosol chemical composition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GB" sz="2000" dirty="0"/>
              <a:t>Cover the majority of PM mass</a:t>
            </a:r>
          </a:p>
          <a:p>
            <a:pPr marL="1257300" lvl="2" indent="-342900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GB" sz="2000" dirty="0"/>
              <a:t>Include key source tracers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sz="2400" dirty="0"/>
              <a:t>Large time series (to cover different conditions and provide the model with enough data)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sz="2400" dirty="0"/>
              <a:t>At least some knowledge of major sources in the area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sz="2400" dirty="0"/>
              <a:t>Ancillary data (emission inventories, meteorological data)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1960A7-47FE-BF32-00C1-90BD4B0D3F74}"/>
              </a:ext>
            </a:extLst>
          </p:cNvPr>
          <p:cNvSpPr txBox="1"/>
          <p:nvPr/>
        </p:nvSpPr>
        <p:spPr>
          <a:xfrm>
            <a:off x="158020" y="6449982"/>
            <a:ext cx="768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10/17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65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28" y="1311749"/>
            <a:ext cx="11196344" cy="3772837"/>
          </a:xfrm>
          <a:prstGeom prst="rect">
            <a:avLst/>
          </a:prstGeom>
        </p:spPr>
      </p:pic>
      <p:sp>
        <p:nvSpPr>
          <p:cNvPr id="4" name="Isosceles Triangle 3"/>
          <p:cNvSpPr/>
          <p:nvPr/>
        </p:nvSpPr>
        <p:spPr>
          <a:xfrm rot="10800000" flipH="1">
            <a:off x="0" y="0"/>
            <a:ext cx="768765" cy="6858000"/>
          </a:xfrm>
          <a:prstGeom prst="triangle">
            <a:avLst>
              <a:gd name="adj" fmla="val 0"/>
            </a:avLst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ultado de imagem para demokritos">
            <a:hlinkClick r:id="rId3"/>
            <a:extLst>
              <a:ext uri="{FF2B5EF4-FFF2-40B4-BE49-F238E27FC236}">
                <a16:creationId xmlns:a16="http://schemas.microsoft.com/office/drawing/2014/main" id="{1EB37741-AED2-48BF-9ADA-3EAE5431DB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"/>
          <a:stretch>
            <a:fillRect/>
          </a:stretch>
        </p:blipFill>
        <p:spPr bwMode="auto">
          <a:xfrm>
            <a:off x="11258550" y="0"/>
            <a:ext cx="933450" cy="9649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35466" y="159299"/>
            <a:ext cx="1043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How does SA support policy making?</a:t>
            </a:r>
            <a:endParaRPr lang="en-US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9633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Sarajevo Summer School in Next-Generation Air Quality</a:t>
            </a:r>
            <a:r>
              <a:rPr lang="el-GR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7 – 8 </a:t>
            </a:r>
            <a:r>
              <a:rPr lang="en-GB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September</a:t>
            </a:r>
            <a:r>
              <a:rPr lang="en-GB" b="0" i="0" u="none" strike="noStrike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6353" y="5680183"/>
            <a:ext cx="985647" cy="11778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75450" y="5484261"/>
            <a:ext cx="5512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Amato et al., Atmos. Chem. Phys., 16, 3289–3309, 2016</a:t>
            </a:r>
          </a:p>
        </p:txBody>
      </p:sp>
      <p:pic>
        <p:nvPicPr>
          <p:cNvPr id="13" name="Picture 12" descr="http://airuse.eu/wp-content/themes/vigilance/images/top-banner/logo-horizontal-596px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68766" y="5358819"/>
            <a:ext cx="2500480" cy="537017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C2DE3C-0FA6-F95A-09F5-40F2D57616E8}"/>
              </a:ext>
            </a:extLst>
          </p:cNvPr>
          <p:cNvSpPr txBox="1"/>
          <p:nvPr/>
        </p:nvSpPr>
        <p:spPr>
          <a:xfrm>
            <a:off x="158020" y="6449982"/>
            <a:ext cx="985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11/17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8823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66" y="1001014"/>
            <a:ext cx="11689006" cy="4321093"/>
          </a:xfrm>
          <a:prstGeom prst="rect">
            <a:avLst/>
          </a:prstGeom>
        </p:spPr>
      </p:pic>
      <p:sp>
        <p:nvSpPr>
          <p:cNvPr id="4" name="Isosceles Triangle 3"/>
          <p:cNvSpPr/>
          <p:nvPr/>
        </p:nvSpPr>
        <p:spPr>
          <a:xfrm rot="10800000" flipH="1">
            <a:off x="0" y="0"/>
            <a:ext cx="768765" cy="6858000"/>
          </a:xfrm>
          <a:prstGeom prst="triangle">
            <a:avLst>
              <a:gd name="adj" fmla="val 0"/>
            </a:avLst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ultado de imagem para demokritos">
            <a:hlinkClick r:id="rId3"/>
            <a:extLst>
              <a:ext uri="{FF2B5EF4-FFF2-40B4-BE49-F238E27FC236}">
                <a16:creationId xmlns:a16="http://schemas.microsoft.com/office/drawing/2014/main" id="{1EB37741-AED2-48BF-9ADA-3EAE5431DB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"/>
          <a:stretch>
            <a:fillRect/>
          </a:stretch>
        </p:blipFill>
        <p:spPr bwMode="auto">
          <a:xfrm>
            <a:off x="11258550" y="0"/>
            <a:ext cx="933450" cy="9649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35466" y="159299"/>
            <a:ext cx="1043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How does SA support policy making?</a:t>
            </a:r>
            <a:endParaRPr lang="en-US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9633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Sarajevo Summer School in Next-Generation Air Quality</a:t>
            </a:r>
            <a:r>
              <a:rPr lang="el-GR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7 – 8 </a:t>
            </a:r>
            <a:r>
              <a:rPr lang="en-GB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September</a:t>
            </a:r>
            <a:r>
              <a:rPr lang="en-GB" b="0" i="0" u="none" strike="noStrike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6353" y="5680183"/>
            <a:ext cx="985647" cy="1177817"/>
          </a:xfrm>
          <a:prstGeom prst="rect">
            <a:avLst/>
          </a:prstGeom>
        </p:spPr>
      </p:pic>
      <p:pic>
        <p:nvPicPr>
          <p:cNvPr id="14" name="Picture 13" descr="http://airuse.eu/wp-content/themes/vigilance/images/top-banner/logo-horizontal-596px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68766" y="5358819"/>
            <a:ext cx="2500480" cy="537017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9B3526-6995-D017-D03B-FE566A6AAA2D}"/>
              </a:ext>
            </a:extLst>
          </p:cNvPr>
          <p:cNvSpPr txBox="1"/>
          <p:nvPr/>
        </p:nvSpPr>
        <p:spPr>
          <a:xfrm>
            <a:off x="158020" y="6449982"/>
            <a:ext cx="877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12/17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26202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542" y="961260"/>
            <a:ext cx="7683670" cy="4448070"/>
          </a:xfrm>
          <a:prstGeom prst="rect">
            <a:avLst/>
          </a:prstGeom>
        </p:spPr>
      </p:pic>
      <p:sp>
        <p:nvSpPr>
          <p:cNvPr id="4" name="Isosceles Triangle 3"/>
          <p:cNvSpPr/>
          <p:nvPr/>
        </p:nvSpPr>
        <p:spPr>
          <a:xfrm rot="10800000" flipH="1">
            <a:off x="0" y="0"/>
            <a:ext cx="768765" cy="6858000"/>
          </a:xfrm>
          <a:prstGeom prst="triangle">
            <a:avLst>
              <a:gd name="adj" fmla="val 0"/>
            </a:avLst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ultado de imagem para demokritos">
            <a:hlinkClick r:id="rId3"/>
            <a:extLst>
              <a:ext uri="{FF2B5EF4-FFF2-40B4-BE49-F238E27FC236}">
                <a16:creationId xmlns:a16="http://schemas.microsoft.com/office/drawing/2014/main" id="{1EB37741-AED2-48BF-9ADA-3EAE5431DB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"/>
          <a:stretch>
            <a:fillRect/>
          </a:stretch>
        </p:blipFill>
        <p:spPr bwMode="auto">
          <a:xfrm>
            <a:off x="11258550" y="0"/>
            <a:ext cx="933450" cy="9649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35466" y="159299"/>
            <a:ext cx="1043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How does SA support policy making?</a:t>
            </a:r>
            <a:endParaRPr lang="en-US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9633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Sarajevo Summer School in Next-Generation Air Quality</a:t>
            </a:r>
            <a:r>
              <a:rPr lang="el-GR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7 – 8 </a:t>
            </a:r>
            <a:r>
              <a:rPr lang="en-GB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September</a:t>
            </a:r>
            <a:r>
              <a:rPr lang="en-GB" b="0" i="0" u="none" strike="noStrike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6353" y="5680183"/>
            <a:ext cx="985647" cy="11778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62726" y="5409330"/>
            <a:ext cx="6906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Diapouli et al., Atmospheric Environment 164, 416-430, 2017</a:t>
            </a:r>
          </a:p>
        </p:txBody>
      </p:sp>
      <p:pic>
        <p:nvPicPr>
          <p:cNvPr id="13" name="Picture 10" descr="ACEPTAIR LOGO.tif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060646" y="5380661"/>
            <a:ext cx="1195914" cy="644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865F65-10D6-699C-0C60-30247DC55FC0}"/>
              </a:ext>
            </a:extLst>
          </p:cNvPr>
          <p:cNvSpPr txBox="1"/>
          <p:nvPr/>
        </p:nvSpPr>
        <p:spPr>
          <a:xfrm>
            <a:off x="158020" y="6449982"/>
            <a:ext cx="985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13/17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7843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 rot="10800000" flipH="1">
            <a:off x="0" y="0"/>
            <a:ext cx="768765" cy="6858000"/>
          </a:xfrm>
          <a:prstGeom prst="triangle">
            <a:avLst>
              <a:gd name="adj" fmla="val 0"/>
            </a:avLst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ultado de imagem para demokritos">
            <a:hlinkClick r:id="rId2"/>
            <a:extLst>
              <a:ext uri="{FF2B5EF4-FFF2-40B4-BE49-F238E27FC236}">
                <a16:creationId xmlns:a16="http://schemas.microsoft.com/office/drawing/2014/main" id="{1EB37741-AED2-48BF-9ADA-3EAE5431D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"/>
          <a:stretch>
            <a:fillRect/>
          </a:stretch>
        </p:blipFill>
        <p:spPr bwMode="auto">
          <a:xfrm>
            <a:off x="11258550" y="0"/>
            <a:ext cx="933450" cy="9649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35466" y="159299"/>
            <a:ext cx="1043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How does SA support policy making?</a:t>
            </a:r>
            <a:endParaRPr lang="en-US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9633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Sarajevo Summer School in Next-Generation Air Quality</a:t>
            </a:r>
            <a:r>
              <a:rPr lang="el-GR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7 – 8 </a:t>
            </a:r>
            <a:r>
              <a:rPr lang="en-GB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September</a:t>
            </a:r>
            <a:r>
              <a:rPr lang="en-GB" b="0" i="0" u="none" strike="noStrike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6353" y="5680183"/>
            <a:ext cx="985647" cy="11778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746583" y="5451386"/>
            <a:ext cx="6906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Manousakas et al., Environmental Research 192, 110257, 2021</a:t>
            </a:r>
          </a:p>
        </p:txBody>
      </p:sp>
      <p:pic>
        <p:nvPicPr>
          <p:cNvPr id="14" name="Picture 13" descr="http://airuse.eu/wp-content/themes/vigilance/images/top-banner/logo-horizontal-596px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22278" y="5307158"/>
            <a:ext cx="2500480" cy="537017"/>
          </a:xfrm>
          <a:prstGeom prst="rect">
            <a:avLst/>
          </a:prstGeom>
          <a:noFill/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243" y="1938804"/>
            <a:ext cx="4958966" cy="336835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0934" y="1938804"/>
            <a:ext cx="4014699" cy="3227727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2628900" y="4091832"/>
            <a:ext cx="993858" cy="571500"/>
          </a:xfrm>
          <a:prstGeom prst="ellipse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953250" y="3266917"/>
            <a:ext cx="993858" cy="571500"/>
          </a:xfrm>
          <a:prstGeom prst="ellipse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876425" y="1368288"/>
            <a:ext cx="4219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Athens urban background</a:t>
            </a:r>
            <a:endParaRPr lang="en-US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6953250" y="1410409"/>
            <a:ext cx="42195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Athens urban traffic</a:t>
            </a:r>
            <a:endParaRPr lang="en-US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EE3010-595E-88FA-C112-23D32A03ACE9}"/>
              </a:ext>
            </a:extLst>
          </p:cNvPr>
          <p:cNvSpPr txBox="1"/>
          <p:nvPr/>
        </p:nvSpPr>
        <p:spPr>
          <a:xfrm>
            <a:off x="158020" y="6449982"/>
            <a:ext cx="96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14/17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1026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 rot="10800000" flipH="1">
            <a:off x="0" y="0"/>
            <a:ext cx="768765" cy="6858000"/>
          </a:xfrm>
          <a:prstGeom prst="triangle">
            <a:avLst>
              <a:gd name="adj" fmla="val 0"/>
            </a:avLst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ultado de imagem para demokritos">
            <a:hlinkClick r:id="rId2"/>
            <a:extLst>
              <a:ext uri="{FF2B5EF4-FFF2-40B4-BE49-F238E27FC236}">
                <a16:creationId xmlns:a16="http://schemas.microsoft.com/office/drawing/2014/main" id="{1EB37741-AED2-48BF-9ADA-3EAE5431D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"/>
          <a:stretch>
            <a:fillRect/>
          </a:stretch>
        </p:blipFill>
        <p:spPr bwMode="auto">
          <a:xfrm>
            <a:off x="11258550" y="0"/>
            <a:ext cx="933450" cy="9649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35466" y="159299"/>
            <a:ext cx="1043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How do source contributions vary across countries?</a:t>
            </a:r>
            <a:endParaRPr lang="en-US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9633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Sarajevo Summer School in Next-Generation Air Quality</a:t>
            </a:r>
            <a:r>
              <a:rPr lang="el-GR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7 – 8 </a:t>
            </a:r>
            <a:r>
              <a:rPr lang="en-GB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September</a:t>
            </a:r>
            <a:r>
              <a:rPr lang="en-GB" b="0" i="0" u="none" strike="noStrike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6353" y="5680183"/>
            <a:ext cx="985647" cy="1177817"/>
          </a:xfrm>
          <a:prstGeom prst="rect">
            <a:avLst/>
          </a:prstGeom>
        </p:spPr>
      </p:pic>
      <p:pic>
        <p:nvPicPr>
          <p:cNvPr id="14" name="Picture 13" descr="http://airuse.eu/wp-content/themes/vigilance/images/top-banner/logo-horizontal-596px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122278" y="5307158"/>
            <a:ext cx="2500480" cy="537017"/>
          </a:xfrm>
          <a:prstGeom prst="rect">
            <a:avLst/>
          </a:prstGeom>
          <a:noFill/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1987" y="1592189"/>
            <a:ext cx="8316888" cy="328358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2882" y="3153741"/>
            <a:ext cx="2853093" cy="187545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3739" y="1332340"/>
            <a:ext cx="2482487" cy="16808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5386" y="3153741"/>
            <a:ext cx="2405062" cy="1692777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347" y="962362"/>
            <a:ext cx="2587292" cy="166707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97380" y="1040029"/>
            <a:ext cx="2566987" cy="16437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275550" y="5427929"/>
            <a:ext cx="5512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Amato et al., Atmos. Chem. Phys., 16, 3289–3309, 2016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8EAE3F-0B90-77F6-AD13-CE63E21D697C}"/>
              </a:ext>
            </a:extLst>
          </p:cNvPr>
          <p:cNvSpPr txBox="1"/>
          <p:nvPr/>
        </p:nvSpPr>
        <p:spPr>
          <a:xfrm>
            <a:off x="158020" y="6449982"/>
            <a:ext cx="877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15/17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5450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28" y="1774564"/>
            <a:ext cx="5823938" cy="3652837"/>
          </a:xfrm>
          <a:prstGeom prst="rect">
            <a:avLst/>
          </a:prstGeom>
        </p:spPr>
      </p:pic>
      <p:sp>
        <p:nvSpPr>
          <p:cNvPr id="4" name="Isosceles Triangle 3"/>
          <p:cNvSpPr/>
          <p:nvPr/>
        </p:nvSpPr>
        <p:spPr>
          <a:xfrm rot="10800000" flipH="1">
            <a:off x="0" y="0"/>
            <a:ext cx="768765" cy="6858000"/>
          </a:xfrm>
          <a:prstGeom prst="triangle">
            <a:avLst>
              <a:gd name="adj" fmla="val 0"/>
            </a:avLst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ultado de imagem para demokritos">
            <a:hlinkClick r:id="rId3"/>
            <a:extLst>
              <a:ext uri="{FF2B5EF4-FFF2-40B4-BE49-F238E27FC236}">
                <a16:creationId xmlns:a16="http://schemas.microsoft.com/office/drawing/2014/main" id="{1EB37741-AED2-48BF-9ADA-3EAE5431DB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"/>
          <a:stretch>
            <a:fillRect/>
          </a:stretch>
        </p:blipFill>
        <p:spPr bwMode="auto">
          <a:xfrm>
            <a:off x="11258550" y="0"/>
            <a:ext cx="933450" cy="9649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35466" y="159299"/>
            <a:ext cx="104375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How do source contributions vary across countries?</a:t>
            </a:r>
            <a:endParaRPr lang="en-US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9633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Sarajevo Summer School in Next-Generation Air Quality</a:t>
            </a:r>
            <a:r>
              <a:rPr lang="el-GR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7 – 8 </a:t>
            </a:r>
            <a:r>
              <a:rPr lang="en-GB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September</a:t>
            </a:r>
            <a:r>
              <a:rPr lang="en-GB" b="0" i="0" u="none" strike="noStrike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6353" y="5680183"/>
            <a:ext cx="985647" cy="117781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0528" y="5542536"/>
            <a:ext cx="6906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Almeida et al., </a:t>
            </a:r>
            <a:r>
              <a:rPr lang="fr-FR" i="1" dirty="0" err="1"/>
              <a:t>Environmental</a:t>
            </a:r>
            <a:r>
              <a:rPr lang="fr-FR" i="1" dirty="0"/>
              <a:t> Pollution, 266, 115199, 2020</a:t>
            </a:r>
            <a:endParaRPr lang="en-US" i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227" y="1093438"/>
            <a:ext cx="5895773" cy="57645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FC4AF9-1B9E-16FF-5260-7E09CD143D12}"/>
              </a:ext>
            </a:extLst>
          </p:cNvPr>
          <p:cNvSpPr txBox="1"/>
          <p:nvPr/>
        </p:nvSpPr>
        <p:spPr>
          <a:xfrm>
            <a:off x="158020" y="6449982"/>
            <a:ext cx="877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16/17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4750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 rot="10800000" flipH="1">
            <a:off x="0" y="0"/>
            <a:ext cx="768765" cy="6858000"/>
          </a:xfrm>
          <a:prstGeom prst="triangle">
            <a:avLst>
              <a:gd name="adj" fmla="val 0"/>
            </a:avLst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ultado de imagem para demokritos">
            <a:hlinkClick r:id="rId2"/>
            <a:extLst>
              <a:ext uri="{FF2B5EF4-FFF2-40B4-BE49-F238E27FC236}">
                <a16:creationId xmlns:a16="http://schemas.microsoft.com/office/drawing/2014/main" id="{1EB37741-AED2-48BF-9ADA-3EAE5431D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"/>
          <a:stretch>
            <a:fillRect/>
          </a:stretch>
        </p:blipFill>
        <p:spPr bwMode="auto">
          <a:xfrm>
            <a:off x="11258550" y="0"/>
            <a:ext cx="933450" cy="9649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35466" y="159299"/>
            <a:ext cx="99278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If you are interested in experimenting with receptor modelling…</a:t>
            </a:r>
            <a:endParaRPr lang="en-US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9633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Sarajevo Summer School in Next-Generation Air Quality</a:t>
            </a:r>
            <a:r>
              <a:rPr lang="el-GR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7 – 8 </a:t>
            </a:r>
            <a:r>
              <a:rPr lang="en-GB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September</a:t>
            </a:r>
            <a:r>
              <a:rPr lang="en-GB" b="0" i="0" u="none" strike="noStrike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6353" y="5680183"/>
            <a:ext cx="985647" cy="117781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94020" y="1890117"/>
            <a:ext cx="943927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EPA PMF 5.0 is a free program to solve PMF, based on a user-friendly interface and offering a number of advanced tools (uncertainty estimates, application of additional constraints). </a:t>
            </a:r>
          </a:p>
          <a:p>
            <a:pPr>
              <a:spcAft>
                <a:spcPts val="1200"/>
              </a:spcAft>
            </a:pPr>
            <a:r>
              <a:rPr lang="en-GB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You can download the software from:</a:t>
            </a:r>
            <a:endParaRPr lang="en-US" sz="2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spcAft>
                <a:spcPts val="1200"/>
              </a:spcAft>
            </a:pPr>
            <a:r>
              <a:rPr lang="en-US" sz="2400" dirty="0">
                <a:solidFill>
                  <a:schemeClr val="bg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/>
              </a:rPr>
              <a:t>https://www.epa.gov/air-research/forms/registration-download-and-use-epa-pmf-50</a:t>
            </a:r>
            <a:endParaRPr lang="en-US" sz="2400" dirty="0">
              <a:solidFill>
                <a:schemeClr val="bg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0409F9-874B-CD8A-7311-ECEA35D49417}"/>
              </a:ext>
            </a:extLst>
          </p:cNvPr>
          <p:cNvSpPr txBox="1"/>
          <p:nvPr/>
        </p:nvSpPr>
        <p:spPr>
          <a:xfrm>
            <a:off x="158020" y="6449982"/>
            <a:ext cx="877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17/17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17611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osceles Triangle 3"/>
          <p:cNvSpPr/>
          <p:nvPr/>
        </p:nvSpPr>
        <p:spPr>
          <a:xfrm rot="10800000" flipH="1">
            <a:off x="0" y="0"/>
            <a:ext cx="768765" cy="6858000"/>
          </a:xfrm>
          <a:prstGeom prst="triangle">
            <a:avLst>
              <a:gd name="adj" fmla="val 0"/>
            </a:avLst>
          </a:prstGeom>
          <a:solidFill>
            <a:srgbClr val="33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esultado de imagem para demokritos">
            <a:hlinkClick r:id="rId2"/>
            <a:extLst>
              <a:ext uri="{FF2B5EF4-FFF2-40B4-BE49-F238E27FC236}">
                <a16:creationId xmlns:a16="http://schemas.microsoft.com/office/drawing/2014/main" id="{1EB37741-AED2-48BF-9ADA-3EAE5431DB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44"/>
          <a:stretch>
            <a:fillRect/>
          </a:stretch>
        </p:blipFill>
        <p:spPr bwMode="auto">
          <a:xfrm>
            <a:off x="11258550" y="0"/>
            <a:ext cx="933450" cy="96493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/>
          <p:cNvSpPr txBox="1"/>
          <p:nvPr/>
        </p:nvSpPr>
        <p:spPr>
          <a:xfrm>
            <a:off x="1035466" y="159299"/>
            <a:ext cx="9927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>
                <a:solidFill>
                  <a:schemeClr val="tx2">
                    <a:lumMod val="50000"/>
                  </a:schemeClr>
                </a:solidFill>
                <a:ea typeface="Tahoma" panose="020B0604030504040204" pitchFamily="34" charset="0"/>
                <a:cs typeface="Tahoma" panose="020B0604030504040204" pitchFamily="34" charset="0"/>
              </a:rPr>
              <a:t>Thank you for your attention!</a:t>
            </a:r>
            <a:endParaRPr lang="en-US" sz="3600" b="1" dirty="0">
              <a:solidFill>
                <a:schemeClr val="tx2">
                  <a:lumMod val="50000"/>
                </a:schemeClr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396335"/>
            <a:ext cx="12192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Sarajevo Summer School in Next-Generation Air Quality</a:t>
            </a:r>
            <a:r>
              <a:rPr lang="el-GR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, 7 – 8 </a:t>
            </a:r>
            <a:r>
              <a:rPr lang="en-GB" b="0" i="0" u="none" strike="noStrike" baseline="0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September</a:t>
            </a:r>
            <a:r>
              <a:rPr lang="en-GB" b="0" i="0" u="none" strike="noStrike" dirty="0">
                <a:solidFill>
                  <a:srgbClr val="000000"/>
                </a:solidFill>
                <a:ea typeface="Tahoma" panose="020B0604030504040204" pitchFamily="34" charset="0"/>
                <a:cs typeface="Tahoma" panose="020B0604030504040204" pitchFamily="34" charset="0"/>
              </a:rPr>
              <a:t> 2026</a:t>
            </a:r>
            <a:endParaRPr lang="en-US" dirty="0">
              <a:solidFill>
                <a:srgbClr val="000000"/>
              </a:solidFill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6353" y="5680183"/>
            <a:ext cx="985647" cy="1177817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1123273" y="1372873"/>
            <a:ext cx="10648346" cy="2138361"/>
            <a:chOff x="1123273" y="1372873"/>
            <a:chExt cx="10648346" cy="213836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1BD360C-3890-A1D4-09F8-AC94ABDCD611}"/>
                </a:ext>
              </a:extLst>
            </p:cNvPr>
            <p:cNvGrpSpPr/>
            <p:nvPr/>
          </p:nvGrpSpPr>
          <p:grpSpPr>
            <a:xfrm>
              <a:off x="2423412" y="1392842"/>
              <a:ext cx="2046634" cy="2074377"/>
              <a:chOff x="1601311" y="524132"/>
              <a:chExt cx="2046634" cy="2074377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83B7F437-BBE1-1D21-8FC9-600F84A187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35010" y="524132"/>
                <a:ext cx="1404000" cy="1404000"/>
              </a:xfrm>
              <a:prstGeom prst="rect">
                <a:avLst/>
              </a:prstGeom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F077C68-2564-1257-D85D-19F7B2DD94E3}"/>
                  </a:ext>
                </a:extLst>
              </p:cNvPr>
              <p:cNvSpPr txBox="1"/>
              <p:nvPr/>
            </p:nvSpPr>
            <p:spPr>
              <a:xfrm>
                <a:off x="1601311" y="1952178"/>
                <a:ext cx="204663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Lila</a:t>
                </a:r>
              </a:p>
              <a:p>
                <a:pPr algn="ctr"/>
                <a:r>
                  <a:rPr lang="en-GB" dirty="0"/>
                  <a:t>Diapouli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81D34D0-0E10-2908-562F-C96839722290}"/>
                </a:ext>
              </a:extLst>
            </p:cNvPr>
            <p:cNvGrpSpPr/>
            <p:nvPr/>
          </p:nvGrpSpPr>
          <p:grpSpPr>
            <a:xfrm>
              <a:off x="1123273" y="1372873"/>
              <a:ext cx="1682996" cy="2079579"/>
              <a:chOff x="246913" y="504489"/>
              <a:chExt cx="1682996" cy="2079579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13FA80B-A867-89EF-DE6A-4CEB8543074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9933" b="4986"/>
              <a:stretch/>
            </p:blipFill>
            <p:spPr>
              <a:xfrm>
                <a:off x="413710" y="504489"/>
                <a:ext cx="1404000" cy="1404000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7A05241-E7AC-30C0-7DD2-4DABD51D2725}"/>
                  </a:ext>
                </a:extLst>
              </p:cNvPr>
              <p:cNvSpPr txBox="1"/>
              <p:nvPr/>
            </p:nvSpPr>
            <p:spPr>
              <a:xfrm>
                <a:off x="246913" y="1937737"/>
                <a:ext cx="168299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Kostas Eleftheriadis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4B8BDE4-6D93-B00D-ECBC-011B832903F7}"/>
                </a:ext>
              </a:extLst>
            </p:cNvPr>
            <p:cNvGrpSpPr/>
            <p:nvPr/>
          </p:nvGrpSpPr>
          <p:grpSpPr>
            <a:xfrm>
              <a:off x="7313654" y="1392842"/>
              <a:ext cx="1404000" cy="2077326"/>
              <a:chOff x="5849143" y="496023"/>
              <a:chExt cx="1404000" cy="2077326"/>
            </a:xfrm>
          </p:grpSpPr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F19F7D67-5079-1151-AD65-64282A5BDE4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t="4966" b="4539"/>
              <a:stretch/>
            </p:blipFill>
            <p:spPr>
              <a:xfrm>
                <a:off x="5849143" y="496023"/>
                <a:ext cx="1404000" cy="1404000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28E683-2174-D531-4F9F-AD2E267AA5EB}"/>
                  </a:ext>
                </a:extLst>
              </p:cNvPr>
              <p:cNvSpPr txBox="1"/>
              <p:nvPr/>
            </p:nvSpPr>
            <p:spPr>
              <a:xfrm>
                <a:off x="5849143" y="1927018"/>
                <a:ext cx="137496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Maria</a:t>
                </a:r>
              </a:p>
              <a:p>
                <a:pPr algn="ctr"/>
                <a:r>
                  <a:rPr lang="en-GB" dirty="0"/>
                  <a:t>Gini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10C26A4-1D86-593F-8FCA-74E74C158411}"/>
                </a:ext>
              </a:extLst>
            </p:cNvPr>
            <p:cNvGrpSpPr/>
            <p:nvPr/>
          </p:nvGrpSpPr>
          <p:grpSpPr>
            <a:xfrm>
              <a:off x="8758651" y="1400184"/>
              <a:ext cx="1404000" cy="2079319"/>
              <a:chOff x="7444857" y="504489"/>
              <a:chExt cx="1404000" cy="2079319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6A38B6CC-3B40-94BA-93AC-C952F8FF788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l="29064" t="3262" r="22169" b="47970"/>
              <a:stretch/>
            </p:blipFill>
            <p:spPr>
              <a:xfrm>
                <a:off x="7444857" y="504489"/>
                <a:ext cx="1404000" cy="1404000"/>
              </a:xfrm>
              <a:prstGeom prst="rect">
                <a:avLst/>
              </a:prstGeom>
            </p:spPr>
          </p:pic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C91F47F-8852-22E7-9CF8-A681EF2091A2}"/>
                  </a:ext>
                </a:extLst>
              </p:cNvPr>
              <p:cNvSpPr txBox="1"/>
              <p:nvPr/>
            </p:nvSpPr>
            <p:spPr>
              <a:xfrm>
                <a:off x="7444857" y="1937477"/>
                <a:ext cx="1404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Prodromos Fetfatzis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0E6146A-7C73-A586-AFCC-9AD464C527CA}"/>
                </a:ext>
              </a:extLst>
            </p:cNvPr>
            <p:cNvGrpSpPr/>
            <p:nvPr/>
          </p:nvGrpSpPr>
          <p:grpSpPr>
            <a:xfrm>
              <a:off x="5505567" y="1384675"/>
              <a:ext cx="2046634" cy="2090491"/>
              <a:chOff x="3473768" y="524131"/>
              <a:chExt cx="2046634" cy="2090491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A8B7A4CA-A75A-4461-A4F0-D126E65D787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708" t="7748" r="4267" b="33733"/>
              <a:stretch/>
            </p:blipFill>
            <p:spPr>
              <a:xfrm>
                <a:off x="3797671" y="524131"/>
                <a:ext cx="1421445" cy="1421445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B2FD89C-85EF-721A-BEFB-DEF271A691D8}"/>
                  </a:ext>
                </a:extLst>
              </p:cNvPr>
              <p:cNvSpPr txBox="1"/>
              <p:nvPr/>
            </p:nvSpPr>
            <p:spPr>
              <a:xfrm>
                <a:off x="3473768" y="1968291"/>
                <a:ext cx="204663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Stergios</a:t>
                </a:r>
              </a:p>
              <a:p>
                <a:pPr algn="ctr"/>
                <a:r>
                  <a:rPr lang="en-GB" dirty="0"/>
                  <a:t>Vratolis</a:t>
                </a:r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0A2773C-0646-5F94-FC6E-B2EDDD890B2F}"/>
                </a:ext>
              </a:extLst>
            </p:cNvPr>
            <p:cNvGrpSpPr/>
            <p:nvPr/>
          </p:nvGrpSpPr>
          <p:grpSpPr>
            <a:xfrm>
              <a:off x="10084998" y="1425506"/>
              <a:ext cx="1686621" cy="2085728"/>
              <a:chOff x="8848857" y="527398"/>
              <a:chExt cx="1686621" cy="2085728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74C57348-8D1B-88B7-1D6F-056FE64C5E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82670" y="527398"/>
                <a:ext cx="1404000" cy="1404000"/>
              </a:xfrm>
              <a:prstGeom prst="rect">
                <a:avLst/>
              </a:prstGeom>
            </p:spPr>
          </p:pic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3A9E80AD-8250-4E8C-64B3-27F53F5C8BA0}"/>
                  </a:ext>
                </a:extLst>
              </p:cNvPr>
              <p:cNvSpPr txBox="1"/>
              <p:nvPr/>
            </p:nvSpPr>
            <p:spPr>
              <a:xfrm>
                <a:off x="8848857" y="1966795"/>
                <a:ext cx="168662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 err="1"/>
                  <a:t>Vasiliki</a:t>
                </a:r>
                <a:r>
                  <a:rPr lang="en-GB" dirty="0"/>
                  <a:t> </a:t>
                </a:r>
                <a:r>
                  <a:rPr lang="en-GB" dirty="0" err="1"/>
                  <a:t>Vasilatou</a:t>
                </a:r>
                <a:endParaRPr lang="en-GB" dirty="0"/>
              </a:p>
            </p:txBody>
          </p:sp>
        </p:grpSp>
        <p:pic>
          <p:nvPicPr>
            <p:cNvPr id="36" name="Picture 35"/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835" t="27527" r="37740" b="49391"/>
            <a:stretch/>
          </p:blipFill>
          <p:spPr>
            <a:xfrm>
              <a:off x="4233380" y="1378049"/>
              <a:ext cx="1533351" cy="1418791"/>
            </a:xfrm>
            <a:prstGeom prst="rect">
              <a:avLst/>
            </a:prstGeom>
          </p:spPr>
        </p:pic>
        <p:sp>
          <p:nvSpPr>
            <p:cNvPr id="2" name="Rectangle 1"/>
            <p:cNvSpPr/>
            <p:nvPr/>
          </p:nvSpPr>
          <p:spPr>
            <a:xfrm>
              <a:off x="4366533" y="2864903"/>
              <a:ext cx="1411797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dirty="0"/>
                <a:t>Manos</a:t>
              </a:r>
            </a:p>
            <a:p>
              <a:pPr algn="ctr"/>
              <a:r>
                <a:rPr lang="en-GB" dirty="0"/>
                <a:t> Manousakas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637336" y="3791688"/>
            <a:ext cx="9484622" cy="2088916"/>
            <a:chOff x="1875461" y="3713006"/>
            <a:chExt cx="9484622" cy="2088916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CA487E5F-0D33-8195-637F-60CD7E39B314}"/>
                </a:ext>
              </a:extLst>
            </p:cNvPr>
            <p:cNvGrpSpPr/>
            <p:nvPr/>
          </p:nvGrpSpPr>
          <p:grpSpPr>
            <a:xfrm>
              <a:off x="1875461" y="3713006"/>
              <a:ext cx="1464424" cy="2088916"/>
              <a:chOff x="2442425" y="3954428"/>
              <a:chExt cx="1464424" cy="2088916"/>
            </a:xfrm>
          </p:grpSpPr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B124261A-AC36-01FB-51DB-44C29E95254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001"/>
              <a:stretch/>
            </p:blipFill>
            <p:spPr>
              <a:xfrm flipH="1">
                <a:off x="2456015" y="3954428"/>
                <a:ext cx="1450834" cy="1450754"/>
              </a:xfrm>
              <a:prstGeom prst="rect">
                <a:avLst/>
              </a:prstGeom>
            </p:spPr>
          </p:pic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7185F30-CA46-953F-CDDC-FC740E77781B}"/>
                  </a:ext>
                </a:extLst>
              </p:cNvPr>
              <p:cNvSpPr txBox="1"/>
              <p:nvPr/>
            </p:nvSpPr>
            <p:spPr>
              <a:xfrm>
                <a:off x="2442425" y="5397013"/>
                <a:ext cx="138349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/>
                  <a:t>Kostas Granakis</a:t>
                </a:r>
              </a:p>
            </p:txBody>
          </p:sp>
        </p:grpSp>
        <p:pic>
          <p:nvPicPr>
            <p:cNvPr id="37" name="Picture 36"/>
            <p:cNvPicPr>
              <a:picLocks noChangeAspect="1"/>
            </p:cNvPicPr>
            <p:nvPr/>
          </p:nvPicPr>
          <p:blipFill rotWithShape="1"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927" t="14767" r="21306" b="24874"/>
            <a:stretch/>
          </p:blipFill>
          <p:spPr>
            <a:xfrm>
              <a:off x="4583061" y="3742211"/>
              <a:ext cx="1290077" cy="1407053"/>
            </a:xfrm>
            <a:prstGeom prst="rect">
              <a:avLst/>
            </a:prstGeom>
          </p:spPr>
        </p:pic>
        <p:pic>
          <p:nvPicPr>
            <p:cNvPr id="38" name="Picture 37"/>
            <p:cNvPicPr>
              <a:picLocks noChangeAspect="1"/>
            </p:cNvPicPr>
            <p:nvPr/>
          </p:nvPicPr>
          <p:blipFill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867" t="19172" r="25826" b="22355"/>
            <a:stretch/>
          </p:blipFill>
          <p:spPr>
            <a:xfrm>
              <a:off x="8609141" y="3747128"/>
              <a:ext cx="1208630" cy="1404836"/>
            </a:xfrm>
            <a:prstGeom prst="rect">
              <a:avLst/>
            </a:prstGeom>
          </p:spPr>
        </p:pic>
        <p:pic>
          <p:nvPicPr>
            <p:cNvPr id="39" name="Picture 38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9325" y="3722550"/>
              <a:ext cx="1122357" cy="1441210"/>
            </a:xfrm>
            <a:prstGeom prst="rect">
              <a:avLst/>
            </a:prstGeom>
          </p:spPr>
        </p:pic>
        <p:pic>
          <p:nvPicPr>
            <p:cNvPr id="40" name="Picture 39"/>
            <p:cNvPicPr>
              <a:picLocks noChangeAspect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399" t="15999" r="30646" b="37342"/>
            <a:stretch/>
          </p:blipFill>
          <p:spPr>
            <a:xfrm>
              <a:off x="5947795" y="3751797"/>
              <a:ext cx="1229035" cy="1400167"/>
            </a:xfrm>
            <a:prstGeom prst="rect">
              <a:avLst/>
            </a:prstGeom>
          </p:spPr>
        </p:pic>
        <p:pic>
          <p:nvPicPr>
            <p:cNvPr id="41" name="Picture 40"/>
            <p:cNvPicPr>
              <a:picLocks noChangeAspect="1"/>
            </p:cNvPicPr>
            <p:nvPr/>
          </p:nvPicPr>
          <p:blipFill rotWithShape="1"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064" t="11899" r="25125" b="22581"/>
            <a:stretch/>
          </p:blipFill>
          <p:spPr>
            <a:xfrm>
              <a:off x="7247562" y="3750238"/>
              <a:ext cx="1273710" cy="1406004"/>
            </a:xfrm>
            <a:prstGeom prst="rect">
              <a:avLst/>
            </a:prstGeom>
          </p:spPr>
        </p:pic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C46BBB0-E63E-4FD6-1938-2CE8B37A8736}"/>
                </a:ext>
              </a:extLst>
            </p:cNvPr>
            <p:cNvGrpSpPr/>
            <p:nvPr/>
          </p:nvGrpSpPr>
          <p:grpSpPr>
            <a:xfrm>
              <a:off x="9759077" y="3775870"/>
              <a:ext cx="1601006" cy="1978443"/>
              <a:chOff x="10636381" y="4028719"/>
              <a:chExt cx="1777178" cy="2048061"/>
            </a:xfrm>
          </p:grpSpPr>
          <p:pic>
            <p:nvPicPr>
              <p:cNvPr id="43" name="Picture 42">
                <a:extLst>
                  <a:ext uri="{FF2B5EF4-FFF2-40B4-BE49-F238E27FC236}">
                    <a16:creationId xmlns:a16="http://schemas.microsoft.com/office/drawing/2014/main" id="{38370B2C-C50F-599D-480D-7C6419C2F09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917" t="24937"/>
              <a:stretch/>
            </p:blipFill>
            <p:spPr>
              <a:xfrm>
                <a:off x="10795220" y="4028719"/>
                <a:ext cx="1404000" cy="1404000"/>
              </a:xfrm>
              <a:prstGeom prst="rect">
                <a:avLst/>
              </a:prstGeom>
            </p:spPr>
          </p:pic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8CAEC303-C309-8620-3D4B-941AD96B23DE}"/>
                  </a:ext>
                </a:extLst>
              </p:cNvPr>
              <p:cNvSpPr txBox="1"/>
              <p:nvPr/>
            </p:nvSpPr>
            <p:spPr>
              <a:xfrm>
                <a:off x="10636381" y="5407706"/>
                <a:ext cx="1777178" cy="6690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dirty="0" err="1"/>
                  <a:t>Panos</a:t>
                </a:r>
                <a:endParaRPr lang="en-GB" dirty="0"/>
              </a:p>
              <a:p>
                <a:pPr algn="ctr"/>
                <a:r>
                  <a:rPr lang="en-GB" dirty="0" err="1"/>
                  <a:t>Karkavitsas</a:t>
                </a:r>
                <a:endParaRPr lang="en-GB" dirty="0"/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7185F30-CA46-953F-CDDC-FC740E77781B}"/>
                </a:ext>
              </a:extLst>
            </p:cNvPr>
            <p:cNvSpPr txBox="1"/>
            <p:nvPr/>
          </p:nvSpPr>
          <p:spPr>
            <a:xfrm>
              <a:off x="4486809" y="5097961"/>
              <a:ext cx="13834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Lina Katsikari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7185F30-CA46-953F-CDDC-FC740E77781B}"/>
                </a:ext>
              </a:extLst>
            </p:cNvPr>
            <p:cNvSpPr txBox="1"/>
            <p:nvPr/>
          </p:nvSpPr>
          <p:spPr>
            <a:xfrm>
              <a:off x="5878665" y="5097961"/>
              <a:ext cx="13834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Stella Diakoulaki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185F30-CA46-953F-CDDC-FC740E77781B}"/>
                </a:ext>
              </a:extLst>
            </p:cNvPr>
            <p:cNvSpPr txBox="1"/>
            <p:nvPr/>
          </p:nvSpPr>
          <p:spPr>
            <a:xfrm>
              <a:off x="3191205" y="5107982"/>
              <a:ext cx="13834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 err="1"/>
                <a:t>Angelos</a:t>
              </a:r>
              <a:r>
                <a:rPr lang="en-GB" dirty="0"/>
                <a:t> </a:t>
              </a:r>
              <a:r>
                <a:rPr lang="en-GB" dirty="0" err="1"/>
                <a:t>Laoutaros</a:t>
              </a:r>
              <a:endParaRPr lang="en-GB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67185F30-CA46-953F-CDDC-FC740E77781B}"/>
                </a:ext>
              </a:extLst>
            </p:cNvPr>
            <p:cNvSpPr txBox="1"/>
            <p:nvPr/>
          </p:nvSpPr>
          <p:spPr>
            <a:xfrm>
              <a:off x="7208921" y="5135246"/>
              <a:ext cx="13834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Electra</a:t>
              </a:r>
            </a:p>
            <a:p>
              <a:pPr algn="ctr"/>
              <a:r>
                <a:rPr lang="en-GB" dirty="0"/>
                <a:t>Lemi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8CAEC303-C309-8620-3D4B-941AD96B23DE}"/>
                </a:ext>
              </a:extLst>
            </p:cNvPr>
            <p:cNvSpPr txBox="1"/>
            <p:nvPr/>
          </p:nvSpPr>
          <p:spPr>
            <a:xfrm>
              <a:off x="8527668" y="5132146"/>
              <a:ext cx="127900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Robert</a:t>
              </a:r>
            </a:p>
            <a:p>
              <a:pPr algn="ctr"/>
              <a:r>
                <a:rPr lang="en-GB" dirty="0"/>
                <a:t>Sultana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60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926</Words>
  <Application>Microsoft Office PowerPoint</Application>
  <PresentationFormat>Widescreen</PresentationFormat>
  <Paragraphs>130</Paragraphs>
  <Slides>21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Calibri</vt:lpstr>
      <vt:lpstr>Calibri Light</vt:lpstr>
      <vt:lpstr>Courier New</vt:lpstr>
      <vt:lpstr>Tahoma</vt:lpstr>
      <vt:lpstr>Wingdings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LD</dc:creator>
  <cp:lastModifiedBy>Lila Diapouli</cp:lastModifiedBy>
  <cp:revision>99</cp:revision>
  <dcterms:created xsi:type="dcterms:W3CDTF">2026-09-03T12:36:28Z</dcterms:created>
  <dcterms:modified xsi:type="dcterms:W3CDTF">2026-09-07T08:34:54Z</dcterms:modified>
</cp:coreProperties>
</file>