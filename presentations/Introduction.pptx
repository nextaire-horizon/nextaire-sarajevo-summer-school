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9"/>
  </p:notesMasterIdLst>
  <p:sldIdLst>
    <p:sldId id="259" r:id="rId2"/>
    <p:sldId id="263" r:id="rId3"/>
    <p:sldId id="260" r:id="rId4"/>
    <p:sldId id="276" r:id="rId5"/>
    <p:sldId id="277" r:id="rId6"/>
    <p:sldId id="264" r:id="rId7"/>
    <p:sldId id="278" r:id="rId8"/>
  </p:sldIdLst>
  <p:sldSz cx="9144000" cy="5143500" type="screen16x9"/>
  <p:notesSz cx="6858000" cy="9144000"/>
  <p:embeddedFontLst>
    <p:embeddedFont>
      <p:font typeface="Nunito Light" pitchFamily="2" charset="0"/>
      <p:regular r:id="rId10"/>
      <p:italic r:id="rId11"/>
    </p:embeddedFont>
    <p:embeddedFont>
      <p:font typeface="Poppins" panose="00000500000000000000" pitchFamily="2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6A5466A-FCA4-4E0D-AAEF-6A94E76A26A5}">
  <a:tblStyle styleId="{56A5466A-FCA4-4E0D-AAEF-6A94E76A26A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7964F15-9A50-4568-BF6B-E85C49A40EA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74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54dda1946d_4_27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54dda1946d_4_27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1910c9cffe2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1910c9cffe2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2125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1910c9cffe2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1910c9cffe2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7776150" y="0"/>
            <a:ext cx="1368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8" name="Google Shape;28;p5"/>
          <p:cNvCxnSpPr/>
          <p:nvPr/>
        </p:nvCxnSpPr>
        <p:spPr>
          <a:xfrm>
            <a:off x="255619" y="-35700"/>
            <a:ext cx="0" cy="52149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6166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1"/>
          </p:nvPr>
        </p:nvSpPr>
        <p:spPr>
          <a:xfrm>
            <a:off x="3873881" y="2193146"/>
            <a:ext cx="3000900" cy="17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2"/>
          </p:nvPr>
        </p:nvSpPr>
        <p:spPr>
          <a:xfrm>
            <a:off x="720000" y="2193152"/>
            <a:ext cx="3000900" cy="17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3"/>
          </p:nvPr>
        </p:nvSpPr>
        <p:spPr>
          <a:xfrm>
            <a:off x="720000" y="1340875"/>
            <a:ext cx="3000900" cy="83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ubTitle" idx="4"/>
          </p:nvPr>
        </p:nvSpPr>
        <p:spPr>
          <a:xfrm>
            <a:off x="3873881" y="1340875"/>
            <a:ext cx="3000900" cy="83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grpSp>
        <p:nvGrpSpPr>
          <p:cNvPr id="34" name="Google Shape;34;p5"/>
          <p:cNvGrpSpPr/>
          <p:nvPr/>
        </p:nvGrpSpPr>
        <p:grpSpPr>
          <a:xfrm flipH="1">
            <a:off x="-18775" y="4604000"/>
            <a:ext cx="7429500" cy="0"/>
            <a:chOff x="2220050" y="1547100"/>
            <a:chExt cx="7429500" cy="0"/>
          </a:xfrm>
        </p:grpSpPr>
        <p:cxnSp>
          <p:nvCxnSpPr>
            <p:cNvPr id="35" name="Google Shape;35;p5"/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w="1143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" name="Google Shape;36;p5"/>
            <p:cNvCxnSpPr/>
            <p:nvPr/>
          </p:nvCxnSpPr>
          <p:spPr>
            <a:xfrm>
              <a:off x="2684450" y="1547100"/>
              <a:ext cx="6965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/>
          <p:nvPr/>
        </p:nvSpPr>
        <p:spPr>
          <a:xfrm>
            <a:off x="8430775" y="0"/>
            <a:ext cx="7134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0" name="Google Shape;40;p6"/>
          <p:cNvCxnSpPr/>
          <p:nvPr/>
        </p:nvCxnSpPr>
        <p:spPr>
          <a:xfrm>
            <a:off x="351825" y="-35700"/>
            <a:ext cx="0" cy="52149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1" name="Google Shape;41;p6"/>
          <p:cNvGrpSpPr/>
          <p:nvPr/>
        </p:nvGrpSpPr>
        <p:grpSpPr>
          <a:xfrm flipH="1">
            <a:off x="-84700" y="4901150"/>
            <a:ext cx="7055100" cy="0"/>
            <a:chOff x="2220050" y="1547100"/>
            <a:chExt cx="7055100" cy="0"/>
          </a:xfrm>
        </p:grpSpPr>
        <p:cxnSp>
          <p:nvCxnSpPr>
            <p:cNvPr id="42" name="Google Shape;42;p6"/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w="1143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" name="Google Shape;43;p6"/>
            <p:cNvCxnSpPr/>
            <p:nvPr/>
          </p:nvCxnSpPr>
          <p:spPr>
            <a:xfrm>
              <a:off x="2684450" y="1547100"/>
              <a:ext cx="6590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/>
          <p:nvPr/>
        </p:nvSpPr>
        <p:spPr>
          <a:xfrm>
            <a:off x="6501975" y="0"/>
            <a:ext cx="26421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6" name="Google Shape;46;p7"/>
          <p:cNvCxnSpPr/>
          <p:nvPr/>
        </p:nvCxnSpPr>
        <p:spPr>
          <a:xfrm>
            <a:off x="123225" y="-35700"/>
            <a:ext cx="0" cy="52149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" name="Google Shape;47;p7"/>
          <p:cNvSpPr txBox="1">
            <a:spLocks noGrp="1"/>
          </p:cNvSpPr>
          <p:nvPr>
            <p:ph type="subTitle" idx="1"/>
          </p:nvPr>
        </p:nvSpPr>
        <p:spPr>
          <a:xfrm>
            <a:off x="720000" y="1413363"/>
            <a:ext cx="5321400" cy="267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5321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 flipH="1">
            <a:off x="-93775" y="4604000"/>
            <a:ext cx="4197300" cy="0"/>
            <a:chOff x="2220050" y="1547100"/>
            <a:chExt cx="4197300" cy="0"/>
          </a:xfrm>
        </p:grpSpPr>
        <p:cxnSp>
          <p:nvCxnSpPr>
            <p:cNvPr id="50" name="Google Shape;50;p7"/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w="1143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" name="Google Shape;51;p7"/>
            <p:cNvCxnSpPr/>
            <p:nvPr/>
          </p:nvCxnSpPr>
          <p:spPr>
            <a:xfrm>
              <a:off x="2684450" y="1547100"/>
              <a:ext cx="3732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>
            <a:spLocks noGrp="1"/>
          </p:cNvSpPr>
          <p:nvPr>
            <p:ph type="title"/>
          </p:nvPr>
        </p:nvSpPr>
        <p:spPr>
          <a:xfrm>
            <a:off x="3454075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4" name="Google Shape;54;p8"/>
          <p:cNvSpPr/>
          <p:nvPr/>
        </p:nvSpPr>
        <p:spPr>
          <a:xfrm>
            <a:off x="0" y="0"/>
            <a:ext cx="26607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5" name="Google Shape;55;p8"/>
          <p:cNvCxnSpPr/>
          <p:nvPr/>
        </p:nvCxnSpPr>
        <p:spPr>
          <a:xfrm>
            <a:off x="8430775" y="-35700"/>
            <a:ext cx="0" cy="52149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6" name="Google Shape;56;p8"/>
          <p:cNvGrpSpPr/>
          <p:nvPr/>
        </p:nvGrpSpPr>
        <p:grpSpPr>
          <a:xfrm>
            <a:off x="3230850" y="4760600"/>
            <a:ext cx="6025500" cy="0"/>
            <a:chOff x="2220050" y="1547100"/>
            <a:chExt cx="6025500" cy="0"/>
          </a:xfrm>
        </p:grpSpPr>
        <p:cxnSp>
          <p:nvCxnSpPr>
            <p:cNvPr id="57" name="Google Shape;57;p8"/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w="1143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8"/>
            <p:cNvCxnSpPr/>
            <p:nvPr/>
          </p:nvCxnSpPr>
          <p:spPr>
            <a:xfrm>
              <a:off x="2684450" y="1547100"/>
              <a:ext cx="5561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5555725" y="0"/>
            <a:ext cx="3588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title"/>
          </p:nvPr>
        </p:nvSpPr>
        <p:spPr>
          <a:xfrm>
            <a:off x="713225" y="1254000"/>
            <a:ext cx="41586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subTitle" idx="1"/>
          </p:nvPr>
        </p:nvSpPr>
        <p:spPr>
          <a:xfrm>
            <a:off x="713225" y="3218400"/>
            <a:ext cx="41586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cxnSp>
        <p:nvCxnSpPr>
          <p:cNvPr id="63" name="Google Shape;63;p9"/>
          <p:cNvCxnSpPr/>
          <p:nvPr/>
        </p:nvCxnSpPr>
        <p:spPr>
          <a:xfrm>
            <a:off x="517944" y="-35700"/>
            <a:ext cx="0" cy="52149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4" name="Google Shape;64;p9"/>
          <p:cNvGrpSpPr/>
          <p:nvPr/>
        </p:nvGrpSpPr>
        <p:grpSpPr>
          <a:xfrm flipH="1">
            <a:off x="-93775" y="4604000"/>
            <a:ext cx="4197300" cy="0"/>
            <a:chOff x="2220050" y="1547100"/>
            <a:chExt cx="4197300" cy="0"/>
          </a:xfrm>
        </p:grpSpPr>
        <p:cxnSp>
          <p:nvCxnSpPr>
            <p:cNvPr id="65" name="Google Shape;65;p9"/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w="1143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9"/>
            <p:cNvCxnSpPr/>
            <p:nvPr/>
          </p:nvCxnSpPr>
          <p:spPr>
            <a:xfrm>
              <a:off x="2684450" y="1547100"/>
              <a:ext cx="3732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0_1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 txBox="1">
            <a:spLocks noGrp="1"/>
          </p:cNvSpPr>
          <p:nvPr>
            <p:ph type="title"/>
          </p:nvPr>
        </p:nvSpPr>
        <p:spPr>
          <a:xfrm>
            <a:off x="713250" y="445025"/>
            <a:ext cx="4635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7"/>
          <p:cNvSpPr txBox="1">
            <a:spLocks noGrp="1"/>
          </p:cNvSpPr>
          <p:nvPr>
            <p:ph type="body" idx="1"/>
          </p:nvPr>
        </p:nvSpPr>
        <p:spPr>
          <a:xfrm>
            <a:off x="713250" y="1257575"/>
            <a:ext cx="7717500" cy="275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20" name="Google Shape;120;p17"/>
          <p:cNvSpPr/>
          <p:nvPr/>
        </p:nvSpPr>
        <p:spPr>
          <a:xfrm>
            <a:off x="0" y="0"/>
            <a:ext cx="5904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1" name="Google Shape;121;p17"/>
          <p:cNvCxnSpPr/>
          <p:nvPr/>
        </p:nvCxnSpPr>
        <p:spPr>
          <a:xfrm>
            <a:off x="8735575" y="-35700"/>
            <a:ext cx="0" cy="52149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2" name="Google Shape;122;p17"/>
          <p:cNvGrpSpPr/>
          <p:nvPr/>
        </p:nvGrpSpPr>
        <p:grpSpPr>
          <a:xfrm>
            <a:off x="3886675" y="4976075"/>
            <a:ext cx="5341800" cy="0"/>
            <a:chOff x="2220050" y="1547100"/>
            <a:chExt cx="5341800" cy="0"/>
          </a:xfrm>
        </p:grpSpPr>
        <p:cxnSp>
          <p:nvCxnSpPr>
            <p:cNvPr id="123" name="Google Shape;123;p17"/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w="1143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4" name="Google Shape;124;p17"/>
            <p:cNvCxnSpPr/>
            <p:nvPr/>
          </p:nvCxnSpPr>
          <p:spPr>
            <a:xfrm>
              <a:off x="2684450" y="1547100"/>
              <a:ext cx="4877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0" y="0"/>
            <a:ext cx="1686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5" name="Google Shape;135;p19"/>
          <p:cNvCxnSpPr/>
          <p:nvPr/>
        </p:nvCxnSpPr>
        <p:spPr>
          <a:xfrm>
            <a:off x="8909350" y="-35700"/>
            <a:ext cx="0" cy="52149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6" name="Google Shape;136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19"/>
          <p:cNvSpPr txBox="1">
            <a:spLocks noGrp="1"/>
          </p:cNvSpPr>
          <p:nvPr>
            <p:ph type="subTitle" idx="1"/>
          </p:nvPr>
        </p:nvSpPr>
        <p:spPr>
          <a:xfrm>
            <a:off x="720000" y="2275025"/>
            <a:ext cx="2531100" cy="12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19"/>
          <p:cNvSpPr txBox="1">
            <a:spLocks noGrp="1"/>
          </p:cNvSpPr>
          <p:nvPr>
            <p:ph type="subTitle" idx="2"/>
          </p:nvPr>
        </p:nvSpPr>
        <p:spPr>
          <a:xfrm>
            <a:off x="3306477" y="2275025"/>
            <a:ext cx="2531100" cy="12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9"/>
          <p:cNvSpPr txBox="1">
            <a:spLocks noGrp="1"/>
          </p:cNvSpPr>
          <p:nvPr>
            <p:ph type="subTitle" idx="3"/>
          </p:nvPr>
        </p:nvSpPr>
        <p:spPr>
          <a:xfrm>
            <a:off x="5892953" y="2275026"/>
            <a:ext cx="2531100" cy="12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4"/>
          </p:nvPr>
        </p:nvSpPr>
        <p:spPr>
          <a:xfrm>
            <a:off x="720000" y="1450250"/>
            <a:ext cx="2531100" cy="80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subTitle" idx="5"/>
          </p:nvPr>
        </p:nvSpPr>
        <p:spPr>
          <a:xfrm>
            <a:off x="3306484" y="1450250"/>
            <a:ext cx="2531100" cy="80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2" name="Google Shape;142;p19"/>
          <p:cNvSpPr txBox="1">
            <a:spLocks noGrp="1"/>
          </p:cNvSpPr>
          <p:nvPr>
            <p:ph type="subTitle" idx="6"/>
          </p:nvPr>
        </p:nvSpPr>
        <p:spPr>
          <a:xfrm>
            <a:off x="5892959" y="1450250"/>
            <a:ext cx="2531100" cy="80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3"/>
          <p:cNvSpPr/>
          <p:nvPr/>
        </p:nvSpPr>
        <p:spPr>
          <a:xfrm>
            <a:off x="6501975" y="0"/>
            <a:ext cx="26421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85" name="Google Shape;185;p23"/>
          <p:cNvCxnSpPr/>
          <p:nvPr/>
        </p:nvCxnSpPr>
        <p:spPr>
          <a:xfrm>
            <a:off x="479225" y="-35700"/>
            <a:ext cx="0" cy="52149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86" name="Google Shape;186;p23"/>
          <p:cNvGrpSpPr/>
          <p:nvPr/>
        </p:nvGrpSpPr>
        <p:grpSpPr>
          <a:xfrm flipH="1">
            <a:off x="-131100" y="313050"/>
            <a:ext cx="6464400" cy="0"/>
            <a:chOff x="2220050" y="1547100"/>
            <a:chExt cx="6464400" cy="0"/>
          </a:xfrm>
        </p:grpSpPr>
        <p:cxnSp>
          <p:nvCxnSpPr>
            <p:cNvPr id="187" name="Google Shape;187;p23"/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w="1143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23"/>
            <p:cNvCxnSpPr/>
            <p:nvPr/>
          </p:nvCxnSpPr>
          <p:spPr>
            <a:xfrm>
              <a:off x="2684450" y="1547100"/>
              <a:ext cx="6000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4"/>
          <p:cNvSpPr/>
          <p:nvPr/>
        </p:nvSpPr>
        <p:spPr>
          <a:xfrm flipH="1">
            <a:off x="-18775" y="-35700"/>
            <a:ext cx="1368000" cy="5179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91" name="Google Shape;191;p24"/>
          <p:cNvCxnSpPr/>
          <p:nvPr/>
        </p:nvCxnSpPr>
        <p:spPr>
          <a:xfrm>
            <a:off x="8430781" y="-35700"/>
            <a:ext cx="0" cy="52149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92" name="Google Shape;192;p24"/>
          <p:cNvGrpSpPr/>
          <p:nvPr/>
        </p:nvGrpSpPr>
        <p:grpSpPr>
          <a:xfrm>
            <a:off x="1798975" y="266225"/>
            <a:ext cx="7429500" cy="0"/>
            <a:chOff x="2220050" y="1547100"/>
            <a:chExt cx="7429500" cy="0"/>
          </a:xfrm>
        </p:grpSpPr>
        <p:cxnSp>
          <p:nvCxnSpPr>
            <p:cNvPr id="193" name="Google Shape;193;p24"/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w="1143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4" name="Google Shape;194;p24"/>
            <p:cNvCxnSpPr/>
            <p:nvPr/>
          </p:nvCxnSpPr>
          <p:spPr>
            <a:xfrm>
              <a:off x="2684450" y="1547100"/>
              <a:ext cx="6965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0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8" r:id="rId6"/>
    <p:sldLayoutId id="2147483663" r:id="rId7"/>
    <p:sldLayoutId id="2147483665" r:id="rId8"/>
    <p:sldLayoutId id="2147483669" r:id="rId9"/>
    <p:sldLayoutId id="2147483670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1"/>
          <p:cNvSpPr txBox="1">
            <a:spLocks noGrp="1"/>
          </p:cNvSpPr>
          <p:nvPr>
            <p:ph type="subTitle" idx="1"/>
          </p:nvPr>
        </p:nvSpPr>
        <p:spPr>
          <a:xfrm>
            <a:off x="720000" y="1413375"/>
            <a:ext cx="5212800" cy="267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bs-Latn-BA" sz="1400" b="1" dirty="0"/>
              <a:t>Horizon Europe Project NextAIRE</a:t>
            </a: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bs-Latn-BA" sz="1400" b="1" dirty="0"/>
              <a:t>HORIZON-WIDERA-2024-TALENTS-03-01</a:t>
            </a:r>
          </a:p>
          <a:p>
            <a:pPr>
              <a:spcBef>
                <a:spcPts val="1000"/>
              </a:spcBef>
            </a:pPr>
            <a:r>
              <a:rPr lang="en-GB" sz="1400" b="1" dirty="0" err="1">
                <a:solidFill>
                  <a:schemeClr val="bg2"/>
                </a:solidFill>
              </a:rPr>
              <a:t>NextAIRE</a:t>
            </a:r>
            <a:r>
              <a:rPr lang="en-GB" sz="1400" b="1" dirty="0">
                <a:solidFill>
                  <a:schemeClr val="bg2"/>
                </a:solidFill>
              </a:rPr>
              <a:t> Summer School 2026</a:t>
            </a:r>
            <a:endParaRPr lang="bs-Latn-BA" sz="1400" b="1" dirty="0">
              <a:solidFill>
                <a:schemeClr val="bg2"/>
              </a:solidFill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-GB" sz="1400" b="1" dirty="0"/>
              <a:t>University of Sarajevo – Faculty of Science</a:t>
            </a:r>
            <a:endParaRPr lang="bs-Latn-BA" sz="1400" b="1" dirty="0"/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-GB" sz="1400" b="1" dirty="0"/>
              <a:t>Sarajevo, Bosnia and Herzegovina</a:t>
            </a:r>
            <a:endParaRPr lang="bs-Latn-BA" sz="1400" b="1" dirty="0"/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-GB" sz="1400" b="1" dirty="0"/>
              <a:t>Hosted by the Department of Chemistry</a:t>
            </a:r>
            <a:endParaRPr sz="1400" dirty="0"/>
          </a:p>
        </p:txBody>
      </p:sp>
      <p:pic>
        <p:nvPicPr>
          <p:cNvPr id="4" name="Picture 3" descr="A logo with a leaf in the center&#10;&#10;AI-generated content may be incorrect.">
            <a:extLst>
              <a:ext uri="{FF2B5EF4-FFF2-40B4-BE49-F238E27FC236}">
                <a16:creationId xmlns:a16="http://schemas.microsoft.com/office/drawing/2014/main" id="{209E071C-BED7-4811-99B4-27DD1B1EB52A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0720" y="1724660"/>
            <a:ext cx="1747823" cy="14181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6166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s-Latn-BA" dirty="0"/>
              <a:t>Bosnia and Herzegovina</a:t>
            </a:r>
            <a:endParaRPr dirty="0"/>
          </a:p>
        </p:txBody>
      </p:sp>
      <p:sp>
        <p:nvSpPr>
          <p:cNvPr id="299" name="Google Shape;299;p35"/>
          <p:cNvSpPr txBox="1">
            <a:spLocks noGrp="1"/>
          </p:cNvSpPr>
          <p:nvPr>
            <p:ph type="subTitle" idx="2"/>
          </p:nvPr>
        </p:nvSpPr>
        <p:spPr>
          <a:xfrm>
            <a:off x="802199" y="1017725"/>
            <a:ext cx="3437907" cy="17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bs-Latn-BA" sz="1400" dirty="0"/>
              <a:t>S</a:t>
            </a:r>
            <a:r>
              <a:rPr lang="en-GB" sz="1400" dirty="0" err="1"/>
              <a:t>outh</a:t>
            </a:r>
            <a:r>
              <a:rPr lang="bs-Latn-BA" sz="1400" dirty="0"/>
              <a:t>east</a:t>
            </a:r>
            <a:r>
              <a:rPr lang="en-GB" sz="1400" dirty="0"/>
              <a:t> European country</a:t>
            </a:r>
            <a:r>
              <a:rPr lang="bs-Latn-BA" sz="1400" dirty="0"/>
              <a:t> </a:t>
            </a:r>
            <a:r>
              <a:rPr lang="en-GB" sz="1400" dirty="0"/>
              <a:t>situated in the western part of the Balkan Peninsula</a:t>
            </a:r>
            <a:endParaRPr lang="bs-Latn-BA" sz="1400" dirty="0"/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bs-Latn-BA" sz="1400" dirty="0"/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400" dirty="0"/>
              <a:t>Capital: Sarajevo</a:t>
            </a:r>
            <a:endParaRPr lang="bs-Latn-BA" sz="1400" dirty="0"/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bs-Latn-BA" sz="1400" dirty="0"/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400" dirty="0"/>
              <a:t>51,209.2 km²</a:t>
            </a:r>
            <a:endParaRPr lang="bs-Latn-BA" sz="1400" dirty="0"/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bs-Latn-BA" sz="1400" dirty="0"/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400" dirty="0"/>
              <a:t>Diverse landscapes dominated by the Dinaric Alps</a:t>
            </a:r>
            <a:endParaRPr lang="bs-Latn-BA" sz="1400" dirty="0"/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bs-Latn-BA" sz="1400" dirty="0"/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400" dirty="0"/>
              <a:t>Continental, mountain and Mediterranean climatic influences</a:t>
            </a:r>
            <a:endParaRPr lang="bs-Latn-BA" sz="1400"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</a:pPr>
            <a:endParaRPr lang="bs-Latn-BA" sz="1400" dirty="0"/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400" dirty="0"/>
              <a:t>Rich natural and cultural diversity</a:t>
            </a:r>
            <a:endParaRPr sz="1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173951-2D1F-4A94-8A7F-19C76D46F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659" y="1124372"/>
            <a:ext cx="2850619" cy="277960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2"/>
          <p:cNvSpPr txBox="1">
            <a:spLocks noGrp="1"/>
          </p:cNvSpPr>
          <p:nvPr>
            <p:ph type="title"/>
          </p:nvPr>
        </p:nvSpPr>
        <p:spPr>
          <a:xfrm>
            <a:off x="358987" y="39083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Sarajevo: A City Shaped by Geography</a:t>
            </a:r>
            <a:endParaRPr dirty="0"/>
          </a:p>
        </p:txBody>
      </p:sp>
      <p:sp>
        <p:nvSpPr>
          <p:cNvPr id="249" name="Google Shape;249;p32"/>
          <p:cNvSpPr txBox="1">
            <a:spLocks noGrp="1"/>
          </p:cNvSpPr>
          <p:nvPr>
            <p:ph type="subTitle" idx="1"/>
          </p:nvPr>
        </p:nvSpPr>
        <p:spPr>
          <a:xfrm>
            <a:off x="358987" y="1096465"/>
            <a:ext cx="3779519" cy="12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400" dirty="0"/>
              <a:t>Capital of B</a:t>
            </a:r>
            <a:r>
              <a:rPr lang="bs-Latn-BA" sz="1400" dirty="0"/>
              <a:t>osnia and Herzegovina</a:t>
            </a: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bs-Latn-BA" sz="1400" dirty="0"/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400" dirty="0"/>
              <a:t>Located in the Sarajevo Valley</a:t>
            </a:r>
            <a:endParaRPr lang="bs-Latn-BA" sz="1400" dirty="0"/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bs-Latn-BA" sz="1400" dirty="0"/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400" dirty="0"/>
              <a:t>Surrounded by the Dinaric Mountains</a:t>
            </a:r>
            <a:endParaRPr lang="bs-Latn-BA" sz="1400" dirty="0"/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bs-Latn-BA" sz="1400" dirty="0"/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400" dirty="0"/>
              <a:t>A meeting point of cultures and traditions</a:t>
            </a:r>
            <a:endParaRPr lang="bs-Latn-BA" sz="1400"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</a:pPr>
            <a:endParaRPr lang="bs-Latn-BA" sz="1400" dirty="0"/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400" dirty="0"/>
              <a:t>Geography strongly influences local air quality</a:t>
            </a:r>
            <a:endParaRPr lang="bs-Latn-BA" sz="1400" dirty="0"/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bs-Latn-BA" sz="1400" dirty="0"/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bs-Latn-BA" sz="1400" dirty="0"/>
              <a:t>Population (2013 Census)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</a:pPr>
            <a:endParaRPr lang="bs-Latn-BA" sz="1400" dirty="0"/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bs-Latn-BA" sz="1400" dirty="0"/>
              <a:t>City of Sarajevo: 275,524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bs-Latn-BA" sz="1400" dirty="0"/>
              <a:t>Sarajevo Canton: 413,593</a:t>
            </a:r>
            <a:endParaRPr dirty="0"/>
          </a:p>
        </p:txBody>
      </p:sp>
      <p:pic>
        <p:nvPicPr>
          <p:cNvPr id="2050" name="Picture 2" descr="Sarajevo panorama (central-east) | Digital memories (by Alan Catovic) |  Flickr">
            <a:extLst>
              <a:ext uri="{FF2B5EF4-FFF2-40B4-BE49-F238E27FC236}">
                <a16:creationId xmlns:a16="http://schemas.microsoft.com/office/drawing/2014/main" id="{0F174C51-D920-453C-8711-1D19E8E573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399" y="1157457"/>
            <a:ext cx="4569479" cy="1651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inter Pine Forest. Cable Car in Sarajevo. Stock Image - Image of  herzegovina, panorama: 177183949">
            <a:extLst>
              <a:ext uri="{FF2B5EF4-FFF2-40B4-BE49-F238E27FC236}">
                <a16:creationId xmlns:a16="http://schemas.microsoft.com/office/drawing/2014/main" id="{D338C836-0D1E-4FF4-B9AE-B1DD4FA4FE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399" y="2877239"/>
            <a:ext cx="2433339" cy="2136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Geen fotobeschrijving beschikbaar.">
            <a:extLst>
              <a:ext uri="{FF2B5EF4-FFF2-40B4-BE49-F238E27FC236}">
                <a16:creationId xmlns:a16="http://schemas.microsoft.com/office/drawing/2014/main" id="{AB0C5151-28DC-44AF-93B3-8C175550C9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9" t="701" b="2589"/>
          <a:stretch/>
        </p:blipFill>
        <p:spPr bwMode="auto">
          <a:xfrm>
            <a:off x="6570131" y="2877239"/>
            <a:ext cx="2079415" cy="2136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More than 65 Years of Science</a:t>
            </a:r>
            <a:endParaRPr dirty="0"/>
          </a:p>
        </p:txBody>
      </p:sp>
      <p:sp>
        <p:nvSpPr>
          <p:cNvPr id="415" name="Google Shape;415;p45"/>
          <p:cNvSpPr/>
          <p:nvPr/>
        </p:nvSpPr>
        <p:spPr>
          <a:xfrm>
            <a:off x="863464" y="1371315"/>
            <a:ext cx="464400" cy="114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45"/>
          <p:cNvSpPr txBox="1"/>
          <p:nvPr/>
        </p:nvSpPr>
        <p:spPr>
          <a:xfrm flipH="1">
            <a:off x="191579" y="1888574"/>
            <a:ext cx="1812300" cy="4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1888</a:t>
            </a:r>
            <a:endParaRPr sz="20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7" name="Google Shape;417;p45"/>
          <p:cNvSpPr txBox="1"/>
          <p:nvPr/>
        </p:nvSpPr>
        <p:spPr>
          <a:xfrm flipH="1">
            <a:off x="234816" y="2231183"/>
            <a:ext cx="1812300" cy="5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Beginnings of modern natural sciences in BiH</a:t>
            </a: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8" name="Google Shape;418;p45"/>
          <p:cNvSpPr txBox="1"/>
          <p:nvPr/>
        </p:nvSpPr>
        <p:spPr>
          <a:xfrm flipH="1">
            <a:off x="1751401" y="1900707"/>
            <a:ext cx="1812300" cy="4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s-Latn-BA" sz="2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1950</a:t>
            </a:r>
            <a:endParaRPr sz="20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9" name="Google Shape;419;p45"/>
          <p:cNvSpPr txBox="1"/>
          <p:nvPr/>
        </p:nvSpPr>
        <p:spPr>
          <a:xfrm flipH="1">
            <a:off x="1777235" y="2164696"/>
            <a:ext cx="1812300" cy="5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Natural and mathematical sciences at the University of Sarajevo</a:t>
            </a:r>
          </a:p>
        </p:txBody>
      </p:sp>
      <p:sp>
        <p:nvSpPr>
          <p:cNvPr id="420" name="Google Shape;420;p45"/>
          <p:cNvSpPr txBox="1"/>
          <p:nvPr/>
        </p:nvSpPr>
        <p:spPr>
          <a:xfrm flipH="1">
            <a:off x="3406128" y="1884471"/>
            <a:ext cx="1812300" cy="4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s-Latn-BA" sz="2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1960</a:t>
            </a:r>
            <a:endParaRPr sz="20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1" name="Google Shape;421;p45"/>
          <p:cNvSpPr txBox="1"/>
          <p:nvPr/>
        </p:nvSpPr>
        <p:spPr>
          <a:xfrm flipH="1">
            <a:off x="3362891" y="2197167"/>
            <a:ext cx="1812300" cy="5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Faculty of Science established as an independent faculty</a:t>
            </a: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2" name="Google Shape;422;p45"/>
          <p:cNvSpPr txBox="1"/>
          <p:nvPr/>
        </p:nvSpPr>
        <p:spPr>
          <a:xfrm flipH="1">
            <a:off x="4994192" y="1900707"/>
            <a:ext cx="1812300" cy="4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s-Latn-BA" sz="2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1962-1964</a:t>
            </a:r>
            <a:endParaRPr sz="20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3" name="Google Shape;423;p45"/>
          <p:cNvSpPr txBox="1"/>
          <p:nvPr/>
        </p:nvSpPr>
        <p:spPr>
          <a:xfrm flipH="1">
            <a:off x="5021659" y="2224947"/>
            <a:ext cx="1812300" cy="5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Institute of Chemistry and Physics constructed</a:t>
            </a: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424" name="Google Shape;424;p45"/>
          <p:cNvCxnSpPr>
            <a:cxnSpLocks/>
          </p:cNvCxnSpPr>
          <p:nvPr/>
        </p:nvCxnSpPr>
        <p:spPr>
          <a:xfrm flipV="1">
            <a:off x="1327864" y="1430351"/>
            <a:ext cx="1169964" cy="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6" name="Google Shape;426;p45"/>
          <p:cNvCxnSpPr>
            <a:stCxn id="425" idx="3"/>
            <a:endCxn id="427" idx="1"/>
          </p:cNvCxnSpPr>
          <p:nvPr/>
        </p:nvCxnSpPr>
        <p:spPr>
          <a:xfrm>
            <a:off x="2907964" y="1422532"/>
            <a:ext cx="1115700" cy="1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8" name="Google Shape;428;p45"/>
          <p:cNvCxnSpPr>
            <a:stCxn id="427" idx="3"/>
            <a:endCxn id="429" idx="1"/>
          </p:cNvCxnSpPr>
          <p:nvPr/>
        </p:nvCxnSpPr>
        <p:spPr>
          <a:xfrm flipV="1">
            <a:off x="4488064" y="1422532"/>
            <a:ext cx="1151836" cy="1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0" name="Google Shape;430;p45"/>
          <p:cNvCxnSpPr>
            <a:cxnSpLocks/>
            <a:stCxn id="415" idx="2"/>
          </p:cNvCxnSpPr>
          <p:nvPr/>
        </p:nvCxnSpPr>
        <p:spPr>
          <a:xfrm>
            <a:off x="1095664" y="1485315"/>
            <a:ext cx="0" cy="47952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2" name="Google Shape;432;p45"/>
          <p:cNvCxnSpPr>
            <a:cxnSpLocks/>
            <a:stCxn id="427" idx="2"/>
          </p:cNvCxnSpPr>
          <p:nvPr/>
        </p:nvCxnSpPr>
        <p:spPr>
          <a:xfrm flipH="1">
            <a:off x="4255863" y="1479664"/>
            <a:ext cx="1" cy="47952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2" name="Google Shape;442;p45"/>
          <p:cNvCxnSpPr>
            <a:cxnSpLocks/>
          </p:cNvCxnSpPr>
          <p:nvPr/>
        </p:nvCxnSpPr>
        <p:spPr>
          <a:xfrm>
            <a:off x="6057392" y="1422532"/>
            <a:ext cx="149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5" name="Google Shape;425;p45"/>
          <p:cNvSpPr/>
          <p:nvPr/>
        </p:nvSpPr>
        <p:spPr>
          <a:xfrm>
            <a:off x="2443564" y="1365532"/>
            <a:ext cx="464400" cy="114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45"/>
          <p:cNvSpPr/>
          <p:nvPr/>
        </p:nvSpPr>
        <p:spPr>
          <a:xfrm>
            <a:off x="4023664" y="1365664"/>
            <a:ext cx="464400" cy="114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45"/>
          <p:cNvSpPr/>
          <p:nvPr/>
        </p:nvSpPr>
        <p:spPr>
          <a:xfrm>
            <a:off x="5639900" y="1365532"/>
            <a:ext cx="464400" cy="114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429;p45">
            <a:extLst>
              <a:ext uri="{FF2B5EF4-FFF2-40B4-BE49-F238E27FC236}">
                <a16:creationId xmlns:a16="http://schemas.microsoft.com/office/drawing/2014/main" id="{630B8001-F3B4-484E-935D-B12BEC851820}"/>
              </a:ext>
            </a:extLst>
          </p:cNvPr>
          <p:cNvSpPr/>
          <p:nvPr/>
        </p:nvSpPr>
        <p:spPr>
          <a:xfrm>
            <a:off x="7351736" y="1373351"/>
            <a:ext cx="464400" cy="114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422;p45">
            <a:extLst>
              <a:ext uri="{FF2B5EF4-FFF2-40B4-BE49-F238E27FC236}">
                <a16:creationId xmlns:a16="http://schemas.microsoft.com/office/drawing/2014/main" id="{71C28567-3988-4DAC-8644-B97AF39B6EBD}"/>
              </a:ext>
            </a:extLst>
          </p:cNvPr>
          <p:cNvSpPr txBox="1"/>
          <p:nvPr/>
        </p:nvSpPr>
        <p:spPr>
          <a:xfrm flipH="1">
            <a:off x="6637895" y="1888812"/>
            <a:ext cx="1812300" cy="4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s-Latn-BA" sz="2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Today</a:t>
            </a:r>
            <a:endParaRPr sz="20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" name="Google Shape;423;p45">
            <a:extLst>
              <a:ext uri="{FF2B5EF4-FFF2-40B4-BE49-F238E27FC236}">
                <a16:creationId xmlns:a16="http://schemas.microsoft.com/office/drawing/2014/main" id="{93034155-3CE9-428C-80E8-911D017850C1}"/>
              </a:ext>
            </a:extLst>
          </p:cNvPr>
          <p:cNvSpPr txBox="1"/>
          <p:nvPr/>
        </p:nvSpPr>
        <p:spPr>
          <a:xfrm flipH="1">
            <a:off x="6722194" y="2205086"/>
            <a:ext cx="1812300" cy="5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s-Latn-BA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departments &amp; multidisciplinary research</a:t>
            </a: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67" name="Google Shape;430;p45">
            <a:extLst>
              <a:ext uri="{FF2B5EF4-FFF2-40B4-BE49-F238E27FC236}">
                <a16:creationId xmlns:a16="http://schemas.microsoft.com/office/drawing/2014/main" id="{617C2074-6455-4323-9402-4D4EC0F66CFD}"/>
              </a:ext>
            </a:extLst>
          </p:cNvPr>
          <p:cNvCxnSpPr>
            <a:cxnSpLocks/>
          </p:cNvCxnSpPr>
          <p:nvPr/>
        </p:nvCxnSpPr>
        <p:spPr>
          <a:xfrm>
            <a:off x="2675764" y="1479532"/>
            <a:ext cx="0" cy="47952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8" name="Google Shape;430;p45">
            <a:extLst>
              <a:ext uri="{FF2B5EF4-FFF2-40B4-BE49-F238E27FC236}">
                <a16:creationId xmlns:a16="http://schemas.microsoft.com/office/drawing/2014/main" id="{04112135-F787-4FA6-AB44-987D1EA1EAAD}"/>
              </a:ext>
            </a:extLst>
          </p:cNvPr>
          <p:cNvCxnSpPr>
            <a:cxnSpLocks/>
          </p:cNvCxnSpPr>
          <p:nvPr/>
        </p:nvCxnSpPr>
        <p:spPr>
          <a:xfrm>
            <a:off x="5872100" y="1479532"/>
            <a:ext cx="0" cy="47952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" name="Google Shape;430;p45">
            <a:extLst>
              <a:ext uri="{FF2B5EF4-FFF2-40B4-BE49-F238E27FC236}">
                <a16:creationId xmlns:a16="http://schemas.microsoft.com/office/drawing/2014/main" id="{5B55476B-2FE2-4010-B6BB-31500F7F6323}"/>
              </a:ext>
            </a:extLst>
          </p:cNvPr>
          <p:cNvCxnSpPr>
            <a:cxnSpLocks/>
          </p:cNvCxnSpPr>
          <p:nvPr/>
        </p:nvCxnSpPr>
        <p:spPr>
          <a:xfrm>
            <a:off x="7583936" y="1487351"/>
            <a:ext cx="0" cy="47952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6"/>
          <p:cNvSpPr txBox="1">
            <a:spLocks noGrp="1"/>
          </p:cNvSpPr>
          <p:nvPr>
            <p:ph type="title"/>
          </p:nvPr>
        </p:nvSpPr>
        <p:spPr>
          <a:xfrm>
            <a:off x="713249" y="445025"/>
            <a:ext cx="799725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From Chemistry and Physics to a Multidisciplinary Faculty</a:t>
            </a:r>
            <a:endParaRPr dirty="0"/>
          </a:p>
        </p:txBody>
      </p:sp>
      <p:sp>
        <p:nvSpPr>
          <p:cNvPr id="306" name="Google Shape;306;p36"/>
          <p:cNvSpPr txBox="1">
            <a:spLocks noGrp="1"/>
          </p:cNvSpPr>
          <p:nvPr>
            <p:ph type="body" idx="1"/>
          </p:nvPr>
        </p:nvSpPr>
        <p:spPr>
          <a:xfrm>
            <a:off x="713249" y="1602021"/>
            <a:ext cx="7717500" cy="275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 panose="020B0604020202020204" pitchFamily="34" charset="0"/>
              <a:buChar char="•"/>
            </a:pPr>
            <a:r>
              <a:rPr lang="en-GB" sz="1400" dirty="0"/>
              <a:t>Institute of Chemistry and Physics</a:t>
            </a:r>
            <a:endParaRPr lang="bs-Latn-BA" sz="14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 panose="020B0604020202020204" pitchFamily="34" charset="0"/>
              <a:buChar char="•"/>
            </a:pPr>
            <a:endParaRPr lang="bs-Latn-BA" sz="14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 panose="020B0604020202020204" pitchFamily="34" charset="0"/>
              <a:buChar char="•"/>
            </a:pPr>
            <a:r>
              <a:rPr lang="en-GB" sz="1400" dirty="0"/>
              <a:t>Designed by architect </a:t>
            </a:r>
            <a:r>
              <a:rPr lang="en-GB" sz="1400" dirty="0" err="1"/>
              <a:t>Juraj</a:t>
            </a:r>
            <a:r>
              <a:rPr lang="en-GB" sz="1400" dirty="0"/>
              <a:t> </a:t>
            </a:r>
            <a:r>
              <a:rPr lang="en-GB" sz="1400" dirty="0" err="1"/>
              <a:t>Neidhardt</a:t>
            </a:r>
            <a:endParaRPr lang="bs-Latn-BA" sz="14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 panose="020B0604020202020204" pitchFamily="34" charset="0"/>
              <a:buChar char="•"/>
            </a:pPr>
            <a:endParaRPr lang="bs-Latn-BA" sz="14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 panose="020B0604020202020204" pitchFamily="34" charset="0"/>
              <a:buChar char="•"/>
            </a:pPr>
            <a:r>
              <a:rPr lang="en-GB" sz="1400" dirty="0"/>
              <a:t>Built 1962–1964</a:t>
            </a:r>
            <a:endParaRPr lang="bs-Latn-BA" sz="14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 panose="020B0604020202020204" pitchFamily="34" charset="0"/>
              <a:buChar char="•"/>
            </a:pPr>
            <a:endParaRPr lang="bs-Latn-BA" sz="14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 panose="020B0604020202020204" pitchFamily="34" charset="0"/>
              <a:buChar char="•"/>
            </a:pPr>
            <a:r>
              <a:rPr lang="en-GB" sz="1400" dirty="0"/>
              <a:t>Modern laboratories and teaching facilities</a:t>
            </a:r>
            <a:endParaRPr lang="bs-Latn-BA" sz="14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6EC87B8-9960-4842-BAB8-AB01C95FB7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4062" y="1683301"/>
            <a:ext cx="2202423" cy="2202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7520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6"/>
          <p:cNvSpPr txBox="1">
            <a:spLocks noGrp="1"/>
          </p:cNvSpPr>
          <p:nvPr>
            <p:ph type="title"/>
          </p:nvPr>
        </p:nvSpPr>
        <p:spPr>
          <a:xfrm>
            <a:off x="713249" y="445025"/>
            <a:ext cx="799725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Faculty of Science, University of Sarajevo</a:t>
            </a:r>
            <a:endParaRPr dirty="0"/>
          </a:p>
        </p:txBody>
      </p:sp>
      <p:sp>
        <p:nvSpPr>
          <p:cNvPr id="306" name="Google Shape;306;p36"/>
          <p:cNvSpPr txBox="1">
            <a:spLocks noGrp="1"/>
          </p:cNvSpPr>
          <p:nvPr>
            <p:ph type="body" idx="1"/>
          </p:nvPr>
        </p:nvSpPr>
        <p:spPr>
          <a:xfrm>
            <a:off x="713250" y="1257575"/>
            <a:ext cx="7717500" cy="275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</a:pPr>
            <a:endParaRPr lang="bs-Latn-BA" sz="14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 panose="020B0604020202020204" pitchFamily="34" charset="0"/>
              <a:buChar char="•"/>
            </a:pPr>
            <a:r>
              <a:rPr lang="en-GB" sz="1400" dirty="0"/>
              <a:t>Five </a:t>
            </a:r>
            <a:r>
              <a:rPr lang="bs-Latn-BA" sz="1400" dirty="0"/>
              <a:t>d</a:t>
            </a:r>
            <a:r>
              <a:rPr lang="en-GB" sz="1400" dirty="0" err="1"/>
              <a:t>epartments</a:t>
            </a:r>
            <a:r>
              <a:rPr lang="en-GB" sz="1400" dirty="0"/>
              <a:t>:</a:t>
            </a:r>
            <a:endParaRPr lang="bs-Latn-BA" sz="14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 panose="020B0604020202020204" pitchFamily="34" charset="0"/>
              <a:buChar char="•"/>
            </a:pPr>
            <a:endParaRPr lang="bs-Latn-BA" sz="1400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+mj-lt"/>
              <a:buAutoNum type="arabicPeriod"/>
            </a:pPr>
            <a:r>
              <a:rPr lang="en-GB" sz="1400" dirty="0"/>
              <a:t>Biology</a:t>
            </a:r>
            <a:endParaRPr lang="bs-Latn-BA" sz="1400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+mj-lt"/>
              <a:buAutoNum type="arabicPeriod"/>
            </a:pPr>
            <a:r>
              <a:rPr lang="en-GB" sz="1400" dirty="0"/>
              <a:t>Chemistry</a:t>
            </a:r>
            <a:endParaRPr lang="bs-Latn-BA" sz="1400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+mj-lt"/>
              <a:buAutoNum type="arabicPeriod"/>
            </a:pPr>
            <a:r>
              <a:rPr lang="en-GB" sz="1400" dirty="0"/>
              <a:t>Geography</a:t>
            </a:r>
            <a:endParaRPr lang="bs-Latn-BA" sz="1400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+mj-lt"/>
              <a:buAutoNum type="arabicPeriod"/>
            </a:pPr>
            <a:r>
              <a:rPr lang="en-GB" sz="1400" dirty="0"/>
              <a:t>Mathematics &amp; Computer Science</a:t>
            </a:r>
            <a:endParaRPr lang="bs-Latn-BA" sz="1400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+mj-lt"/>
              <a:buAutoNum type="arabicPeriod"/>
            </a:pPr>
            <a:r>
              <a:rPr lang="en-GB" sz="1400" dirty="0"/>
              <a:t>Physics</a:t>
            </a:r>
            <a:endParaRPr lang="bs-Latn-BA" sz="1400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+mj-lt"/>
              <a:buAutoNum type="arabicPeriod"/>
            </a:pPr>
            <a:endParaRPr lang="bs-Latn-BA" sz="14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 panose="020B0604020202020204" pitchFamily="34" charset="0"/>
              <a:buChar char="•"/>
            </a:pPr>
            <a:endParaRPr lang="bs-Latn-BA" sz="14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 panose="020B0604020202020204" pitchFamily="34" charset="0"/>
              <a:buChar char="•"/>
            </a:pPr>
            <a:r>
              <a:rPr lang="en-GB" sz="1400" dirty="0"/>
              <a:t>Education • Research • International Cooperation</a:t>
            </a:r>
            <a:endParaRPr sz="1400" dirty="0"/>
          </a:p>
        </p:txBody>
      </p:sp>
      <p:pic>
        <p:nvPicPr>
          <p:cNvPr id="2054" name="Picture 6" descr="Zbog regulacionog plana kojim se gradi megalomanska Bukvićeva zgrada:  Najavljeno mirno okupljanje ispred PMF-a">
            <a:extLst>
              <a:ext uri="{FF2B5EF4-FFF2-40B4-BE49-F238E27FC236}">
                <a16:creationId xmlns:a16="http://schemas.microsoft.com/office/drawing/2014/main" id="{115468DF-C436-43BF-8F89-026F8527F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1877" y="1257575"/>
            <a:ext cx="3712231" cy="2085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57AB12-8110-4652-8C18-E910FD8AB0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5428" y="1470212"/>
            <a:ext cx="7717500" cy="1180759"/>
          </a:xfrm>
        </p:spPr>
        <p:txBody>
          <a:bodyPr/>
          <a:lstStyle/>
          <a:p>
            <a:pPr marL="152400" indent="0" algn="ctr">
              <a:buNone/>
            </a:pPr>
            <a:r>
              <a:rPr lang="en-GB" sz="2000" b="1" dirty="0"/>
              <a:t>Welcome to Next AIRE Summer School</a:t>
            </a:r>
            <a:r>
              <a:rPr lang="bs-Latn-BA" sz="2000" b="1" dirty="0"/>
              <a:t>!</a:t>
            </a:r>
            <a:endParaRPr lang="bs-Latn-BA" sz="2000" dirty="0"/>
          </a:p>
          <a:p>
            <a:pPr marL="152400" indent="0" algn="ctr">
              <a:buNone/>
            </a:pPr>
            <a:endParaRPr lang="bs-Latn-BA" sz="2000" dirty="0"/>
          </a:p>
          <a:p>
            <a:pPr marL="152400" indent="0" algn="ctr">
              <a:buNone/>
            </a:pPr>
            <a:r>
              <a:rPr lang="en-GB" sz="2000" dirty="0"/>
              <a:t>We wish you an inspiring and productive Summer School and a wonderful stay in Sarajevo.</a:t>
            </a:r>
          </a:p>
        </p:txBody>
      </p:sp>
      <p:pic>
        <p:nvPicPr>
          <p:cNvPr id="4" name="Picture 3" descr="Untitled-2 [Recovered]-03-03">
            <a:extLst>
              <a:ext uri="{FF2B5EF4-FFF2-40B4-BE49-F238E27FC236}">
                <a16:creationId xmlns:a16="http://schemas.microsoft.com/office/drawing/2014/main" id="{66E70835-DD1E-4D62-8651-08B465535ED5}"/>
              </a:ext>
            </a:extLst>
          </p:cNvPr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45" t="24057" r="59054" b="13679"/>
          <a:stretch/>
        </p:blipFill>
        <p:spPr bwMode="auto">
          <a:xfrm>
            <a:off x="6193578" y="3790527"/>
            <a:ext cx="2419350" cy="8382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 descr="A logo with a leaf in the center&#10;&#10;AI-generated content may be incorrect.">
            <a:extLst>
              <a:ext uri="{FF2B5EF4-FFF2-40B4-BE49-F238E27FC236}">
                <a16:creationId xmlns:a16="http://schemas.microsoft.com/office/drawing/2014/main" id="{227B4B0A-671D-4BCB-B0AE-1B4B60462274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970" y="3594100"/>
            <a:ext cx="1408853" cy="123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814245"/>
      </p:ext>
    </p:extLst>
  </p:cSld>
  <p:clrMapOvr>
    <a:masterClrMapping/>
  </p:clrMapOvr>
</p:sld>
</file>

<file path=ppt/theme/theme1.xml><?xml version="1.0" encoding="utf-8"?>
<a:theme xmlns:a="http://schemas.openxmlformats.org/drawingml/2006/main" name="Clean and Neat Style Portfolio by Slidesgo">
  <a:themeElements>
    <a:clrScheme name="Simple Light">
      <a:dk1>
        <a:srgbClr val="191919"/>
      </a:dk1>
      <a:lt1>
        <a:srgbClr val="FFFFFF"/>
      </a:lt1>
      <a:dk2>
        <a:srgbClr val="45818E"/>
      </a:dk2>
      <a:lt2>
        <a:srgbClr val="D9D9D9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</TotalTime>
  <Words>237</Words>
  <Application>Microsoft Office PowerPoint</Application>
  <PresentationFormat>On-screen Show (16:9)</PresentationFormat>
  <Paragraphs>67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Poppins</vt:lpstr>
      <vt:lpstr>Nunito Light</vt:lpstr>
      <vt:lpstr>Arial</vt:lpstr>
      <vt:lpstr>Clean and Neat Style Portfolio by Slidesgo</vt:lpstr>
      <vt:lpstr>PowerPoint Presentation</vt:lpstr>
      <vt:lpstr>Bosnia and Herzegovina</vt:lpstr>
      <vt:lpstr>Sarajevo: A City Shaped by Geography</vt:lpstr>
      <vt:lpstr>More than 65 Years of Science</vt:lpstr>
      <vt:lpstr>From Chemistry and Physics to a Multidisciplinary Faculty</vt:lpstr>
      <vt:lpstr>Faculty of Science, University of Sarajevo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CLEAN AND NEAT STYLE PORTFOLIO</dc:title>
  <dc:creator>Korisnik</dc:creator>
  <cp:lastModifiedBy>Amra Banda</cp:lastModifiedBy>
  <cp:revision>18</cp:revision>
  <dcterms:modified xsi:type="dcterms:W3CDTF">2026-09-03T12:29:44Z</dcterms:modified>
</cp:coreProperties>
</file>