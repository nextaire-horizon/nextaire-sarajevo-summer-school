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18"/>
  </p:notesMasterIdLst>
  <p:handoutMasterIdLst>
    <p:handoutMasterId r:id="rId19"/>
  </p:handoutMasterIdLst>
  <p:sldIdLst>
    <p:sldId id="257" r:id="rId5"/>
    <p:sldId id="284" r:id="rId6"/>
    <p:sldId id="502" r:id="rId7"/>
    <p:sldId id="503" r:id="rId8"/>
    <p:sldId id="504" r:id="rId9"/>
    <p:sldId id="505" r:id="rId10"/>
    <p:sldId id="506" r:id="rId11"/>
    <p:sldId id="507" r:id="rId12"/>
    <p:sldId id="508" r:id="rId13"/>
    <p:sldId id="509" r:id="rId14"/>
    <p:sldId id="510" r:id="rId15"/>
    <p:sldId id="511" r:id="rId16"/>
    <p:sldId id="278" r:id="rId17"/>
  </p:sldIdLst>
  <p:sldSz cx="18288000" cy="10287000"/>
  <p:notesSz cx="6858000" cy="9144000"/>
  <p:embeddedFontLst>
    <p:embeddedFont>
      <p:font typeface="Poppins" panose="00000500000000000000" pitchFamily="2" charset="0"/>
      <p:regular r:id="rId20"/>
      <p:bold r:id="rId21"/>
      <p:italic r:id="rId22"/>
      <p:boldItalic r:id="rId23"/>
    </p:embeddedFont>
    <p:embeddedFont>
      <p:font typeface="Poppins Bold" panose="00000800000000000000" charset="0"/>
      <p:regular r:id="rId24"/>
      <p:bold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464E"/>
    <a:srgbClr val="BDDDCF"/>
    <a:srgbClr val="CBD7BB"/>
    <a:srgbClr val="79EBB8"/>
    <a:srgbClr val="139944"/>
    <a:srgbClr val="018A26"/>
    <a:srgbClr val="5BA986"/>
    <a:srgbClr val="000610"/>
    <a:srgbClr val="278364"/>
    <a:srgbClr val="0C16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71977" autoAdjust="0"/>
  </p:normalViewPr>
  <p:slideViewPr>
    <p:cSldViewPr>
      <p:cViewPr varScale="1">
        <p:scale>
          <a:sx n="46" d="100"/>
          <a:sy n="46" d="100"/>
        </p:scale>
        <p:origin x="1186"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ijo Brzoja" userId="S::dbrzoja_cirus.dhz.hr#ext#@inantrohr.onmicrosoft.com::28541000-08eb-4546-b208-888058f24990" providerId="AD" clId="Web-{50E072CE-AA74-F732-3B90-D57868ADE3D5}"/>
    <pc:docChg chg="addSld">
      <pc:chgData name="Darijo Brzoja" userId="S::dbrzoja_cirus.dhz.hr#ext#@inantrohr.onmicrosoft.com::28541000-08eb-4546-b208-888058f24990" providerId="AD" clId="Web-{50E072CE-AA74-F732-3B90-D57868ADE3D5}" dt="2026-09-03T07:44:13.816" v="0"/>
      <pc:docMkLst>
        <pc:docMk/>
      </pc:docMkLst>
    </pc:docChg>
  </pc:docChgLst>
  <pc:docChgLst>
    <pc:chgData name="Zvonimir Anić" userId="a41d5534-a1d3-4f1b-9268-3cdbed29af76" providerId="ADAL" clId="{5FC607D4-BAB6-40D3-BB96-8043C272F069}"/>
    <pc:docChg chg="undo redo custSel addSld delSld modSld sldOrd">
      <pc:chgData name="Zvonimir Anić" userId="a41d5534-a1d3-4f1b-9268-3cdbed29af76" providerId="ADAL" clId="{5FC607D4-BAB6-40D3-BB96-8043C272F069}" dt="2026-09-08T09:47:00.265" v="682" actId="47"/>
      <pc:docMkLst>
        <pc:docMk/>
      </pc:docMkLst>
      <pc:sldChg chg="modSp mod">
        <pc:chgData name="Zvonimir Anić" userId="a41d5534-a1d3-4f1b-9268-3cdbed29af76" providerId="ADAL" clId="{5FC607D4-BAB6-40D3-BB96-8043C272F069}" dt="2026-09-06T20:03:40.487" v="621" actId="14100"/>
        <pc:sldMkLst>
          <pc:docMk/>
          <pc:sldMk cId="0" sldId="278"/>
        </pc:sldMkLst>
        <pc:spChg chg="mod">
          <ac:chgData name="Zvonimir Anić" userId="a41d5534-a1d3-4f1b-9268-3cdbed29af76" providerId="ADAL" clId="{5FC607D4-BAB6-40D3-BB96-8043C272F069}" dt="2026-09-06T20:03:13.944" v="559" actId="20577"/>
          <ac:spMkLst>
            <pc:docMk/>
            <pc:sldMk cId="0" sldId="278"/>
            <ac:spMk id="13" creationId="{00000000-0000-0000-0000-000000000000}"/>
          </ac:spMkLst>
        </pc:spChg>
        <pc:spChg chg="mod">
          <ac:chgData name="Zvonimir Anić" userId="a41d5534-a1d3-4f1b-9268-3cdbed29af76" providerId="ADAL" clId="{5FC607D4-BAB6-40D3-BB96-8043C272F069}" dt="2026-09-06T20:03:19.805" v="570" actId="20577"/>
          <ac:spMkLst>
            <pc:docMk/>
            <pc:sldMk cId="0" sldId="278"/>
            <ac:spMk id="14" creationId="{00000000-0000-0000-0000-000000000000}"/>
          </ac:spMkLst>
        </pc:spChg>
        <pc:spChg chg="mod">
          <ac:chgData name="Zvonimir Anić" userId="a41d5534-a1d3-4f1b-9268-3cdbed29af76" providerId="ADAL" clId="{5FC607D4-BAB6-40D3-BB96-8043C272F069}" dt="2026-09-06T20:03:31.410" v="602" actId="20577"/>
          <ac:spMkLst>
            <pc:docMk/>
            <pc:sldMk cId="0" sldId="278"/>
            <ac:spMk id="15" creationId="{00000000-0000-0000-0000-000000000000}"/>
          </ac:spMkLst>
        </pc:spChg>
        <pc:spChg chg="mod">
          <ac:chgData name="Zvonimir Anić" userId="a41d5534-a1d3-4f1b-9268-3cdbed29af76" providerId="ADAL" clId="{5FC607D4-BAB6-40D3-BB96-8043C272F069}" dt="2026-09-06T20:03:40.487" v="621" actId="14100"/>
          <ac:spMkLst>
            <pc:docMk/>
            <pc:sldMk cId="0" sldId="278"/>
            <ac:spMk id="16" creationId="{00000000-0000-0000-0000-000000000000}"/>
          </ac:spMkLst>
        </pc:spChg>
      </pc:sldChg>
      <pc:sldChg chg="addSp modSp mod">
        <pc:chgData name="Zvonimir Anić" userId="a41d5534-a1d3-4f1b-9268-3cdbed29af76" providerId="ADAL" clId="{5FC607D4-BAB6-40D3-BB96-8043C272F069}" dt="2026-09-08T09:45:54.507" v="680" actId="20577"/>
        <pc:sldMkLst>
          <pc:docMk/>
          <pc:sldMk cId="3410752122" sldId="284"/>
        </pc:sldMkLst>
        <pc:spChg chg="mod">
          <ac:chgData name="Zvonimir Anić" userId="a41d5534-a1d3-4f1b-9268-3cdbed29af76" providerId="ADAL" clId="{5FC607D4-BAB6-40D3-BB96-8043C272F069}" dt="2026-09-08T09:45:54.507" v="680" actId="20577"/>
          <ac:spMkLst>
            <pc:docMk/>
            <pc:sldMk cId="3410752122" sldId="284"/>
            <ac:spMk id="2" creationId="{E0D495B7-93D6-657F-9FF7-0542A710F696}"/>
          </ac:spMkLst>
        </pc:spChg>
        <pc:spChg chg="mod">
          <ac:chgData name="Zvonimir Anić" userId="a41d5534-a1d3-4f1b-9268-3cdbed29af76" providerId="ADAL" clId="{5FC607D4-BAB6-40D3-BB96-8043C272F069}" dt="2026-09-06T19:44:06.107" v="206" actId="1076"/>
          <ac:spMkLst>
            <pc:docMk/>
            <pc:sldMk cId="3410752122" sldId="284"/>
            <ac:spMk id="3" creationId="{99B03730-CBAB-FF0C-351C-265988FF784B}"/>
          </ac:spMkLst>
        </pc:spChg>
        <pc:spChg chg="add mod">
          <ac:chgData name="Zvonimir Anić" userId="a41d5534-a1d3-4f1b-9268-3cdbed29af76" providerId="ADAL" clId="{5FC607D4-BAB6-40D3-BB96-8043C272F069}" dt="2026-09-07T16:27:46.481" v="631" actId="6549"/>
          <ac:spMkLst>
            <pc:docMk/>
            <pc:sldMk cId="3410752122" sldId="284"/>
            <ac:spMk id="5" creationId="{7B5DAF20-B1F2-0574-2C98-372B74DACD5B}"/>
          </ac:spMkLst>
        </pc:spChg>
      </pc:sldChg>
      <pc:sldChg chg="addSp delSp modSp del mod ord">
        <pc:chgData name="Zvonimir Anić" userId="a41d5534-a1d3-4f1b-9268-3cdbed29af76" providerId="ADAL" clId="{5FC607D4-BAB6-40D3-BB96-8043C272F069}" dt="2026-09-08T09:47:00.265" v="682" actId="47"/>
        <pc:sldMkLst>
          <pc:docMk/>
          <pc:sldMk cId="3294899151" sldId="285"/>
        </pc:sldMkLst>
        <pc:spChg chg="add mod">
          <ac:chgData name="Zvonimir Anić" userId="a41d5534-a1d3-4f1b-9268-3cdbed29af76" providerId="ADAL" clId="{5FC607D4-BAB6-40D3-BB96-8043C272F069}" dt="2026-09-06T20:03:51.444" v="625" actId="20577"/>
          <ac:spMkLst>
            <pc:docMk/>
            <pc:sldMk cId="3294899151" sldId="285"/>
            <ac:spMk id="11" creationId="{1B2EF9FF-0717-13EC-2B36-ADADEF714898}"/>
          </ac:spMkLst>
        </pc:spChg>
      </pc:sldChg>
      <pc:sldChg chg="delSp modSp add mod">
        <pc:chgData name="Zvonimir Anić" userId="a41d5534-a1d3-4f1b-9268-3cdbed29af76" providerId="ADAL" clId="{5FC607D4-BAB6-40D3-BB96-8043C272F069}" dt="2026-09-06T19:52:02.677" v="415" actId="478"/>
        <pc:sldMkLst>
          <pc:docMk/>
          <pc:sldMk cId="0" sldId="502"/>
        </pc:sldMkLst>
        <pc:spChg chg="mod">
          <ac:chgData name="Zvonimir Anić" userId="a41d5534-a1d3-4f1b-9268-3cdbed29af76" providerId="ADAL" clId="{5FC607D4-BAB6-40D3-BB96-8043C272F069}" dt="2026-09-06T19:51:57.253" v="414" actId="2710"/>
          <ac:spMkLst>
            <pc:docMk/>
            <pc:sldMk cId="0" sldId="502"/>
            <ac:spMk id="4" creationId="{00000000-0000-0000-0000-000000000000}"/>
          </ac:spMkLst>
        </pc:spChg>
        <pc:spChg chg="mod">
          <ac:chgData name="Zvonimir Anić" userId="a41d5534-a1d3-4f1b-9268-3cdbed29af76" providerId="ADAL" clId="{5FC607D4-BAB6-40D3-BB96-8043C272F069}" dt="2026-09-06T19:50:58.557" v="375" actId="21"/>
          <ac:spMkLst>
            <pc:docMk/>
            <pc:sldMk cId="0" sldId="502"/>
            <ac:spMk id="5" creationId="{00000000-0000-0000-0000-000000000000}"/>
          </ac:spMkLst>
        </pc:spChg>
        <pc:spChg chg="mod">
          <ac:chgData name="Zvonimir Anić" userId="a41d5534-a1d3-4f1b-9268-3cdbed29af76" providerId="ADAL" clId="{5FC607D4-BAB6-40D3-BB96-8043C272F069}" dt="2026-09-06T19:51:02.604" v="379" actId="21"/>
          <ac:spMkLst>
            <pc:docMk/>
            <pc:sldMk cId="0" sldId="502"/>
            <ac:spMk id="6" creationId="{00000000-0000-0000-0000-000000000000}"/>
          </ac:spMkLst>
        </pc:spChg>
        <pc:spChg chg="mod">
          <ac:chgData name="Zvonimir Anić" userId="a41d5534-a1d3-4f1b-9268-3cdbed29af76" providerId="ADAL" clId="{5FC607D4-BAB6-40D3-BB96-8043C272F069}" dt="2026-09-06T19:51:12.451" v="385" actId="21"/>
          <ac:spMkLst>
            <pc:docMk/>
            <pc:sldMk cId="0" sldId="502"/>
            <ac:spMk id="8" creationId="{00000000-0000-0000-0000-000000000000}"/>
          </ac:spMkLst>
        </pc:spChg>
        <pc:spChg chg="mod">
          <ac:chgData name="Zvonimir Anić" userId="a41d5534-a1d3-4f1b-9268-3cdbed29af76" providerId="ADAL" clId="{5FC607D4-BAB6-40D3-BB96-8043C272F069}" dt="2026-09-06T19:51:16.912" v="388" actId="21"/>
          <ac:spMkLst>
            <pc:docMk/>
            <pc:sldMk cId="0" sldId="502"/>
            <ac:spMk id="9" creationId="{00000000-0000-0000-0000-000000000000}"/>
          </ac:spMkLst>
        </pc:spChg>
      </pc:sldChg>
      <pc:sldChg chg="modSp add mod">
        <pc:chgData name="Zvonimir Anić" userId="a41d5534-a1d3-4f1b-9268-3cdbed29af76" providerId="ADAL" clId="{5FC607D4-BAB6-40D3-BB96-8043C272F069}" dt="2026-09-06T19:50:51.955" v="374" actId="1036"/>
        <pc:sldMkLst>
          <pc:docMk/>
          <pc:sldMk cId="0" sldId="503"/>
        </pc:sldMkLst>
        <pc:spChg chg="mod">
          <ac:chgData name="Zvonimir Anić" userId="a41d5534-a1d3-4f1b-9268-3cdbed29af76" providerId="ADAL" clId="{5FC607D4-BAB6-40D3-BB96-8043C272F069}" dt="2026-09-06T19:50:51.955" v="374" actId="1036"/>
          <ac:spMkLst>
            <pc:docMk/>
            <pc:sldMk cId="0" sldId="503"/>
            <ac:spMk id="2" creationId="{00000000-0000-0000-0000-000000000000}"/>
          </ac:spMkLst>
        </pc:spChg>
        <pc:spChg chg="mod">
          <ac:chgData name="Zvonimir Anić" userId="a41d5534-a1d3-4f1b-9268-3cdbed29af76" providerId="ADAL" clId="{5FC607D4-BAB6-40D3-BB96-8043C272F069}" dt="2026-09-06T19:50:37.761" v="372" actId="20577"/>
          <ac:spMkLst>
            <pc:docMk/>
            <pc:sldMk cId="0" sldId="503"/>
            <ac:spMk id="4" creationId="{00000000-0000-0000-0000-000000000000}"/>
          </ac:spMkLst>
        </pc:spChg>
        <pc:spChg chg="mod">
          <ac:chgData name="Zvonimir Anić" userId="a41d5534-a1d3-4f1b-9268-3cdbed29af76" providerId="ADAL" clId="{5FC607D4-BAB6-40D3-BB96-8043C272F069}" dt="2026-09-06T19:50:03.289" v="359" actId="21"/>
          <ac:spMkLst>
            <pc:docMk/>
            <pc:sldMk cId="0" sldId="503"/>
            <ac:spMk id="5" creationId="{00000000-0000-0000-0000-000000000000}"/>
          </ac:spMkLst>
        </pc:spChg>
        <pc:spChg chg="mod">
          <ac:chgData name="Zvonimir Anić" userId="a41d5534-a1d3-4f1b-9268-3cdbed29af76" providerId="ADAL" clId="{5FC607D4-BAB6-40D3-BB96-8043C272F069}" dt="2026-09-06T19:50:16.014" v="363" actId="21"/>
          <ac:spMkLst>
            <pc:docMk/>
            <pc:sldMk cId="0" sldId="503"/>
            <ac:spMk id="6" creationId="{00000000-0000-0000-0000-000000000000}"/>
          </ac:spMkLst>
        </pc:spChg>
        <pc:spChg chg="mod">
          <ac:chgData name="Zvonimir Anić" userId="a41d5534-a1d3-4f1b-9268-3cdbed29af76" providerId="ADAL" clId="{5FC607D4-BAB6-40D3-BB96-8043C272F069}" dt="2026-09-06T19:50:27.607" v="367" actId="21"/>
          <ac:spMkLst>
            <pc:docMk/>
            <pc:sldMk cId="0" sldId="503"/>
            <ac:spMk id="7" creationId="{00000000-0000-0000-0000-000000000000}"/>
          </ac:spMkLst>
        </pc:spChg>
        <pc:spChg chg="mod">
          <ac:chgData name="Zvonimir Anić" userId="a41d5534-a1d3-4f1b-9268-3cdbed29af76" providerId="ADAL" clId="{5FC607D4-BAB6-40D3-BB96-8043C272F069}" dt="2026-09-06T19:49:37.007" v="358" actId="6549"/>
          <ac:spMkLst>
            <pc:docMk/>
            <pc:sldMk cId="0" sldId="503"/>
            <ac:spMk id="8" creationId="{00000000-0000-0000-0000-000000000000}"/>
          </ac:spMkLst>
        </pc:spChg>
      </pc:sldChg>
      <pc:sldChg chg="delSp modSp add mod">
        <pc:chgData name="Zvonimir Anić" userId="a41d5534-a1d3-4f1b-9268-3cdbed29af76" providerId="ADAL" clId="{5FC607D4-BAB6-40D3-BB96-8043C272F069}" dt="2026-09-07T16:23:14.210" v="628" actId="478"/>
        <pc:sldMkLst>
          <pc:docMk/>
          <pc:sldMk cId="0" sldId="504"/>
        </pc:sldMkLst>
        <pc:spChg chg="mod">
          <ac:chgData name="Zvonimir Anić" userId="a41d5534-a1d3-4f1b-9268-3cdbed29af76" providerId="ADAL" clId="{5FC607D4-BAB6-40D3-BB96-8043C272F069}" dt="2026-09-06T19:52:46.354" v="416" actId="404"/>
          <ac:spMkLst>
            <pc:docMk/>
            <pc:sldMk cId="0" sldId="504"/>
            <ac:spMk id="4" creationId="{00000000-0000-0000-0000-000000000000}"/>
          </ac:spMkLst>
        </pc:spChg>
        <pc:spChg chg="mod">
          <ac:chgData name="Zvonimir Anić" userId="a41d5534-a1d3-4f1b-9268-3cdbed29af76" providerId="ADAL" clId="{5FC607D4-BAB6-40D3-BB96-8043C272F069}" dt="2026-09-06T19:52:48.849" v="417" actId="404"/>
          <ac:spMkLst>
            <pc:docMk/>
            <pc:sldMk cId="0" sldId="504"/>
            <ac:spMk id="5" creationId="{00000000-0000-0000-0000-000000000000}"/>
          </ac:spMkLst>
        </pc:spChg>
        <pc:spChg chg="del">
          <ac:chgData name="Zvonimir Anić" userId="a41d5534-a1d3-4f1b-9268-3cdbed29af76" providerId="ADAL" clId="{5FC607D4-BAB6-40D3-BB96-8043C272F069}" dt="2026-09-07T16:23:14.210" v="628" actId="478"/>
          <ac:spMkLst>
            <pc:docMk/>
            <pc:sldMk cId="0" sldId="504"/>
            <ac:spMk id="11" creationId="{00000000-0000-0000-0000-000000000000}"/>
          </ac:spMkLst>
        </pc:spChg>
      </pc:sldChg>
      <pc:sldChg chg="modSp add mod">
        <pc:chgData name="Zvonimir Anić" userId="a41d5534-a1d3-4f1b-9268-3cdbed29af76" providerId="ADAL" clId="{5FC607D4-BAB6-40D3-BB96-8043C272F069}" dt="2026-09-06T19:54:24.273" v="433" actId="2710"/>
        <pc:sldMkLst>
          <pc:docMk/>
          <pc:sldMk cId="0" sldId="505"/>
        </pc:sldMkLst>
        <pc:spChg chg="mod">
          <ac:chgData name="Zvonimir Anić" userId="a41d5534-a1d3-4f1b-9268-3cdbed29af76" providerId="ADAL" clId="{5FC607D4-BAB6-40D3-BB96-8043C272F069}" dt="2026-09-06T19:54:24.273" v="433" actId="2710"/>
          <ac:spMkLst>
            <pc:docMk/>
            <pc:sldMk cId="0" sldId="505"/>
            <ac:spMk id="4" creationId="{00000000-0000-0000-0000-000000000000}"/>
          </ac:spMkLst>
        </pc:spChg>
        <pc:spChg chg="mod">
          <ac:chgData name="Zvonimir Anić" userId="a41d5534-a1d3-4f1b-9268-3cdbed29af76" providerId="ADAL" clId="{5FC607D4-BAB6-40D3-BB96-8043C272F069}" dt="2026-09-06T19:53:30.218" v="419" actId="21"/>
          <ac:spMkLst>
            <pc:docMk/>
            <pc:sldMk cId="0" sldId="505"/>
            <ac:spMk id="5" creationId="{00000000-0000-0000-0000-000000000000}"/>
          </ac:spMkLst>
        </pc:spChg>
        <pc:spChg chg="mod">
          <ac:chgData name="Zvonimir Anić" userId="a41d5534-a1d3-4f1b-9268-3cdbed29af76" providerId="ADAL" clId="{5FC607D4-BAB6-40D3-BB96-8043C272F069}" dt="2026-09-06T19:53:35.622" v="422" actId="21"/>
          <ac:spMkLst>
            <pc:docMk/>
            <pc:sldMk cId="0" sldId="505"/>
            <ac:spMk id="6" creationId="{00000000-0000-0000-0000-000000000000}"/>
          </ac:spMkLst>
        </pc:spChg>
        <pc:spChg chg="mod">
          <ac:chgData name="Zvonimir Anić" userId="a41d5534-a1d3-4f1b-9268-3cdbed29af76" providerId="ADAL" clId="{5FC607D4-BAB6-40D3-BB96-8043C272F069}" dt="2026-09-06T19:53:43.123" v="425" actId="21"/>
          <ac:spMkLst>
            <pc:docMk/>
            <pc:sldMk cId="0" sldId="505"/>
            <ac:spMk id="7" creationId="{00000000-0000-0000-0000-000000000000}"/>
          </ac:spMkLst>
        </pc:spChg>
        <pc:spChg chg="mod">
          <ac:chgData name="Zvonimir Anić" userId="a41d5534-a1d3-4f1b-9268-3cdbed29af76" providerId="ADAL" clId="{5FC607D4-BAB6-40D3-BB96-8043C272F069}" dt="2026-09-06T19:53:27.127" v="418" actId="6549"/>
          <ac:spMkLst>
            <pc:docMk/>
            <pc:sldMk cId="0" sldId="505"/>
            <ac:spMk id="8" creationId="{00000000-0000-0000-0000-000000000000}"/>
          </ac:spMkLst>
        </pc:spChg>
      </pc:sldChg>
      <pc:sldChg chg="delSp modSp add mod">
        <pc:chgData name="Zvonimir Anić" userId="a41d5534-a1d3-4f1b-9268-3cdbed29af76" providerId="ADAL" clId="{5FC607D4-BAB6-40D3-BB96-8043C272F069}" dt="2026-09-06T19:57:29.009" v="465" actId="20577"/>
        <pc:sldMkLst>
          <pc:docMk/>
          <pc:sldMk cId="0" sldId="506"/>
        </pc:sldMkLst>
        <pc:spChg chg="mod">
          <ac:chgData name="Zvonimir Anić" userId="a41d5534-a1d3-4f1b-9268-3cdbed29af76" providerId="ADAL" clId="{5FC607D4-BAB6-40D3-BB96-8043C272F069}" dt="2026-09-06T19:57:29.009" v="465" actId="20577"/>
          <ac:spMkLst>
            <pc:docMk/>
            <pc:sldMk cId="0" sldId="506"/>
            <ac:spMk id="6" creationId="{00000000-0000-0000-0000-000000000000}"/>
          </ac:spMkLst>
        </pc:spChg>
      </pc:sldChg>
      <pc:sldChg chg="delSp modSp add mod">
        <pc:chgData name="Zvonimir Anić" userId="a41d5534-a1d3-4f1b-9268-3cdbed29af76" providerId="ADAL" clId="{5FC607D4-BAB6-40D3-BB96-8043C272F069}" dt="2026-09-06T19:58:57.289" v="467" actId="478"/>
        <pc:sldMkLst>
          <pc:docMk/>
          <pc:sldMk cId="0" sldId="507"/>
        </pc:sldMkLst>
      </pc:sldChg>
      <pc:sldChg chg="delSp modSp add mod">
        <pc:chgData name="Zvonimir Anić" userId="a41d5534-a1d3-4f1b-9268-3cdbed29af76" providerId="ADAL" clId="{5FC607D4-BAB6-40D3-BB96-8043C272F069}" dt="2026-09-06T20:00:17.089" v="492" actId="20577"/>
        <pc:sldMkLst>
          <pc:docMk/>
          <pc:sldMk cId="0" sldId="508"/>
        </pc:sldMkLst>
        <pc:spChg chg="mod">
          <ac:chgData name="Zvonimir Anić" userId="a41d5534-a1d3-4f1b-9268-3cdbed29af76" providerId="ADAL" clId="{5FC607D4-BAB6-40D3-BB96-8043C272F069}" dt="2026-09-06T20:00:17.089" v="492" actId="20577"/>
          <ac:spMkLst>
            <pc:docMk/>
            <pc:sldMk cId="0" sldId="508"/>
            <ac:spMk id="4" creationId="{00000000-0000-0000-0000-000000000000}"/>
          </ac:spMkLst>
        </pc:spChg>
        <pc:spChg chg="mod">
          <ac:chgData name="Zvonimir Anić" userId="a41d5534-a1d3-4f1b-9268-3cdbed29af76" providerId="ADAL" clId="{5FC607D4-BAB6-40D3-BB96-8043C272F069}" dt="2026-09-06T19:59:30.894" v="475" actId="21"/>
          <ac:spMkLst>
            <pc:docMk/>
            <pc:sldMk cId="0" sldId="508"/>
            <ac:spMk id="6" creationId="{00000000-0000-0000-0000-000000000000}"/>
          </ac:spMkLst>
        </pc:spChg>
      </pc:sldChg>
      <pc:sldChg chg="delSp modSp add mod">
        <pc:chgData name="Zvonimir Anić" userId="a41d5534-a1d3-4f1b-9268-3cdbed29af76" providerId="ADAL" clId="{5FC607D4-BAB6-40D3-BB96-8043C272F069}" dt="2026-09-06T20:01:35.281" v="521" actId="20577"/>
        <pc:sldMkLst>
          <pc:docMk/>
          <pc:sldMk cId="0" sldId="509"/>
        </pc:sldMkLst>
        <pc:spChg chg="mod">
          <ac:chgData name="Zvonimir Anić" userId="a41d5534-a1d3-4f1b-9268-3cdbed29af76" providerId="ADAL" clId="{5FC607D4-BAB6-40D3-BB96-8043C272F069}" dt="2026-09-06T20:01:35.281" v="521" actId="20577"/>
          <ac:spMkLst>
            <pc:docMk/>
            <pc:sldMk cId="0" sldId="509"/>
            <ac:spMk id="4" creationId="{00000000-0000-0000-0000-000000000000}"/>
          </ac:spMkLst>
        </pc:spChg>
        <pc:spChg chg="mod">
          <ac:chgData name="Zvonimir Anić" userId="a41d5534-a1d3-4f1b-9268-3cdbed29af76" providerId="ADAL" clId="{5FC607D4-BAB6-40D3-BB96-8043C272F069}" dt="2026-09-06T20:00:37.356" v="493" actId="21"/>
          <ac:spMkLst>
            <pc:docMk/>
            <pc:sldMk cId="0" sldId="509"/>
            <ac:spMk id="5" creationId="{00000000-0000-0000-0000-000000000000}"/>
          </ac:spMkLst>
        </pc:spChg>
      </pc:sldChg>
      <pc:sldChg chg="addSp delSp modSp add mod">
        <pc:chgData name="Zvonimir Anić" userId="a41d5534-a1d3-4f1b-9268-3cdbed29af76" providerId="ADAL" clId="{5FC607D4-BAB6-40D3-BB96-8043C272F069}" dt="2026-09-06T20:02:33.515" v="546" actId="478"/>
        <pc:sldMkLst>
          <pc:docMk/>
          <pc:sldMk cId="0" sldId="510"/>
        </pc:sldMkLst>
        <pc:spChg chg="mod">
          <ac:chgData name="Zvonimir Anić" userId="a41d5534-a1d3-4f1b-9268-3cdbed29af76" providerId="ADAL" clId="{5FC607D4-BAB6-40D3-BB96-8043C272F069}" dt="2026-09-06T20:02:26.439" v="544" actId="14100"/>
          <ac:spMkLst>
            <pc:docMk/>
            <pc:sldMk cId="0" sldId="510"/>
            <ac:spMk id="4" creationId="{00000000-0000-0000-0000-000000000000}"/>
          </ac:spMkLst>
        </pc:spChg>
        <pc:spChg chg="mod">
          <ac:chgData name="Zvonimir Anić" userId="a41d5534-a1d3-4f1b-9268-3cdbed29af76" providerId="ADAL" clId="{5FC607D4-BAB6-40D3-BB96-8043C272F069}" dt="2026-09-06T20:01:54.255" v="532" actId="21"/>
          <ac:spMkLst>
            <pc:docMk/>
            <pc:sldMk cId="0" sldId="510"/>
            <ac:spMk id="5" creationId="{00000000-0000-0000-0000-000000000000}"/>
          </ac:spMkLst>
        </pc:spChg>
        <pc:spChg chg="mod">
          <ac:chgData name="Zvonimir Anić" userId="a41d5534-a1d3-4f1b-9268-3cdbed29af76" providerId="ADAL" clId="{5FC607D4-BAB6-40D3-BB96-8043C272F069}" dt="2026-09-06T20:02:00.674" v="535" actId="21"/>
          <ac:spMkLst>
            <pc:docMk/>
            <pc:sldMk cId="0" sldId="510"/>
            <ac:spMk id="6" creationId="{00000000-0000-0000-0000-000000000000}"/>
          </ac:spMkLst>
        </pc:spChg>
        <pc:spChg chg="mod">
          <ac:chgData name="Zvonimir Anić" userId="a41d5534-a1d3-4f1b-9268-3cdbed29af76" providerId="ADAL" clId="{5FC607D4-BAB6-40D3-BB96-8043C272F069}" dt="2026-09-06T20:01:46.122" v="522" actId="6549"/>
          <ac:spMkLst>
            <pc:docMk/>
            <pc:sldMk cId="0" sldId="510"/>
            <ac:spMk id="7" creationId="{00000000-0000-0000-0000-000000000000}"/>
          </ac:spMkLst>
        </pc:spChg>
      </pc:sldChg>
      <pc:sldChg chg="add">
        <pc:chgData name="Zvonimir Anić" userId="a41d5534-a1d3-4f1b-9268-3cdbed29af76" providerId="ADAL" clId="{5FC607D4-BAB6-40D3-BB96-8043C272F069}" dt="2026-09-06T19:47:57.728" v="347"/>
        <pc:sldMkLst>
          <pc:docMk/>
          <pc:sldMk cId="0" sldId="511"/>
        </pc:sldMkLst>
      </pc:sldChg>
      <pc:sldChg chg="add del">
        <pc:chgData name="Zvonimir Anić" userId="a41d5534-a1d3-4f1b-9268-3cdbed29af76" providerId="ADAL" clId="{5FC607D4-BAB6-40D3-BB96-8043C272F069}" dt="2026-09-08T09:46:52.215" v="681" actId="47"/>
        <pc:sldMkLst>
          <pc:docMk/>
          <pc:sldMk cId="0" sldId="512"/>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323DEF-6D24-F83E-E7EF-56367F0260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21144002-6B61-79BD-5BC0-FC69727CEE6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FB3750E-CB5B-4335-AD9A-B2CEB03DA998}" type="datetimeFigureOut">
              <a:rPr lang="en-GB" smtClean="0"/>
              <a:t>08/09/2026</a:t>
            </a:fld>
            <a:endParaRPr lang="en-GB"/>
          </a:p>
        </p:txBody>
      </p:sp>
      <p:sp>
        <p:nvSpPr>
          <p:cNvPr id="4" name="Footer Placeholder 3">
            <a:extLst>
              <a:ext uri="{FF2B5EF4-FFF2-40B4-BE49-F238E27FC236}">
                <a16:creationId xmlns:a16="http://schemas.microsoft.com/office/drawing/2014/main" id="{D1EE6CD0-2883-BE00-7A37-AEBDDBEAB9E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970D67C0-55BA-BE84-7339-280D1F7D3C3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894DCB-B0B4-4202-A4B7-E085325358DC}" type="slidenum">
              <a:rPr lang="en-GB" smtClean="0"/>
              <a:t>‹#›</a:t>
            </a:fld>
            <a:endParaRPr lang="en-GB"/>
          </a:p>
        </p:txBody>
      </p:sp>
    </p:spTree>
    <p:extLst>
      <p:ext uri="{BB962C8B-B14F-4D97-AF65-F5344CB8AC3E}">
        <p14:creationId xmlns:p14="http://schemas.microsoft.com/office/powerpoint/2010/main" val="18614986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3964CB-DDF6-46BE-8177-760CEBCFC587}" type="datetimeFigureOut">
              <a:rPr lang="en-GB" smtClean="0"/>
              <a:t>08/09/2026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6E80D6-E494-40D6-93EE-412ACE24584E}" type="slidenum">
              <a:rPr lang="en-GB" smtClean="0"/>
              <a:t>‹#›</a:t>
            </a:fld>
            <a:endParaRPr lang="en-GB"/>
          </a:p>
        </p:txBody>
      </p:sp>
    </p:spTree>
    <p:extLst>
      <p:ext uri="{BB962C8B-B14F-4D97-AF65-F5344CB8AC3E}">
        <p14:creationId xmlns:p14="http://schemas.microsoft.com/office/powerpoint/2010/main" val="330459350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Six phases of the PDLC
TIME 2:30–3:30 (1 minutes)
SPEAKING CUES
• Read the six phases without explaining every activity.
• Emphasise feedback loops and decisions.
• Feasibility and user learning continue across phases.
TRANSITION
We begin by deciding whether the problem deserves a solution.
STUDY SCRIPT
We will use six phases: discovery and ideation, definition and scoping, design and prototyping, development and testing, launch and commercialization, and iteration and maintenance.
These labels organise the work. They do not imply that every project follows a neat one-way sequence. A prototype can reveal that we misunderstood the user. A field test can change the requirements. Support requests after launch can expose a new opportunity.
At each stage, ask what we currently believe, what evidence we need, and which decision the evidence will support. We may proceed, revise the idea, pause, or stop. Feasibility, economics, and user learning continue throughout the process. For a scientific audience, this should feel familiar: assumptions lead to experiments, and results inform the next step.
SOURCES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1. Discovery &amp; Ideation
TIME 3:30–6:00 (2.5 minutes)
SPEAKING CUES
• Ask about the last real experience, not whether people like an idea.
• Distinguish user, buyer, and decision-maker.
• Explore alternative solutions before choosing technology.
TRANSITION
The Fire Phone shows why building a distinctive product does not guarantee adoption.
STUDY SCRIPT
Discovery begins with understanding what people are trying to accomplish. We need to establish whether a problem occurs often enough, matters enough, and remains poorly addressed by current alternatives. An interview should focus on an actual experience. Ask someone to describe the last time the problem occurred, what they did, and what it cost in time, effort, or money.
If we ask whether they like our proposed idea, we may receive encouragement without useful evidence. People are often polite. Their existing behaviour and willingness to change a workflow tell us more.
Consider researchers who spend hours moving data between instruments and analysis tools. The first assumption might be that they need a faster analysis algorithm. Observation could reveal that file preparation, naming, and manual transfer cause the main difficulty. That opens several possible solutions: automated import, direct instrument integration, a shared data platform, or a service that handles the preparation.
Ideation keeps those possibilities open long enough to compare them. A multidisciplinary group is valuable because a scientist, engineer, designer, and support colleague may see different parts of the problem.
In air-quality monitoring, we also need to distinguish the person looking at measurements from the person approving the purchase and the person responsible for responding. A facilities manager, researcher, and procurement team may value different things.
The output is evidence for a specific problem and a set of plausible solutions. We have enough understanding to define the opportunity more carefully, while keeping our assumptions visible. The most important soft skill here is listening closely enough to allow the evidence to change our original idea.
SOURCES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Amazon Fire Phone
TIME 6:00–8:00 (2 minutes)
SPEAKING CUES
• 2014 launch with Dynamic Perspective and Firefly.
• About $170m in inventory and supplier-commitment charges, not development cost.
• Distinguish documented outcome from interpretation of causes.
TRANSITION
The next phase translates a worthwhile opportunity into specific requirements.
STUDY SCRIPT
Amazon introduced the Fire Phone in 2014 with distinctive features. Dynamic Perspective responded to how the user held and viewed the device. Firefly could recognise products and media. The product existed, it worked, and it had the backing of a major company.
Commercial results nevertheless fell short. Amazon later reported approximately 170 million dollars in charges, primarily associated with Fire Phone inventory valuation and supplier commitments. That number describes those charges. It is not a measure of the total development cost or the entire lifetime loss.
This is a useful counterexample to the assumption, 'If you build it, they will come.' The evidence establishes disappointing commercial results despite distinctive technology. It does not establish that the company did no user research, or that one feature alone caused the outcome.
The question for us is whether customers have a sufficiently strong reason to choose a new product over what they already use. Adoption can require spending money, learning new habits, accepting different integrations, and giving up familiar alternatives.
The parallel for scientific products is straightforward. An additional capability may be exciting to the development team. We still need evidence that intended users value it enough to adopt the complete solution. Ask the audience to consider: what would make your next customer change their current workflow?
SOURCES
https://www.sec.gov/Archives/edgar/data/1018724/000101872416000172/amzn-20151231x10k.htm
https://press.aboutamazon.com/2014/6/introducing-fire-the-first-smartphone-designed-by-amazon
https://www.laptopsdirect.co.uk/grade-a1-as-new-but-box-opened-amazon-fire-phone-black-32gb-unlocked-77229634-1-amzfire32gbbl/version.asp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2. Definition &amp; Scoping
TIME 8:00–11:00 (3 minutes)
SPEAKING CUES
• Separate desired outcomes from feature lists.
• Define operating conditions and acceptance criteria.
• Explain OKRs with clearly illustrative targets.
• Prius: the target increased from 1.5 times to twice conventional fuel efficiency.
TRANSITION
Once the scope is clear enough, prototypes help us test the design.
STUDY SCRIPT
Definition and scoping turn the opportunity into a clear commitment. We specify the intended user, the use case, the benefit, the boundaries of the first version, and how we will judge success.
A requirement such as 'the product should be reliable' is too broad to guide a test. We need to identify the operating conditions, the expected behaviour, and the threshold that would be acceptable. For a monitoring product, this could include data availability over a defined deployment period, measurement performance across specified conditions, and the maintenance effort expected from the operator.
Objectives and key results, often called OKRs, help connect development activity to outcomes. The objective states what we want to accomplish. Key results describe measurable evidence of progress. For example, an illustrative objective could be to make installation easier for facilities teams. Possible key results might include successful unaided installation by a stated proportion of pilot users and a reduction in median setup time. The numerical thresholds should come from user needs and pilot evidence. They are not universal requirements.
Toyota's Prius provides a useful historical example of a measurable ambition guiding concept selection. The G21 project initially considered fuel efficiency 1.5 times that of a comparable conventional car. The ambition increased to twice the fuel efficiency, alongside leadership's push towards a hybrid. That strengthened the case for a different powertrain approach.
The lesson is that requirements influence engineering choices. They also expose trade-offs. Adding range, accuracy, durability, or features can affect cost, size, and development effort. Scoping requires negotiation between disciplines, with a shared understanding of what the first version must achieve and what can wait. It should end with criteria that both the team and relevant stakeholders can use to assess the result.
SOURCES
https://global.toyota/en/prius20th/challenge/birth/01/</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3. Design &amp; Prototyping
TIME 11:00–13:30 (2.5 minutes)
SPEAKING CUES
• Choose prototype fidelity according to the question.
• Proof of concept, prototype, and MVP have different purposes.
• Use air-monitor enclosure versus sensing bench example.
TRANSITION
Physical models make this principle easy to see.
STUDY SCRIPT
A prototype is a way to ask a focused question about the proposed product. It should contain enough detail to answer that question without demanding the effort of a finished system.
A sketch can help compare ideas. A clickable interface can test whether users understand the sequence of actions. A bench setup can investigate technical behaviour. A physical mock-up can reveal whether someone can reach a connector or mount the product in the intended location.
It helps to distinguish three terms. A proof of concept demonstrates that a technical principle can work. A prototype explores some aspect of the design or interaction. A minimum viable product, or MVP, is a limited usable solution that allows learning from actual use. An MVP still needs the quality appropriate to its intended purpose.
For an air-quality monitor, we might examine enclosure size and mounting with a simple model while evaluating sensing behaviour on a separate bench setup. Later we must test the integrated system because packaging and electronics can influence the measurement environment. The early separation simply helps us learn about individual questions efficiently.
We should decide in advance what observation would make us revise the design. If every result is interpreted as positive, the prototype is providing reassurance rather than useful evidence.
This phase benefits from open criticism. A colleague finding a difficult interaction or a technical weakness has helped the project. The earlier we identify it, the more options we have for changing the design. Teams need enough psychological safety to report weak results and challenge an attractive concept.
SOURCES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Learning through prototypes
TIME 13:30–15:00 (1.5 minutes)
SPEAKING CUES
• Clay model tests physical form, not road performance.
• Photo shows a Ford clay model, do not call this particular model full-size.
• Dyson reports 5,127 prototypes; the lesson is learning, not the count.
TRANSITION
An accepted design still has to become a repeatable and dependable product.
STUDY SCRIPT
Automotive design gives us a familiar example. Clay models allow designers to examine a vehicle's physical form, proportions, and surfaces. Manufacturers also use full-size models alongside digital methods. This particular photograph shows a Ford clay model in a studio. We should be precise about what it can establish: it supports design evaluation, while road performance, durability, and safety require other forms of testing.
Dyson offers a complementary example of functional experimentation. The company reports that James Dyson developed 5,127 prototypes while working towards his first cyclonic vacuum cleaner. One early experiment attached a simple cardboard cyclone to an existing vacuum.
We do not need thousands of prototypes for every product. The useful principle is to match the experiment to the uncertainty, learn from the result, and make the next revision more informed. A discarded design can be a valuable outcome when it prevents a larger investment in the wrong approach.
SOURCES
https://media.ford.com/content/fordmedia/feu/gb/en/news/2016/10/13/molding-a-more-sustainable-future--how-ford-recycles-clay-to-red.html
https://www.coches.net/noticias/el-arte-de-modelar-en-arcilla
https://www.dyson.com/james-dyson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 4. Development &amp; Testing
TIME 15:00–18:00 (3 minutes)
SPEAKING CUES
• Development and testing overlap.
• Verification = requirements; validation = intended use.
• Discuss component variation and system interactions.
• Samsung: describe findings and response without guessing an internal failure story.
TRANSITION
A dependable product needs an equally deliberate route to adoption.
STUDY SCRIPT
Development turns the selected design into a system that can be delivered repeatedly. For hardware, that includes detailed engineering, controlled components, assembly processes, calibration, and production acceptance tests. For software, it includes implementation, installation, error handling, compatibility, and recovery from failures.
Integration matters because individually successful components can behave differently when combined. In a monitoring device, the enclosure, electronics, firmware, connectivity, and data-processing pipeline all contribute to the final result. The team needs to evaluate the complete product as well as its parts.
Verification asks whether the product meets its specified requirements. Validation asks whether it meets user needs in the intended setting. A device can meet a laboratory specification but still be difficult to install or interpret. We need evidence for both questions.
Testing should cover normal use and relevant failure conditions. It should also account for variation between units, batches, environments, or user groups. Define the acceptance criteria before judging the final results, and preserve enough traceability to understand which version produced them.
The Samsung Galaxy Note7 illustrates the consequences of battery failures and the importance of improving the testing system. Following incidents and recalls, Samsung investigated the batteries and introduced an eight-point battery safety check and additional safeguards. The documented lesson is that component and manufacturing quality require deliberate attention, alongside ordinary functionality.
For air-quality devices, field evaluation is particularly important because operating conditions can differ from the development environment. Performance claims should match the conditions and application that the evidence supports. For example, EPA's cited sensor-testing framework has a specific outdoor, fixed-site, non-regulatory scope. We should not automatically transfer it to every monitoring use.
Collaboration at this stage depends on clear handovers and a willingness to make defects visible. A test result that challenges the schedule still deserves attention because it changes what we can responsibly claim about the product.
SOURCES
https://news.samsung.com/us/Samsung-Electronics-Announces-Cause-of-Galaxy-Note7-Incidents-in-Press-Conference
https://www.epa.gov/air-sensor-toolbox/air-sensor-performance-targets-and-testing-protocols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 5. Launch &amp; Commercialization
TIME 18:00–20:00 (2 minutes)
SPEAKING CUES
• Availability, onboarding and support are part of launch.
• Windows figure is Microsoft-reported.
• Do not attribute the success to marketing alone.
TRANSITION
Launch exposes the product to a wider range of real-world conditions.
STUDY SCRIPT
Launch brings several disciplines together. The product must be available through a suitable channel, customers must understand its purpose, and the organisation must support purchasing, installation, onboarding, and ongoing use.
A staged release or pilot can expose difficulties before the deployment becomes much larger. For laboratory equipment, the product might perform well but require more training or installation support than expected. For business software, missing integration could prevent users from making it part of their routine.
Windows 95 offers a recognisable commercialization example. Microsoft coordinated a highly visible introduction with midnight retail openings around the world. The company reports seven million copies sold in the first five weeks. That result reflected the overall offering, existing demand, and the surrounding market. It does not prove that publicity alone caused success.
The lesson is to prepare the route to customers alongside the product. A launch plan should identify who the first users are, what they need to succeed, who helps when something goes wrong, and what evidence will justify expansion.
For a research product, the route may be an institutional service, a licence, a partner, a spinout, or an open-source release with funded maintenance. In each case, successful use matters more than the announcement itself. Sales and support colleagues can help R&amp;D understand why interested users do or do not complete adoption.
SOURCES
https://news.microsoft.com/announcement/launch-of-windows-95/</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 6. Iteration &amp; Maintenance
TIME 20:00–22:30 (2.5 minutes)
SPEAKING CUES
• Hubble: corrective optics and replacement camera in 1993.
• Serviceability was part of the original design.
• Connect to sensor substitution, versioning and re-evaluation.
TRANSITION
Continued operation also tells us whether the product has found a sustainable place in the market.
STUDY SCRIPT
The lifecycle continues after release. Actual operation exposes the product to more conditions and behaviours than the development team can anticipate. User feedback, support requests, failure reports, and usage patterns become new evidence.
The Hubble Space Telescope makes the value of maintenance unusually visible. After deployment in 1990, a flaw in the primary mirror impaired image quality. In 1993, astronauts installed corrective optics and a replacement camera during the first servicing mission. Subsequent missions continued to repair and upgrade the observatory.
Look at the comparison of the galaxy M100. It shows the improvement between the original camera and its replacement. Hubble had been designed for servicing in space, including components astronauts could replace. That capability helped preserve and extend its scientific value.
For a much smaller product, the same principle may involve access to a replaceable component, software updates, calibration records, and a clear support policy. If a sensor becomes unavailable, a substitute might fit mechanically yet behave differently. We need to evaluate the change before carrying forward the existing processing and performance claims.
Maintenance also includes knowing when to retire a product. Users may depend on stored data, established workflows, or compatibility with other systems. Advance notice, export options, and a migration path help them plan the transition.
The output is an updated roadmap. Some evidence leads to a small correction. Other evidence takes us back to discovery and suggests a different product. The soft skill here is maintaining an effective feedback loop between users, support, operations, and development so that learning survives the initial launch.
SOURCES
https://science.nasa.gov/missions/hubble/hubble-celebrates-30th-anniversary-of-servicing-mission-1/</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Product–market fit
TIME 22:30–24:30 (2 minutes)
SPEAKING CUES
• Problem–solution fit, fitness for purpose and market fit are distinct.
• Pilot participation and praise are early signals.
• Repeated value and sustainable support are stronger evidence.
TRANSITION
The same evidence-based approach connects every phase.
STUDY SCRIPT
Product–market fit is the point at which a defined customer group receives enough recurring value to choose the solution and sustain its use. It is something we investigate across the lifecycle rather than declare complete on launch day.
Three questions help separate the evidence. Problem–solution fit asks whether the proposed solution addresses an important need. Fitness for purpose asks whether it performs adequately in the intended setting. Product–market fit asks whether a repeatable customer group will adopt and continue supporting its use.
A successful technical pilot answers some questions, but not all of them. Participants may be unusually enthusiastic, receive intensive help, or use temporary funding. Stronger evidence can include continued use, renewals, recommendations, or expansion across similar customers. We should also understand whether supporting those customers is operationally and economically sustainable.
For example, a school-monitoring pilot could produce good measurements while nobody takes responsibility for reviewing or acting on the results. That observation may change the reporting, onboarding, integration, or target customer. It gives R&amp;D a different question to investigate.
For publicly funded and open-source products, sustained organisational commitment or funded maintenance may be more relevant than commercial renewal. The central idea remains the same: examine whether the solution continues to create value under realistic conditions.
SOURCES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7.jpe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png"/><Relationship Id="rId7" Type="http://schemas.openxmlformats.org/officeDocument/2006/relationships/image" Target="../media/image12.jpeg"/><Relationship Id="rId2" Type="http://schemas.openxmlformats.org/officeDocument/2006/relationships/image" Target="../media/image9.jpeg"/><Relationship Id="rId1" Type="http://schemas.openxmlformats.org/officeDocument/2006/relationships/slideMaster" Target="../slideMasters/slideMaster1.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5BF79-C93E-46E4-B94F-690D14F7F6C4}" type="datetime1">
              <a:rPr lang="en-US" smtClean="0"/>
              <a:t>9/8/2026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3EE1A-8B1A-C616-CFD3-3514FEC5D6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4A11239C-96AE-42FC-9EC6-61CC8B3F6C34}" type="datetime1">
              <a:rPr lang="en-US" smtClean="0"/>
              <a:t>9/8/2026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sp>
        <p:nvSpPr>
          <p:cNvPr id="7" name="Online Image Placeholder 6">
            <a:extLst>
              <a:ext uri="{FF2B5EF4-FFF2-40B4-BE49-F238E27FC236}">
                <a16:creationId xmlns:a16="http://schemas.microsoft.com/office/drawing/2014/main" id="{0FC85BAA-B81E-B08C-B1D9-46AC6E250770}"/>
              </a:ext>
            </a:extLst>
          </p:cNvPr>
          <p:cNvSpPr>
            <a:spLocks noGrp="1"/>
          </p:cNvSpPr>
          <p:nvPr>
            <p:ph type="clipArt" sz="quarter" idx="13"/>
          </p:nvPr>
        </p:nvSpPr>
        <p:spPr>
          <a:xfrm>
            <a:off x="0" y="13032"/>
            <a:ext cx="18288000" cy="10287000"/>
          </a:xfrm>
        </p:spPr>
        <p:txBody>
          <a:bodyPr/>
          <a:lstStyle/>
          <a:p>
            <a:endParaRPr lang="en-GB"/>
          </a:p>
        </p:txBody>
      </p:sp>
      <p:pic>
        <p:nvPicPr>
          <p:cNvPr id="9" name="Picture 8">
            <a:extLst>
              <a:ext uri="{FF2B5EF4-FFF2-40B4-BE49-F238E27FC236}">
                <a16:creationId xmlns:a16="http://schemas.microsoft.com/office/drawing/2014/main" id="{AE4D051E-FD15-3EE9-CF0A-EBB76004070C}"/>
              </a:ext>
            </a:extLst>
          </p:cNvPr>
          <p:cNvPicPr>
            <a:picLocks noChangeAspect="1"/>
          </p:cNvPicPr>
          <p:nvPr userDrawn="1"/>
        </p:nvPicPr>
        <p:blipFill>
          <a:blip r:embed="rId2"/>
          <a:stretch>
            <a:fillRect/>
          </a:stretch>
        </p:blipFill>
        <p:spPr>
          <a:xfrm>
            <a:off x="0" y="0"/>
            <a:ext cx="18288000" cy="10265664"/>
          </a:xfrm>
          <a:prstGeom prst="rect">
            <a:avLst/>
          </a:prstGeom>
        </p:spPr>
      </p:pic>
      <p:pic>
        <p:nvPicPr>
          <p:cNvPr id="8" name="Picture 7">
            <a:extLst>
              <a:ext uri="{FF2B5EF4-FFF2-40B4-BE49-F238E27FC236}">
                <a16:creationId xmlns:a16="http://schemas.microsoft.com/office/drawing/2014/main" id="{D1CFC005-3159-3F37-F0BF-BA768A15EF6A}"/>
              </a:ext>
            </a:extLst>
          </p:cNvPr>
          <p:cNvPicPr>
            <a:picLocks noChangeAspect="1"/>
          </p:cNvPicPr>
          <p:nvPr userDrawn="1"/>
        </p:nvPicPr>
        <p:blipFill>
          <a:blip r:embed="rId3"/>
          <a:stretch>
            <a:fillRect/>
          </a:stretch>
        </p:blipFill>
        <p:spPr>
          <a:xfrm>
            <a:off x="0" y="0"/>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a:stretch>
            <a:fillRect/>
          </a:stretch>
        </p:blipFill>
        <p:spPr>
          <a:xfrm>
            <a:off x="228600" y="9202112"/>
            <a:ext cx="4035902" cy="896190"/>
          </a:xfrm>
          <a:prstGeom prst="rect">
            <a:avLst/>
          </a:prstGeom>
        </p:spPr>
      </p:pic>
      <p:pic>
        <p:nvPicPr>
          <p:cNvPr id="13" name="Picture 12">
            <a:extLst>
              <a:ext uri="{FF2B5EF4-FFF2-40B4-BE49-F238E27FC236}">
                <a16:creationId xmlns:a16="http://schemas.microsoft.com/office/drawing/2014/main" id="{55903C8F-59E1-3CE9-3F7F-44E040F262B6}"/>
              </a:ext>
            </a:extLst>
          </p:cNvPr>
          <p:cNvPicPr>
            <a:picLocks noChangeAspect="1"/>
          </p:cNvPicPr>
          <p:nvPr userDrawn="1"/>
        </p:nvPicPr>
        <p:blipFill>
          <a:blip r:embed="rId5"/>
          <a:stretch>
            <a:fillRect/>
          </a:stretch>
        </p:blipFill>
        <p:spPr>
          <a:xfrm>
            <a:off x="7051209" y="109863"/>
            <a:ext cx="3271181" cy="2615550"/>
          </a:xfrm>
          <a:prstGeom prst="rect">
            <a:avLst/>
          </a:prstGeom>
        </p:spPr>
      </p:pic>
      <p:sp>
        <p:nvSpPr>
          <p:cNvPr id="15" name="TextBox 13">
            <a:extLst>
              <a:ext uri="{FF2B5EF4-FFF2-40B4-BE49-F238E27FC236}">
                <a16:creationId xmlns:a16="http://schemas.microsoft.com/office/drawing/2014/main" id="{AA753E9F-8557-95B5-2691-4FC61C0B560D}"/>
              </a:ext>
            </a:extLst>
          </p:cNvPr>
          <p:cNvSpPr txBox="1"/>
          <p:nvPr userDrawn="1"/>
        </p:nvSpPr>
        <p:spPr>
          <a:xfrm>
            <a:off x="3076831" y="3543816"/>
            <a:ext cx="12134338" cy="2133084"/>
          </a:xfrm>
          <a:prstGeom prst="rect">
            <a:avLst/>
          </a:prstGeom>
        </p:spPr>
        <p:txBody>
          <a:bodyPr lIns="0" tIns="0" rIns="0" bIns="0" rtlCol="0" anchor="t">
            <a:spAutoFit/>
          </a:bodyPr>
          <a:lstStyle/>
          <a:p>
            <a:pPr algn="ctr">
              <a:lnSpc>
                <a:spcPts val="17542"/>
              </a:lnSpc>
            </a:pPr>
            <a:r>
              <a:rPr lang="en-US" sz="12530">
                <a:solidFill>
                  <a:srgbClr val="FFFFFF"/>
                </a:solidFill>
                <a:latin typeface="Poppins"/>
                <a:ea typeface="Poppins"/>
                <a:cs typeface="Poppins"/>
                <a:sym typeface="Poppins"/>
              </a:rPr>
              <a:t>Next</a:t>
            </a:r>
            <a:r>
              <a:rPr lang="en-US" sz="12530" b="1">
                <a:solidFill>
                  <a:srgbClr val="FFFFFF"/>
                </a:solidFill>
                <a:latin typeface="Poppins Bold"/>
                <a:ea typeface="Poppins Bold"/>
                <a:cs typeface="Poppins Bold"/>
                <a:sym typeface="Poppins Bold"/>
              </a:rPr>
              <a:t>AIRE</a:t>
            </a:r>
            <a:endParaRPr lang="en-US" sz="12530" b="1" dirty="0">
              <a:solidFill>
                <a:srgbClr val="FFFFFF"/>
              </a:solidFill>
              <a:latin typeface="Poppins Bold"/>
              <a:ea typeface="Poppins Bold"/>
              <a:cs typeface="Poppins Bold"/>
              <a:sym typeface="Poppins Bold"/>
            </a:endParaRPr>
          </a:p>
        </p:txBody>
      </p:sp>
      <p:sp>
        <p:nvSpPr>
          <p:cNvPr id="16" name="TextBox 14">
            <a:extLst>
              <a:ext uri="{FF2B5EF4-FFF2-40B4-BE49-F238E27FC236}">
                <a16:creationId xmlns:a16="http://schemas.microsoft.com/office/drawing/2014/main" id="{3D18B3F2-20D9-5408-D860-83200EED783F}"/>
              </a:ext>
            </a:extLst>
          </p:cNvPr>
          <p:cNvSpPr txBox="1"/>
          <p:nvPr userDrawn="1"/>
        </p:nvSpPr>
        <p:spPr>
          <a:xfrm>
            <a:off x="2869148" y="5929658"/>
            <a:ext cx="12549704" cy="509242"/>
          </a:xfrm>
          <a:prstGeom prst="rect">
            <a:avLst/>
          </a:prstGeom>
        </p:spPr>
        <p:txBody>
          <a:bodyPr wrap="square" lIns="0" tIns="0" rIns="0" bIns="0" rtlCol="0" anchor="t">
            <a:spAutoFit/>
          </a:bodyPr>
          <a:lstStyle/>
          <a:p>
            <a:pPr algn="ctr">
              <a:lnSpc>
                <a:spcPts val="4111"/>
              </a:lnSpc>
            </a:pPr>
            <a:r>
              <a:rPr lang="en-US" sz="3200">
                <a:solidFill>
                  <a:srgbClr val="FFFFFF"/>
                </a:solidFill>
                <a:latin typeface="Poppins"/>
                <a:ea typeface="Poppins"/>
                <a:cs typeface="Poppins"/>
                <a:sym typeface="Poppins"/>
              </a:rPr>
              <a:t>Next Generation AI Researchers for Air Quality Excellence</a:t>
            </a:r>
          </a:p>
        </p:txBody>
      </p:sp>
    </p:spTree>
    <p:extLst>
      <p:ext uri="{BB962C8B-B14F-4D97-AF65-F5344CB8AC3E}">
        <p14:creationId xmlns:p14="http://schemas.microsoft.com/office/powerpoint/2010/main" val="35277077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3EE1A-8B1A-C616-CFD3-3514FEC5D6CA}"/>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FFB07C36-456A-4703-B8BA-956A57E9A5E7}" type="datetime1">
              <a:rPr lang="en-US" smtClean="0"/>
              <a:t>9/8/2026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pic>
        <p:nvPicPr>
          <p:cNvPr id="6" name="Picture 5">
            <a:extLst>
              <a:ext uri="{FF2B5EF4-FFF2-40B4-BE49-F238E27FC236}">
                <a16:creationId xmlns:a16="http://schemas.microsoft.com/office/drawing/2014/main" id="{1472D2B1-3B10-6055-AAC0-726A999C5E12}"/>
              </a:ext>
            </a:extLst>
          </p:cNvPr>
          <p:cNvPicPr>
            <a:picLocks noChangeAspect="1"/>
          </p:cNvPicPr>
          <p:nvPr userDrawn="1"/>
        </p:nvPicPr>
        <p:blipFill>
          <a:blip r:embed="rId2"/>
          <a:stretch>
            <a:fillRect/>
          </a:stretch>
        </p:blipFill>
        <p:spPr>
          <a:xfrm>
            <a:off x="-533267" y="-17787"/>
            <a:ext cx="8943607" cy="10065368"/>
          </a:xfrm>
          <a:prstGeom prst="rect">
            <a:avLst/>
          </a:prstGeom>
        </p:spPr>
      </p:pic>
      <p:sp>
        <p:nvSpPr>
          <p:cNvPr id="7" name="Online Image Placeholder 6">
            <a:extLst>
              <a:ext uri="{FF2B5EF4-FFF2-40B4-BE49-F238E27FC236}">
                <a16:creationId xmlns:a16="http://schemas.microsoft.com/office/drawing/2014/main" id="{0FC85BAA-B81E-B08C-B1D9-46AC6E250770}"/>
              </a:ext>
            </a:extLst>
          </p:cNvPr>
          <p:cNvSpPr>
            <a:spLocks noGrp="1"/>
          </p:cNvSpPr>
          <p:nvPr>
            <p:ph type="clipArt" sz="quarter" idx="13"/>
          </p:nvPr>
        </p:nvSpPr>
        <p:spPr>
          <a:xfrm>
            <a:off x="15240" y="-17787"/>
            <a:ext cx="18288000" cy="10287000"/>
          </a:xfrm>
        </p:spPr>
        <p:txBody>
          <a:bodyPr/>
          <a:lstStyle/>
          <a:p>
            <a:endParaRPr lang="en-GB"/>
          </a:p>
        </p:txBody>
      </p:sp>
      <p:pic>
        <p:nvPicPr>
          <p:cNvPr id="8" name="Picture 7">
            <a:extLst>
              <a:ext uri="{FF2B5EF4-FFF2-40B4-BE49-F238E27FC236}">
                <a16:creationId xmlns:a16="http://schemas.microsoft.com/office/drawing/2014/main" id="{D1CFC005-3159-3F37-F0BF-BA768A15EF6A}"/>
              </a:ext>
            </a:extLst>
          </p:cNvPr>
          <p:cNvPicPr>
            <a:picLocks noChangeAspect="1"/>
          </p:cNvPicPr>
          <p:nvPr userDrawn="1"/>
        </p:nvPicPr>
        <p:blipFill>
          <a:blip r:embed="rId3"/>
          <a:stretch>
            <a:fillRect/>
          </a:stretch>
        </p:blipFill>
        <p:spPr>
          <a:xfrm>
            <a:off x="15240" y="-13032"/>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a:stretch>
            <a:fillRect/>
          </a:stretch>
        </p:blipFill>
        <p:spPr>
          <a:xfrm>
            <a:off x="228600" y="9202112"/>
            <a:ext cx="4035902" cy="896190"/>
          </a:xfrm>
          <a:prstGeom prst="rect">
            <a:avLst/>
          </a:prstGeom>
        </p:spPr>
      </p:pic>
      <p:sp>
        <p:nvSpPr>
          <p:cNvPr id="10" name="Freeform 11">
            <a:extLst>
              <a:ext uri="{FF2B5EF4-FFF2-40B4-BE49-F238E27FC236}">
                <a16:creationId xmlns:a16="http://schemas.microsoft.com/office/drawing/2014/main" id="{963A73CE-5D55-AFA4-33B1-D6FE4ED7AEC3}"/>
              </a:ext>
            </a:extLst>
          </p:cNvPr>
          <p:cNvSpPr/>
          <p:nvPr userDrawn="1"/>
        </p:nvSpPr>
        <p:spPr>
          <a:xfrm>
            <a:off x="10896600" y="925220"/>
            <a:ext cx="2860324" cy="2284778"/>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5"/>
            <a:stretch>
              <a:fillRect/>
            </a:stretch>
          </a:blipFill>
        </p:spPr>
        <p:txBody>
          <a:bodyPr/>
          <a:lstStyle/>
          <a:p>
            <a:endParaRPr lang="el-GR"/>
          </a:p>
        </p:txBody>
      </p:sp>
      <p:sp>
        <p:nvSpPr>
          <p:cNvPr id="15" name="TextBox 13">
            <a:extLst>
              <a:ext uri="{FF2B5EF4-FFF2-40B4-BE49-F238E27FC236}">
                <a16:creationId xmlns:a16="http://schemas.microsoft.com/office/drawing/2014/main" id="{AA753E9F-8557-95B5-2691-4FC61C0B560D}"/>
              </a:ext>
            </a:extLst>
          </p:cNvPr>
          <p:cNvSpPr txBox="1"/>
          <p:nvPr userDrawn="1"/>
        </p:nvSpPr>
        <p:spPr>
          <a:xfrm>
            <a:off x="6537960" y="3320814"/>
            <a:ext cx="12134338" cy="2133084"/>
          </a:xfrm>
          <a:prstGeom prst="rect">
            <a:avLst/>
          </a:prstGeom>
        </p:spPr>
        <p:txBody>
          <a:bodyPr lIns="0" tIns="0" rIns="0" bIns="0" rtlCol="0" anchor="t">
            <a:spAutoFit/>
          </a:bodyPr>
          <a:lstStyle/>
          <a:p>
            <a:pPr algn="ctr">
              <a:lnSpc>
                <a:spcPts val="17542"/>
              </a:lnSpc>
            </a:pPr>
            <a:r>
              <a:rPr lang="en-US" sz="12530">
                <a:solidFill>
                  <a:srgbClr val="FFFFFF"/>
                </a:solidFill>
                <a:latin typeface="Poppins"/>
                <a:ea typeface="Poppins"/>
                <a:cs typeface="Poppins"/>
                <a:sym typeface="Poppins"/>
              </a:rPr>
              <a:t>Next</a:t>
            </a:r>
            <a:r>
              <a:rPr lang="en-US" sz="12530" b="1">
                <a:solidFill>
                  <a:srgbClr val="FFFFFF"/>
                </a:solidFill>
                <a:latin typeface="Poppins Bold"/>
                <a:ea typeface="Poppins Bold"/>
                <a:cs typeface="Poppins Bold"/>
                <a:sym typeface="Poppins Bold"/>
              </a:rPr>
              <a:t>AIRE</a:t>
            </a:r>
            <a:endParaRPr lang="en-US" sz="12530" b="1" dirty="0">
              <a:solidFill>
                <a:srgbClr val="FFFFFF"/>
              </a:solidFill>
              <a:latin typeface="Poppins Bold"/>
              <a:ea typeface="Poppins Bold"/>
              <a:cs typeface="Poppins Bold"/>
              <a:sym typeface="Poppins Bold"/>
            </a:endParaRPr>
          </a:p>
        </p:txBody>
      </p:sp>
      <p:sp>
        <p:nvSpPr>
          <p:cNvPr id="16" name="TextBox 14">
            <a:extLst>
              <a:ext uri="{FF2B5EF4-FFF2-40B4-BE49-F238E27FC236}">
                <a16:creationId xmlns:a16="http://schemas.microsoft.com/office/drawing/2014/main" id="{3D18B3F2-20D9-5408-D860-83200EED783F}"/>
              </a:ext>
            </a:extLst>
          </p:cNvPr>
          <p:cNvSpPr txBox="1"/>
          <p:nvPr userDrawn="1"/>
        </p:nvSpPr>
        <p:spPr>
          <a:xfrm>
            <a:off x="9068515" y="5675530"/>
            <a:ext cx="7195553" cy="1035027"/>
          </a:xfrm>
          <a:prstGeom prst="rect">
            <a:avLst/>
          </a:prstGeom>
          <a:ln>
            <a:noFill/>
          </a:ln>
        </p:spPr>
        <p:txBody>
          <a:bodyPr wrap="square" lIns="0" tIns="0" rIns="0" bIns="0" rtlCol="0" anchor="t">
            <a:spAutoFit/>
          </a:bodyPr>
          <a:lstStyle/>
          <a:p>
            <a:pPr algn="ctr">
              <a:lnSpc>
                <a:spcPts val="4111"/>
              </a:lnSpc>
            </a:pPr>
            <a:r>
              <a:rPr lang="en-US" sz="3200">
                <a:solidFill>
                  <a:srgbClr val="FFFFFF"/>
                </a:solidFill>
                <a:latin typeface="Poppins"/>
                <a:ea typeface="Poppins"/>
                <a:cs typeface="Poppins"/>
                <a:sym typeface="Poppins"/>
              </a:rPr>
              <a:t>Next Generation AI Researchers for Air Quality Excellence</a:t>
            </a:r>
          </a:p>
        </p:txBody>
      </p:sp>
      <p:sp>
        <p:nvSpPr>
          <p:cNvPr id="11" name="Freeform 11">
            <a:extLst>
              <a:ext uri="{FF2B5EF4-FFF2-40B4-BE49-F238E27FC236}">
                <a16:creationId xmlns:a16="http://schemas.microsoft.com/office/drawing/2014/main" id="{1AEC3FE6-1D42-AE05-1782-368C09A240CD}"/>
              </a:ext>
            </a:extLst>
          </p:cNvPr>
          <p:cNvSpPr/>
          <p:nvPr userDrawn="1"/>
        </p:nvSpPr>
        <p:spPr>
          <a:xfrm>
            <a:off x="11705969" y="3338601"/>
            <a:ext cx="6781800" cy="739962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5">
              <a:alphaModFix amt="20000"/>
            </a:blip>
            <a:stretch>
              <a:fillRect r="-90249" b="-26828"/>
            </a:stretch>
          </a:blipFill>
        </p:spPr>
        <p:txBody>
          <a:bodyPr/>
          <a:lstStyle/>
          <a:p>
            <a:endParaRPr lang="el-GR"/>
          </a:p>
        </p:txBody>
      </p:sp>
    </p:spTree>
    <p:extLst>
      <p:ext uri="{BB962C8B-B14F-4D97-AF65-F5344CB8AC3E}">
        <p14:creationId xmlns:p14="http://schemas.microsoft.com/office/powerpoint/2010/main" val="43344620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25001BCC-4B99-4F75-8CC4-5A07FBDE5D30}" type="datetime1">
              <a:rPr lang="en-US" smtClean="0"/>
              <a:t>9/8/2026</a:t>
            </a:fld>
            <a:endParaRPr lang="en-US"/>
          </a:p>
        </p:txBody>
      </p:sp>
      <p:sp>
        <p:nvSpPr>
          <p:cNvPr id="9" name="Freeform 3">
            <a:extLst>
              <a:ext uri="{FF2B5EF4-FFF2-40B4-BE49-F238E27FC236}">
                <a16:creationId xmlns:a16="http://schemas.microsoft.com/office/drawing/2014/main" id="{FA73A885-947B-FED1-5595-BF0CB9DA2269}"/>
              </a:ext>
            </a:extLst>
          </p:cNvPr>
          <p:cNvSpPr/>
          <p:nvPr userDrawn="1"/>
        </p:nvSpPr>
        <p:spPr>
          <a:xfrm>
            <a:off x="0" y="1555472"/>
            <a:ext cx="6254109" cy="8739148"/>
          </a:xfrm>
          <a:custGeom>
            <a:avLst/>
            <a:gdLst/>
            <a:ahLst/>
            <a:cxnLst/>
            <a:rect l="l" t="t" r="r" b="b"/>
            <a:pathLst>
              <a:path w="4544332" h="6350000">
                <a:moveTo>
                  <a:pt x="0" y="0"/>
                </a:moveTo>
                <a:lnTo>
                  <a:pt x="0" y="6350000"/>
                </a:lnTo>
                <a:lnTo>
                  <a:pt x="4544332" y="6350000"/>
                </a:lnTo>
                <a:cubicBezTo>
                  <a:pt x="4544332" y="2843530"/>
                  <a:pt x="2509380" y="0"/>
                  <a:pt x="0" y="0"/>
                </a:cubicBezTo>
                <a:close/>
              </a:path>
            </a:pathLst>
          </a:custGeom>
          <a:blipFill>
            <a:blip r:embed="rId2"/>
            <a:stretch>
              <a:fillRect l="-9185" t="-12363" b="-43912"/>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a:stretch>
            <a:fillRect/>
          </a:stretch>
        </p:blipFill>
        <p:spPr>
          <a:xfrm>
            <a:off x="-329571" y="0"/>
            <a:ext cx="2051981" cy="1640710"/>
          </a:xfrm>
          <a:prstGeom prst="rect">
            <a:avLst/>
          </a:prstGeom>
        </p:spPr>
      </p:pic>
    </p:spTree>
    <p:extLst>
      <p:ext uri="{BB962C8B-B14F-4D97-AF65-F5344CB8AC3E}">
        <p14:creationId xmlns:p14="http://schemas.microsoft.com/office/powerpoint/2010/main" val="52470759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2_Custom Layout">
    <p:bg>
      <p:bgRef idx="1001">
        <a:schemeClr val="bg1"/>
      </p:bgRef>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2"/>
          <a:stretch>
            <a:fillRect/>
          </a:stretch>
        </p:blipFill>
        <p:spPr>
          <a:xfrm>
            <a:off x="-329571" y="0"/>
            <a:ext cx="2051981" cy="1640710"/>
          </a:xfrm>
          <a:prstGeom prst="rect">
            <a:avLst/>
          </a:prstGeom>
        </p:spPr>
      </p:pic>
      <p:sp>
        <p:nvSpPr>
          <p:cNvPr id="2" name="Freeform 4">
            <a:extLst>
              <a:ext uri="{FF2B5EF4-FFF2-40B4-BE49-F238E27FC236}">
                <a16:creationId xmlns:a16="http://schemas.microsoft.com/office/drawing/2014/main" id="{E2272AE0-341C-9DAD-408A-A227D590CCD5}"/>
              </a:ext>
            </a:extLst>
          </p:cNvPr>
          <p:cNvSpPr/>
          <p:nvPr userDrawn="1"/>
        </p:nvSpPr>
        <p:spPr>
          <a:xfrm>
            <a:off x="5334000" y="0"/>
            <a:ext cx="20391119" cy="10287000"/>
          </a:xfrm>
          <a:prstGeom prst="flowChartExtract">
            <a:avLst/>
          </a:prstGeom>
          <a:blipFill>
            <a:blip r:embed="rId3"/>
            <a:srcRect/>
            <a:stretch>
              <a:fillRect l="-12145" r="36473"/>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a:stretch>
            <a:fillRect/>
          </a:stretch>
        </p:blipFill>
        <p:spPr>
          <a:xfrm>
            <a:off x="14252098" y="9182100"/>
            <a:ext cx="4035902" cy="896190"/>
          </a:xfrm>
          <a:prstGeom prst="rect">
            <a:avLst/>
          </a:prstGeom>
        </p:spPr>
      </p:pic>
    </p:spTree>
    <p:extLst>
      <p:ext uri="{BB962C8B-B14F-4D97-AF65-F5344CB8AC3E}">
        <p14:creationId xmlns:p14="http://schemas.microsoft.com/office/powerpoint/2010/main" val="881098624"/>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B58BE68E-1A4A-4322-8BAF-237E971FA78D}" type="datetime1">
              <a:rPr lang="en-US" smtClean="0"/>
              <a:t>9/8/2026</a:t>
            </a:fld>
            <a:endParaRPr lang="en-US"/>
          </a:p>
        </p:txBody>
      </p:sp>
      <p:grpSp>
        <p:nvGrpSpPr>
          <p:cNvPr id="4" name="Group 2">
            <a:extLst>
              <a:ext uri="{FF2B5EF4-FFF2-40B4-BE49-F238E27FC236}">
                <a16:creationId xmlns:a16="http://schemas.microsoft.com/office/drawing/2014/main" id="{33C29D15-A5F6-6048-E6D5-D7B2F1F877F9}"/>
              </a:ext>
            </a:extLst>
          </p:cNvPr>
          <p:cNvGrpSpPr/>
          <p:nvPr userDrawn="1"/>
        </p:nvGrpSpPr>
        <p:grpSpPr>
          <a:xfrm>
            <a:off x="-217170" y="1638381"/>
            <a:ext cx="9019485" cy="9019485"/>
            <a:chOff x="0" y="0"/>
            <a:chExt cx="6350000" cy="6350000"/>
          </a:xfrm>
        </p:grpSpPr>
        <p:sp>
          <p:nvSpPr>
            <p:cNvPr id="5" name="Freeform 3">
              <a:extLst>
                <a:ext uri="{FF2B5EF4-FFF2-40B4-BE49-F238E27FC236}">
                  <a16:creationId xmlns:a16="http://schemas.microsoft.com/office/drawing/2014/main" id="{D656A311-2087-B570-42EA-23DC97085F28}"/>
                </a:ext>
              </a:extLst>
            </p:cNvPr>
            <p:cNvSpPr/>
            <p:nvPr/>
          </p:nvSpPr>
          <p:spPr>
            <a:xfrm>
              <a:off x="0" y="0"/>
              <a:ext cx="6350000" cy="6350000"/>
            </a:xfrm>
            <a:custGeom>
              <a:avLst/>
              <a:gdLst/>
              <a:ahLst/>
              <a:cxnLst/>
              <a:rect l="l" t="t" r="r" b="b"/>
              <a:pathLst>
                <a:path w="6350000" h="6350000">
                  <a:moveTo>
                    <a:pt x="0" y="0"/>
                  </a:moveTo>
                  <a:lnTo>
                    <a:pt x="0" y="6350000"/>
                  </a:lnTo>
                  <a:lnTo>
                    <a:pt x="6350000" y="6350000"/>
                  </a:lnTo>
                  <a:cubicBezTo>
                    <a:pt x="6350000" y="2843530"/>
                    <a:pt x="3506470" y="0"/>
                    <a:pt x="0" y="0"/>
                  </a:cubicBezTo>
                  <a:close/>
                </a:path>
              </a:pathLst>
            </a:custGeom>
            <a:blipFill>
              <a:blip r:embed="rId2">
                <a:alphaModFix amt="75000"/>
              </a:blip>
              <a:stretch>
                <a:fillRect t="-25136" b="-25136"/>
              </a:stretch>
            </a:blipFill>
          </p:spPr>
          <p:txBody>
            <a:bodyPr/>
            <a:lstStyle/>
            <a:p>
              <a:endParaRPr lang="el-GR"/>
            </a:p>
          </p:txBody>
        </p:sp>
      </p:gr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a:stretch>
            <a:fillRect/>
          </a:stretch>
        </p:blipFill>
        <p:spPr>
          <a:xfrm>
            <a:off x="-329571" y="0"/>
            <a:ext cx="2051981" cy="1640710"/>
          </a:xfrm>
          <a:prstGeom prst="rect">
            <a:avLst/>
          </a:prstGeom>
        </p:spPr>
      </p:pic>
    </p:spTree>
    <p:extLst>
      <p:ext uri="{BB962C8B-B14F-4D97-AF65-F5344CB8AC3E}">
        <p14:creationId xmlns:p14="http://schemas.microsoft.com/office/powerpoint/2010/main" val="345809447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a:stretch>
            <a:fillRect/>
          </a:stretch>
        </p:blipFill>
        <p:spPr>
          <a:xfrm>
            <a:off x="-329571" y="0"/>
            <a:ext cx="2051981" cy="1640710"/>
          </a:xfrm>
          <a:prstGeom prst="rect">
            <a:avLst/>
          </a:prstGeom>
        </p:spPr>
      </p:pic>
      <p:grpSp>
        <p:nvGrpSpPr>
          <p:cNvPr id="2" name="Group 20">
            <a:extLst>
              <a:ext uri="{FF2B5EF4-FFF2-40B4-BE49-F238E27FC236}">
                <a16:creationId xmlns:a16="http://schemas.microsoft.com/office/drawing/2014/main" id="{AE77915C-58F5-66DE-C7DA-B914631DBF32}"/>
              </a:ext>
            </a:extLst>
          </p:cNvPr>
          <p:cNvGrpSpPr/>
          <p:nvPr userDrawn="1"/>
        </p:nvGrpSpPr>
        <p:grpSpPr>
          <a:xfrm>
            <a:off x="12806460" y="541466"/>
            <a:ext cx="5481540" cy="9745534"/>
            <a:chOff x="0" y="0"/>
            <a:chExt cx="3571665" cy="6350000"/>
          </a:xfrm>
        </p:grpSpPr>
        <p:sp>
          <p:nvSpPr>
            <p:cNvPr id="4" name="Freeform 21">
              <a:extLst>
                <a:ext uri="{FF2B5EF4-FFF2-40B4-BE49-F238E27FC236}">
                  <a16:creationId xmlns:a16="http://schemas.microsoft.com/office/drawing/2014/main" id="{5E78CA94-BA02-F0AA-307E-BFA60F320CE0}"/>
                </a:ext>
              </a:extLst>
            </p:cNvPr>
            <p:cNvSpPr/>
            <p:nvPr/>
          </p:nvSpPr>
          <p:spPr>
            <a:xfrm>
              <a:off x="0" y="0"/>
              <a:ext cx="3571665" cy="6350000"/>
            </a:xfrm>
            <a:custGeom>
              <a:avLst/>
              <a:gdLst/>
              <a:ahLst/>
              <a:cxnLst/>
              <a:rect l="l" t="t" r="r" b="b"/>
              <a:pathLst>
                <a:path w="3571665" h="6350000">
                  <a:moveTo>
                    <a:pt x="3571665" y="0"/>
                  </a:moveTo>
                  <a:lnTo>
                    <a:pt x="3571665" y="6350000"/>
                  </a:lnTo>
                  <a:lnTo>
                    <a:pt x="0" y="6350000"/>
                  </a:lnTo>
                  <a:lnTo>
                    <a:pt x="0" y="4433570"/>
                  </a:lnTo>
                  <a:cubicBezTo>
                    <a:pt x="0" y="1985010"/>
                    <a:pt x="1599115" y="0"/>
                    <a:pt x="3571665" y="0"/>
                  </a:cubicBezTo>
                  <a:close/>
                </a:path>
              </a:pathLst>
            </a:custGeom>
            <a:blipFill>
              <a:blip r:embed="rId4"/>
              <a:stretch>
                <a:fillRect b="-12493"/>
              </a:stretch>
            </a:blipFill>
          </p:spPr>
          <p:txBody>
            <a:bodyPr/>
            <a:lstStyle/>
            <a:p>
              <a:endParaRPr lang="el-GR"/>
            </a:p>
          </p:txBody>
        </p:sp>
      </p:grpSp>
    </p:spTree>
    <p:extLst>
      <p:ext uri="{BB962C8B-B14F-4D97-AF65-F5344CB8AC3E}">
        <p14:creationId xmlns:p14="http://schemas.microsoft.com/office/powerpoint/2010/main" val="79962119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3_Custom Layout">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07FDC6-9BDE-6AE3-B330-405883C1FD0A}"/>
              </a:ext>
            </a:extLst>
          </p:cNvPr>
          <p:cNvPicPr>
            <a:picLocks noChangeAspect="1"/>
          </p:cNvPicPr>
          <p:nvPr userDrawn="1"/>
        </p:nvPicPr>
        <p:blipFill>
          <a:blip r:embed="rId2"/>
          <a:srcRect t="16358" b="32081"/>
          <a:stretch>
            <a:fillRect/>
          </a:stretch>
        </p:blipFill>
        <p:spPr>
          <a:xfrm>
            <a:off x="0" y="0"/>
            <a:ext cx="18288000" cy="10287000"/>
          </a:xfrm>
          <a:prstGeom prst="rect">
            <a:avLst/>
          </a:prstGeom>
        </p:spPr>
      </p:pic>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4"/>
          <a:stretch>
            <a:fillRect/>
          </a:stretch>
        </p:blipFill>
        <p:spPr>
          <a:xfrm>
            <a:off x="-329571" y="0"/>
            <a:ext cx="2051981" cy="1640710"/>
          </a:xfrm>
          <a:prstGeom prst="rect">
            <a:avLst/>
          </a:prstGeom>
        </p:spPr>
      </p:pic>
    </p:spTree>
    <p:extLst>
      <p:ext uri="{BB962C8B-B14F-4D97-AF65-F5344CB8AC3E}">
        <p14:creationId xmlns:p14="http://schemas.microsoft.com/office/powerpoint/2010/main" val="644883029"/>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Custom Layout">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A3A6BB43-E16D-4909-B705-10F3C312386B}" type="datetime1">
              <a:rPr lang="en-US" smtClean="0"/>
              <a:t>9/8/2026</a:t>
            </a:fld>
            <a:endParaRPr lang="en-US"/>
          </a:p>
        </p:txBody>
      </p:sp>
      <p:sp>
        <p:nvSpPr>
          <p:cNvPr id="5" name="Rectangle 4">
            <a:extLst>
              <a:ext uri="{FF2B5EF4-FFF2-40B4-BE49-F238E27FC236}">
                <a16:creationId xmlns:a16="http://schemas.microsoft.com/office/drawing/2014/main" id="{D3606D58-4995-A0BF-8DB7-4C939F579B54}"/>
              </a:ext>
            </a:extLst>
          </p:cNvPr>
          <p:cNvSpPr/>
          <p:nvPr userDrawn="1"/>
        </p:nvSpPr>
        <p:spPr>
          <a:xfrm>
            <a:off x="0" y="6494784"/>
            <a:ext cx="18288000" cy="3792216"/>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a:stretch>
            <a:fillRect/>
          </a:stretch>
        </p:blipFill>
        <p:spPr>
          <a:xfrm>
            <a:off x="-329571" y="0"/>
            <a:ext cx="2051981" cy="1640710"/>
          </a:xfrm>
          <a:prstGeom prst="rect">
            <a:avLst/>
          </a:prstGeom>
        </p:spPr>
      </p:pic>
      <p:grpSp>
        <p:nvGrpSpPr>
          <p:cNvPr id="6" name="Group 5">
            <a:extLst>
              <a:ext uri="{FF2B5EF4-FFF2-40B4-BE49-F238E27FC236}">
                <a16:creationId xmlns:a16="http://schemas.microsoft.com/office/drawing/2014/main" id="{B14D5DDD-850C-E3D5-089F-946B31AA6E4F}"/>
              </a:ext>
            </a:extLst>
          </p:cNvPr>
          <p:cNvGrpSpPr/>
          <p:nvPr userDrawn="1"/>
        </p:nvGrpSpPr>
        <p:grpSpPr>
          <a:xfrm>
            <a:off x="2243781" y="4802337"/>
            <a:ext cx="3044498" cy="3044498"/>
            <a:chOff x="0" y="0"/>
            <a:chExt cx="812800" cy="812800"/>
          </a:xfrm>
        </p:grpSpPr>
        <p:sp>
          <p:nvSpPr>
            <p:cNvPr id="7" name="Freeform 6">
              <a:extLst>
                <a:ext uri="{FF2B5EF4-FFF2-40B4-BE49-F238E27FC236}">
                  <a16:creationId xmlns:a16="http://schemas.microsoft.com/office/drawing/2014/main" id="{75832B86-816F-4E35-739E-4E4D8720A793}"/>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4"/>
              <a:stretch>
                <a:fillRect/>
              </a:stretch>
            </a:blipFill>
          </p:spPr>
          <p:txBody>
            <a:bodyPr/>
            <a:lstStyle/>
            <a:p>
              <a:endParaRPr lang="el-GR"/>
            </a:p>
          </p:txBody>
        </p:sp>
      </p:grpSp>
      <p:grpSp>
        <p:nvGrpSpPr>
          <p:cNvPr id="10" name="Group 9">
            <a:extLst>
              <a:ext uri="{FF2B5EF4-FFF2-40B4-BE49-F238E27FC236}">
                <a16:creationId xmlns:a16="http://schemas.microsoft.com/office/drawing/2014/main" id="{E47445D5-D8D6-6336-54B5-EDD6B53E34E3}"/>
              </a:ext>
            </a:extLst>
          </p:cNvPr>
          <p:cNvGrpSpPr/>
          <p:nvPr userDrawn="1"/>
        </p:nvGrpSpPr>
        <p:grpSpPr>
          <a:xfrm>
            <a:off x="12911781" y="4798394"/>
            <a:ext cx="3044498" cy="3044498"/>
            <a:chOff x="0" y="0"/>
            <a:chExt cx="812800" cy="812800"/>
          </a:xfrm>
        </p:grpSpPr>
        <p:sp>
          <p:nvSpPr>
            <p:cNvPr id="11" name="Freeform 10">
              <a:extLst>
                <a:ext uri="{FF2B5EF4-FFF2-40B4-BE49-F238E27FC236}">
                  <a16:creationId xmlns:a16="http://schemas.microsoft.com/office/drawing/2014/main" id="{E1B8107B-4159-A752-2A6F-923937A45B95}"/>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5"/>
              <a:stretch>
                <a:fillRect/>
              </a:stretch>
            </a:blipFill>
          </p:spPr>
          <p:txBody>
            <a:bodyPr/>
            <a:lstStyle/>
            <a:p>
              <a:endParaRPr lang="el-GR"/>
            </a:p>
          </p:txBody>
        </p:sp>
      </p:grpSp>
      <p:grpSp>
        <p:nvGrpSpPr>
          <p:cNvPr id="15" name="Group 14">
            <a:extLst>
              <a:ext uri="{FF2B5EF4-FFF2-40B4-BE49-F238E27FC236}">
                <a16:creationId xmlns:a16="http://schemas.microsoft.com/office/drawing/2014/main" id="{67BF38E9-5C83-1950-5E84-09CD9738214E}"/>
              </a:ext>
            </a:extLst>
          </p:cNvPr>
          <p:cNvGrpSpPr/>
          <p:nvPr userDrawn="1"/>
        </p:nvGrpSpPr>
        <p:grpSpPr>
          <a:xfrm>
            <a:off x="7562541" y="4800724"/>
            <a:ext cx="3044498" cy="3046111"/>
            <a:chOff x="9601200" y="4149039"/>
            <a:chExt cx="3044498" cy="2922843"/>
          </a:xfrm>
        </p:grpSpPr>
        <p:grpSp>
          <p:nvGrpSpPr>
            <p:cNvPr id="8" name="Group 7">
              <a:extLst>
                <a:ext uri="{FF2B5EF4-FFF2-40B4-BE49-F238E27FC236}">
                  <a16:creationId xmlns:a16="http://schemas.microsoft.com/office/drawing/2014/main" id="{4003CE0B-E8E0-B705-414C-24C924BDF831}"/>
                </a:ext>
              </a:extLst>
            </p:cNvPr>
            <p:cNvGrpSpPr/>
            <p:nvPr userDrawn="1"/>
          </p:nvGrpSpPr>
          <p:grpSpPr>
            <a:xfrm>
              <a:off x="9601200" y="4149039"/>
              <a:ext cx="3044498" cy="2922843"/>
              <a:chOff x="0" y="0"/>
              <a:chExt cx="812800" cy="812800"/>
            </a:xfrm>
          </p:grpSpPr>
          <p:sp>
            <p:nvSpPr>
              <p:cNvPr id="9" name="Freeform 8">
                <a:extLst>
                  <a:ext uri="{FF2B5EF4-FFF2-40B4-BE49-F238E27FC236}">
                    <a16:creationId xmlns:a16="http://schemas.microsoft.com/office/drawing/2014/main" id="{E8448F53-CA56-01A5-B7F3-DE10F7E2075A}"/>
                  </a:ext>
                </a:extLst>
              </p:cNvPr>
              <p:cNvSpPr/>
              <p:nvPr/>
            </p:nvSpPr>
            <p:spPr>
              <a:xfrm>
                <a:off x="0" y="0"/>
                <a:ext cx="812800" cy="812800"/>
              </a:xfrm>
              <a:custGeom>
                <a:avLst/>
                <a:gdLst/>
                <a:ahLst/>
                <a:cxnLst/>
                <a:rect l="l" t="t" r="r" b="b"/>
                <a:pathLst>
                  <a:path w="812800" h="812800">
                    <a:moveTo>
                      <a:pt x="63316" y="0"/>
                    </a:moveTo>
                    <a:lnTo>
                      <a:pt x="749484" y="0"/>
                    </a:lnTo>
                    <a:cubicBezTo>
                      <a:pt x="766277" y="0"/>
                      <a:pt x="782381" y="6671"/>
                      <a:pt x="794255" y="18545"/>
                    </a:cubicBezTo>
                    <a:cubicBezTo>
                      <a:pt x="806129" y="30419"/>
                      <a:pt x="812800" y="46523"/>
                      <a:pt x="812800" y="63316"/>
                    </a:cubicBezTo>
                    <a:lnTo>
                      <a:pt x="812800" y="749484"/>
                    </a:lnTo>
                    <a:cubicBezTo>
                      <a:pt x="812800" y="766277"/>
                      <a:pt x="806129" y="782381"/>
                      <a:pt x="794255" y="794255"/>
                    </a:cubicBezTo>
                    <a:cubicBezTo>
                      <a:pt x="782381" y="806129"/>
                      <a:pt x="766277" y="812800"/>
                      <a:pt x="749484" y="812800"/>
                    </a:cubicBezTo>
                    <a:lnTo>
                      <a:pt x="63316" y="812800"/>
                    </a:lnTo>
                    <a:cubicBezTo>
                      <a:pt x="46523" y="812800"/>
                      <a:pt x="30419" y="806129"/>
                      <a:pt x="18545" y="794255"/>
                    </a:cubicBezTo>
                    <a:cubicBezTo>
                      <a:pt x="6671" y="782381"/>
                      <a:pt x="0" y="766277"/>
                      <a:pt x="0" y="749484"/>
                    </a:cubicBezTo>
                    <a:lnTo>
                      <a:pt x="0" y="63316"/>
                    </a:lnTo>
                    <a:cubicBezTo>
                      <a:pt x="0" y="46523"/>
                      <a:pt x="6671" y="30419"/>
                      <a:pt x="18545" y="18545"/>
                    </a:cubicBezTo>
                    <a:cubicBezTo>
                      <a:pt x="30419" y="6671"/>
                      <a:pt x="46523" y="0"/>
                      <a:pt x="63316" y="0"/>
                    </a:cubicBezTo>
                    <a:close/>
                  </a:path>
                </a:pathLst>
              </a:custGeom>
              <a:blipFill>
                <a:blip r:embed="rId6"/>
                <a:stretch>
                  <a:fillRect l="-25000" r="-25000"/>
                </a:stretch>
              </a:blipFill>
            </p:spPr>
            <p:txBody>
              <a:bodyPr/>
              <a:lstStyle/>
              <a:p>
                <a:endParaRPr lang="el-GR"/>
              </a:p>
            </p:txBody>
          </p:sp>
        </p:grpSp>
        <p:sp>
          <p:nvSpPr>
            <p:cNvPr id="13" name="Rectangle 12">
              <a:extLst>
                <a:ext uri="{FF2B5EF4-FFF2-40B4-BE49-F238E27FC236}">
                  <a16:creationId xmlns:a16="http://schemas.microsoft.com/office/drawing/2014/main" id="{E8237E87-9726-1D7E-D830-7E7564A61D87}"/>
                </a:ext>
              </a:extLst>
            </p:cNvPr>
            <p:cNvSpPr/>
            <p:nvPr userDrawn="1"/>
          </p:nvSpPr>
          <p:spPr>
            <a:xfrm>
              <a:off x="9616440" y="4351487"/>
              <a:ext cx="842661" cy="450850"/>
            </a:xfrm>
            <a:prstGeom prst="rect">
              <a:avLst/>
            </a:prstGeom>
            <a:solidFill>
              <a:srgbClr val="0006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71995517"/>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4_Custom Layout">
    <p:bg>
      <p:bgRef idx="1001">
        <a:schemeClr val="bg1"/>
      </p:bgRef>
    </p:bg>
    <p:spTree>
      <p:nvGrpSpPr>
        <p:cNvPr id="1" name=""/>
        <p:cNvGrpSpPr/>
        <p:nvPr/>
      </p:nvGrpSpPr>
      <p:grpSpPr>
        <a:xfrm>
          <a:off x="0" y="0"/>
          <a:ext cx="0" cy="0"/>
          <a:chOff x="0" y="0"/>
          <a:chExt cx="0" cy="0"/>
        </a:xfrm>
      </p:grpSpPr>
      <p:sp>
        <p:nvSpPr>
          <p:cNvPr id="6" name="Freeform 4">
            <a:extLst>
              <a:ext uri="{FF2B5EF4-FFF2-40B4-BE49-F238E27FC236}">
                <a16:creationId xmlns:a16="http://schemas.microsoft.com/office/drawing/2014/main" id="{573948BD-6543-7A38-1A57-C3758689B1CF}"/>
              </a:ext>
            </a:extLst>
          </p:cNvPr>
          <p:cNvSpPr/>
          <p:nvPr userDrawn="1"/>
        </p:nvSpPr>
        <p:spPr>
          <a:xfrm>
            <a:off x="1" y="0"/>
            <a:ext cx="18288000" cy="10287000"/>
          </a:xfrm>
          <a:custGeom>
            <a:avLst/>
            <a:gdLst/>
            <a:ahLst/>
            <a:cxnLst/>
            <a:rect l="l" t="t" r="r" b="b"/>
            <a:pathLst>
              <a:path w="20198727" h="13465818">
                <a:moveTo>
                  <a:pt x="0" y="0"/>
                </a:moveTo>
                <a:lnTo>
                  <a:pt x="20198727" y="0"/>
                </a:lnTo>
                <a:lnTo>
                  <a:pt x="20198727" y="13465819"/>
                </a:lnTo>
                <a:lnTo>
                  <a:pt x="0" y="13465819"/>
                </a:lnTo>
                <a:lnTo>
                  <a:pt x="0" y="0"/>
                </a:lnTo>
                <a:close/>
              </a:path>
            </a:pathLst>
          </a:custGeom>
          <a:blipFill>
            <a:blip r:embed="rId2"/>
            <a:stretch>
              <a:fillRect t="-14725"/>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a:stretch>
            <a:fillRect/>
          </a:stretch>
        </p:blipFill>
        <p:spPr>
          <a:xfrm>
            <a:off x="228600" y="9202112"/>
            <a:ext cx="4035902" cy="896190"/>
          </a:xfrm>
          <a:prstGeom prst="rect">
            <a:avLst/>
          </a:prstGeom>
        </p:spPr>
      </p:pic>
      <p:sp>
        <p:nvSpPr>
          <p:cNvPr id="7" name="Freeform 11">
            <a:extLst>
              <a:ext uri="{FF2B5EF4-FFF2-40B4-BE49-F238E27FC236}">
                <a16:creationId xmlns:a16="http://schemas.microsoft.com/office/drawing/2014/main" id="{0AEAF7D9-ADC4-49A0-9DA9-7783245CAC9B}"/>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a:stretch>
              <a:fillRect/>
            </a:stretch>
          </a:blipFill>
        </p:spPr>
        <p:txBody>
          <a:bodyPr/>
          <a:lstStyle/>
          <a:p>
            <a:endParaRPr lang="el-GR"/>
          </a:p>
        </p:txBody>
      </p:sp>
    </p:spTree>
    <p:extLst>
      <p:ext uri="{BB962C8B-B14F-4D97-AF65-F5344CB8AC3E}">
        <p14:creationId xmlns:p14="http://schemas.microsoft.com/office/powerpoint/2010/main" val="360862866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Custom Layout">
    <p:bg>
      <p:bgRef idx="1001">
        <a:schemeClr val="bg1"/>
      </p:bgRef>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803FD400-28F7-6F22-DE86-998BFBEDF074}"/>
              </a:ext>
            </a:extLst>
          </p:cNvPr>
          <p:cNvSpPr/>
          <p:nvPr userDrawn="1"/>
        </p:nvSpPr>
        <p:spPr>
          <a:xfrm rot="-5400000">
            <a:off x="3989072" y="-4011932"/>
            <a:ext cx="10309860" cy="18288003"/>
          </a:xfrm>
          <a:custGeom>
            <a:avLst/>
            <a:gdLst/>
            <a:ahLst/>
            <a:cxnLst/>
            <a:rect l="l" t="t" r="r" b="b"/>
            <a:pathLst>
              <a:path w="12590962" h="18886443">
                <a:moveTo>
                  <a:pt x="0" y="0"/>
                </a:moveTo>
                <a:lnTo>
                  <a:pt x="12590962" y="0"/>
                </a:lnTo>
                <a:lnTo>
                  <a:pt x="12590962" y="18886443"/>
                </a:lnTo>
                <a:lnTo>
                  <a:pt x="0" y="18886443"/>
                </a:lnTo>
                <a:lnTo>
                  <a:pt x="0" y="0"/>
                </a:lnTo>
                <a:close/>
              </a:path>
            </a:pathLst>
          </a:custGeom>
          <a:blipFill>
            <a:blip r:embed="rId2">
              <a:alphaModFix/>
            </a:blip>
            <a:stretch>
              <a:fillRect/>
            </a:stretch>
          </a:blipFill>
        </p:spPr>
        <p:txBody>
          <a:bodyPr/>
          <a:lstStyle/>
          <a:p>
            <a:endParaRPr lang="el-GR"/>
          </a:p>
        </p:txBody>
      </p:sp>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83BBD6BA-554C-4DDB-80F8-8F83FFE9CA97}" type="datetime1">
              <a:rPr lang="en-US" smtClean="0"/>
              <a:t>9/8/2026</a:t>
            </a:fld>
            <a:endParaRPr lang="en-US"/>
          </a:p>
        </p:txBody>
      </p:sp>
      <p:pic>
        <p:nvPicPr>
          <p:cNvPr id="4" name="Picture 3">
            <a:extLst>
              <a:ext uri="{FF2B5EF4-FFF2-40B4-BE49-F238E27FC236}">
                <a16:creationId xmlns:a16="http://schemas.microsoft.com/office/drawing/2014/main" id="{FE4F7E55-1DB2-C0AF-3876-1821F53D1CC7}"/>
              </a:ext>
            </a:extLst>
          </p:cNvPr>
          <p:cNvPicPr>
            <a:picLocks noChangeAspect="1"/>
          </p:cNvPicPr>
          <p:nvPr userDrawn="1"/>
        </p:nvPicPr>
        <p:blipFill>
          <a:blip r:embed="rId3"/>
          <a:stretch>
            <a:fillRect/>
          </a:stretch>
        </p:blipFill>
        <p:spPr>
          <a:xfrm>
            <a:off x="0" y="0"/>
            <a:ext cx="18288000" cy="10300032"/>
          </a:xfrm>
          <a:prstGeom prst="rect">
            <a:avLst/>
          </a:prstGeom>
        </p:spPr>
      </p:pic>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4"/>
          <a:stretch>
            <a:fillRect/>
          </a:stretch>
        </p:blipFill>
        <p:spPr>
          <a:xfrm>
            <a:off x="228600" y="9202112"/>
            <a:ext cx="4035902" cy="896190"/>
          </a:xfrm>
          <a:prstGeom prst="rect">
            <a:avLst/>
          </a:prstGeom>
        </p:spPr>
      </p:pic>
      <p:sp>
        <p:nvSpPr>
          <p:cNvPr id="20" name="Rectangle: Rounded Corners 19">
            <a:extLst>
              <a:ext uri="{FF2B5EF4-FFF2-40B4-BE49-F238E27FC236}">
                <a16:creationId xmlns:a16="http://schemas.microsoft.com/office/drawing/2014/main" id="{77FD2C28-FE9D-044B-3D88-B8377B57DB85}"/>
              </a:ext>
            </a:extLst>
          </p:cNvPr>
          <p:cNvSpPr/>
          <p:nvPr userDrawn="1"/>
        </p:nvSpPr>
        <p:spPr>
          <a:xfrm>
            <a:off x="1931498" y="3965417"/>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id="{B14D5DDD-850C-E3D5-089F-946B31AA6E4F}"/>
              </a:ext>
            </a:extLst>
          </p:cNvPr>
          <p:cNvGrpSpPr/>
          <p:nvPr userDrawn="1"/>
        </p:nvGrpSpPr>
        <p:grpSpPr>
          <a:xfrm>
            <a:off x="2243781" y="4802337"/>
            <a:ext cx="3044498" cy="3044498"/>
            <a:chOff x="0" y="0"/>
            <a:chExt cx="812800" cy="812800"/>
          </a:xfrm>
        </p:grpSpPr>
        <p:sp>
          <p:nvSpPr>
            <p:cNvPr id="7" name="Freeform 6">
              <a:extLst>
                <a:ext uri="{FF2B5EF4-FFF2-40B4-BE49-F238E27FC236}">
                  <a16:creationId xmlns:a16="http://schemas.microsoft.com/office/drawing/2014/main" id="{75832B86-816F-4E35-739E-4E4D8720A793}"/>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5"/>
              <a:stretch>
                <a:fillRect/>
              </a:stretch>
            </a:blipFill>
          </p:spPr>
          <p:txBody>
            <a:bodyPr/>
            <a:lstStyle/>
            <a:p>
              <a:endParaRPr lang="el-GR"/>
            </a:p>
          </p:txBody>
        </p:sp>
      </p:grpSp>
      <p:sp>
        <p:nvSpPr>
          <p:cNvPr id="22" name="Rectangle: Rounded Corners 21">
            <a:extLst>
              <a:ext uri="{FF2B5EF4-FFF2-40B4-BE49-F238E27FC236}">
                <a16:creationId xmlns:a16="http://schemas.microsoft.com/office/drawing/2014/main" id="{C10DAFA7-7298-5A98-EC85-1AB3FB6C201B}"/>
              </a:ext>
            </a:extLst>
          </p:cNvPr>
          <p:cNvSpPr/>
          <p:nvPr userDrawn="1"/>
        </p:nvSpPr>
        <p:spPr>
          <a:xfrm>
            <a:off x="12497382" y="3965417"/>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0E96E066-0844-5673-644D-922AE47FAA9D}"/>
              </a:ext>
            </a:extLst>
          </p:cNvPr>
          <p:cNvSpPr/>
          <p:nvPr userDrawn="1"/>
        </p:nvSpPr>
        <p:spPr>
          <a:xfrm>
            <a:off x="7214440" y="3955589"/>
            <a:ext cx="3740699" cy="5223663"/>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0" name="Group 9">
            <a:extLst>
              <a:ext uri="{FF2B5EF4-FFF2-40B4-BE49-F238E27FC236}">
                <a16:creationId xmlns:a16="http://schemas.microsoft.com/office/drawing/2014/main" id="{E47445D5-D8D6-6336-54B5-EDD6B53E34E3}"/>
              </a:ext>
            </a:extLst>
          </p:cNvPr>
          <p:cNvGrpSpPr/>
          <p:nvPr userDrawn="1"/>
        </p:nvGrpSpPr>
        <p:grpSpPr>
          <a:xfrm>
            <a:off x="12911781" y="4798394"/>
            <a:ext cx="3044498" cy="3044498"/>
            <a:chOff x="0" y="0"/>
            <a:chExt cx="812800" cy="812800"/>
          </a:xfrm>
        </p:grpSpPr>
        <p:sp>
          <p:nvSpPr>
            <p:cNvPr id="11" name="Freeform 10">
              <a:extLst>
                <a:ext uri="{FF2B5EF4-FFF2-40B4-BE49-F238E27FC236}">
                  <a16:creationId xmlns:a16="http://schemas.microsoft.com/office/drawing/2014/main" id="{E1B8107B-4159-A752-2A6F-923937A45B95}"/>
                </a:ext>
              </a:extLst>
            </p:cNvPr>
            <p:cNvSpPr/>
            <p:nvPr/>
          </p:nvSpPr>
          <p:spPr>
            <a:xfrm>
              <a:off x="0" y="0"/>
              <a:ext cx="812800" cy="812800"/>
            </a:xfrm>
            <a:custGeom>
              <a:avLst/>
              <a:gdLst/>
              <a:ahLst/>
              <a:cxnLst/>
              <a:rect l="l" t="t" r="r" b="b"/>
              <a:pathLst>
                <a:path w="812800" h="812800">
                  <a:moveTo>
                    <a:pt x="58487" y="0"/>
                  </a:moveTo>
                  <a:lnTo>
                    <a:pt x="754313" y="0"/>
                  </a:lnTo>
                  <a:cubicBezTo>
                    <a:pt x="769825" y="0"/>
                    <a:pt x="784701" y="6162"/>
                    <a:pt x="795670" y="17131"/>
                  </a:cubicBezTo>
                  <a:cubicBezTo>
                    <a:pt x="806638" y="28099"/>
                    <a:pt x="812800" y="42975"/>
                    <a:pt x="812800" y="58487"/>
                  </a:cubicBezTo>
                  <a:lnTo>
                    <a:pt x="812800" y="754313"/>
                  </a:lnTo>
                  <a:cubicBezTo>
                    <a:pt x="812800" y="769825"/>
                    <a:pt x="806638" y="784701"/>
                    <a:pt x="795670" y="795670"/>
                  </a:cubicBezTo>
                  <a:cubicBezTo>
                    <a:pt x="784701" y="806638"/>
                    <a:pt x="769825" y="812800"/>
                    <a:pt x="754313" y="812800"/>
                  </a:cubicBezTo>
                  <a:lnTo>
                    <a:pt x="58487" y="812800"/>
                  </a:lnTo>
                  <a:cubicBezTo>
                    <a:pt x="42975" y="812800"/>
                    <a:pt x="28099" y="806638"/>
                    <a:pt x="17131" y="795670"/>
                  </a:cubicBezTo>
                  <a:cubicBezTo>
                    <a:pt x="6162" y="784701"/>
                    <a:pt x="0" y="769825"/>
                    <a:pt x="0" y="754313"/>
                  </a:cubicBezTo>
                  <a:lnTo>
                    <a:pt x="0" y="58487"/>
                  </a:lnTo>
                  <a:cubicBezTo>
                    <a:pt x="0" y="42975"/>
                    <a:pt x="6162" y="28099"/>
                    <a:pt x="17131" y="17131"/>
                  </a:cubicBezTo>
                  <a:cubicBezTo>
                    <a:pt x="28099" y="6162"/>
                    <a:pt x="42975" y="0"/>
                    <a:pt x="58487" y="0"/>
                  </a:cubicBezTo>
                  <a:close/>
                </a:path>
              </a:pathLst>
            </a:custGeom>
            <a:blipFill>
              <a:blip r:embed="rId6"/>
              <a:stretch>
                <a:fillRect/>
              </a:stretch>
            </a:blipFill>
          </p:spPr>
          <p:txBody>
            <a:bodyPr/>
            <a:lstStyle/>
            <a:p>
              <a:endParaRPr lang="el-GR"/>
            </a:p>
          </p:txBody>
        </p:sp>
      </p:grpSp>
      <p:grpSp>
        <p:nvGrpSpPr>
          <p:cNvPr id="15" name="Group 14">
            <a:extLst>
              <a:ext uri="{FF2B5EF4-FFF2-40B4-BE49-F238E27FC236}">
                <a16:creationId xmlns:a16="http://schemas.microsoft.com/office/drawing/2014/main" id="{67BF38E9-5C83-1950-5E84-09CD9738214E}"/>
              </a:ext>
            </a:extLst>
          </p:cNvPr>
          <p:cNvGrpSpPr/>
          <p:nvPr userDrawn="1"/>
        </p:nvGrpSpPr>
        <p:grpSpPr>
          <a:xfrm>
            <a:off x="7562541" y="4800724"/>
            <a:ext cx="3044498" cy="3046111"/>
            <a:chOff x="9601200" y="4149039"/>
            <a:chExt cx="3044498" cy="2922843"/>
          </a:xfrm>
        </p:grpSpPr>
        <p:grpSp>
          <p:nvGrpSpPr>
            <p:cNvPr id="8" name="Group 7">
              <a:extLst>
                <a:ext uri="{FF2B5EF4-FFF2-40B4-BE49-F238E27FC236}">
                  <a16:creationId xmlns:a16="http://schemas.microsoft.com/office/drawing/2014/main" id="{4003CE0B-E8E0-B705-414C-24C924BDF831}"/>
                </a:ext>
              </a:extLst>
            </p:cNvPr>
            <p:cNvGrpSpPr/>
            <p:nvPr userDrawn="1"/>
          </p:nvGrpSpPr>
          <p:grpSpPr>
            <a:xfrm>
              <a:off x="9601200" y="4149039"/>
              <a:ext cx="3044498" cy="2922843"/>
              <a:chOff x="0" y="0"/>
              <a:chExt cx="812800" cy="812800"/>
            </a:xfrm>
          </p:grpSpPr>
          <p:sp>
            <p:nvSpPr>
              <p:cNvPr id="9" name="Freeform 8">
                <a:extLst>
                  <a:ext uri="{FF2B5EF4-FFF2-40B4-BE49-F238E27FC236}">
                    <a16:creationId xmlns:a16="http://schemas.microsoft.com/office/drawing/2014/main" id="{E8448F53-CA56-01A5-B7F3-DE10F7E2075A}"/>
                  </a:ext>
                </a:extLst>
              </p:cNvPr>
              <p:cNvSpPr/>
              <p:nvPr/>
            </p:nvSpPr>
            <p:spPr>
              <a:xfrm>
                <a:off x="0" y="0"/>
                <a:ext cx="812800" cy="812800"/>
              </a:xfrm>
              <a:custGeom>
                <a:avLst/>
                <a:gdLst/>
                <a:ahLst/>
                <a:cxnLst/>
                <a:rect l="l" t="t" r="r" b="b"/>
                <a:pathLst>
                  <a:path w="812800" h="812800">
                    <a:moveTo>
                      <a:pt x="63316" y="0"/>
                    </a:moveTo>
                    <a:lnTo>
                      <a:pt x="749484" y="0"/>
                    </a:lnTo>
                    <a:cubicBezTo>
                      <a:pt x="766277" y="0"/>
                      <a:pt x="782381" y="6671"/>
                      <a:pt x="794255" y="18545"/>
                    </a:cubicBezTo>
                    <a:cubicBezTo>
                      <a:pt x="806129" y="30419"/>
                      <a:pt x="812800" y="46523"/>
                      <a:pt x="812800" y="63316"/>
                    </a:cubicBezTo>
                    <a:lnTo>
                      <a:pt x="812800" y="749484"/>
                    </a:lnTo>
                    <a:cubicBezTo>
                      <a:pt x="812800" y="766277"/>
                      <a:pt x="806129" y="782381"/>
                      <a:pt x="794255" y="794255"/>
                    </a:cubicBezTo>
                    <a:cubicBezTo>
                      <a:pt x="782381" y="806129"/>
                      <a:pt x="766277" y="812800"/>
                      <a:pt x="749484" y="812800"/>
                    </a:cubicBezTo>
                    <a:lnTo>
                      <a:pt x="63316" y="812800"/>
                    </a:lnTo>
                    <a:cubicBezTo>
                      <a:pt x="46523" y="812800"/>
                      <a:pt x="30419" y="806129"/>
                      <a:pt x="18545" y="794255"/>
                    </a:cubicBezTo>
                    <a:cubicBezTo>
                      <a:pt x="6671" y="782381"/>
                      <a:pt x="0" y="766277"/>
                      <a:pt x="0" y="749484"/>
                    </a:cubicBezTo>
                    <a:lnTo>
                      <a:pt x="0" y="63316"/>
                    </a:lnTo>
                    <a:cubicBezTo>
                      <a:pt x="0" y="46523"/>
                      <a:pt x="6671" y="30419"/>
                      <a:pt x="18545" y="18545"/>
                    </a:cubicBezTo>
                    <a:cubicBezTo>
                      <a:pt x="30419" y="6671"/>
                      <a:pt x="46523" y="0"/>
                      <a:pt x="63316" y="0"/>
                    </a:cubicBezTo>
                    <a:close/>
                  </a:path>
                </a:pathLst>
              </a:custGeom>
              <a:blipFill>
                <a:blip r:embed="rId7"/>
                <a:stretch>
                  <a:fillRect l="-25000" r="-25000"/>
                </a:stretch>
              </a:blipFill>
            </p:spPr>
            <p:txBody>
              <a:bodyPr/>
              <a:lstStyle/>
              <a:p>
                <a:endParaRPr lang="el-GR"/>
              </a:p>
            </p:txBody>
          </p:sp>
        </p:grpSp>
        <p:sp>
          <p:nvSpPr>
            <p:cNvPr id="13" name="Rectangle 12">
              <a:extLst>
                <a:ext uri="{FF2B5EF4-FFF2-40B4-BE49-F238E27FC236}">
                  <a16:creationId xmlns:a16="http://schemas.microsoft.com/office/drawing/2014/main" id="{E8237E87-9726-1D7E-D830-7E7564A61D87}"/>
                </a:ext>
              </a:extLst>
            </p:cNvPr>
            <p:cNvSpPr/>
            <p:nvPr userDrawn="1"/>
          </p:nvSpPr>
          <p:spPr>
            <a:xfrm>
              <a:off x="9616440" y="4351487"/>
              <a:ext cx="842661" cy="450850"/>
            </a:xfrm>
            <a:prstGeom prst="rect">
              <a:avLst/>
            </a:prstGeom>
            <a:solidFill>
              <a:srgbClr val="00061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16" name="Freeform 11">
            <a:extLst>
              <a:ext uri="{FF2B5EF4-FFF2-40B4-BE49-F238E27FC236}">
                <a16:creationId xmlns:a16="http://schemas.microsoft.com/office/drawing/2014/main" id="{578061C8-C3CC-455C-3B74-C08EB3728E81}"/>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8"/>
            <a:stretch>
              <a:fillRect/>
            </a:stretch>
          </a:blipFill>
        </p:spPr>
        <p:txBody>
          <a:bodyPr/>
          <a:lstStyle/>
          <a:p>
            <a:endParaRPr lang="el-GR"/>
          </a:p>
        </p:txBody>
      </p:sp>
    </p:spTree>
    <p:extLst>
      <p:ext uri="{BB962C8B-B14F-4D97-AF65-F5344CB8AC3E}">
        <p14:creationId xmlns:p14="http://schemas.microsoft.com/office/powerpoint/2010/main" val="2792962052"/>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a:stretch>
            <a:fillRect/>
          </a:stretch>
        </p:blipFill>
        <p:spPr>
          <a:xfrm>
            <a:off x="-329571" y="0"/>
            <a:ext cx="2051981" cy="1640710"/>
          </a:xfrm>
          <a:prstGeom prst="rect">
            <a:avLst/>
          </a:prstGeom>
        </p:spPr>
      </p:pic>
      <p:sp>
        <p:nvSpPr>
          <p:cNvPr id="10" name="Freeform 11">
            <a:extLst>
              <a:ext uri="{FF2B5EF4-FFF2-40B4-BE49-F238E27FC236}">
                <a16:creationId xmlns:a16="http://schemas.microsoft.com/office/drawing/2014/main" id="{D1682B63-6C1E-8144-8AC2-C471C71E1736}"/>
              </a:ext>
            </a:extLst>
          </p:cNvPr>
          <p:cNvSpPr/>
          <p:nvPr userDrawn="1"/>
        </p:nvSpPr>
        <p:spPr>
          <a:xfrm>
            <a:off x="8839200" y="4076700"/>
            <a:ext cx="10992661" cy="4953000"/>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a:duotone>
                <a:prstClr val="black"/>
                <a:srgbClr val="02464E">
                  <a:tint val="45000"/>
                  <a:satMod val="400000"/>
                </a:srgbClr>
              </a:duotone>
            </a:blip>
            <a:stretch>
              <a:fillRect t="-1" r="-6918" b="-89066"/>
            </a:stretch>
          </a:blipFill>
        </p:spPr>
        <p:txBody>
          <a:bodyPr/>
          <a:lstStyle/>
          <a:p>
            <a:endParaRPr lang="el-GR"/>
          </a:p>
        </p:txBody>
      </p:sp>
    </p:spTree>
    <p:extLst>
      <p:ext uri="{BB962C8B-B14F-4D97-AF65-F5344CB8AC3E}">
        <p14:creationId xmlns:p14="http://schemas.microsoft.com/office/powerpoint/2010/main" val="229805399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_Custom Layout">
    <p:bg>
      <p:bgRef idx="1001">
        <a:schemeClr val="bg1"/>
      </p:bgRef>
    </p:bg>
    <p:spTree>
      <p:nvGrpSpPr>
        <p:cNvPr id="1" name=""/>
        <p:cNvGrpSpPr/>
        <p:nvPr/>
      </p:nvGrpSpPr>
      <p:grpSpPr>
        <a:xfrm>
          <a:off x="0" y="0"/>
          <a:ext cx="0" cy="0"/>
          <a:chOff x="0" y="0"/>
          <a:chExt cx="0" cy="0"/>
        </a:xfrm>
      </p:grpSpPr>
      <p:sp>
        <p:nvSpPr>
          <p:cNvPr id="6" name="Freeform 4">
            <a:extLst>
              <a:ext uri="{FF2B5EF4-FFF2-40B4-BE49-F238E27FC236}">
                <a16:creationId xmlns:a16="http://schemas.microsoft.com/office/drawing/2014/main" id="{573948BD-6543-7A38-1A57-C3758689B1CF}"/>
              </a:ext>
            </a:extLst>
          </p:cNvPr>
          <p:cNvSpPr/>
          <p:nvPr userDrawn="1"/>
        </p:nvSpPr>
        <p:spPr>
          <a:xfrm>
            <a:off x="1" y="0"/>
            <a:ext cx="18288000" cy="10287000"/>
          </a:xfrm>
          <a:custGeom>
            <a:avLst/>
            <a:gdLst/>
            <a:ahLst/>
            <a:cxnLst/>
            <a:rect l="l" t="t" r="r" b="b"/>
            <a:pathLst>
              <a:path w="20198727" h="13465818">
                <a:moveTo>
                  <a:pt x="0" y="0"/>
                </a:moveTo>
                <a:lnTo>
                  <a:pt x="20198727" y="0"/>
                </a:lnTo>
                <a:lnTo>
                  <a:pt x="20198727" y="13465819"/>
                </a:lnTo>
                <a:lnTo>
                  <a:pt x="0" y="13465819"/>
                </a:lnTo>
                <a:lnTo>
                  <a:pt x="0" y="0"/>
                </a:lnTo>
                <a:close/>
              </a:path>
            </a:pathLst>
          </a:custGeom>
          <a:blipFill>
            <a:blip r:embed="rId2">
              <a:alphaModFix amt="44000"/>
            </a:blip>
            <a:stretch>
              <a:fillRect t="-14725"/>
            </a:stretch>
          </a:blipFill>
        </p:spPr>
        <p:txBody>
          <a:bodyPr/>
          <a:lstStyle/>
          <a:p>
            <a:endParaRPr lang="el-GR"/>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a:stretch>
            <a:fillRect/>
          </a:stretch>
        </p:blipFill>
        <p:spPr>
          <a:xfrm>
            <a:off x="228600" y="9202112"/>
            <a:ext cx="4035902" cy="896190"/>
          </a:xfrm>
          <a:prstGeom prst="rect">
            <a:avLst/>
          </a:prstGeom>
        </p:spPr>
      </p:pic>
      <p:sp>
        <p:nvSpPr>
          <p:cNvPr id="7" name="Freeform 11">
            <a:extLst>
              <a:ext uri="{FF2B5EF4-FFF2-40B4-BE49-F238E27FC236}">
                <a16:creationId xmlns:a16="http://schemas.microsoft.com/office/drawing/2014/main" id="{0AEAF7D9-ADC4-49A0-9DA9-7783245CAC9B}"/>
              </a:ext>
            </a:extLst>
          </p:cNvPr>
          <p:cNvSpPr/>
          <p:nvPr userDrawn="1"/>
        </p:nvSpPr>
        <p:spPr>
          <a:xfrm>
            <a:off x="-381000" y="-38100"/>
            <a:ext cx="2179610" cy="1741035"/>
          </a:xfrm>
          <a:custGeom>
            <a:avLst/>
            <a:gdLst/>
            <a:ahLst/>
            <a:cxnLst/>
            <a:rect l="l" t="t" r="r" b="b"/>
            <a:pathLst>
              <a:path w="2860324" h="2284778">
                <a:moveTo>
                  <a:pt x="0" y="0"/>
                </a:moveTo>
                <a:lnTo>
                  <a:pt x="2860324" y="0"/>
                </a:lnTo>
                <a:lnTo>
                  <a:pt x="2860324" y="2284778"/>
                </a:lnTo>
                <a:lnTo>
                  <a:pt x="0" y="2284778"/>
                </a:lnTo>
                <a:lnTo>
                  <a:pt x="0" y="0"/>
                </a:lnTo>
                <a:close/>
              </a:path>
            </a:pathLst>
          </a:custGeom>
          <a:blipFill>
            <a:blip r:embed="rId4"/>
            <a:stretch>
              <a:fillRect/>
            </a:stretch>
          </a:blipFill>
        </p:spPr>
        <p:txBody>
          <a:bodyPr/>
          <a:lstStyle/>
          <a:p>
            <a:endParaRPr lang="el-GR"/>
          </a:p>
        </p:txBody>
      </p:sp>
    </p:spTree>
    <p:extLst>
      <p:ext uri="{BB962C8B-B14F-4D97-AF65-F5344CB8AC3E}">
        <p14:creationId xmlns:p14="http://schemas.microsoft.com/office/powerpoint/2010/main" val="495787450"/>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9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288000" cy="1257299"/>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a:stretch>
            <a:fillRect/>
          </a:stretch>
        </p:blipFill>
        <p:spPr>
          <a:xfrm>
            <a:off x="-329571" y="0"/>
            <a:ext cx="2051981" cy="1640710"/>
          </a:xfrm>
          <a:prstGeom prst="rect">
            <a:avLst/>
          </a:prstGeom>
        </p:spPr>
      </p:pic>
      <p:sp>
        <p:nvSpPr>
          <p:cNvPr id="3" name="Hexagon 2">
            <a:extLst>
              <a:ext uri="{FF2B5EF4-FFF2-40B4-BE49-F238E27FC236}">
                <a16:creationId xmlns:a16="http://schemas.microsoft.com/office/drawing/2014/main" id="{A1CE02BE-54DF-B836-6301-C0351D5BEB32}"/>
              </a:ext>
            </a:extLst>
          </p:cNvPr>
          <p:cNvSpPr/>
          <p:nvPr userDrawn="1"/>
        </p:nvSpPr>
        <p:spPr>
          <a:xfrm rot="2132267">
            <a:off x="16392396" y="3061738"/>
            <a:ext cx="3109848" cy="2602118"/>
          </a:xfrm>
          <a:prstGeom prst="hexagon">
            <a:avLst>
              <a:gd name="adj" fmla="val 35893"/>
              <a:gd name="vf" fmla="val 115470"/>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Hexagon 3">
            <a:extLst>
              <a:ext uri="{FF2B5EF4-FFF2-40B4-BE49-F238E27FC236}">
                <a16:creationId xmlns:a16="http://schemas.microsoft.com/office/drawing/2014/main" id="{4B7F180F-EBEC-3D13-BF6C-6C186C2426D4}"/>
              </a:ext>
            </a:extLst>
          </p:cNvPr>
          <p:cNvSpPr/>
          <p:nvPr userDrawn="1"/>
        </p:nvSpPr>
        <p:spPr>
          <a:xfrm rot="2202666">
            <a:off x="15772524" y="1603956"/>
            <a:ext cx="1986938" cy="1662764"/>
          </a:xfrm>
          <a:prstGeom prst="hexagon">
            <a:avLst>
              <a:gd name="adj" fmla="val 33340"/>
              <a:gd name="vf" fmla="val 115470"/>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D526B01A-0E1C-BCE6-2FE0-BD5B8ECDD61A}"/>
              </a:ext>
            </a:extLst>
          </p:cNvPr>
          <p:cNvPicPr>
            <a:picLocks noChangeAspect="1"/>
          </p:cNvPicPr>
          <p:nvPr userDrawn="1"/>
        </p:nvPicPr>
        <p:blipFill>
          <a:blip r:embed="rId4"/>
          <a:srcRect l="10248" t="24065" b="23513"/>
          <a:stretch>
            <a:fillRect/>
          </a:stretch>
        </p:blipFill>
        <p:spPr>
          <a:xfrm>
            <a:off x="14547520" y="5166360"/>
            <a:ext cx="4097103" cy="3729068"/>
          </a:xfrm>
          <a:prstGeom prst="pentagon">
            <a:avLst/>
          </a:prstGeom>
        </p:spPr>
      </p:pic>
      <p:pic>
        <p:nvPicPr>
          <p:cNvPr id="7" name="Picture 6">
            <a:extLst>
              <a:ext uri="{FF2B5EF4-FFF2-40B4-BE49-F238E27FC236}">
                <a16:creationId xmlns:a16="http://schemas.microsoft.com/office/drawing/2014/main" id="{505A45C1-F571-B0AA-6FFE-108ACEC289E0}"/>
              </a:ext>
            </a:extLst>
          </p:cNvPr>
          <p:cNvPicPr>
            <a:picLocks noChangeAspect="1"/>
          </p:cNvPicPr>
          <p:nvPr userDrawn="1"/>
        </p:nvPicPr>
        <p:blipFill>
          <a:blip r:embed="rId4"/>
          <a:srcRect l="10248" t="24065" b="23513"/>
          <a:stretch>
            <a:fillRect/>
          </a:stretch>
        </p:blipFill>
        <p:spPr>
          <a:xfrm rot="2078217">
            <a:off x="16998354" y="527104"/>
            <a:ext cx="1460052" cy="1273428"/>
          </a:xfrm>
          <a:prstGeom prst="pentagon">
            <a:avLst/>
          </a:prstGeom>
        </p:spPr>
      </p:pic>
    </p:spTree>
    <p:extLst>
      <p:ext uri="{BB962C8B-B14F-4D97-AF65-F5344CB8AC3E}">
        <p14:creationId xmlns:p14="http://schemas.microsoft.com/office/powerpoint/2010/main" val="1006412230"/>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a:stretch>
            <a:fillRect/>
          </a:stretch>
        </p:blipFill>
        <p:spPr>
          <a:xfrm>
            <a:off x="-329571" y="0"/>
            <a:ext cx="2051981" cy="1640710"/>
          </a:xfrm>
          <a:prstGeom prst="rect">
            <a:avLst/>
          </a:prstGeom>
        </p:spPr>
      </p:pic>
    </p:spTree>
    <p:extLst>
      <p:ext uri="{BB962C8B-B14F-4D97-AF65-F5344CB8AC3E}">
        <p14:creationId xmlns:p14="http://schemas.microsoft.com/office/powerpoint/2010/main" val="500672662"/>
      </p:ext>
    </p:extLst>
  </p:cSld>
  <p:clrMapOvr>
    <a:overrideClrMapping bg1="lt1" tx1="dk1" bg2="lt2" tx2="dk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5_Custom Layout">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2"/>
          <a:stretch>
            <a:fillRect/>
          </a:stretch>
        </p:blipFill>
        <p:spPr>
          <a:xfrm>
            <a:off x="228600" y="9202112"/>
            <a:ext cx="4035902" cy="896190"/>
          </a:xfrm>
          <a:prstGeom prst="rect">
            <a:avLst/>
          </a:prstGeom>
        </p:spPr>
      </p:pic>
      <p:pic>
        <p:nvPicPr>
          <p:cNvPr id="14" name="Picture 13">
            <a:extLst>
              <a:ext uri="{FF2B5EF4-FFF2-40B4-BE49-F238E27FC236}">
                <a16:creationId xmlns:a16="http://schemas.microsoft.com/office/drawing/2014/main" id="{D6C8A599-0361-19A8-DD77-4FA71EA48AE5}"/>
              </a:ext>
            </a:extLst>
          </p:cNvPr>
          <p:cNvPicPr>
            <a:picLocks noChangeAspect="1"/>
          </p:cNvPicPr>
          <p:nvPr userDrawn="1"/>
        </p:nvPicPr>
        <p:blipFill>
          <a:blip r:embed="rId3"/>
          <a:stretch>
            <a:fillRect/>
          </a:stretch>
        </p:blipFill>
        <p:spPr>
          <a:xfrm>
            <a:off x="-329571" y="0"/>
            <a:ext cx="2051981" cy="1640710"/>
          </a:xfrm>
          <a:prstGeom prst="rect">
            <a:avLst/>
          </a:prstGeom>
        </p:spPr>
      </p:pic>
    </p:spTree>
    <p:extLst>
      <p:ext uri="{BB962C8B-B14F-4D97-AF65-F5344CB8AC3E}">
        <p14:creationId xmlns:p14="http://schemas.microsoft.com/office/powerpoint/2010/main" val="1436207739"/>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ECE1299-D360-ECC5-DF55-7F2C00319C70}"/>
              </a:ext>
            </a:extLst>
          </p:cNvPr>
          <p:cNvSpPr>
            <a:spLocks noGrp="1"/>
          </p:cNvSpPr>
          <p:nvPr>
            <p:ph type="dt" sz="half" idx="10"/>
          </p:nvPr>
        </p:nvSpPr>
        <p:spPr/>
        <p:txBody>
          <a:bodyPr/>
          <a:lstStyle/>
          <a:p>
            <a:fld id="{4B8C0E06-B361-4987-9FD9-1A2641C05328}" type="datetime1">
              <a:rPr lang="en-US" smtClean="0"/>
              <a:t>9/8/2026</a:t>
            </a:fld>
            <a:endParaRPr lang="en-US"/>
          </a:p>
        </p:txBody>
      </p:sp>
      <p:sp>
        <p:nvSpPr>
          <p:cNvPr id="4" name="Footer Placeholder 3">
            <a:extLst>
              <a:ext uri="{FF2B5EF4-FFF2-40B4-BE49-F238E27FC236}">
                <a16:creationId xmlns:a16="http://schemas.microsoft.com/office/drawing/2014/main" id="{1AA86F6D-876E-C855-F8E4-40CFF4C8506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75722DE-50C8-B0CF-A377-740BE0ECB8D8}"/>
              </a:ext>
            </a:extLst>
          </p:cNvPr>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a:extLst>
              <a:ext uri="{FF2B5EF4-FFF2-40B4-BE49-F238E27FC236}">
                <a16:creationId xmlns:a16="http://schemas.microsoft.com/office/drawing/2014/main" id="{AE4D051E-FD15-3EE9-CF0A-EBB76004070C}"/>
              </a:ext>
            </a:extLst>
          </p:cNvPr>
          <p:cNvPicPr>
            <a:picLocks noChangeAspect="1"/>
          </p:cNvPicPr>
          <p:nvPr userDrawn="1"/>
        </p:nvPicPr>
        <p:blipFill>
          <a:blip r:embed="rId2"/>
          <a:srcRect t="16358" b="32081"/>
          <a:stretch>
            <a:fillRect/>
          </a:stretch>
        </p:blipFill>
        <p:spPr>
          <a:xfrm>
            <a:off x="0" y="0"/>
            <a:ext cx="18288000" cy="10287000"/>
          </a:xfrm>
          <a:prstGeom prst="rect">
            <a:avLst/>
          </a:prstGeom>
        </p:spPr>
      </p:pic>
      <p:sp>
        <p:nvSpPr>
          <p:cNvPr id="14" name="Rectangle 13">
            <a:extLst>
              <a:ext uri="{FF2B5EF4-FFF2-40B4-BE49-F238E27FC236}">
                <a16:creationId xmlns:a16="http://schemas.microsoft.com/office/drawing/2014/main" id="{13A4CA1F-3890-D6BF-56BD-3B67D35ABF61}"/>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a:stretch>
            <a:fillRect/>
          </a:stretch>
        </p:blipFill>
        <p:spPr>
          <a:xfrm>
            <a:off x="228600" y="9202112"/>
            <a:ext cx="4035902" cy="896190"/>
          </a:xfrm>
          <a:prstGeom prst="rect">
            <a:avLst/>
          </a:prstGeom>
        </p:spPr>
      </p:pic>
      <p:pic>
        <p:nvPicPr>
          <p:cNvPr id="6" name="Picture 5">
            <a:extLst>
              <a:ext uri="{FF2B5EF4-FFF2-40B4-BE49-F238E27FC236}">
                <a16:creationId xmlns:a16="http://schemas.microsoft.com/office/drawing/2014/main" id="{76B036AC-BB8C-0AD3-F326-0F902DB9D9A5}"/>
              </a:ext>
            </a:extLst>
          </p:cNvPr>
          <p:cNvPicPr>
            <a:picLocks noChangeAspect="1"/>
          </p:cNvPicPr>
          <p:nvPr userDrawn="1"/>
        </p:nvPicPr>
        <p:blipFill>
          <a:blip r:embed="rId4"/>
          <a:stretch>
            <a:fillRect/>
          </a:stretch>
        </p:blipFill>
        <p:spPr>
          <a:xfrm>
            <a:off x="-329571" y="0"/>
            <a:ext cx="2051981" cy="1640710"/>
          </a:xfrm>
          <a:prstGeom prst="rect">
            <a:avLst/>
          </a:prstGeom>
        </p:spPr>
      </p:pic>
    </p:spTree>
    <p:extLst>
      <p:ext uri="{BB962C8B-B14F-4D97-AF65-F5344CB8AC3E}">
        <p14:creationId xmlns:p14="http://schemas.microsoft.com/office/powerpoint/2010/main" val="29097945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ustom Layout">
    <p:bg>
      <p:bgRef idx="1001">
        <a:schemeClr val="bg1"/>
      </p:bgRef>
    </p:bg>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CFF35AE2-98FD-AAC4-5B46-ABBA896419A3}"/>
              </a:ext>
            </a:extLst>
          </p:cNvPr>
          <p:cNvSpPr/>
          <p:nvPr userDrawn="1"/>
        </p:nvSpPr>
        <p:spPr>
          <a:xfrm>
            <a:off x="0" y="0"/>
            <a:ext cx="18288000" cy="7395807"/>
          </a:xfrm>
          <a:custGeom>
            <a:avLst/>
            <a:gdLst/>
            <a:ahLst/>
            <a:cxnLst/>
            <a:rect l="l" t="t" r="r" b="b"/>
            <a:pathLst>
              <a:path w="18194019" h="11512089">
                <a:moveTo>
                  <a:pt x="0" y="0"/>
                </a:moveTo>
                <a:lnTo>
                  <a:pt x="18194020" y="0"/>
                </a:lnTo>
                <a:lnTo>
                  <a:pt x="18194020" y="11512088"/>
                </a:lnTo>
                <a:lnTo>
                  <a:pt x="0" y="11512088"/>
                </a:lnTo>
                <a:lnTo>
                  <a:pt x="0" y="0"/>
                </a:lnTo>
                <a:close/>
              </a:path>
            </a:pathLst>
          </a:custGeom>
          <a:blipFill>
            <a:blip r:embed="rId2"/>
            <a:stretch>
              <a:fillRect t="-155303" b="-188459"/>
            </a:stretch>
          </a:blipFill>
        </p:spPr>
        <p:txBody>
          <a:bodyPr/>
          <a:lstStyle/>
          <a:p>
            <a:endParaRPr lang="el-GR"/>
          </a:p>
        </p:txBody>
      </p:sp>
      <p:sp>
        <p:nvSpPr>
          <p:cNvPr id="5" name="Rectangle 4">
            <a:extLst>
              <a:ext uri="{FF2B5EF4-FFF2-40B4-BE49-F238E27FC236}">
                <a16:creationId xmlns:a16="http://schemas.microsoft.com/office/drawing/2014/main" id="{D3606D58-4995-A0BF-8DB7-4C939F579B54}"/>
              </a:ext>
            </a:extLst>
          </p:cNvPr>
          <p:cNvSpPr/>
          <p:nvPr userDrawn="1"/>
        </p:nvSpPr>
        <p:spPr>
          <a:xfrm>
            <a:off x="0" y="9029700"/>
            <a:ext cx="18516600" cy="1257300"/>
          </a:xfrm>
          <a:prstGeom prst="rect">
            <a:avLst/>
          </a:prstGeom>
          <a:solidFill>
            <a:srgbClr val="02464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2" name="Picture 11">
            <a:extLst>
              <a:ext uri="{FF2B5EF4-FFF2-40B4-BE49-F238E27FC236}">
                <a16:creationId xmlns:a16="http://schemas.microsoft.com/office/drawing/2014/main" id="{9BC17921-C4CF-E9AF-D712-819D456650EF}"/>
              </a:ext>
            </a:extLst>
          </p:cNvPr>
          <p:cNvPicPr>
            <a:picLocks noChangeAspect="1"/>
          </p:cNvPicPr>
          <p:nvPr userDrawn="1"/>
        </p:nvPicPr>
        <p:blipFill>
          <a:blip r:embed="rId3"/>
          <a:stretch>
            <a:fillRect/>
          </a:stretch>
        </p:blipFill>
        <p:spPr>
          <a:xfrm>
            <a:off x="228600" y="9202112"/>
            <a:ext cx="4035902" cy="896190"/>
          </a:xfrm>
          <a:prstGeom prst="rect">
            <a:avLst/>
          </a:prstGeom>
        </p:spPr>
      </p:pic>
      <p:pic>
        <p:nvPicPr>
          <p:cNvPr id="4" name="Picture 3">
            <a:extLst>
              <a:ext uri="{FF2B5EF4-FFF2-40B4-BE49-F238E27FC236}">
                <a16:creationId xmlns:a16="http://schemas.microsoft.com/office/drawing/2014/main" id="{CA3035AC-0941-D2D7-D9A0-D851459A13C2}"/>
              </a:ext>
            </a:extLst>
          </p:cNvPr>
          <p:cNvPicPr>
            <a:picLocks noChangeAspect="1"/>
          </p:cNvPicPr>
          <p:nvPr userDrawn="1"/>
        </p:nvPicPr>
        <p:blipFill>
          <a:blip r:embed="rId4"/>
          <a:stretch>
            <a:fillRect/>
          </a:stretch>
        </p:blipFill>
        <p:spPr>
          <a:xfrm>
            <a:off x="8059504" y="7395807"/>
            <a:ext cx="2168991" cy="1734268"/>
          </a:xfrm>
          <a:prstGeom prst="rect">
            <a:avLst/>
          </a:prstGeom>
        </p:spPr>
      </p:pic>
    </p:spTree>
    <p:extLst>
      <p:ext uri="{BB962C8B-B14F-4D97-AF65-F5344CB8AC3E}">
        <p14:creationId xmlns:p14="http://schemas.microsoft.com/office/powerpoint/2010/main" val="306654528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B35E8F-E06E-4E25-ACD7-59446347D123}" type="datetime1">
              <a:rPr lang="en-US" smtClean="0"/>
              <a:t>9/8/2026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55" r:id="rId1"/>
    <p:sldLayoutId id="2147483660" r:id="rId2"/>
    <p:sldLayoutId id="2147483661" r:id="rId3"/>
    <p:sldLayoutId id="2147483662" r:id="rId4"/>
    <p:sldLayoutId id="2147483672" r:id="rId5"/>
    <p:sldLayoutId id="2147483663" r:id="rId6"/>
    <p:sldLayoutId id="2147483664" r:id="rId7"/>
    <p:sldLayoutId id="2147483673" r:id="rId8"/>
    <p:sldLayoutId id="2147483665" r:id="rId9"/>
    <p:sldLayoutId id="2147483674" r:id="rId10"/>
    <p:sldLayoutId id="2147483667" r:id="rId11"/>
    <p:sldLayoutId id="2147483668" r:id="rId12"/>
    <p:sldLayoutId id="2147483666" r:id="rId13"/>
    <p:sldLayoutId id="2147483669" r:id="rId14"/>
    <p:sldLayoutId id="2147483670" r:id="rId15"/>
    <p:sldLayoutId id="2147483675" r:id="rId16"/>
    <p:sldLayoutId id="2147483671" r:id="rId17"/>
    <p:sldLayoutId id="2147483676" r:id="rId1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svg"/><Relationship Id="rId1" Type="http://schemas.openxmlformats.org/officeDocument/2006/relationships/slideLayout" Target="../slideLayouts/slideLayout18.xml"/><Relationship Id="rId5" Type="http://schemas.openxmlformats.org/officeDocument/2006/relationships/image" Target="../media/image20.svg"/><Relationship Id="rId4" Type="http://schemas.openxmlformats.org/officeDocument/2006/relationships/image" Target="../media/image19.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Rounded Corners 8">
            <a:extLst>
              <a:ext uri="{FF2B5EF4-FFF2-40B4-BE49-F238E27FC236}">
                <a16:creationId xmlns:a16="http://schemas.microsoft.com/office/drawing/2014/main" id="{BF217F08-81FA-3442-EDEA-BC2C1493D33C}"/>
              </a:ext>
            </a:extLst>
          </p:cNvPr>
          <p:cNvSpPr/>
          <p:nvPr/>
        </p:nvSpPr>
        <p:spPr>
          <a:xfrm>
            <a:off x="8077200" y="6743700"/>
            <a:ext cx="8752206" cy="3276600"/>
          </a:xfrm>
          <a:prstGeom prst="roundRect">
            <a:avLst/>
          </a:prstGeom>
          <a:solidFill>
            <a:srgbClr val="02464E">
              <a:alpha val="6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800" dirty="0"/>
              <a:t>Soft Skills: Product Development Life Cycle</a:t>
            </a:r>
            <a:br>
              <a:rPr lang="en-GB" sz="2800" dirty="0"/>
            </a:br>
            <a:r>
              <a:rPr lang="en-GB" sz="2800" dirty="0"/>
              <a:t>Zvonimir Anić, Assistant Director of R&amp;D</a:t>
            </a:r>
            <a:br>
              <a:rPr lang="en-GB" sz="2800" dirty="0"/>
            </a:br>
            <a:r>
              <a:rPr lang="en-GB" sz="2800" dirty="0"/>
              <a:t>Smart Sense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E0D495B7-93D6-657F-9FF7-0542A710F696}"/>
              </a:ext>
            </a:extLst>
          </p:cNvPr>
          <p:cNvSpPr/>
          <p:nvPr/>
        </p:nvSpPr>
        <p:spPr>
          <a:xfrm>
            <a:off x="685800" y="2095500"/>
            <a:ext cx="12573000" cy="6553200"/>
          </a:xfrm>
          <a:prstGeom prst="roundRect">
            <a:avLst>
              <a:gd name="adj" fmla="val 24316"/>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normAutofit/>
          </a:bodyPr>
          <a:lstStyle/>
          <a:p>
            <a:pPr marL="571500" indent="-571500" algn="just">
              <a:lnSpc>
                <a:spcPct val="150000"/>
              </a:lnSpc>
              <a:buFont typeface="Arial" panose="020B0604020202020204" pitchFamily="34" charset="0"/>
              <a:buChar char="•"/>
            </a:pPr>
            <a:r>
              <a:rPr lang="en-GB" sz="3200" dirty="0">
                <a:solidFill>
                  <a:srgbClr val="02464E"/>
                </a:solidFill>
                <a:latin typeface="Poppins" panose="00000500000000000000" pitchFamily="2" charset="0"/>
                <a:cs typeface="Poppins" panose="00000500000000000000" pitchFamily="2" charset="0"/>
              </a:rPr>
              <a:t>Framework outlining the stages a product passes</a:t>
            </a:r>
          </a:p>
          <a:p>
            <a:pPr marL="571500" indent="-571500" algn="just">
              <a:lnSpc>
                <a:spcPct val="150000"/>
              </a:lnSpc>
              <a:buFont typeface="Arial" panose="020B0604020202020204" pitchFamily="34" charset="0"/>
              <a:buChar char="•"/>
            </a:pPr>
            <a:r>
              <a:rPr lang="en-GB" sz="3200" dirty="0">
                <a:solidFill>
                  <a:srgbClr val="02464E"/>
                </a:solidFill>
                <a:latin typeface="Poppins" panose="00000500000000000000" pitchFamily="2" charset="0"/>
                <a:cs typeface="Poppins" panose="00000500000000000000" pitchFamily="2" charset="0"/>
              </a:rPr>
              <a:t>Why PDLC? Because humans love frameworks</a:t>
            </a:r>
          </a:p>
        </p:txBody>
      </p:sp>
      <p:sp>
        <p:nvSpPr>
          <p:cNvPr id="3" name="TextBox 8">
            <a:extLst>
              <a:ext uri="{FF2B5EF4-FFF2-40B4-BE49-F238E27FC236}">
                <a16:creationId xmlns:a16="http://schemas.microsoft.com/office/drawing/2014/main" id="{99B03730-CBAB-FF0C-351C-265988FF784B}"/>
              </a:ext>
            </a:extLst>
          </p:cNvPr>
          <p:cNvSpPr txBox="1"/>
          <p:nvPr/>
        </p:nvSpPr>
        <p:spPr>
          <a:xfrm>
            <a:off x="1524000" y="800100"/>
            <a:ext cx="6851150" cy="1018356"/>
          </a:xfrm>
          <a:prstGeom prst="rect">
            <a:avLst/>
          </a:prstGeom>
        </p:spPr>
        <p:txBody>
          <a:bodyPr lIns="0" tIns="0" rIns="0" bIns="0" rtlCol="0" anchor="t">
            <a:spAutoFit/>
          </a:bodyPr>
          <a:lstStyle/>
          <a:p>
            <a:pPr algn="r">
              <a:lnSpc>
                <a:spcPts val="7920"/>
              </a:lnSpc>
            </a:pPr>
            <a:r>
              <a:rPr lang="en-US" sz="7200" b="1" dirty="0">
                <a:solidFill>
                  <a:srgbClr val="02464E"/>
                </a:solidFill>
                <a:latin typeface="Poppins Bold"/>
                <a:ea typeface="Poppins Bold"/>
                <a:cs typeface="Poppins Bold"/>
                <a:sym typeface="Poppins Bold"/>
              </a:rPr>
              <a:t>What is PDLC?</a:t>
            </a:r>
          </a:p>
        </p:txBody>
      </p:sp>
      <p:sp>
        <p:nvSpPr>
          <p:cNvPr id="5" name="Text 1">
            <a:extLst>
              <a:ext uri="{FF2B5EF4-FFF2-40B4-BE49-F238E27FC236}">
                <a16:creationId xmlns:a16="http://schemas.microsoft.com/office/drawing/2014/main" id="{7B5DAF20-B1F2-0574-2C98-372B74DACD5B}"/>
              </a:ext>
            </a:extLst>
          </p:cNvPr>
          <p:cNvSpPr/>
          <p:nvPr/>
        </p:nvSpPr>
        <p:spPr>
          <a:xfrm>
            <a:off x="17007840" y="9400032"/>
            <a:ext cx="548640" cy="344582"/>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2</a:t>
            </a:r>
            <a:endParaRPr lang="en-US" sz="2200" dirty="0"/>
          </a:p>
        </p:txBody>
      </p:sp>
    </p:spTree>
    <p:extLst>
      <p:ext uri="{BB962C8B-B14F-4D97-AF65-F5344CB8AC3E}">
        <p14:creationId xmlns:p14="http://schemas.microsoft.com/office/powerpoint/2010/main" val="34107521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Six phases of the PDLC</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3</a:t>
            </a:r>
            <a:endParaRPr lang="en-US" sz="2200" dirty="0"/>
          </a:p>
        </p:txBody>
      </p:sp>
      <p:sp>
        <p:nvSpPr>
          <p:cNvPr id="4" name="Text 2"/>
          <p:cNvSpPr/>
          <p:nvPr/>
        </p:nvSpPr>
        <p:spPr>
          <a:xfrm>
            <a:off x="1188720" y="2103120"/>
            <a:ext cx="15270480" cy="5731121"/>
          </a:xfrm>
          <a:prstGeom prst="rect">
            <a:avLst/>
          </a:prstGeom>
          <a:noFill/>
          <a:ln/>
        </p:spPr>
        <p:txBody>
          <a:bodyPr wrap="square" lIns="0" tIns="0" rIns="0" bIns="0" rtlCol="0" anchor="t">
            <a:spAutoFit/>
          </a:bodyPr>
          <a:lstStyle/>
          <a:p>
            <a:pPr marL="742950" indent="-742950">
              <a:lnSpc>
                <a:spcPct val="150000"/>
              </a:lnSpc>
              <a:buAutoNum type="arabicPeriod"/>
            </a:pPr>
            <a:r>
              <a:rPr lang="en-US" sz="3600" dirty="0">
                <a:solidFill>
                  <a:srgbClr val="02464E"/>
                </a:solidFill>
                <a:latin typeface="Poppins" pitchFamily="34" charset="0"/>
                <a:ea typeface="Poppins" pitchFamily="34" charset="-122"/>
                <a:cs typeface="Poppins" pitchFamily="34" charset="-120"/>
              </a:rPr>
              <a:t>Discovery &amp; Ideation</a:t>
            </a:r>
          </a:p>
          <a:p>
            <a:pPr marL="742950" indent="-742950">
              <a:lnSpc>
                <a:spcPct val="150000"/>
              </a:lnSpc>
              <a:buFontTx/>
              <a:buAutoNum type="arabicPeriod"/>
            </a:pPr>
            <a:r>
              <a:rPr lang="en-US" sz="3600" dirty="0">
                <a:solidFill>
                  <a:srgbClr val="02464E"/>
                </a:solidFill>
                <a:latin typeface="Poppins" pitchFamily="34" charset="0"/>
                <a:ea typeface="Poppins" pitchFamily="34" charset="-122"/>
                <a:cs typeface="Poppins" pitchFamily="34" charset="-120"/>
              </a:rPr>
              <a:t>Definition &amp; Scoping</a:t>
            </a:r>
          </a:p>
          <a:p>
            <a:pPr marL="742950" indent="-742950">
              <a:lnSpc>
                <a:spcPct val="150000"/>
              </a:lnSpc>
              <a:buFontTx/>
              <a:buAutoNum type="arabicPeriod"/>
            </a:pPr>
            <a:r>
              <a:rPr lang="en-US" sz="3600" dirty="0">
                <a:solidFill>
                  <a:srgbClr val="02464E"/>
                </a:solidFill>
                <a:latin typeface="Poppins" pitchFamily="34" charset="0"/>
                <a:ea typeface="Poppins" pitchFamily="34" charset="-122"/>
                <a:cs typeface="Poppins" pitchFamily="34" charset="-120"/>
              </a:rPr>
              <a:t>Design &amp; Prototyping</a:t>
            </a:r>
          </a:p>
          <a:p>
            <a:pPr marL="742950" indent="-742950">
              <a:lnSpc>
                <a:spcPct val="150000"/>
              </a:lnSpc>
              <a:buFontTx/>
              <a:buAutoNum type="arabicPeriod"/>
            </a:pPr>
            <a:r>
              <a:rPr lang="en-US" sz="3600" dirty="0">
                <a:solidFill>
                  <a:srgbClr val="02464E"/>
                </a:solidFill>
                <a:latin typeface="Poppins" pitchFamily="34" charset="0"/>
                <a:ea typeface="Poppins" pitchFamily="34" charset="-122"/>
                <a:cs typeface="Poppins" pitchFamily="34" charset="-120"/>
              </a:rPr>
              <a:t>Development &amp; Testing</a:t>
            </a:r>
          </a:p>
          <a:p>
            <a:pPr marL="742950" indent="-742950">
              <a:lnSpc>
                <a:spcPct val="150000"/>
              </a:lnSpc>
              <a:buFontTx/>
              <a:buAutoNum type="arabicPeriod"/>
            </a:pPr>
            <a:r>
              <a:rPr lang="en-US" sz="3600" dirty="0">
                <a:solidFill>
                  <a:srgbClr val="02464E"/>
                </a:solidFill>
                <a:latin typeface="Poppins" pitchFamily="34" charset="0"/>
                <a:ea typeface="Poppins" pitchFamily="34" charset="-122"/>
                <a:cs typeface="Poppins" pitchFamily="34" charset="-120"/>
              </a:rPr>
              <a:t>Launch &amp; Commercialization</a:t>
            </a:r>
          </a:p>
          <a:p>
            <a:pPr marL="742950" indent="-742950">
              <a:lnSpc>
                <a:spcPct val="150000"/>
              </a:lnSpc>
              <a:buFontTx/>
              <a:buAutoNum type="arabicPeriod"/>
            </a:pPr>
            <a:r>
              <a:rPr lang="en-US" sz="3600" dirty="0">
                <a:solidFill>
                  <a:srgbClr val="02464E"/>
                </a:solidFill>
                <a:latin typeface="Poppins" pitchFamily="34" charset="0"/>
                <a:ea typeface="Poppins" pitchFamily="34" charset="-122"/>
                <a:cs typeface="Poppins" pitchFamily="34" charset="-120"/>
              </a:rPr>
              <a:t>Iteration &amp; Maintenance</a:t>
            </a:r>
            <a:endParaRPr lang="en-US" sz="3600" dirty="0"/>
          </a:p>
          <a:p>
            <a:pPr>
              <a:lnSpc>
                <a:spcPct val="150000"/>
              </a:lnSpc>
            </a:pPr>
            <a:endParaRPr lang="en-US" sz="3600" dirty="0"/>
          </a:p>
        </p:txBody>
      </p:sp>
      <p:sp>
        <p:nvSpPr>
          <p:cNvPr id="5" name="Text 3"/>
          <p:cNvSpPr/>
          <p:nvPr/>
        </p:nvSpPr>
        <p:spPr>
          <a:xfrm>
            <a:off x="1188720" y="2926080"/>
            <a:ext cx="15270480" cy="558166"/>
          </a:xfrm>
          <a:prstGeom prst="rect">
            <a:avLst/>
          </a:prstGeom>
          <a:noFill/>
          <a:ln/>
        </p:spPr>
        <p:txBody>
          <a:bodyPr wrap="square" lIns="0" tIns="0" rIns="0" bIns="0" rtlCol="0" anchor="t">
            <a:spAutoFit/>
          </a:bodyPr>
          <a:lstStyle/>
          <a:p>
            <a:pPr marL="0" indent="0">
              <a:lnSpc>
                <a:spcPct val="105000"/>
              </a:lnSpc>
              <a:buNone/>
            </a:pPr>
            <a:endParaRPr lang="en-US" sz="3600" dirty="0"/>
          </a:p>
        </p:txBody>
      </p:sp>
      <p:sp>
        <p:nvSpPr>
          <p:cNvPr id="6" name="Text 4"/>
          <p:cNvSpPr/>
          <p:nvPr/>
        </p:nvSpPr>
        <p:spPr>
          <a:xfrm>
            <a:off x="1188720" y="3749040"/>
            <a:ext cx="15270480" cy="558166"/>
          </a:xfrm>
          <a:prstGeom prst="rect">
            <a:avLst/>
          </a:prstGeom>
          <a:noFill/>
          <a:ln/>
        </p:spPr>
        <p:txBody>
          <a:bodyPr wrap="square" lIns="0" tIns="0" rIns="0" bIns="0" rtlCol="0" anchor="t">
            <a:spAutoFit/>
          </a:bodyPr>
          <a:lstStyle/>
          <a:p>
            <a:pPr marL="0" indent="0">
              <a:lnSpc>
                <a:spcPct val="105000"/>
              </a:lnSpc>
              <a:buNone/>
            </a:pPr>
            <a:endParaRPr lang="en-US" sz="3600" dirty="0"/>
          </a:p>
        </p:txBody>
      </p:sp>
      <p:sp>
        <p:nvSpPr>
          <p:cNvPr id="8" name="Text 6"/>
          <p:cNvSpPr/>
          <p:nvPr/>
        </p:nvSpPr>
        <p:spPr>
          <a:xfrm>
            <a:off x="1188720" y="5394960"/>
            <a:ext cx="15270480" cy="558166"/>
          </a:xfrm>
          <a:prstGeom prst="rect">
            <a:avLst/>
          </a:prstGeom>
          <a:noFill/>
          <a:ln/>
        </p:spPr>
        <p:txBody>
          <a:bodyPr wrap="square" lIns="0" tIns="0" rIns="0" bIns="0" rtlCol="0" anchor="t">
            <a:spAutoFit/>
          </a:bodyPr>
          <a:lstStyle/>
          <a:p>
            <a:pPr marL="0" indent="0">
              <a:lnSpc>
                <a:spcPct val="105000"/>
              </a:lnSpc>
              <a:buNone/>
            </a:pPr>
            <a:endParaRPr lang="en-US" sz="3600" dirty="0"/>
          </a:p>
        </p:txBody>
      </p:sp>
      <p:sp>
        <p:nvSpPr>
          <p:cNvPr id="9" name="Text 7"/>
          <p:cNvSpPr/>
          <p:nvPr/>
        </p:nvSpPr>
        <p:spPr>
          <a:xfrm>
            <a:off x="1188720" y="6217920"/>
            <a:ext cx="15270480" cy="558166"/>
          </a:xfrm>
          <a:prstGeom prst="rect">
            <a:avLst/>
          </a:prstGeom>
          <a:noFill/>
          <a:ln/>
        </p:spPr>
        <p:txBody>
          <a:bodyPr wrap="square" lIns="0" tIns="0" rIns="0" bIns="0" rtlCol="0" anchor="t">
            <a:spAutoFit/>
          </a:bodyPr>
          <a:lstStyle/>
          <a:p>
            <a:pPr marL="0" indent="0">
              <a:lnSpc>
                <a:spcPct val="105000"/>
              </a:lnSpc>
              <a:buNone/>
            </a:pPr>
            <a:endParaRPr lang="en-US" sz="3600" dirty="0"/>
          </a:p>
        </p:txBody>
      </p:sp>
      <p:sp>
        <p:nvSpPr>
          <p:cNvPr id="10" name="Text 8"/>
          <p:cNvSpPr/>
          <p:nvPr/>
        </p:nvSpPr>
        <p:spPr>
          <a:xfrm>
            <a:off x="1188720" y="7635240"/>
            <a:ext cx="15270480" cy="594360"/>
          </a:xfrm>
          <a:prstGeom prst="rect">
            <a:avLst/>
          </a:prstGeom>
          <a:noFill/>
          <a:ln/>
        </p:spPr>
        <p:txBody>
          <a:bodyPr wrap="square" lIns="0" tIns="0" rIns="0" bIns="0" rtlCol="0" anchor="t">
            <a:spAutoFit/>
          </a:bodyPr>
          <a:lstStyle/>
          <a:p>
            <a:pPr marL="0" indent="0">
              <a:lnSpc>
                <a:spcPct val="105000"/>
              </a:lnSpc>
              <a:buNone/>
            </a:pPr>
            <a:r>
              <a:rPr lang="en-US" sz="3200" b="1" dirty="0">
                <a:solidFill>
                  <a:srgbClr val="02464E"/>
                </a:solidFill>
                <a:latin typeface="Poppins Bold" pitchFamily="34" charset="0"/>
                <a:ea typeface="Poppins Bold" pitchFamily="34" charset="-122"/>
                <a:cs typeface="Poppins Bold" pitchFamily="34" charset="-120"/>
              </a:rPr>
              <a:t>New evidence can change earlier decisions.</a:t>
            </a:r>
            <a:endParaRPr lang="en-US" sz="3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66294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1. Discovery &amp; Ideation</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4</a:t>
            </a:r>
            <a:endParaRPr lang="en-US" sz="2200" dirty="0"/>
          </a:p>
        </p:txBody>
      </p:sp>
      <p:sp>
        <p:nvSpPr>
          <p:cNvPr id="4" name="Text 2"/>
          <p:cNvSpPr/>
          <p:nvPr/>
        </p:nvSpPr>
        <p:spPr>
          <a:xfrm>
            <a:off x="960120" y="2057400"/>
            <a:ext cx="16184880" cy="5676900"/>
          </a:xfrm>
          <a:prstGeom prst="rect">
            <a:avLst/>
          </a:prstGeom>
          <a:noFill/>
          <a:ln/>
        </p:spPr>
        <p:txBody>
          <a:bodyPr wrap="square" lIns="0" tIns="0" rIns="0" bIns="0" rtlCol="0" anchor="t"/>
          <a:lstStyle/>
          <a:p>
            <a:pPr marL="0" indent="0">
              <a:lnSpc>
                <a:spcPct val="105000"/>
              </a:lnSpc>
              <a:buNone/>
            </a:pPr>
            <a:r>
              <a:rPr lang="en-US" sz="3200" b="1" dirty="0">
                <a:solidFill>
                  <a:srgbClr val="02464E"/>
                </a:solidFill>
                <a:latin typeface="Poppins Bold" pitchFamily="34" charset="0"/>
                <a:ea typeface="Poppins Bold" pitchFamily="34" charset="-122"/>
                <a:cs typeface="Poppins Bold" pitchFamily="34" charset="-120"/>
              </a:rPr>
              <a:t>Core Goal
</a:t>
            </a:r>
            <a:r>
              <a:rPr lang="en-US" sz="3200" dirty="0">
                <a:solidFill>
                  <a:srgbClr val="02464E"/>
                </a:solidFill>
                <a:latin typeface="Poppins" pitchFamily="34" charset="0"/>
                <a:ea typeface="Poppins" pitchFamily="34" charset="-122"/>
                <a:cs typeface="Poppins" pitchFamily="34" charset="-120"/>
              </a:rPr>
              <a:t>Identify a meaningful problem and explore possible solutions.</a:t>
            </a:r>
          </a:p>
          <a:p>
            <a:pPr marL="0" indent="0">
              <a:lnSpc>
                <a:spcPct val="105000"/>
              </a:lnSpc>
              <a:buNone/>
            </a:pPr>
            <a:endParaRPr lang="en-US" sz="3200" dirty="0">
              <a:solidFill>
                <a:srgbClr val="02464E"/>
              </a:solidFill>
              <a:latin typeface="Poppins" pitchFamily="34" charset="0"/>
              <a:ea typeface="Poppins" pitchFamily="34" charset="-122"/>
              <a:cs typeface="Poppins" pitchFamily="34" charset="-120"/>
            </a:endParaRPr>
          </a:p>
          <a:p>
            <a:pPr>
              <a:lnSpc>
                <a:spcPct val="105000"/>
              </a:lnSpc>
            </a:pPr>
            <a:r>
              <a:rPr lang="en-US" sz="3200" b="1" dirty="0">
                <a:solidFill>
                  <a:srgbClr val="02464E"/>
                </a:solidFill>
                <a:latin typeface="Poppins Bold" pitchFamily="34" charset="0"/>
                <a:ea typeface="Poppins Bold" pitchFamily="34" charset="-122"/>
                <a:cs typeface="Poppins Bold" pitchFamily="34" charset="-120"/>
              </a:rPr>
              <a:t>Key Activities
</a:t>
            </a:r>
            <a:r>
              <a:rPr lang="en-US" sz="3200" dirty="0">
                <a:solidFill>
                  <a:srgbClr val="02464E"/>
                </a:solidFill>
                <a:latin typeface="Poppins" pitchFamily="34" charset="0"/>
                <a:ea typeface="Poppins" pitchFamily="34" charset="-122"/>
                <a:cs typeface="Poppins" pitchFamily="34" charset="-120"/>
              </a:rPr>
              <a:t>User interviews, observation, market and competitor research, brainstorming.</a:t>
            </a:r>
            <a:endParaRPr lang="en-US" sz="3200" dirty="0"/>
          </a:p>
          <a:p>
            <a:pPr marL="0" indent="0">
              <a:lnSpc>
                <a:spcPct val="105000"/>
              </a:lnSpc>
              <a:buNone/>
            </a:pPr>
            <a:endParaRPr lang="en-US" sz="3200" dirty="0"/>
          </a:p>
          <a:p>
            <a:pPr>
              <a:lnSpc>
                <a:spcPct val="105000"/>
              </a:lnSpc>
            </a:pPr>
            <a:r>
              <a:rPr lang="en-US" sz="3200" b="1" dirty="0">
                <a:solidFill>
                  <a:srgbClr val="02464E"/>
                </a:solidFill>
                <a:latin typeface="Poppins Bold" pitchFamily="34" charset="0"/>
                <a:ea typeface="Poppins Bold" pitchFamily="34" charset="-122"/>
                <a:cs typeface="Poppins Bold" pitchFamily="34" charset="-120"/>
              </a:rPr>
              <a:t>Main Question
</a:t>
            </a:r>
            <a:r>
              <a:rPr lang="en-US" sz="3200" dirty="0">
                <a:solidFill>
                  <a:srgbClr val="02464E"/>
                </a:solidFill>
                <a:latin typeface="Poppins" pitchFamily="34" charset="0"/>
                <a:ea typeface="Poppins" pitchFamily="34" charset="-122"/>
                <a:cs typeface="Poppins" pitchFamily="34" charset="-120"/>
              </a:rPr>
              <a:t>What is worth solving, and how might we solve it?</a:t>
            </a:r>
          </a:p>
          <a:p>
            <a:pPr>
              <a:lnSpc>
                <a:spcPct val="105000"/>
              </a:lnSpc>
            </a:pPr>
            <a:endParaRPr lang="en-US" sz="3200" dirty="0">
              <a:solidFill>
                <a:srgbClr val="02464E"/>
              </a:solidFill>
              <a:latin typeface="Poppins" pitchFamily="34" charset="0"/>
              <a:ea typeface="Poppins" pitchFamily="34" charset="-122"/>
              <a:cs typeface="Poppins" pitchFamily="34" charset="-120"/>
            </a:endParaRPr>
          </a:p>
          <a:p>
            <a:pPr>
              <a:lnSpc>
                <a:spcPct val="105000"/>
              </a:lnSpc>
            </a:pPr>
            <a:r>
              <a:rPr lang="en-US" sz="3200" b="1" dirty="0">
                <a:solidFill>
                  <a:srgbClr val="02464E"/>
                </a:solidFill>
                <a:latin typeface="Poppins Bold" pitchFamily="34" charset="0"/>
                <a:ea typeface="Poppins Bold" pitchFamily="34" charset="-122"/>
                <a:cs typeface="Poppins Bold" pitchFamily="34" charset="-120"/>
              </a:rPr>
              <a:t>Output
</a:t>
            </a:r>
            <a:r>
              <a:rPr lang="en-US" sz="3200" dirty="0">
                <a:solidFill>
                  <a:srgbClr val="02464E"/>
                </a:solidFill>
                <a:latin typeface="Poppins" pitchFamily="34" charset="0"/>
                <a:ea typeface="Poppins" pitchFamily="34" charset="-122"/>
                <a:cs typeface="Poppins" pitchFamily="34" charset="-120"/>
              </a:rPr>
              <a:t>An evidence-supported problem and promising solution concepts.</a:t>
            </a:r>
            <a:endParaRPr lang="en-US" sz="3200" dirty="0"/>
          </a:p>
          <a:p>
            <a:pPr>
              <a:lnSpc>
                <a:spcPct val="105000"/>
              </a:lnSpc>
            </a:pPr>
            <a:endParaRPr lang="en-US" sz="3200" dirty="0"/>
          </a:p>
          <a:p>
            <a:pPr marL="0" indent="0">
              <a:lnSpc>
                <a:spcPct val="105000"/>
              </a:lnSpc>
              <a:buNone/>
            </a:pPr>
            <a:endParaRPr lang="en-US" sz="3200" dirty="0"/>
          </a:p>
        </p:txBody>
      </p:sp>
      <p:sp>
        <p:nvSpPr>
          <p:cNvPr id="5" name="Text 3"/>
          <p:cNvSpPr/>
          <p:nvPr/>
        </p:nvSpPr>
        <p:spPr>
          <a:xfrm>
            <a:off x="960120" y="3310128"/>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
        <p:nvSpPr>
          <p:cNvPr id="6" name="Text 4"/>
          <p:cNvSpPr/>
          <p:nvPr/>
        </p:nvSpPr>
        <p:spPr>
          <a:xfrm>
            <a:off x="960120" y="4562856"/>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
        <p:nvSpPr>
          <p:cNvPr id="7" name="Text 5"/>
          <p:cNvSpPr/>
          <p:nvPr/>
        </p:nvSpPr>
        <p:spPr>
          <a:xfrm>
            <a:off x="960120" y="5815584"/>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
        <p:nvSpPr>
          <p:cNvPr id="8" name="Text 6"/>
          <p:cNvSpPr/>
          <p:nvPr/>
        </p:nvSpPr>
        <p:spPr>
          <a:xfrm>
            <a:off x="960120" y="7068312"/>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Amazon Fire Phone</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5</a:t>
            </a:r>
            <a:endParaRPr lang="en-US" sz="2200" dirty="0"/>
          </a:p>
        </p:txBody>
      </p:sp>
      <p:sp>
        <p:nvSpPr>
          <p:cNvPr id="4" name="Text 2"/>
          <p:cNvSpPr/>
          <p:nvPr/>
        </p:nvSpPr>
        <p:spPr>
          <a:xfrm>
            <a:off x="960120" y="2057400"/>
            <a:ext cx="10424160" cy="685444"/>
          </a:xfrm>
          <a:prstGeom prst="rect">
            <a:avLst/>
          </a:prstGeom>
          <a:noFill/>
          <a:ln/>
        </p:spPr>
        <p:txBody>
          <a:bodyPr wrap="square" lIns="0" tIns="0" rIns="0" bIns="0" rtlCol="0" anchor="t">
            <a:spAutoFit/>
          </a:bodyPr>
          <a:lstStyle/>
          <a:p>
            <a:pPr marL="0" indent="0">
              <a:lnSpc>
                <a:spcPct val="105000"/>
              </a:lnSpc>
              <a:buNone/>
            </a:pPr>
            <a:r>
              <a:rPr lang="en-US" sz="4400" b="1" dirty="0">
                <a:solidFill>
                  <a:srgbClr val="02464E"/>
                </a:solidFill>
                <a:latin typeface="Poppins Bold" pitchFamily="34" charset="0"/>
                <a:ea typeface="Poppins Bold" pitchFamily="34" charset="-122"/>
                <a:cs typeface="Poppins Bold" pitchFamily="34" charset="-120"/>
              </a:rPr>
              <a:t>“If you build it, they will come”</a:t>
            </a:r>
            <a:endParaRPr lang="en-US" sz="4400" dirty="0"/>
          </a:p>
        </p:txBody>
      </p:sp>
      <p:sp>
        <p:nvSpPr>
          <p:cNvPr id="5" name="Text 3"/>
          <p:cNvSpPr/>
          <p:nvPr/>
        </p:nvSpPr>
        <p:spPr>
          <a:xfrm>
            <a:off x="960120" y="3657600"/>
            <a:ext cx="10332720" cy="501227"/>
          </a:xfrm>
          <a:prstGeom prst="rect">
            <a:avLst/>
          </a:prstGeom>
          <a:noFill/>
          <a:ln/>
        </p:spPr>
        <p:txBody>
          <a:bodyPr wrap="square" lIns="0" tIns="0" rIns="0" bIns="0" rtlCol="0" anchor="t">
            <a:spAutoFit/>
          </a:bodyPr>
          <a:lstStyle/>
          <a:p>
            <a:pPr marL="0" indent="0">
              <a:lnSpc>
                <a:spcPct val="105000"/>
              </a:lnSpc>
              <a:buNone/>
            </a:pPr>
            <a:r>
              <a:rPr lang="en-US" sz="3200" b="1" dirty="0">
                <a:solidFill>
                  <a:srgbClr val="02464E"/>
                </a:solidFill>
                <a:latin typeface="Poppins Bold" pitchFamily="34" charset="0"/>
                <a:ea typeface="Poppins Bold" pitchFamily="34" charset="-122"/>
                <a:cs typeface="Poppins Bold" pitchFamily="34" charset="-120"/>
              </a:rPr>
              <a:t>They built it. Adoption fell short.</a:t>
            </a:r>
            <a:endParaRPr lang="en-US" sz="3200" dirty="0"/>
          </a:p>
        </p:txBody>
      </p:sp>
      <p:sp>
        <p:nvSpPr>
          <p:cNvPr id="6" name="Text 4"/>
          <p:cNvSpPr/>
          <p:nvPr/>
        </p:nvSpPr>
        <p:spPr>
          <a:xfrm>
            <a:off x="960120" y="4937760"/>
            <a:ext cx="10332720" cy="685800"/>
          </a:xfrm>
          <a:prstGeom prst="rect">
            <a:avLst/>
          </a:prstGeom>
          <a:noFill/>
          <a:ln/>
        </p:spPr>
        <p:txBody>
          <a:bodyPr wrap="square" lIns="0" tIns="0" rIns="0" bIns="0" rtlCol="0" anchor="t">
            <a:spAutoFit/>
          </a:bodyPr>
          <a:lstStyle/>
          <a:p>
            <a:pPr marL="0" indent="0">
              <a:lnSpc>
                <a:spcPct val="105000"/>
              </a:lnSpc>
              <a:buNone/>
            </a:pPr>
            <a:r>
              <a:rPr lang="en-US" sz="3200" dirty="0">
                <a:solidFill>
                  <a:srgbClr val="02464E"/>
                </a:solidFill>
                <a:latin typeface="Poppins" pitchFamily="34" charset="0"/>
                <a:ea typeface="Poppins" pitchFamily="34" charset="-122"/>
                <a:cs typeface="Poppins" pitchFamily="34" charset="-120"/>
              </a:rPr>
              <a:t>2014 launch with distinctive features</a:t>
            </a:r>
            <a:endParaRPr lang="en-US" sz="3200" dirty="0"/>
          </a:p>
        </p:txBody>
      </p:sp>
      <p:sp>
        <p:nvSpPr>
          <p:cNvPr id="7" name="Text 5"/>
          <p:cNvSpPr/>
          <p:nvPr/>
        </p:nvSpPr>
        <p:spPr>
          <a:xfrm>
            <a:off x="960120" y="5806440"/>
            <a:ext cx="9875520" cy="822960"/>
          </a:xfrm>
          <a:prstGeom prst="rect">
            <a:avLst/>
          </a:prstGeom>
          <a:noFill/>
          <a:ln/>
        </p:spPr>
        <p:txBody>
          <a:bodyPr wrap="square" lIns="0" tIns="0" rIns="0" bIns="0" rtlCol="0" anchor="t">
            <a:spAutoFit/>
          </a:bodyPr>
          <a:lstStyle/>
          <a:p>
            <a:pPr marL="0" indent="0">
              <a:lnSpc>
                <a:spcPct val="105000"/>
              </a:lnSpc>
              <a:buNone/>
            </a:pPr>
            <a:r>
              <a:rPr lang="en-US" sz="5400" b="1" dirty="0">
                <a:solidFill>
                  <a:srgbClr val="02464E"/>
                </a:solidFill>
                <a:latin typeface="Poppins Bold" pitchFamily="34" charset="0"/>
                <a:ea typeface="Poppins Bold" pitchFamily="34" charset="-122"/>
                <a:cs typeface="Poppins Bold" pitchFamily="34" charset="-120"/>
              </a:rPr>
              <a:t>~$170 million</a:t>
            </a:r>
            <a:endParaRPr lang="en-US" sz="5400" dirty="0"/>
          </a:p>
        </p:txBody>
      </p:sp>
      <p:sp>
        <p:nvSpPr>
          <p:cNvPr id="8" name="Text 6"/>
          <p:cNvSpPr/>
          <p:nvPr/>
        </p:nvSpPr>
        <p:spPr>
          <a:xfrm>
            <a:off x="960120" y="6766560"/>
            <a:ext cx="10332720" cy="1005840"/>
          </a:xfrm>
          <a:prstGeom prst="rect">
            <a:avLst/>
          </a:prstGeom>
          <a:noFill/>
          <a:ln/>
        </p:spPr>
        <p:txBody>
          <a:bodyPr wrap="square" lIns="0" tIns="0" rIns="0" bIns="0" rtlCol="0" anchor="t">
            <a:spAutoFit/>
          </a:bodyPr>
          <a:lstStyle/>
          <a:p>
            <a:pPr marL="0" indent="0">
              <a:lnSpc>
                <a:spcPct val="105000"/>
              </a:lnSpc>
              <a:buNone/>
            </a:pPr>
            <a:r>
              <a:rPr lang="en-US" sz="3000" dirty="0">
                <a:solidFill>
                  <a:srgbClr val="02464E"/>
                </a:solidFill>
                <a:latin typeface="Poppins" pitchFamily="34" charset="0"/>
                <a:ea typeface="Poppins" pitchFamily="34" charset="-122"/>
                <a:cs typeface="Poppins" pitchFamily="34" charset="-120"/>
              </a:rPr>
              <a:t>Inventory and supplier-commitment charges</a:t>
            </a:r>
            <a:endParaRPr lang="en-US" sz="3000" dirty="0"/>
          </a:p>
        </p:txBody>
      </p:sp>
      <p:pic>
        <p:nvPicPr>
          <p:cNvPr id="9" name="Image 0" descr="preencoded.png"/>
          <p:cNvPicPr>
            <a:picLocks noChangeAspect="1"/>
          </p:cNvPicPr>
          <p:nvPr/>
        </p:nvPicPr>
        <p:blipFill>
          <a:blip r:embed="rId3"/>
          <a:stretch>
            <a:fillRect/>
          </a:stretch>
        </p:blipFill>
        <p:spPr>
          <a:xfrm>
            <a:off x="11887200" y="2286000"/>
            <a:ext cx="5303520" cy="5303520"/>
          </a:xfrm>
          <a:prstGeom prst="rect">
            <a:avLst/>
          </a:prstGeom>
        </p:spPr>
      </p:pic>
      <p:sp>
        <p:nvSpPr>
          <p:cNvPr id="10" name="Text 7"/>
          <p:cNvSpPr/>
          <p:nvPr/>
        </p:nvSpPr>
        <p:spPr>
          <a:xfrm>
            <a:off x="11887200" y="7772400"/>
            <a:ext cx="5303520" cy="457200"/>
          </a:xfrm>
          <a:prstGeom prst="rect">
            <a:avLst/>
          </a:prstGeom>
          <a:noFill/>
          <a:ln/>
        </p:spPr>
        <p:txBody>
          <a:bodyPr wrap="square" lIns="0" tIns="0" rIns="0" bIns="0" rtlCol="0" anchor="t">
            <a:spAutoFit/>
          </a:bodyPr>
          <a:lstStyle/>
          <a:p>
            <a:pPr marL="0" indent="0">
              <a:lnSpc>
                <a:spcPct val="105000"/>
              </a:lnSpc>
              <a:buNone/>
            </a:pPr>
            <a:r>
              <a:rPr lang="en-US" sz="2400" dirty="0">
                <a:solidFill>
                  <a:srgbClr val="02464E"/>
                </a:solidFill>
                <a:latin typeface="Poppins" pitchFamily="34" charset="0"/>
                <a:ea typeface="Poppins" pitchFamily="34" charset="-122"/>
                <a:cs typeface="Poppins" pitchFamily="34" charset="-120"/>
              </a:rPr>
              <a:t>Amazon Fire Phone</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2. Definition &amp; Scoping</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6</a:t>
            </a:r>
            <a:endParaRPr lang="en-US" sz="2200" dirty="0"/>
          </a:p>
        </p:txBody>
      </p:sp>
      <p:sp>
        <p:nvSpPr>
          <p:cNvPr id="4" name="Text 2"/>
          <p:cNvSpPr/>
          <p:nvPr/>
        </p:nvSpPr>
        <p:spPr>
          <a:xfrm>
            <a:off x="960120" y="2057400"/>
            <a:ext cx="16184880" cy="5829300"/>
          </a:xfrm>
          <a:prstGeom prst="rect">
            <a:avLst/>
          </a:prstGeom>
          <a:noFill/>
          <a:ln/>
        </p:spPr>
        <p:txBody>
          <a:bodyPr wrap="square" lIns="0" tIns="0" rIns="0" bIns="0" rtlCol="0" anchor="t"/>
          <a:lstStyle/>
          <a:p>
            <a:pPr marL="0" indent="0">
              <a:buNone/>
            </a:pPr>
            <a:r>
              <a:rPr lang="en-US" sz="3200" b="1" dirty="0">
                <a:solidFill>
                  <a:srgbClr val="02464E"/>
                </a:solidFill>
                <a:latin typeface="Poppins Bold" pitchFamily="34" charset="0"/>
                <a:ea typeface="Poppins Bold" pitchFamily="34" charset="-122"/>
                <a:cs typeface="Poppins Bold" pitchFamily="34" charset="-120"/>
              </a:rPr>
              <a:t>Core Goal
</a:t>
            </a:r>
            <a:r>
              <a:rPr lang="en-US" sz="3200" dirty="0">
                <a:solidFill>
                  <a:srgbClr val="02464E"/>
                </a:solidFill>
                <a:latin typeface="Poppins" pitchFamily="34" charset="0"/>
                <a:ea typeface="Poppins" pitchFamily="34" charset="-122"/>
                <a:cs typeface="Poppins" pitchFamily="34" charset="-120"/>
              </a:rPr>
              <a:t>Define the product, its boundaries, and measurable success.</a:t>
            </a:r>
          </a:p>
          <a:p>
            <a:pPr marL="0" indent="0">
              <a:buNone/>
            </a:pPr>
            <a:endParaRPr lang="en-US" sz="3200" dirty="0">
              <a:solidFill>
                <a:srgbClr val="02464E"/>
              </a:solidFill>
              <a:latin typeface="Poppins" pitchFamily="34" charset="0"/>
              <a:ea typeface="Poppins" pitchFamily="34" charset="-122"/>
              <a:cs typeface="Poppins" pitchFamily="34" charset="-120"/>
            </a:endParaRPr>
          </a:p>
          <a:p>
            <a:r>
              <a:rPr lang="en-US" sz="3200" b="1" dirty="0">
                <a:solidFill>
                  <a:srgbClr val="02464E"/>
                </a:solidFill>
                <a:latin typeface="Poppins Bold" pitchFamily="34" charset="0"/>
                <a:ea typeface="Poppins Bold" pitchFamily="34" charset="-122"/>
                <a:cs typeface="Poppins Bold" pitchFamily="34" charset="-120"/>
              </a:rPr>
              <a:t>Key Activities
</a:t>
            </a:r>
            <a:r>
              <a:rPr lang="en-US" sz="3200" dirty="0">
                <a:solidFill>
                  <a:srgbClr val="02464E"/>
                </a:solidFill>
                <a:latin typeface="Poppins" pitchFamily="34" charset="0"/>
                <a:ea typeface="Poppins" pitchFamily="34" charset="-122"/>
                <a:cs typeface="Poppins" pitchFamily="34" charset="-120"/>
              </a:rPr>
              <a:t>Requirements, functional specifications, priorities, feasibility, objectives and key results.</a:t>
            </a:r>
          </a:p>
          <a:p>
            <a:endParaRPr lang="en-US" sz="3200" dirty="0"/>
          </a:p>
          <a:p>
            <a:r>
              <a:rPr lang="en-US" sz="3200" b="1" dirty="0">
                <a:solidFill>
                  <a:srgbClr val="02464E"/>
                </a:solidFill>
                <a:latin typeface="Poppins Bold" pitchFamily="34" charset="0"/>
                <a:ea typeface="Poppins Bold" pitchFamily="34" charset="-122"/>
                <a:cs typeface="Poppins Bold" pitchFamily="34" charset="-120"/>
              </a:rPr>
              <a:t>Main Question
</a:t>
            </a:r>
            <a:r>
              <a:rPr lang="en-US" sz="3200" dirty="0">
                <a:solidFill>
                  <a:srgbClr val="02464E"/>
                </a:solidFill>
                <a:latin typeface="Poppins" pitchFamily="34" charset="0"/>
                <a:ea typeface="Poppins" pitchFamily="34" charset="-122"/>
                <a:cs typeface="Poppins" pitchFamily="34" charset="-120"/>
              </a:rPr>
              <a:t>What will we build, for whom, and what counts as success?</a:t>
            </a:r>
          </a:p>
          <a:p>
            <a:endParaRPr lang="en-US" sz="3200" dirty="0">
              <a:solidFill>
                <a:srgbClr val="02464E"/>
              </a:solidFill>
              <a:latin typeface="Poppins" pitchFamily="34" charset="0"/>
              <a:ea typeface="Poppins" pitchFamily="34" charset="-122"/>
              <a:cs typeface="Poppins" pitchFamily="34" charset="-120"/>
            </a:endParaRPr>
          </a:p>
          <a:p>
            <a:r>
              <a:rPr lang="en-US" sz="3200" b="1" dirty="0">
                <a:solidFill>
                  <a:srgbClr val="02464E"/>
                </a:solidFill>
                <a:latin typeface="Poppins Bold" pitchFamily="34" charset="0"/>
                <a:ea typeface="Poppins Bold" pitchFamily="34" charset="-122"/>
                <a:cs typeface="Poppins Bold" pitchFamily="34" charset="-120"/>
              </a:rPr>
              <a:t>Output
</a:t>
            </a:r>
            <a:r>
              <a:rPr lang="en-US" sz="3200" dirty="0">
                <a:solidFill>
                  <a:srgbClr val="02464E"/>
                </a:solidFill>
                <a:latin typeface="Poppins" pitchFamily="34" charset="0"/>
                <a:ea typeface="Poppins" pitchFamily="34" charset="-122"/>
                <a:cs typeface="Poppins" pitchFamily="34" charset="-120"/>
              </a:rPr>
              <a:t>Agreed scope, requirements, constraints, and acceptance criteria.</a:t>
            </a:r>
            <a:endParaRPr lang="en-US" sz="3200" dirty="0"/>
          </a:p>
          <a:p>
            <a:pPr marL="0" indent="0">
              <a:buNone/>
            </a:pPr>
            <a:endParaRPr lang="en-US" sz="3200" dirty="0"/>
          </a:p>
        </p:txBody>
      </p:sp>
      <p:sp>
        <p:nvSpPr>
          <p:cNvPr id="5" name="Text 3"/>
          <p:cNvSpPr/>
          <p:nvPr/>
        </p:nvSpPr>
        <p:spPr>
          <a:xfrm>
            <a:off x="960120" y="3310128"/>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
        <p:nvSpPr>
          <p:cNvPr id="6" name="Text 4"/>
          <p:cNvSpPr/>
          <p:nvPr/>
        </p:nvSpPr>
        <p:spPr>
          <a:xfrm>
            <a:off x="960120" y="4562856"/>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
        <p:nvSpPr>
          <p:cNvPr id="7" name="Text 5"/>
          <p:cNvSpPr/>
          <p:nvPr/>
        </p:nvSpPr>
        <p:spPr>
          <a:xfrm>
            <a:off x="960120" y="5815584"/>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
        <p:nvSpPr>
          <p:cNvPr id="8" name="Text 6"/>
          <p:cNvSpPr/>
          <p:nvPr/>
        </p:nvSpPr>
        <p:spPr>
          <a:xfrm>
            <a:off x="960120" y="7068312"/>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3. Design &amp; Prototyping</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7</a:t>
            </a:r>
            <a:endParaRPr lang="en-US" sz="2200" dirty="0"/>
          </a:p>
        </p:txBody>
      </p:sp>
      <p:sp>
        <p:nvSpPr>
          <p:cNvPr id="6" name="Text 4"/>
          <p:cNvSpPr/>
          <p:nvPr/>
        </p:nvSpPr>
        <p:spPr>
          <a:xfrm>
            <a:off x="914400" y="2247900"/>
            <a:ext cx="16184880" cy="5943600"/>
          </a:xfrm>
          <a:prstGeom prst="rect">
            <a:avLst/>
          </a:prstGeom>
          <a:noFill/>
          <a:ln/>
        </p:spPr>
        <p:txBody>
          <a:bodyPr wrap="square" lIns="0" tIns="0" rIns="0" bIns="0" rtlCol="0" anchor="t"/>
          <a:lstStyle/>
          <a:p>
            <a:pPr>
              <a:lnSpc>
                <a:spcPct val="105000"/>
              </a:lnSpc>
            </a:pPr>
            <a:r>
              <a:rPr lang="en-US" sz="3200" b="1" dirty="0">
                <a:solidFill>
                  <a:srgbClr val="02464E"/>
                </a:solidFill>
                <a:latin typeface="Poppins Bold" pitchFamily="34" charset="0"/>
                <a:ea typeface="Poppins Bold" pitchFamily="34" charset="-122"/>
                <a:cs typeface="Poppins Bold" pitchFamily="34" charset="-120"/>
              </a:rPr>
              <a:t>Core Goal
</a:t>
            </a:r>
            <a:r>
              <a:rPr lang="en-US" sz="3200" dirty="0">
                <a:solidFill>
                  <a:srgbClr val="02464E"/>
                </a:solidFill>
                <a:latin typeface="Poppins" pitchFamily="34" charset="0"/>
                <a:ea typeface="Poppins" pitchFamily="34" charset="-122"/>
                <a:cs typeface="Poppins" pitchFamily="34" charset="-120"/>
              </a:rPr>
              <a:t>Explore the design and test important assumptions early.</a:t>
            </a:r>
          </a:p>
          <a:p>
            <a:pPr>
              <a:lnSpc>
                <a:spcPct val="105000"/>
              </a:lnSpc>
            </a:pPr>
            <a:br>
              <a:rPr lang="en-US" sz="3200" b="1" dirty="0">
                <a:solidFill>
                  <a:srgbClr val="02464E"/>
                </a:solidFill>
                <a:latin typeface="Poppins Bold" pitchFamily="34" charset="0"/>
                <a:ea typeface="Poppins Bold" pitchFamily="34" charset="-122"/>
                <a:cs typeface="Poppins Bold" pitchFamily="34" charset="-120"/>
              </a:rPr>
            </a:br>
            <a:r>
              <a:rPr lang="en-US" sz="3200" b="1" dirty="0">
                <a:solidFill>
                  <a:srgbClr val="02464E"/>
                </a:solidFill>
                <a:latin typeface="Poppins Bold" pitchFamily="34" charset="0"/>
                <a:ea typeface="Poppins Bold" pitchFamily="34" charset="-122"/>
                <a:cs typeface="Poppins Bold" pitchFamily="34" charset="-120"/>
              </a:rPr>
              <a:t>Key Activities
</a:t>
            </a:r>
            <a:r>
              <a:rPr lang="en-US" sz="3200" dirty="0">
                <a:solidFill>
                  <a:srgbClr val="02464E"/>
                </a:solidFill>
                <a:latin typeface="Poppins" pitchFamily="34" charset="0"/>
                <a:ea typeface="Poppins" pitchFamily="34" charset="-122"/>
                <a:cs typeface="Poppins" pitchFamily="34" charset="-120"/>
              </a:rPr>
              <a:t>Sketches, user flows, wireframes, physical mock-ups, functional experiments.</a:t>
            </a:r>
            <a:br>
              <a:rPr lang="en-US" sz="3200" dirty="0">
                <a:solidFill>
                  <a:srgbClr val="02464E"/>
                </a:solidFill>
                <a:latin typeface="Poppins" pitchFamily="34" charset="0"/>
                <a:ea typeface="Poppins" pitchFamily="34" charset="-122"/>
                <a:cs typeface="Poppins" pitchFamily="34" charset="-120"/>
              </a:rPr>
            </a:br>
            <a:endParaRPr lang="en-US" sz="3200" dirty="0">
              <a:solidFill>
                <a:srgbClr val="02464E"/>
              </a:solidFill>
              <a:latin typeface="Poppins" pitchFamily="34" charset="0"/>
              <a:ea typeface="Poppins" pitchFamily="34" charset="-122"/>
              <a:cs typeface="Poppins" pitchFamily="34" charset="-120"/>
            </a:endParaRPr>
          </a:p>
          <a:p>
            <a:pPr>
              <a:lnSpc>
                <a:spcPct val="105000"/>
              </a:lnSpc>
            </a:pPr>
            <a:r>
              <a:rPr lang="en-US" sz="3200" b="1" dirty="0">
                <a:solidFill>
                  <a:srgbClr val="02464E"/>
                </a:solidFill>
                <a:latin typeface="Poppins Bold" pitchFamily="34" charset="0"/>
                <a:ea typeface="Poppins Bold" pitchFamily="34" charset="-122"/>
                <a:cs typeface="Poppins Bold" pitchFamily="34" charset="-120"/>
              </a:rPr>
              <a:t>Main Question
</a:t>
            </a:r>
            <a:r>
              <a:rPr lang="en-US" sz="3200" dirty="0">
                <a:solidFill>
                  <a:srgbClr val="02464E"/>
                </a:solidFill>
                <a:latin typeface="Poppins" pitchFamily="34" charset="0"/>
                <a:ea typeface="Poppins" pitchFamily="34" charset="-122"/>
                <a:cs typeface="Poppins" pitchFamily="34" charset="-120"/>
              </a:rPr>
              <a:t>What can we learn before committing to the complete product?</a:t>
            </a:r>
            <a:br>
              <a:rPr lang="en-US" sz="3200" dirty="0">
                <a:solidFill>
                  <a:srgbClr val="02464E"/>
                </a:solidFill>
                <a:latin typeface="Poppins" pitchFamily="34" charset="0"/>
                <a:ea typeface="Poppins" pitchFamily="34" charset="-122"/>
                <a:cs typeface="Poppins" pitchFamily="34" charset="-120"/>
              </a:rPr>
            </a:br>
            <a:endParaRPr lang="en-US" sz="3200" dirty="0">
              <a:solidFill>
                <a:srgbClr val="02464E"/>
              </a:solidFill>
              <a:latin typeface="Poppins" pitchFamily="34" charset="0"/>
              <a:ea typeface="Poppins" pitchFamily="34" charset="-122"/>
              <a:cs typeface="Poppins" pitchFamily="34" charset="-120"/>
            </a:endParaRPr>
          </a:p>
          <a:p>
            <a:pPr>
              <a:lnSpc>
                <a:spcPct val="105000"/>
              </a:lnSpc>
            </a:pPr>
            <a:r>
              <a:rPr lang="en-US" sz="3200" b="1" dirty="0">
                <a:solidFill>
                  <a:srgbClr val="02464E"/>
                </a:solidFill>
                <a:latin typeface="Poppins Bold" pitchFamily="34" charset="0"/>
                <a:ea typeface="Poppins Bold" pitchFamily="34" charset="-122"/>
                <a:cs typeface="Poppins Bold" pitchFamily="34" charset="-120"/>
              </a:rPr>
              <a:t>Output
</a:t>
            </a:r>
            <a:r>
              <a:rPr lang="en-US" sz="3200" dirty="0">
                <a:solidFill>
                  <a:srgbClr val="02464E"/>
                </a:solidFill>
                <a:latin typeface="Poppins" pitchFamily="34" charset="0"/>
                <a:ea typeface="Poppins" pitchFamily="34" charset="-122"/>
                <a:cs typeface="Poppins" pitchFamily="34" charset="-120"/>
              </a:rPr>
              <a:t>A tested design direction and evidence for the next investment.</a:t>
            </a:r>
            <a:endParaRPr lang="en-US" sz="3200" dirty="0"/>
          </a:p>
          <a:p>
            <a:pPr>
              <a:lnSpc>
                <a:spcPct val="105000"/>
              </a:lnSpc>
            </a:pPr>
            <a:endParaRPr lang="en-US" sz="3200" dirty="0">
              <a:solidFill>
                <a:srgbClr val="02464E"/>
              </a:solidFill>
              <a:latin typeface="Poppins" pitchFamily="34" charset="0"/>
              <a:ea typeface="Poppins" pitchFamily="34" charset="-122"/>
              <a:cs typeface="Poppins" pitchFamily="34" charset="-120"/>
            </a:endParaRPr>
          </a:p>
          <a:p>
            <a:pPr marL="0" indent="0">
              <a:lnSpc>
                <a:spcPct val="105000"/>
              </a:lnSpc>
              <a:buNone/>
            </a:pPr>
            <a:endParaRPr lang="en-US" sz="3200" b="1" dirty="0">
              <a:solidFill>
                <a:srgbClr val="02464E"/>
              </a:solidFill>
              <a:latin typeface="Poppins Bold" pitchFamily="34" charset="0"/>
              <a:ea typeface="Poppins Bold" pitchFamily="34" charset="-122"/>
              <a:cs typeface="Poppins Bold" pitchFamily="34" charset="-120"/>
            </a:endParaRPr>
          </a:p>
          <a:p>
            <a:pPr marL="0" indent="0">
              <a:lnSpc>
                <a:spcPct val="105000"/>
              </a:lnSpc>
              <a:buNone/>
            </a:pPr>
            <a:endParaRPr lang="en-US"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Learning through prototypes</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8</a:t>
            </a:r>
            <a:endParaRPr lang="en-US" sz="2200" dirty="0"/>
          </a:p>
        </p:txBody>
      </p:sp>
      <p:pic>
        <p:nvPicPr>
          <p:cNvPr id="4" name="Image 0" descr="preencoded.png"/>
          <p:cNvPicPr>
            <a:picLocks noChangeAspect="1"/>
          </p:cNvPicPr>
          <p:nvPr/>
        </p:nvPicPr>
        <p:blipFill>
          <a:blip r:embed="rId3"/>
          <a:stretch>
            <a:fillRect/>
          </a:stretch>
        </p:blipFill>
        <p:spPr>
          <a:xfrm>
            <a:off x="1074646" y="2103120"/>
            <a:ext cx="10103667" cy="5669280"/>
          </a:xfrm>
          <a:prstGeom prst="rect">
            <a:avLst/>
          </a:prstGeom>
        </p:spPr>
      </p:pic>
      <p:sp>
        <p:nvSpPr>
          <p:cNvPr id="5" name="Text 2"/>
          <p:cNvSpPr/>
          <p:nvPr/>
        </p:nvSpPr>
        <p:spPr>
          <a:xfrm>
            <a:off x="11887200" y="2286000"/>
            <a:ext cx="5212080" cy="731520"/>
          </a:xfrm>
          <a:prstGeom prst="rect">
            <a:avLst/>
          </a:prstGeom>
          <a:noFill/>
          <a:ln/>
        </p:spPr>
        <p:txBody>
          <a:bodyPr wrap="square" lIns="0" tIns="0" rIns="0" bIns="0" rtlCol="0" anchor="t">
            <a:spAutoFit/>
          </a:bodyPr>
          <a:lstStyle/>
          <a:p>
            <a:pPr marL="0" indent="0">
              <a:lnSpc>
                <a:spcPct val="105000"/>
              </a:lnSpc>
              <a:buNone/>
            </a:pPr>
            <a:r>
              <a:rPr lang="en-US" sz="4000" b="1" dirty="0">
                <a:solidFill>
                  <a:srgbClr val="02464E"/>
                </a:solidFill>
                <a:latin typeface="Poppins Bold" pitchFamily="34" charset="0"/>
                <a:ea typeface="Poppins Bold" pitchFamily="34" charset="-122"/>
                <a:cs typeface="Poppins Bold" pitchFamily="34" charset="-120"/>
              </a:rPr>
              <a:t>Clay models</a:t>
            </a:r>
            <a:endParaRPr lang="en-US" sz="4000" dirty="0"/>
          </a:p>
        </p:txBody>
      </p:sp>
      <p:sp>
        <p:nvSpPr>
          <p:cNvPr id="6" name="Text 3"/>
          <p:cNvSpPr/>
          <p:nvPr/>
        </p:nvSpPr>
        <p:spPr>
          <a:xfrm>
            <a:off x="11887200" y="3246120"/>
            <a:ext cx="5212080" cy="1371600"/>
          </a:xfrm>
          <a:prstGeom prst="rect">
            <a:avLst/>
          </a:prstGeom>
          <a:noFill/>
          <a:ln/>
        </p:spPr>
        <p:txBody>
          <a:bodyPr wrap="square" lIns="0" tIns="0" rIns="0" bIns="0" rtlCol="0" anchor="t">
            <a:spAutoFit/>
          </a:bodyPr>
          <a:lstStyle/>
          <a:p>
            <a:pPr marL="0" indent="0">
              <a:lnSpc>
                <a:spcPct val="105000"/>
              </a:lnSpc>
              <a:buNone/>
            </a:pPr>
            <a:r>
              <a:rPr lang="en-US" sz="3000" dirty="0">
                <a:solidFill>
                  <a:srgbClr val="02464E"/>
                </a:solidFill>
                <a:latin typeface="Poppins" pitchFamily="34" charset="0"/>
                <a:ea typeface="Poppins" pitchFamily="34" charset="-122"/>
                <a:cs typeface="Poppins" pitchFamily="34" charset="-120"/>
              </a:rPr>
              <a:t>Evaluate shape, proportions, and physical form.</a:t>
            </a:r>
            <a:endParaRPr lang="en-US" sz="3000" dirty="0"/>
          </a:p>
        </p:txBody>
      </p:sp>
      <p:sp>
        <p:nvSpPr>
          <p:cNvPr id="7" name="Text 4"/>
          <p:cNvSpPr/>
          <p:nvPr/>
        </p:nvSpPr>
        <p:spPr>
          <a:xfrm>
            <a:off x="11887200" y="5074920"/>
            <a:ext cx="5212080" cy="822960"/>
          </a:xfrm>
          <a:prstGeom prst="rect">
            <a:avLst/>
          </a:prstGeom>
          <a:noFill/>
          <a:ln/>
        </p:spPr>
        <p:txBody>
          <a:bodyPr wrap="square" lIns="0" tIns="0" rIns="0" bIns="0" rtlCol="0" anchor="t">
            <a:spAutoFit/>
          </a:bodyPr>
          <a:lstStyle/>
          <a:p>
            <a:pPr marL="0" indent="0">
              <a:lnSpc>
                <a:spcPct val="105000"/>
              </a:lnSpc>
              <a:buNone/>
            </a:pPr>
            <a:r>
              <a:rPr lang="en-US" sz="4000" b="1" dirty="0">
                <a:solidFill>
                  <a:srgbClr val="02464E"/>
                </a:solidFill>
                <a:latin typeface="Poppins Bold" pitchFamily="34" charset="0"/>
                <a:ea typeface="Poppins Bold" pitchFamily="34" charset="-122"/>
                <a:cs typeface="Poppins Bold" pitchFamily="34" charset="-120"/>
              </a:rPr>
              <a:t>5,127 prototypes</a:t>
            </a:r>
            <a:endParaRPr lang="en-US" sz="4000" dirty="0"/>
          </a:p>
        </p:txBody>
      </p:sp>
      <p:sp>
        <p:nvSpPr>
          <p:cNvPr id="8" name="Text 5"/>
          <p:cNvSpPr/>
          <p:nvPr/>
        </p:nvSpPr>
        <p:spPr>
          <a:xfrm>
            <a:off x="11887200" y="6126480"/>
            <a:ext cx="5212080" cy="1645920"/>
          </a:xfrm>
          <a:prstGeom prst="rect">
            <a:avLst/>
          </a:prstGeom>
          <a:noFill/>
          <a:ln/>
        </p:spPr>
        <p:txBody>
          <a:bodyPr wrap="square" lIns="0" tIns="0" rIns="0" bIns="0" rtlCol="0" anchor="t">
            <a:spAutoFit/>
          </a:bodyPr>
          <a:lstStyle/>
          <a:p>
            <a:pPr marL="0" indent="0">
              <a:lnSpc>
                <a:spcPct val="105000"/>
              </a:lnSpc>
              <a:buNone/>
            </a:pPr>
            <a:r>
              <a:rPr lang="en-US" sz="2800" dirty="0">
                <a:solidFill>
                  <a:srgbClr val="02464E"/>
                </a:solidFill>
                <a:latin typeface="Poppins" pitchFamily="34" charset="0"/>
                <a:ea typeface="Poppins" pitchFamily="34" charset="-122"/>
                <a:cs typeface="Poppins" pitchFamily="34" charset="-120"/>
              </a:rPr>
              <a:t>Dyson’s reported development process for its first cyclonic vacuum.</a:t>
            </a:r>
            <a:endParaRPr lang="en-US"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4. Development &amp; Testing</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9</a:t>
            </a:r>
            <a:endParaRPr lang="en-US" sz="2200" dirty="0"/>
          </a:p>
        </p:txBody>
      </p:sp>
      <p:sp>
        <p:nvSpPr>
          <p:cNvPr id="4" name="Text 2"/>
          <p:cNvSpPr/>
          <p:nvPr/>
        </p:nvSpPr>
        <p:spPr>
          <a:xfrm>
            <a:off x="960120" y="2057400"/>
            <a:ext cx="16184880" cy="6515100"/>
          </a:xfrm>
          <a:prstGeom prst="rect">
            <a:avLst/>
          </a:prstGeom>
          <a:noFill/>
          <a:ln/>
        </p:spPr>
        <p:txBody>
          <a:bodyPr wrap="square" lIns="0" tIns="0" rIns="0" bIns="0" rtlCol="0" anchor="t"/>
          <a:lstStyle/>
          <a:p>
            <a:r>
              <a:rPr lang="en-US" sz="3200" b="1" dirty="0">
                <a:solidFill>
                  <a:srgbClr val="02464E"/>
                </a:solidFill>
                <a:latin typeface="Poppins Bold" pitchFamily="34" charset="0"/>
                <a:ea typeface="Poppins Bold" pitchFamily="34" charset="-122"/>
                <a:cs typeface="Poppins Bold" pitchFamily="34" charset="-120"/>
              </a:rPr>
              <a:t>Core Goal</a:t>
            </a:r>
            <a:br>
              <a:rPr lang="en-US" sz="3200" b="1" dirty="0">
                <a:solidFill>
                  <a:srgbClr val="02464E"/>
                </a:solidFill>
                <a:latin typeface="Poppins Bold" pitchFamily="34" charset="0"/>
                <a:ea typeface="Poppins Bold" pitchFamily="34" charset="-122"/>
                <a:cs typeface="Poppins Bold" pitchFamily="34" charset="-120"/>
              </a:rPr>
            </a:br>
            <a:r>
              <a:rPr lang="en-US" sz="3200" dirty="0">
                <a:solidFill>
                  <a:srgbClr val="02464E"/>
                </a:solidFill>
                <a:latin typeface="Poppins" pitchFamily="34" charset="0"/>
                <a:ea typeface="Poppins" pitchFamily="34" charset="-122"/>
                <a:cs typeface="Poppins" pitchFamily="34" charset="-120"/>
              </a:rPr>
              <a:t>Build a repeatable product and establish dependable performance.</a:t>
            </a:r>
            <a:br>
              <a:rPr lang="en-US" sz="3200" dirty="0">
                <a:solidFill>
                  <a:srgbClr val="02464E"/>
                </a:solidFill>
                <a:latin typeface="Poppins" pitchFamily="34" charset="0"/>
                <a:ea typeface="Poppins" pitchFamily="34" charset="-122"/>
                <a:cs typeface="Poppins" pitchFamily="34" charset="-120"/>
              </a:rPr>
            </a:br>
            <a:br>
              <a:rPr lang="en-US" sz="3200" dirty="0">
                <a:solidFill>
                  <a:srgbClr val="02464E"/>
                </a:solidFill>
                <a:latin typeface="Poppins" pitchFamily="34" charset="0"/>
                <a:ea typeface="Poppins" pitchFamily="34" charset="-122"/>
                <a:cs typeface="Poppins" pitchFamily="34" charset="-120"/>
              </a:rPr>
            </a:br>
            <a:r>
              <a:rPr lang="en-US" sz="3200" b="1" dirty="0">
                <a:solidFill>
                  <a:srgbClr val="02464E"/>
                </a:solidFill>
                <a:latin typeface="Poppins Bold" pitchFamily="34" charset="0"/>
                <a:ea typeface="Poppins Bold" pitchFamily="34" charset="-122"/>
                <a:cs typeface="Poppins Bold" pitchFamily="34" charset="-120"/>
              </a:rPr>
              <a:t>Key Activities
</a:t>
            </a:r>
            <a:r>
              <a:rPr lang="en-US" sz="3200" dirty="0">
                <a:solidFill>
                  <a:srgbClr val="02464E"/>
                </a:solidFill>
                <a:latin typeface="Poppins" pitchFamily="34" charset="0"/>
                <a:ea typeface="Poppins" pitchFamily="34" charset="-122"/>
                <a:cs typeface="Poppins" pitchFamily="34" charset="-120"/>
              </a:rPr>
              <a:t>Engineering, integration, production preparation, functionality, security and reliability testing.</a:t>
            </a:r>
            <a:br>
              <a:rPr lang="en-US" sz="3200" dirty="0">
                <a:solidFill>
                  <a:srgbClr val="02464E"/>
                </a:solidFill>
                <a:latin typeface="Poppins" pitchFamily="34" charset="0"/>
                <a:ea typeface="Poppins" pitchFamily="34" charset="-122"/>
                <a:cs typeface="Poppins" pitchFamily="34" charset="-120"/>
              </a:rPr>
            </a:br>
            <a:br>
              <a:rPr lang="en-US" sz="3200" dirty="0">
                <a:solidFill>
                  <a:srgbClr val="02464E"/>
                </a:solidFill>
                <a:latin typeface="Poppins" pitchFamily="34" charset="0"/>
                <a:ea typeface="Poppins" pitchFamily="34" charset="-122"/>
                <a:cs typeface="Poppins" pitchFamily="34" charset="-120"/>
              </a:rPr>
            </a:br>
            <a:r>
              <a:rPr lang="en-US" sz="3200" b="1" dirty="0">
                <a:solidFill>
                  <a:srgbClr val="02464E"/>
                </a:solidFill>
                <a:latin typeface="Poppins Bold" pitchFamily="34" charset="0"/>
                <a:ea typeface="Poppins Bold" pitchFamily="34" charset="-122"/>
                <a:cs typeface="Poppins Bold" pitchFamily="34" charset="-120"/>
              </a:rPr>
              <a:t>Main Question
</a:t>
            </a:r>
            <a:r>
              <a:rPr lang="en-US" sz="3200" dirty="0">
                <a:solidFill>
                  <a:srgbClr val="02464E"/>
                </a:solidFill>
                <a:latin typeface="Poppins" pitchFamily="34" charset="0"/>
                <a:ea typeface="Poppins" pitchFamily="34" charset="-122"/>
                <a:cs typeface="Poppins" pitchFamily="34" charset="-120"/>
              </a:rPr>
              <a:t>Does it meet requirements and serve its intended purpose?</a:t>
            </a:r>
            <a:br>
              <a:rPr lang="en-US" sz="3200" dirty="0">
                <a:solidFill>
                  <a:srgbClr val="02464E"/>
                </a:solidFill>
                <a:latin typeface="Poppins" pitchFamily="34" charset="0"/>
                <a:ea typeface="Poppins" pitchFamily="34" charset="-122"/>
                <a:cs typeface="Poppins" pitchFamily="34" charset="-120"/>
              </a:rPr>
            </a:br>
            <a:br>
              <a:rPr lang="en-US" sz="3200" dirty="0">
                <a:solidFill>
                  <a:srgbClr val="02464E"/>
                </a:solidFill>
                <a:latin typeface="Poppins" pitchFamily="34" charset="0"/>
                <a:ea typeface="Poppins" pitchFamily="34" charset="-122"/>
                <a:cs typeface="Poppins" pitchFamily="34" charset="-120"/>
              </a:rPr>
            </a:br>
            <a:r>
              <a:rPr lang="en-US" sz="3200" b="1" dirty="0">
                <a:solidFill>
                  <a:srgbClr val="02464E"/>
                </a:solidFill>
                <a:latin typeface="Poppins Bold" pitchFamily="34" charset="0"/>
                <a:ea typeface="Poppins Bold" pitchFamily="34" charset="-122"/>
                <a:cs typeface="Poppins Bold" pitchFamily="34" charset="-120"/>
              </a:rPr>
              <a:t>Output
</a:t>
            </a:r>
            <a:r>
              <a:rPr lang="en-US" sz="3200" dirty="0">
                <a:solidFill>
                  <a:srgbClr val="02464E"/>
                </a:solidFill>
                <a:latin typeface="Poppins" pitchFamily="34" charset="0"/>
                <a:ea typeface="Poppins" pitchFamily="34" charset="-122"/>
                <a:cs typeface="Poppins" pitchFamily="34" charset="-120"/>
              </a:rPr>
              <a:t>A release-ready product supported by documented test evidence.</a:t>
            </a:r>
            <a:endParaRPr lang="en-US" sz="3200" dirty="0"/>
          </a:p>
          <a:p>
            <a:endParaRPr lang="en-US" sz="3200" dirty="0"/>
          </a:p>
          <a:p>
            <a:endParaRPr lang="en-US" sz="3200" dirty="0"/>
          </a:p>
          <a:p>
            <a:pPr marL="0" indent="0">
              <a:buNone/>
            </a:pPr>
            <a:endParaRPr lang="en-US" sz="3200" dirty="0"/>
          </a:p>
        </p:txBody>
      </p:sp>
      <p:sp>
        <p:nvSpPr>
          <p:cNvPr id="6" name="Text 4"/>
          <p:cNvSpPr/>
          <p:nvPr/>
        </p:nvSpPr>
        <p:spPr>
          <a:xfrm>
            <a:off x="960120" y="4562856"/>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5. Launch &amp; Commercialization</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10</a:t>
            </a:r>
            <a:endParaRPr lang="en-US" sz="2200" dirty="0"/>
          </a:p>
        </p:txBody>
      </p:sp>
      <p:sp>
        <p:nvSpPr>
          <p:cNvPr id="4" name="Text 2"/>
          <p:cNvSpPr/>
          <p:nvPr/>
        </p:nvSpPr>
        <p:spPr>
          <a:xfrm>
            <a:off x="960120" y="2057400"/>
            <a:ext cx="16184880" cy="6438900"/>
          </a:xfrm>
          <a:prstGeom prst="rect">
            <a:avLst/>
          </a:prstGeom>
          <a:noFill/>
          <a:ln/>
        </p:spPr>
        <p:txBody>
          <a:bodyPr wrap="square" lIns="0" tIns="0" rIns="0" bIns="0" rtlCol="0" anchor="t"/>
          <a:lstStyle/>
          <a:p>
            <a:pPr>
              <a:lnSpc>
                <a:spcPct val="105000"/>
              </a:lnSpc>
            </a:pPr>
            <a:r>
              <a:rPr lang="en-US" sz="3200" b="1" dirty="0">
                <a:solidFill>
                  <a:srgbClr val="02464E"/>
                </a:solidFill>
                <a:latin typeface="Poppins Bold" pitchFamily="34" charset="0"/>
                <a:ea typeface="Poppins Bold" pitchFamily="34" charset="-122"/>
                <a:cs typeface="Poppins Bold" pitchFamily="34" charset="-120"/>
              </a:rPr>
              <a:t>Core Goal
</a:t>
            </a:r>
            <a:r>
              <a:rPr lang="en-US" sz="3200" dirty="0">
                <a:solidFill>
                  <a:srgbClr val="02464E"/>
                </a:solidFill>
                <a:latin typeface="Poppins" pitchFamily="34" charset="0"/>
                <a:ea typeface="Poppins" pitchFamily="34" charset="-122"/>
                <a:cs typeface="Poppins" pitchFamily="34" charset="-120"/>
              </a:rPr>
              <a:t>Bring the product to users through a sustainable route to adoption.</a:t>
            </a:r>
            <a:br>
              <a:rPr lang="en-US" sz="3200" dirty="0">
                <a:solidFill>
                  <a:srgbClr val="02464E"/>
                </a:solidFill>
                <a:latin typeface="Poppins" pitchFamily="34" charset="0"/>
                <a:ea typeface="Poppins" pitchFamily="34" charset="-122"/>
                <a:cs typeface="Poppins" pitchFamily="34" charset="-120"/>
              </a:rPr>
            </a:br>
            <a:br>
              <a:rPr lang="en-US" sz="3200" dirty="0">
                <a:solidFill>
                  <a:srgbClr val="02464E"/>
                </a:solidFill>
                <a:latin typeface="Poppins" pitchFamily="34" charset="0"/>
                <a:ea typeface="Poppins" pitchFamily="34" charset="-122"/>
                <a:cs typeface="Poppins" pitchFamily="34" charset="-120"/>
              </a:rPr>
            </a:br>
            <a:r>
              <a:rPr lang="en-US" sz="3200" b="1" dirty="0">
                <a:solidFill>
                  <a:srgbClr val="02464E"/>
                </a:solidFill>
                <a:latin typeface="Poppins Bold" pitchFamily="34" charset="0"/>
                <a:ea typeface="Poppins Bold" pitchFamily="34" charset="-122"/>
                <a:cs typeface="Poppins Bold" pitchFamily="34" charset="-120"/>
              </a:rPr>
              <a:t>Key Activities
</a:t>
            </a:r>
            <a:r>
              <a:rPr lang="en-US" sz="3200" dirty="0">
                <a:solidFill>
                  <a:srgbClr val="02464E"/>
                </a:solidFill>
                <a:latin typeface="Poppins" pitchFamily="34" charset="0"/>
                <a:ea typeface="Poppins" pitchFamily="34" charset="-122"/>
                <a:cs typeface="Poppins" pitchFamily="34" charset="-120"/>
              </a:rPr>
              <a:t>Pilot releases, pricing, distribution, marketing, sales, onboarding and support.</a:t>
            </a:r>
            <a:br>
              <a:rPr lang="en-US" sz="3200" dirty="0">
                <a:solidFill>
                  <a:srgbClr val="02464E"/>
                </a:solidFill>
                <a:latin typeface="Poppins" pitchFamily="34" charset="0"/>
                <a:ea typeface="Poppins" pitchFamily="34" charset="-122"/>
                <a:cs typeface="Poppins" pitchFamily="34" charset="-120"/>
              </a:rPr>
            </a:br>
            <a:br>
              <a:rPr lang="en-US" sz="3200" dirty="0">
                <a:solidFill>
                  <a:srgbClr val="02464E"/>
                </a:solidFill>
                <a:latin typeface="Poppins" pitchFamily="34" charset="0"/>
                <a:ea typeface="Poppins" pitchFamily="34" charset="-122"/>
                <a:cs typeface="Poppins" pitchFamily="34" charset="-120"/>
              </a:rPr>
            </a:br>
            <a:r>
              <a:rPr lang="en-US" sz="3200" b="1" dirty="0">
                <a:solidFill>
                  <a:srgbClr val="02464E"/>
                </a:solidFill>
                <a:latin typeface="Poppins Bold" pitchFamily="34" charset="0"/>
                <a:ea typeface="Poppins Bold" pitchFamily="34" charset="-122"/>
                <a:cs typeface="Poppins Bold" pitchFamily="34" charset="-120"/>
              </a:rPr>
              <a:t>Main Question
</a:t>
            </a:r>
            <a:r>
              <a:rPr lang="en-US" sz="3200" dirty="0">
                <a:solidFill>
                  <a:srgbClr val="02464E"/>
                </a:solidFill>
                <a:latin typeface="Poppins" pitchFamily="34" charset="0"/>
                <a:ea typeface="Poppins" pitchFamily="34" charset="-122"/>
                <a:cs typeface="Poppins" pitchFamily="34" charset="-120"/>
              </a:rPr>
              <a:t>Will customers adopt the solution and continue obtaining value?</a:t>
            </a:r>
            <a:br>
              <a:rPr lang="en-US" sz="3200" dirty="0">
                <a:solidFill>
                  <a:srgbClr val="02464E"/>
                </a:solidFill>
                <a:latin typeface="Poppins" pitchFamily="34" charset="0"/>
                <a:ea typeface="Poppins" pitchFamily="34" charset="-122"/>
                <a:cs typeface="Poppins" pitchFamily="34" charset="-120"/>
              </a:rPr>
            </a:br>
            <a:br>
              <a:rPr lang="en-US" sz="3200" dirty="0">
                <a:solidFill>
                  <a:srgbClr val="02464E"/>
                </a:solidFill>
                <a:latin typeface="Poppins" pitchFamily="34" charset="0"/>
                <a:ea typeface="Poppins" pitchFamily="34" charset="-122"/>
                <a:cs typeface="Poppins" pitchFamily="34" charset="-120"/>
              </a:rPr>
            </a:br>
            <a:r>
              <a:rPr lang="en-US" sz="3200" b="1" dirty="0">
                <a:solidFill>
                  <a:srgbClr val="02464E"/>
                </a:solidFill>
                <a:latin typeface="Poppins Bold" pitchFamily="34" charset="0"/>
                <a:ea typeface="Poppins Bold" pitchFamily="34" charset="-122"/>
                <a:cs typeface="Poppins Bold" pitchFamily="34" charset="-120"/>
              </a:rPr>
              <a:t>Output
</a:t>
            </a:r>
            <a:r>
              <a:rPr lang="en-US" sz="3200" dirty="0">
                <a:solidFill>
                  <a:srgbClr val="02464E"/>
                </a:solidFill>
                <a:latin typeface="Poppins" pitchFamily="34" charset="0"/>
                <a:ea typeface="Poppins" pitchFamily="34" charset="-122"/>
                <a:cs typeface="Poppins" pitchFamily="34" charset="-120"/>
              </a:rPr>
              <a:t>A supported release and evidence of adoption and customer value.</a:t>
            </a:r>
            <a:endParaRPr lang="en-US" sz="3200" dirty="0"/>
          </a:p>
          <a:p>
            <a:pPr>
              <a:lnSpc>
                <a:spcPct val="105000"/>
              </a:lnSpc>
            </a:pPr>
            <a:endParaRPr lang="en-US" sz="3200" dirty="0"/>
          </a:p>
          <a:p>
            <a:pPr>
              <a:lnSpc>
                <a:spcPct val="105000"/>
              </a:lnSpc>
            </a:pPr>
            <a:endParaRPr lang="en-US" sz="3200" dirty="0"/>
          </a:p>
          <a:p>
            <a:pPr>
              <a:lnSpc>
                <a:spcPct val="105000"/>
              </a:lnSpc>
            </a:pPr>
            <a:endParaRPr lang="en-US" sz="3200" dirty="0"/>
          </a:p>
          <a:p>
            <a:pPr marL="0" indent="0">
              <a:lnSpc>
                <a:spcPct val="105000"/>
              </a:lnSpc>
              <a:buNone/>
            </a:pPr>
            <a:endParaRPr lang="en-US" sz="3200" dirty="0"/>
          </a:p>
        </p:txBody>
      </p:sp>
      <p:sp>
        <p:nvSpPr>
          <p:cNvPr id="5" name="Text 3"/>
          <p:cNvSpPr/>
          <p:nvPr/>
        </p:nvSpPr>
        <p:spPr>
          <a:xfrm>
            <a:off x="960120" y="3310128"/>
            <a:ext cx="16184880" cy="1234440"/>
          </a:xfrm>
          <a:prstGeom prst="rect">
            <a:avLst/>
          </a:prstGeom>
          <a:noFill/>
          <a:ln/>
        </p:spPr>
        <p:txBody>
          <a:bodyPr wrap="square" lIns="0" tIns="0" rIns="0" bIns="0" rtlCol="0" anchor="t"/>
          <a:lstStyle/>
          <a:p>
            <a:pPr marL="0" indent="0">
              <a:lnSpc>
                <a:spcPct val="105000"/>
              </a:lnSpc>
              <a:buNone/>
            </a:pPr>
            <a:endParaRPr lang="en-US" sz="3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6. Iteration &amp; Maintenance</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11</a:t>
            </a:r>
            <a:endParaRPr lang="en-US" sz="2200" dirty="0"/>
          </a:p>
        </p:txBody>
      </p:sp>
      <p:sp>
        <p:nvSpPr>
          <p:cNvPr id="4" name="Text 2"/>
          <p:cNvSpPr/>
          <p:nvPr/>
        </p:nvSpPr>
        <p:spPr>
          <a:xfrm>
            <a:off x="960120" y="2057400"/>
            <a:ext cx="9144000" cy="6057900"/>
          </a:xfrm>
          <a:prstGeom prst="rect">
            <a:avLst/>
          </a:prstGeom>
          <a:noFill/>
          <a:ln/>
        </p:spPr>
        <p:txBody>
          <a:bodyPr wrap="square" lIns="0" tIns="0" rIns="0" bIns="0" rtlCol="0" anchor="t"/>
          <a:lstStyle/>
          <a:p>
            <a:pPr>
              <a:lnSpc>
                <a:spcPct val="105000"/>
              </a:lnSpc>
            </a:pPr>
            <a:r>
              <a:rPr lang="en-US" sz="3200" b="1" dirty="0">
                <a:solidFill>
                  <a:srgbClr val="02464E"/>
                </a:solidFill>
                <a:latin typeface="Poppins Bold" pitchFamily="34" charset="0"/>
                <a:ea typeface="Poppins Bold" pitchFamily="34" charset="-122"/>
                <a:cs typeface="Poppins Bold" pitchFamily="34" charset="-120"/>
              </a:rPr>
              <a:t>Core Goal
</a:t>
            </a:r>
            <a:r>
              <a:rPr lang="en-US" sz="3200" dirty="0">
                <a:solidFill>
                  <a:srgbClr val="02464E"/>
                </a:solidFill>
                <a:latin typeface="Poppins" pitchFamily="34" charset="0"/>
                <a:ea typeface="Poppins" pitchFamily="34" charset="-122"/>
                <a:cs typeface="Poppins" pitchFamily="34" charset="-120"/>
              </a:rPr>
              <a:t>Sustain value using evidence from actual operation.</a:t>
            </a:r>
            <a:br>
              <a:rPr lang="en-US" sz="3200" dirty="0">
                <a:solidFill>
                  <a:srgbClr val="02464E"/>
                </a:solidFill>
                <a:latin typeface="Poppins" pitchFamily="34" charset="0"/>
                <a:ea typeface="Poppins" pitchFamily="34" charset="-122"/>
                <a:cs typeface="Poppins" pitchFamily="34" charset="-120"/>
              </a:rPr>
            </a:br>
            <a:br>
              <a:rPr lang="en-US" sz="3200" dirty="0">
                <a:solidFill>
                  <a:srgbClr val="02464E"/>
                </a:solidFill>
                <a:latin typeface="Poppins" pitchFamily="34" charset="0"/>
                <a:ea typeface="Poppins" pitchFamily="34" charset="-122"/>
                <a:cs typeface="Poppins" pitchFamily="34" charset="-120"/>
              </a:rPr>
            </a:br>
            <a:r>
              <a:rPr lang="en-US" sz="3200" b="1" dirty="0">
                <a:solidFill>
                  <a:srgbClr val="02464E"/>
                </a:solidFill>
                <a:latin typeface="Poppins Bold" pitchFamily="34" charset="0"/>
                <a:ea typeface="Poppins Bold" pitchFamily="34" charset="-122"/>
                <a:cs typeface="Poppins Bold" pitchFamily="34" charset="-120"/>
              </a:rPr>
              <a:t>Key Activities
</a:t>
            </a:r>
            <a:r>
              <a:rPr lang="en-US" sz="3200" dirty="0">
                <a:solidFill>
                  <a:srgbClr val="02464E"/>
                </a:solidFill>
                <a:latin typeface="Poppins" pitchFamily="34" charset="0"/>
                <a:ea typeface="Poppins" pitchFamily="34" charset="-122"/>
                <a:cs typeface="Poppins" pitchFamily="34" charset="-120"/>
              </a:rPr>
              <a:t>Monitor outcomes, gather feedback, fix issues, manage upgrades and retirement.</a:t>
            </a:r>
            <a:br>
              <a:rPr lang="en-US" sz="3200" dirty="0">
                <a:solidFill>
                  <a:srgbClr val="02464E"/>
                </a:solidFill>
                <a:latin typeface="Poppins" pitchFamily="34" charset="0"/>
                <a:ea typeface="Poppins" pitchFamily="34" charset="-122"/>
                <a:cs typeface="Poppins" pitchFamily="34" charset="-120"/>
              </a:rPr>
            </a:br>
            <a:endParaRPr lang="en-US" sz="3200" dirty="0"/>
          </a:p>
          <a:p>
            <a:pPr>
              <a:lnSpc>
                <a:spcPct val="105000"/>
              </a:lnSpc>
            </a:pPr>
            <a:r>
              <a:rPr lang="en-US" sz="3200" b="1" dirty="0">
                <a:solidFill>
                  <a:srgbClr val="02464E"/>
                </a:solidFill>
                <a:latin typeface="Poppins Bold" pitchFamily="34" charset="0"/>
                <a:ea typeface="Poppins Bold" pitchFamily="34" charset="-122"/>
                <a:cs typeface="Poppins Bold" pitchFamily="34" charset="-120"/>
              </a:rPr>
              <a:t>Main Question
</a:t>
            </a:r>
            <a:r>
              <a:rPr lang="en-US" sz="3200" dirty="0">
                <a:solidFill>
                  <a:srgbClr val="02464E"/>
                </a:solidFill>
                <a:latin typeface="Poppins" pitchFamily="34" charset="0"/>
                <a:ea typeface="Poppins" pitchFamily="34" charset="-122"/>
                <a:cs typeface="Poppins" pitchFamily="34" charset="-120"/>
              </a:rPr>
              <a:t>What should we improve, maintain, replace, or stop?</a:t>
            </a:r>
            <a:endParaRPr lang="en-US" sz="3200" dirty="0"/>
          </a:p>
        </p:txBody>
      </p:sp>
      <p:sp>
        <p:nvSpPr>
          <p:cNvPr id="5" name="Text 3"/>
          <p:cNvSpPr/>
          <p:nvPr/>
        </p:nvSpPr>
        <p:spPr>
          <a:xfrm>
            <a:off x="960120" y="3401568"/>
            <a:ext cx="9144000" cy="1234440"/>
          </a:xfrm>
          <a:prstGeom prst="rect">
            <a:avLst/>
          </a:prstGeom>
          <a:noFill/>
          <a:ln/>
        </p:spPr>
        <p:txBody>
          <a:bodyPr wrap="square" lIns="0" tIns="0" rIns="0" bIns="0" rtlCol="0" anchor="t"/>
          <a:lstStyle/>
          <a:p>
            <a:pPr marL="0" indent="0">
              <a:lnSpc>
                <a:spcPct val="105000"/>
              </a:lnSpc>
              <a:buNone/>
            </a:pPr>
            <a:endParaRPr lang="en-US" sz="3200" dirty="0"/>
          </a:p>
        </p:txBody>
      </p:sp>
      <p:sp>
        <p:nvSpPr>
          <p:cNvPr id="6" name="Text 4"/>
          <p:cNvSpPr/>
          <p:nvPr/>
        </p:nvSpPr>
        <p:spPr>
          <a:xfrm>
            <a:off x="960120" y="4892040"/>
            <a:ext cx="9144000" cy="1234440"/>
          </a:xfrm>
          <a:prstGeom prst="rect">
            <a:avLst/>
          </a:prstGeom>
          <a:noFill/>
          <a:ln/>
        </p:spPr>
        <p:txBody>
          <a:bodyPr wrap="square" lIns="0" tIns="0" rIns="0" bIns="0" rtlCol="0" anchor="t"/>
          <a:lstStyle/>
          <a:p>
            <a:pPr marL="0" indent="0">
              <a:lnSpc>
                <a:spcPct val="105000"/>
              </a:lnSpc>
              <a:buNone/>
            </a:pPr>
            <a:endParaRPr lang="en-US" sz="3200" dirty="0"/>
          </a:p>
        </p:txBody>
      </p:sp>
      <p:sp>
        <p:nvSpPr>
          <p:cNvPr id="7" name="Text 5"/>
          <p:cNvSpPr/>
          <p:nvPr/>
        </p:nvSpPr>
        <p:spPr>
          <a:xfrm>
            <a:off x="960120" y="6327648"/>
            <a:ext cx="9144000" cy="1234440"/>
          </a:xfrm>
          <a:prstGeom prst="rect">
            <a:avLst/>
          </a:prstGeom>
          <a:noFill/>
          <a:ln/>
        </p:spPr>
        <p:txBody>
          <a:bodyPr wrap="square" lIns="0" tIns="0" rIns="0" bIns="0" rtlCol="0" anchor="t"/>
          <a:lstStyle/>
          <a:p>
            <a:pPr marL="0" indent="0">
              <a:lnSpc>
                <a:spcPct val="105000"/>
              </a:lnSpc>
              <a:buNone/>
            </a:pPr>
            <a:endParaRPr lang="en-US" sz="3200" dirty="0"/>
          </a:p>
        </p:txBody>
      </p:sp>
      <p:pic>
        <p:nvPicPr>
          <p:cNvPr id="8" name="Image 0" descr="preencoded.png"/>
          <p:cNvPicPr>
            <a:picLocks noChangeAspect="1"/>
          </p:cNvPicPr>
          <p:nvPr/>
        </p:nvPicPr>
        <p:blipFill>
          <a:blip r:embed="rId3"/>
          <a:stretch>
            <a:fillRect/>
          </a:stretch>
        </p:blipFill>
        <p:spPr>
          <a:xfrm>
            <a:off x="10744200" y="2774404"/>
            <a:ext cx="6675120" cy="3320872"/>
          </a:xfrm>
          <a:prstGeom prst="rect">
            <a:avLst/>
          </a:prstGeom>
        </p:spPr>
      </p:pic>
      <p:sp>
        <p:nvSpPr>
          <p:cNvPr id="9" name="Text 6"/>
          <p:cNvSpPr/>
          <p:nvPr/>
        </p:nvSpPr>
        <p:spPr>
          <a:xfrm>
            <a:off x="10744200" y="6400800"/>
            <a:ext cx="6629400" cy="640080"/>
          </a:xfrm>
          <a:prstGeom prst="rect">
            <a:avLst/>
          </a:prstGeom>
          <a:noFill/>
          <a:ln/>
        </p:spPr>
        <p:txBody>
          <a:bodyPr wrap="square" lIns="0" tIns="0" rIns="0" bIns="0" rtlCol="0" anchor="t">
            <a:spAutoFit/>
          </a:bodyPr>
          <a:lstStyle/>
          <a:p>
            <a:pPr marL="0" indent="0">
              <a:lnSpc>
                <a:spcPct val="105000"/>
              </a:lnSpc>
              <a:buNone/>
            </a:pPr>
            <a:r>
              <a:rPr lang="en-US" sz="3000" b="1" dirty="0">
                <a:solidFill>
                  <a:srgbClr val="02464E"/>
                </a:solidFill>
                <a:latin typeface="Poppins Bold" pitchFamily="34" charset="0"/>
                <a:ea typeface="Poppins Bold" pitchFamily="34" charset="-122"/>
                <a:cs typeface="Poppins Bold" pitchFamily="34" charset="-120"/>
              </a:rPr>
              <a:t>Hubble servicing, 1993</a:t>
            </a:r>
            <a:endParaRPr lang="en-US" sz="3000" dirty="0"/>
          </a:p>
        </p:txBody>
      </p:sp>
      <p:sp>
        <p:nvSpPr>
          <p:cNvPr id="10" name="Text 7"/>
          <p:cNvSpPr/>
          <p:nvPr/>
        </p:nvSpPr>
        <p:spPr>
          <a:xfrm>
            <a:off x="10744200" y="7223760"/>
            <a:ext cx="6629400" cy="1051560"/>
          </a:xfrm>
          <a:prstGeom prst="rect">
            <a:avLst/>
          </a:prstGeom>
          <a:noFill/>
          <a:ln/>
        </p:spPr>
        <p:txBody>
          <a:bodyPr wrap="square" lIns="0" tIns="0" rIns="0" bIns="0" rtlCol="0" anchor="t">
            <a:spAutoFit/>
          </a:bodyPr>
          <a:lstStyle/>
          <a:p>
            <a:pPr marL="0" indent="0">
              <a:lnSpc>
                <a:spcPct val="105000"/>
              </a:lnSpc>
              <a:buNone/>
            </a:pPr>
            <a:r>
              <a:rPr lang="en-US" sz="2700" dirty="0">
                <a:solidFill>
                  <a:srgbClr val="02464E"/>
                </a:solidFill>
                <a:latin typeface="Poppins" pitchFamily="34" charset="0"/>
                <a:ea typeface="Poppins" pitchFamily="34" charset="-122"/>
                <a:cs typeface="Poppins" pitchFamily="34" charset="-120"/>
              </a:rPr>
              <a:t>Corrective optics and a replacement camera improved image quality.</a:t>
            </a:r>
            <a:endParaRPr lang="en-US" sz="2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828800" y="731520"/>
            <a:ext cx="15773400" cy="1051560"/>
          </a:xfrm>
          <a:prstGeom prst="rect">
            <a:avLst/>
          </a:prstGeom>
          <a:noFill/>
          <a:ln/>
        </p:spPr>
        <p:txBody>
          <a:bodyPr wrap="square" lIns="0" tIns="0" rIns="0" bIns="0" rtlCol="0" anchor="t">
            <a:spAutoFit/>
          </a:bodyPr>
          <a:lstStyle/>
          <a:p>
            <a:pPr marL="0" indent="0">
              <a:lnSpc>
                <a:spcPct val="105000"/>
              </a:lnSpc>
              <a:buNone/>
            </a:pPr>
            <a:r>
              <a:rPr lang="en-US" sz="6600" b="1" dirty="0">
                <a:solidFill>
                  <a:srgbClr val="02464E"/>
                </a:solidFill>
                <a:latin typeface="Poppins Bold" pitchFamily="34" charset="0"/>
                <a:ea typeface="Poppins Bold" pitchFamily="34" charset="-122"/>
                <a:cs typeface="Poppins Bold" pitchFamily="34" charset="-120"/>
              </a:rPr>
              <a:t>Product–market fit</a:t>
            </a:r>
            <a:endParaRPr lang="en-US" sz="6600" dirty="0"/>
          </a:p>
        </p:txBody>
      </p:sp>
      <p:sp>
        <p:nvSpPr>
          <p:cNvPr id="3" name="Text 1"/>
          <p:cNvSpPr/>
          <p:nvPr/>
        </p:nvSpPr>
        <p:spPr>
          <a:xfrm>
            <a:off x="17007840" y="9400032"/>
            <a:ext cx="548640" cy="411480"/>
          </a:xfrm>
          <a:prstGeom prst="rect">
            <a:avLst/>
          </a:prstGeom>
          <a:noFill/>
          <a:ln/>
        </p:spPr>
        <p:txBody>
          <a:bodyPr wrap="square" lIns="0" tIns="0" rIns="0" bIns="0" rtlCol="0" anchor="t">
            <a:spAutoFit/>
          </a:bodyPr>
          <a:lstStyle/>
          <a:p>
            <a:pPr marL="0" indent="0">
              <a:lnSpc>
                <a:spcPct val="105000"/>
              </a:lnSpc>
              <a:buNone/>
            </a:pPr>
            <a:r>
              <a:rPr lang="en-US" sz="2200" dirty="0">
                <a:solidFill>
                  <a:srgbClr val="FFFFFF"/>
                </a:solidFill>
                <a:latin typeface="Poppins" pitchFamily="34" charset="0"/>
                <a:ea typeface="Poppins" pitchFamily="34" charset="-122"/>
                <a:cs typeface="Poppins" pitchFamily="34" charset="-120"/>
              </a:rPr>
              <a:t>12</a:t>
            </a:r>
            <a:endParaRPr lang="en-US" sz="2200" dirty="0"/>
          </a:p>
        </p:txBody>
      </p:sp>
      <p:sp>
        <p:nvSpPr>
          <p:cNvPr id="4" name="Text 2"/>
          <p:cNvSpPr/>
          <p:nvPr/>
        </p:nvSpPr>
        <p:spPr>
          <a:xfrm>
            <a:off x="960120" y="2103120"/>
            <a:ext cx="16184880" cy="1234440"/>
          </a:xfrm>
          <a:prstGeom prst="rect">
            <a:avLst/>
          </a:prstGeom>
          <a:noFill/>
          <a:ln/>
        </p:spPr>
        <p:txBody>
          <a:bodyPr wrap="square" lIns="0" tIns="0" rIns="0" bIns="0" rtlCol="0" anchor="t"/>
          <a:lstStyle/>
          <a:p>
            <a:pPr marL="0" indent="0">
              <a:lnSpc>
                <a:spcPct val="105000"/>
              </a:lnSpc>
              <a:buNone/>
            </a:pPr>
            <a:r>
              <a:rPr lang="en-US" sz="3200" b="1" dirty="0">
                <a:solidFill>
                  <a:srgbClr val="02464E"/>
                </a:solidFill>
                <a:latin typeface="Poppins Bold" pitchFamily="34" charset="0"/>
                <a:ea typeface="Poppins Bold" pitchFamily="34" charset="-122"/>
                <a:cs typeface="Poppins Bold" pitchFamily="34" charset="-120"/>
              </a:rPr>
              <a:t>Problem–solution fit
</a:t>
            </a:r>
            <a:r>
              <a:rPr lang="en-US" sz="3200" dirty="0">
                <a:solidFill>
                  <a:srgbClr val="02464E"/>
                </a:solidFill>
                <a:latin typeface="Poppins" pitchFamily="34" charset="0"/>
                <a:ea typeface="Poppins" pitchFamily="34" charset="-122"/>
                <a:cs typeface="Poppins" pitchFamily="34" charset="-120"/>
              </a:rPr>
              <a:t>Does the proposed solution address an important need?</a:t>
            </a:r>
            <a:endParaRPr lang="en-US" sz="3200" dirty="0"/>
          </a:p>
        </p:txBody>
      </p:sp>
      <p:sp>
        <p:nvSpPr>
          <p:cNvPr id="5" name="Text 3"/>
          <p:cNvSpPr/>
          <p:nvPr/>
        </p:nvSpPr>
        <p:spPr>
          <a:xfrm>
            <a:off x="960120" y="3474720"/>
            <a:ext cx="16184880" cy="1234440"/>
          </a:xfrm>
          <a:prstGeom prst="rect">
            <a:avLst/>
          </a:prstGeom>
          <a:noFill/>
          <a:ln/>
        </p:spPr>
        <p:txBody>
          <a:bodyPr wrap="square" lIns="0" tIns="0" rIns="0" bIns="0" rtlCol="0" anchor="t"/>
          <a:lstStyle/>
          <a:p>
            <a:pPr marL="0" indent="0">
              <a:lnSpc>
                <a:spcPct val="105000"/>
              </a:lnSpc>
              <a:buNone/>
            </a:pPr>
            <a:r>
              <a:rPr lang="en-US" sz="3200" b="1" dirty="0">
                <a:solidFill>
                  <a:srgbClr val="02464E"/>
                </a:solidFill>
                <a:latin typeface="Poppins Bold" pitchFamily="34" charset="0"/>
                <a:ea typeface="Poppins Bold" pitchFamily="34" charset="-122"/>
                <a:cs typeface="Poppins Bold" pitchFamily="34" charset="-120"/>
              </a:rPr>
              <a:t>Fitness for purpose
</a:t>
            </a:r>
            <a:r>
              <a:rPr lang="en-US" sz="3200" dirty="0">
                <a:solidFill>
                  <a:srgbClr val="02464E"/>
                </a:solidFill>
                <a:latin typeface="Poppins" pitchFamily="34" charset="0"/>
                <a:ea typeface="Poppins" pitchFamily="34" charset="-122"/>
                <a:cs typeface="Poppins" pitchFamily="34" charset="-120"/>
              </a:rPr>
              <a:t>Does it perform adequately in the intended setting?</a:t>
            </a:r>
            <a:endParaRPr lang="en-US" sz="3200" dirty="0"/>
          </a:p>
        </p:txBody>
      </p:sp>
      <p:sp>
        <p:nvSpPr>
          <p:cNvPr id="6" name="Text 4"/>
          <p:cNvSpPr/>
          <p:nvPr/>
        </p:nvSpPr>
        <p:spPr>
          <a:xfrm>
            <a:off x="960120" y="4846320"/>
            <a:ext cx="16184880" cy="1234440"/>
          </a:xfrm>
          <a:prstGeom prst="rect">
            <a:avLst/>
          </a:prstGeom>
          <a:noFill/>
          <a:ln/>
        </p:spPr>
        <p:txBody>
          <a:bodyPr wrap="square" lIns="0" tIns="0" rIns="0" bIns="0" rtlCol="0" anchor="t"/>
          <a:lstStyle/>
          <a:p>
            <a:pPr marL="0" indent="0">
              <a:lnSpc>
                <a:spcPct val="105000"/>
              </a:lnSpc>
              <a:buNone/>
            </a:pPr>
            <a:r>
              <a:rPr lang="en-US" sz="3200" b="1" dirty="0">
                <a:solidFill>
                  <a:srgbClr val="02464E"/>
                </a:solidFill>
                <a:latin typeface="Poppins Bold" pitchFamily="34" charset="0"/>
                <a:ea typeface="Poppins Bold" pitchFamily="34" charset="-122"/>
                <a:cs typeface="Poppins Bold" pitchFamily="34" charset="-120"/>
              </a:rPr>
              <a:t>Product–market fit
</a:t>
            </a:r>
            <a:r>
              <a:rPr lang="en-US" sz="3200" dirty="0">
                <a:solidFill>
                  <a:srgbClr val="02464E"/>
                </a:solidFill>
                <a:latin typeface="Poppins" pitchFamily="34" charset="0"/>
                <a:ea typeface="Poppins" pitchFamily="34" charset="-122"/>
                <a:cs typeface="Poppins" pitchFamily="34" charset="-120"/>
              </a:rPr>
              <a:t>Will a defined customer group adopt and sustain its use?</a:t>
            </a:r>
            <a:endParaRPr lang="en-US" sz="3200" dirty="0"/>
          </a:p>
        </p:txBody>
      </p:sp>
      <p:sp>
        <p:nvSpPr>
          <p:cNvPr id="7" name="Text 5"/>
          <p:cNvSpPr/>
          <p:nvPr/>
        </p:nvSpPr>
        <p:spPr>
          <a:xfrm>
            <a:off x="960120" y="6492240"/>
            <a:ext cx="16002000" cy="1005840"/>
          </a:xfrm>
          <a:prstGeom prst="rect">
            <a:avLst/>
          </a:prstGeom>
          <a:noFill/>
          <a:ln/>
        </p:spPr>
        <p:txBody>
          <a:bodyPr wrap="square" lIns="0" tIns="0" rIns="0" bIns="0" rtlCol="0" anchor="t">
            <a:spAutoFit/>
          </a:bodyPr>
          <a:lstStyle/>
          <a:p>
            <a:pPr marL="0" indent="0">
              <a:lnSpc>
                <a:spcPct val="105000"/>
              </a:lnSpc>
              <a:buNone/>
            </a:pPr>
            <a:r>
              <a:rPr lang="en-US" sz="3400" b="1" dirty="0">
                <a:solidFill>
                  <a:srgbClr val="02464E"/>
                </a:solidFill>
                <a:latin typeface="Poppins Bold" pitchFamily="34" charset="0"/>
                <a:ea typeface="Poppins Bold" pitchFamily="34" charset="-122"/>
                <a:cs typeface="Poppins Bold" pitchFamily="34" charset="-120"/>
              </a:rPr>
              <a:t>Stronger signals: continued use, renewals, recommendations, and expansion.</a:t>
            </a:r>
            <a:endParaRPr lang="en-US" sz="3400" dirty="0"/>
          </a:p>
        </p:txBody>
      </p:sp>
      <p:sp>
        <p:nvSpPr>
          <p:cNvPr id="8" name="Text 6"/>
          <p:cNvSpPr/>
          <p:nvPr/>
        </p:nvSpPr>
        <p:spPr>
          <a:xfrm>
            <a:off x="960120" y="7772400"/>
            <a:ext cx="16002000" cy="731520"/>
          </a:xfrm>
          <a:prstGeom prst="rect">
            <a:avLst/>
          </a:prstGeom>
          <a:noFill/>
          <a:ln/>
        </p:spPr>
        <p:txBody>
          <a:bodyPr wrap="square" lIns="0" tIns="0" rIns="0" bIns="0" rtlCol="0" anchor="t">
            <a:spAutoFit/>
          </a:bodyPr>
          <a:lstStyle/>
          <a:p>
            <a:pPr marL="0" indent="0">
              <a:lnSpc>
                <a:spcPct val="105000"/>
              </a:lnSpc>
              <a:buNone/>
            </a:pPr>
            <a:r>
              <a:rPr lang="en-US" sz="3000" dirty="0">
                <a:solidFill>
                  <a:srgbClr val="02464E"/>
                </a:solidFill>
                <a:latin typeface="Poppins" pitchFamily="34" charset="0"/>
                <a:ea typeface="Poppins" pitchFamily="34" charset="-122"/>
                <a:cs typeface="Poppins" pitchFamily="34" charset="-120"/>
              </a:rPr>
              <a:t>Pilot participation and positive feedback are early evidence.</a:t>
            </a:r>
            <a:endParaRPr lang="en-US" sz="3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CA4C9224-F22A-9456-2FBE-07A9096CBA09}"/>
              </a:ext>
            </a:extLst>
          </p:cNvPr>
          <p:cNvSpPr/>
          <p:nvPr/>
        </p:nvSpPr>
        <p:spPr>
          <a:xfrm>
            <a:off x="256406" y="3977754"/>
            <a:ext cx="8752206" cy="3276600"/>
          </a:xfrm>
          <a:prstGeom prst="roundRect">
            <a:avLst/>
          </a:prstGeom>
          <a:solidFill>
            <a:srgbClr val="02464E">
              <a:alpha val="64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 name="Freeform 6"/>
          <p:cNvSpPr/>
          <p:nvPr/>
        </p:nvSpPr>
        <p:spPr>
          <a:xfrm>
            <a:off x="609600" y="6248955"/>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l-GR"/>
          </a:p>
        </p:txBody>
      </p:sp>
      <p:sp>
        <p:nvSpPr>
          <p:cNvPr id="7" name="Freeform 7"/>
          <p:cNvSpPr/>
          <p:nvPr/>
        </p:nvSpPr>
        <p:spPr>
          <a:xfrm>
            <a:off x="609600" y="5569519"/>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l-GR"/>
          </a:p>
        </p:txBody>
      </p:sp>
      <p:sp>
        <p:nvSpPr>
          <p:cNvPr id="8" name="Freeform 8"/>
          <p:cNvSpPr/>
          <p:nvPr/>
        </p:nvSpPr>
        <p:spPr>
          <a:xfrm>
            <a:off x="609600" y="4815996"/>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l-GR"/>
          </a:p>
        </p:txBody>
      </p:sp>
      <p:sp>
        <p:nvSpPr>
          <p:cNvPr id="9" name="Freeform 9"/>
          <p:cNvSpPr/>
          <p:nvPr/>
        </p:nvSpPr>
        <p:spPr>
          <a:xfrm>
            <a:off x="609600" y="4062473"/>
            <a:ext cx="499329" cy="499329"/>
          </a:xfrm>
          <a:custGeom>
            <a:avLst/>
            <a:gdLst/>
            <a:ahLst/>
            <a:cxnLst/>
            <a:rect l="l" t="t" r="r" b="b"/>
            <a:pathLst>
              <a:path w="499329" h="499329">
                <a:moveTo>
                  <a:pt x="0" y="0"/>
                </a:moveTo>
                <a:lnTo>
                  <a:pt x="499329" y="0"/>
                </a:lnTo>
                <a:lnTo>
                  <a:pt x="499329" y="499329"/>
                </a:lnTo>
                <a:lnTo>
                  <a:pt x="0" y="49932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l-GR"/>
          </a:p>
        </p:txBody>
      </p:sp>
      <p:sp>
        <p:nvSpPr>
          <p:cNvPr id="12" name="TextBox 12"/>
          <p:cNvSpPr txBox="1"/>
          <p:nvPr/>
        </p:nvSpPr>
        <p:spPr>
          <a:xfrm>
            <a:off x="5700394" y="2019300"/>
            <a:ext cx="6887212" cy="979755"/>
          </a:xfrm>
          <a:prstGeom prst="rect">
            <a:avLst/>
          </a:prstGeom>
        </p:spPr>
        <p:txBody>
          <a:bodyPr wrap="square" lIns="0" tIns="0" rIns="0" bIns="0" rtlCol="0" anchor="t">
            <a:spAutoFit/>
          </a:bodyPr>
          <a:lstStyle/>
          <a:p>
            <a:pPr algn="ctr">
              <a:lnSpc>
                <a:spcPts val="7150"/>
              </a:lnSpc>
            </a:pPr>
            <a:r>
              <a:rPr lang="en-US" sz="8000" b="1">
                <a:solidFill>
                  <a:srgbClr val="FFFFFF"/>
                </a:solidFill>
                <a:latin typeface="Poppins Bold"/>
                <a:ea typeface="Poppins Bold"/>
                <a:cs typeface="Poppins Bold"/>
                <a:sym typeface="Poppins Bold"/>
              </a:rPr>
              <a:t>Thank You!</a:t>
            </a:r>
          </a:p>
        </p:txBody>
      </p:sp>
      <p:sp>
        <p:nvSpPr>
          <p:cNvPr id="13" name="TextBox 13"/>
          <p:cNvSpPr txBox="1"/>
          <p:nvPr/>
        </p:nvSpPr>
        <p:spPr>
          <a:xfrm>
            <a:off x="1341975" y="4183256"/>
            <a:ext cx="3336254" cy="373179"/>
          </a:xfrm>
          <a:prstGeom prst="rect">
            <a:avLst/>
          </a:prstGeom>
        </p:spPr>
        <p:txBody>
          <a:bodyPr lIns="0" tIns="0" rIns="0" bIns="0" rtlCol="0" anchor="t">
            <a:spAutoFit/>
          </a:bodyPr>
          <a:lstStyle/>
          <a:p>
            <a:pPr algn="l">
              <a:lnSpc>
                <a:spcPts val="2887"/>
              </a:lnSpc>
              <a:spcBef>
                <a:spcPct val="0"/>
              </a:spcBef>
            </a:pPr>
            <a:r>
              <a:rPr lang="en-US" sz="2624" b="1" dirty="0">
                <a:solidFill>
                  <a:srgbClr val="FFFFFF"/>
                </a:solidFill>
                <a:latin typeface="Poppins"/>
                <a:ea typeface="Poppins"/>
                <a:cs typeface="Poppins"/>
                <a:sym typeface="Poppins"/>
              </a:rPr>
              <a:t>Zvonimir Anić</a:t>
            </a:r>
          </a:p>
        </p:txBody>
      </p:sp>
      <p:sp>
        <p:nvSpPr>
          <p:cNvPr id="14" name="TextBox 14"/>
          <p:cNvSpPr txBox="1"/>
          <p:nvPr/>
        </p:nvSpPr>
        <p:spPr>
          <a:xfrm>
            <a:off x="1296255" y="4879070"/>
            <a:ext cx="3336254" cy="373179"/>
          </a:xfrm>
          <a:prstGeom prst="rect">
            <a:avLst/>
          </a:prstGeom>
        </p:spPr>
        <p:txBody>
          <a:bodyPr lIns="0" tIns="0" rIns="0" bIns="0" rtlCol="0" anchor="t">
            <a:spAutoFit/>
          </a:bodyPr>
          <a:lstStyle/>
          <a:p>
            <a:pPr algn="l">
              <a:lnSpc>
                <a:spcPts val="2887"/>
              </a:lnSpc>
              <a:spcBef>
                <a:spcPct val="0"/>
              </a:spcBef>
            </a:pPr>
            <a:r>
              <a:rPr lang="en-US" sz="2624" b="1" dirty="0">
                <a:solidFill>
                  <a:srgbClr val="FFFFFF"/>
                </a:solidFill>
                <a:latin typeface="Poppins"/>
                <a:ea typeface="Poppins"/>
                <a:cs typeface="Poppins"/>
                <a:sym typeface="Poppins"/>
              </a:rPr>
              <a:t>Smart Sense</a:t>
            </a:r>
          </a:p>
        </p:txBody>
      </p:sp>
      <p:sp>
        <p:nvSpPr>
          <p:cNvPr id="15" name="TextBox 15"/>
          <p:cNvSpPr txBox="1"/>
          <p:nvPr/>
        </p:nvSpPr>
        <p:spPr>
          <a:xfrm>
            <a:off x="1341974" y="5616054"/>
            <a:ext cx="5897025" cy="373179"/>
          </a:xfrm>
          <a:prstGeom prst="rect">
            <a:avLst/>
          </a:prstGeom>
        </p:spPr>
        <p:txBody>
          <a:bodyPr wrap="square" lIns="0" tIns="0" rIns="0" bIns="0" rtlCol="0" anchor="t">
            <a:spAutoFit/>
          </a:bodyPr>
          <a:lstStyle/>
          <a:p>
            <a:pPr algn="l">
              <a:lnSpc>
                <a:spcPts val="2887"/>
              </a:lnSpc>
              <a:spcBef>
                <a:spcPct val="0"/>
              </a:spcBef>
            </a:pPr>
            <a:r>
              <a:rPr lang="en-US" sz="2624" b="1" dirty="0">
                <a:solidFill>
                  <a:srgbClr val="FFFFFF"/>
                </a:solidFill>
                <a:latin typeface="Poppins"/>
                <a:ea typeface="Poppins"/>
                <a:cs typeface="Poppins"/>
                <a:sym typeface="Poppins"/>
              </a:rPr>
              <a:t>zvonimir.anic@smart-sense.hr</a:t>
            </a:r>
          </a:p>
        </p:txBody>
      </p:sp>
      <p:sp>
        <p:nvSpPr>
          <p:cNvPr id="16" name="TextBox 16"/>
          <p:cNvSpPr txBox="1"/>
          <p:nvPr/>
        </p:nvSpPr>
        <p:spPr>
          <a:xfrm>
            <a:off x="1311494" y="6353038"/>
            <a:ext cx="4251105" cy="373179"/>
          </a:xfrm>
          <a:prstGeom prst="rect">
            <a:avLst/>
          </a:prstGeom>
        </p:spPr>
        <p:txBody>
          <a:bodyPr wrap="square" lIns="0" tIns="0" rIns="0" bIns="0" rtlCol="0" anchor="t">
            <a:spAutoFit/>
          </a:bodyPr>
          <a:lstStyle/>
          <a:p>
            <a:pPr algn="l">
              <a:lnSpc>
                <a:spcPts val="2887"/>
              </a:lnSpc>
              <a:spcBef>
                <a:spcPct val="0"/>
              </a:spcBef>
            </a:pPr>
            <a:r>
              <a:rPr lang="en-US" sz="2624" b="1" dirty="0">
                <a:solidFill>
                  <a:srgbClr val="FFFFFF"/>
                </a:solidFill>
                <a:latin typeface="Poppins"/>
                <a:ea typeface="Poppins"/>
                <a:cs typeface="Poppins"/>
                <a:sym typeface="Poppins"/>
              </a:rPr>
              <a:t>www.smart-sense.hr</a:t>
            </a:r>
            <a:endParaRPr lang="en-US" sz="2624" dirty="0">
              <a:solidFill>
                <a:srgbClr val="FFFFFF"/>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Custom 2">
      <a:dk1>
        <a:srgbClr val="0D3559"/>
      </a:dk1>
      <a:lt1>
        <a:sysClr val="window" lastClr="FFFFFF"/>
      </a:lt1>
      <a:dk2>
        <a:srgbClr val="ACE2DC"/>
      </a:dk2>
      <a:lt2>
        <a:srgbClr val="EEECE1"/>
      </a:lt2>
      <a:accent1>
        <a:srgbClr val="80ECDF"/>
      </a:accent1>
      <a:accent2>
        <a:srgbClr val="E6F0F2"/>
      </a:accent2>
      <a:accent3>
        <a:srgbClr val="9BBB59"/>
      </a:accent3>
      <a:accent4>
        <a:srgbClr val="B9FDF2"/>
      </a:accent4>
      <a:accent5>
        <a:srgbClr val="4BACC6"/>
      </a:accent5>
      <a:accent6>
        <a:srgbClr val="92D050"/>
      </a:accent6>
      <a:hlink>
        <a:srgbClr val="17365D"/>
      </a:hlink>
      <a:folHlink>
        <a:srgbClr val="36609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3CA0FBAC00849448898FB24E8E9E68F8" ma:contentTypeVersion="12" ma:contentTypeDescription="Stvaranje novog dokumenta." ma:contentTypeScope="" ma:versionID="48419266f52f9f1e3d541570e94fc2dd">
  <xsd:schema xmlns:xsd="http://www.w3.org/2001/XMLSchema" xmlns:xs="http://www.w3.org/2001/XMLSchema" xmlns:p="http://schemas.microsoft.com/office/2006/metadata/properties" xmlns:ns2="f7a9442d-0192-43c0-9a25-d7f8d1bf9b64" xmlns:ns3="d5d89ddb-cde3-4e1b-8794-b8ab92e2a9c7" targetNamespace="http://schemas.microsoft.com/office/2006/metadata/properties" ma:root="true" ma:fieldsID="62d824990162de11b560a9a3c39f1de7" ns2:_="" ns3:_="">
    <xsd:import namespace="f7a9442d-0192-43c0-9a25-d7f8d1bf9b64"/>
    <xsd:import namespace="d5d89ddb-cde3-4e1b-8794-b8ab92e2a9c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element ref="ns2:WS_x0020_for_x0020_Mento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7a9442d-0192-43c0-9a25-d7f8d1bf9b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Oznake slika" ma:readOnly="false" ma:fieldId="{5cf76f15-5ced-4ddc-b409-7134ff3c332f}" ma:taxonomyMulti="true" ma:sspId="ec1bbfda-d7ce-4e83-8a89-34e19531f793"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WS_x0020_for_x0020_Mentors" ma:index="19" nillable="true" ma:displayName="WS for Mentors" ma:internalName="WS_x0020_for_x0020_Mentors">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5d89ddb-cde3-4e1b-8794-b8ab92e2a9c7"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0ff932f3-410a-48dd-8892-b4514d60a1c5}" ma:internalName="TaxCatchAll" ma:showField="CatchAllData" ma:web="d5d89ddb-cde3-4e1b-8794-b8ab92e2a9c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Vrsta sadržaja"/>
        <xsd:element ref="dc:title" minOccurs="0" maxOccurs="1" ma:index="4" ma:displayName="Naslov"/>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d5d89ddb-cde3-4e1b-8794-b8ab92e2a9c7" xsi:nil="true"/>
    <lcf76f155ced4ddcb4097134ff3c332f xmlns="f7a9442d-0192-43c0-9a25-d7f8d1bf9b64">
      <Terms xmlns="http://schemas.microsoft.com/office/infopath/2007/PartnerControls"/>
    </lcf76f155ced4ddcb4097134ff3c332f>
    <WS_x0020_for_x0020_Mentors xmlns="f7a9442d-0192-43c0-9a25-d7f8d1bf9b64">
      <Url xsi:nil="true"/>
      <Description xsi:nil="true"/>
    </WS_x0020_for_x0020_Mento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7FDB568-78BB-45EA-A830-7DC4F5EE239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7a9442d-0192-43c0-9a25-d7f8d1bf9b64"/>
    <ds:schemaRef ds:uri="d5d89ddb-cde3-4e1b-8794-b8ab92e2a9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10A6AD1-4420-4221-80A9-CAE0158B3AC2}">
  <ds:schemaRefs>
    <ds:schemaRef ds:uri="http://schemas.microsoft.com/office/2006/metadata/properties"/>
    <ds:schemaRef ds:uri="http://schemas.microsoft.com/office/infopath/2007/PartnerControls"/>
    <ds:schemaRef ds:uri="35e10ac4-31c1-4b75-a0a7-83de09211430"/>
    <ds:schemaRef ds:uri="38fd7e7d-5967-4b4d-be53-466628489046"/>
    <ds:schemaRef ds:uri="d5d89ddb-cde3-4e1b-8794-b8ab92e2a9c7"/>
    <ds:schemaRef ds:uri="f7a9442d-0192-43c0-9a25-d7f8d1bf9b64"/>
  </ds:schemaRefs>
</ds:datastoreItem>
</file>

<file path=customXml/itemProps3.xml><?xml version="1.0" encoding="utf-8"?>
<ds:datastoreItem xmlns:ds="http://schemas.openxmlformats.org/officeDocument/2006/customXml" ds:itemID="{201A3DB2-419A-4FB5-A3EB-962C6EAA471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519</TotalTime>
  <Words>4280</Words>
  <Application>Microsoft Office PowerPoint</Application>
  <PresentationFormat>Custom</PresentationFormat>
  <Paragraphs>100</Paragraphs>
  <Slides>13</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Poppins</vt:lpstr>
      <vt:lpstr>Arial</vt:lpstr>
      <vt:lpstr>Poppins Bold</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NEXTAIRE</dc:title>
  <cp:lastModifiedBy>Zvonimir Anić</cp:lastModifiedBy>
  <cp:revision>9</cp:revision>
  <dcterms:created xsi:type="dcterms:W3CDTF">2006-08-16T00:00:00Z</dcterms:created>
  <dcterms:modified xsi:type="dcterms:W3CDTF">2026-09-08T09:47:01Z</dcterms:modified>
  <dc:identifier>DAG-e5vBqQY</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0x0101003CA0FBAC00849448898FB24E8E9E68F8</vt:lpwstr>
  </property>
  <property fmtid="{D5CDD505-2E9C-101B-9397-08002B2CF9AE}" pid="3" name="MediaServiceImageTags">
    <vt:lpwstr/>
  </property>
</Properties>
</file>