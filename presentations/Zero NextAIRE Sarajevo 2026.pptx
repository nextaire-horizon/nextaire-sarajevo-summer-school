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1"/>
  </p:notesMasterIdLst>
  <p:sldIdLst>
    <p:sldId id="262" r:id="rId2"/>
    <p:sldId id="319" r:id="rId3"/>
    <p:sldId id="305" r:id="rId4"/>
    <p:sldId id="306" r:id="rId5"/>
    <p:sldId id="265" r:id="rId6"/>
    <p:sldId id="307" r:id="rId7"/>
    <p:sldId id="266" r:id="rId8"/>
    <p:sldId id="309" r:id="rId9"/>
    <p:sldId id="326" r:id="rId10"/>
    <p:sldId id="310" r:id="rId11"/>
    <p:sldId id="268" r:id="rId12"/>
    <p:sldId id="327" r:id="rId13"/>
    <p:sldId id="312" r:id="rId14"/>
    <p:sldId id="313" r:id="rId15"/>
    <p:sldId id="316" r:id="rId16"/>
    <p:sldId id="283" r:id="rId17"/>
    <p:sldId id="272" r:id="rId18"/>
    <p:sldId id="287" r:id="rId19"/>
    <p:sldId id="31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209" autoAdjust="0"/>
  </p:normalViewPr>
  <p:slideViewPr>
    <p:cSldViewPr snapToGrid="0">
      <p:cViewPr varScale="1">
        <p:scale>
          <a:sx n="96" d="100"/>
          <a:sy n="96" d="100"/>
        </p:scale>
        <p:origin x="1152" y="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599767-7ED8-46B1-AF1F-BACAC772C829}"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BFAE8C-B323-4012-B0E9-66BF77387273}" type="slidenum">
              <a:rPr lang="en-US" smtClean="0"/>
              <a:t>‹#›</a:t>
            </a:fld>
            <a:endParaRPr lang="en-US"/>
          </a:p>
        </p:txBody>
      </p:sp>
    </p:spTree>
    <p:extLst>
      <p:ext uri="{BB962C8B-B14F-4D97-AF65-F5344CB8AC3E}">
        <p14:creationId xmlns:p14="http://schemas.microsoft.com/office/powerpoint/2010/main" val="2495626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5BFAE8C-B323-4012-B0E9-66BF77387273}" type="slidenum">
              <a:rPr lang="en-US" smtClean="0"/>
              <a:t>1</a:t>
            </a:fld>
            <a:endParaRPr lang="en-US"/>
          </a:p>
        </p:txBody>
      </p:sp>
    </p:spTree>
    <p:extLst>
      <p:ext uri="{BB962C8B-B14F-4D97-AF65-F5344CB8AC3E}">
        <p14:creationId xmlns:p14="http://schemas.microsoft.com/office/powerpoint/2010/main" val="1069284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bs-Latn-BA" dirty="0"/>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fontAlgn="base">
              <a:spcBef>
                <a:spcPct val="0"/>
              </a:spcBef>
              <a:spcAft>
                <a:spcPct val="0"/>
              </a:spcAft>
            </a:pPr>
            <a:fld id="{115B72C2-E33A-401B-8CCA-4EBE76D44243}" type="slidenum">
              <a:rPr lang="bs-Latn-BA" smtClean="0">
                <a:latin typeface="Calibri" panose="020F0502020204030204" pitchFamily="34" charset="0"/>
              </a:rPr>
              <a:pPr fontAlgn="base">
                <a:spcBef>
                  <a:spcPct val="0"/>
                </a:spcBef>
                <a:spcAft>
                  <a:spcPct val="0"/>
                </a:spcAft>
              </a:pPr>
              <a:t>2</a:t>
            </a:fld>
            <a:endParaRPr lang="bs-Latn-BA">
              <a:latin typeface="Calibri" panose="020F0502020204030204" pitchFamily="34" charset="0"/>
            </a:endParaRPr>
          </a:p>
        </p:txBody>
      </p:sp>
    </p:spTree>
    <p:extLst>
      <p:ext uri="{BB962C8B-B14F-4D97-AF65-F5344CB8AC3E}">
        <p14:creationId xmlns:p14="http://schemas.microsoft.com/office/powerpoint/2010/main" val="643734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fontAlgn="base">
              <a:spcBef>
                <a:spcPct val="0"/>
              </a:spcBef>
              <a:spcAft>
                <a:spcPct val="0"/>
              </a:spcAft>
            </a:pPr>
            <a:fld id="{A290C9FB-CAF9-4AE9-9DE2-65551B499A3E}" type="slidenum">
              <a:rPr lang="bs-Latn-BA" smtClean="0">
                <a:latin typeface="Calibri" panose="020F0502020204030204" pitchFamily="34" charset="0"/>
              </a:rPr>
              <a:pPr fontAlgn="base">
                <a:spcBef>
                  <a:spcPct val="0"/>
                </a:spcBef>
                <a:spcAft>
                  <a:spcPct val="0"/>
                </a:spcAft>
              </a:pPr>
              <a:t>3</a:t>
            </a:fld>
            <a:endParaRPr lang="bs-Latn-BA">
              <a:latin typeface="Calibri" panose="020F0502020204030204" pitchFamily="34" charset="0"/>
            </a:endParaRPr>
          </a:p>
        </p:txBody>
      </p:sp>
    </p:spTree>
    <p:extLst>
      <p:ext uri="{BB962C8B-B14F-4D97-AF65-F5344CB8AC3E}">
        <p14:creationId xmlns:p14="http://schemas.microsoft.com/office/powerpoint/2010/main" val="1602393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BD7FC7-20B9-499D-83E3-2F0339628023}" type="slidenum">
              <a:rPr lang="en-US" smtClean="0"/>
              <a:t>4</a:t>
            </a:fld>
            <a:endParaRPr lang="en-US"/>
          </a:p>
        </p:txBody>
      </p:sp>
    </p:spTree>
    <p:extLst>
      <p:ext uri="{BB962C8B-B14F-4D97-AF65-F5344CB8AC3E}">
        <p14:creationId xmlns:p14="http://schemas.microsoft.com/office/powerpoint/2010/main" val="1276542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BD7FC7-20B9-499D-83E3-2F0339628023}" type="slidenum">
              <a:rPr lang="en-US" smtClean="0"/>
              <a:t>5</a:t>
            </a:fld>
            <a:endParaRPr lang="en-US"/>
          </a:p>
        </p:txBody>
      </p:sp>
    </p:spTree>
    <p:extLst>
      <p:ext uri="{BB962C8B-B14F-4D97-AF65-F5344CB8AC3E}">
        <p14:creationId xmlns:p14="http://schemas.microsoft.com/office/powerpoint/2010/main" val="1794895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BD7FC7-20B9-499D-83E3-2F0339628023}" type="slidenum">
              <a:rPr lang="en-US" smtClean="0"/>
              <a:t>6</a:t>
            </a:fld>
            <a:endParaRPr lang="en-US"/>
          </a:p>
        </p:txBody>
      </p:sp>
    </p:spTree>
    <p:extLst>
      <p:ext uri="{BB962C8B-B14F-4D97-AF65-F5344CB8AC3E}">
        <p14:creationId xmlns:p14="http://schemas.microsoft.com/office/powerpoint/2010/main" val="2260344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5BFAE8C-B323-4012-B0E9-66BF77387273}" type="slidenum">
              <a:rPr lang="en-US" smtClean="0"/>
              <a:t>7</a:t>
            </a:fld>
            <a:endParaRPr lang="en-US"/>
          </a:p>
        </p:txBody>
      </p:sp>
    </p:spTree>
    <p:extLst>
      <p:ext uri="{BB962C8B-B14F-4D97-AF65-F5344CB8AC3E}">
        <p14:creationId xmlns:p14="http://schemas.microsoft.com/office/powerpoint/2010/main" val="2518501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5BFAE8C-B323-4012-B0E9-66BF77387273}" type="slidenum">
              <a:rPr lang="en-US" smtClean="0"/>
              <a:t>8</a:t>
            </a:fld>
            <a:endParaRPr lang="en-US"/>
          </a:p>
        </p:txBody>
      </p:sp>
    </p:spTree>
    <p:extLst>
      <p:ext uri="{BB962C8B-B14F-4D97-AF65-F5344CB8AC3E}">
        <p14:creationId xmlns:p14="http://schemas.microsoft.com/office/powerpoint/2010/main" val="2601507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5BFAE8C-B323-4012-B0E9-66BF77387273}" type="slidenum">
              <a:rPr lang="en-US" smtClean="0"/>
              <a:t>9</a:t>
            </a:fld>
            <a:endParaRPr lang="en-US"/>
          </a:p>
        </p:txBody>
      </p:sp>
    </p:spTree>
    <p:extLst>
      <p:ext uri="{BB962C8B-B14F-4D97-AF65-F5344CB8AC3E}">
        <p14:creationId xmlns:p14="http://schemas.microsoft.com/office/powerpoint/2010/main" val="3500758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5BFAE8C-B323-4012-B0E9-66BF77387273}" type="slidenum">
              <a:rPr lang="en-US" smtClean="0"/>
              <a:t>10</a:t>
            </a:fld>
            <a:endParaRPr lang="en-US"/>
          </a:p>
        </p:txBody>
      </p:sp>
    </p:spTree>
    <p:extLst>
      <p:ext uri="{BB962C8B-B14F-4D97-AF65-F5344CB8AC3E}">
        <p14:creationId xmlns:p14="http://schemas.microsoft.com/office/powerpoint/2010/main" val="2260218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bs-Latn-BA" dirty="0"/>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fontAlgn="base">
              <a:spcBef>
                <a:spcPct val="0"/>
              </a:spcBef>
              <a:spcAft>
                <a:spcPct val="0"/>
              </a:spcAft>
            </a:pPr>
            <a:fld id="{ABE49E6C-D30C-4641-BA51-4A63D60654B1}" type="slidenum">
              <a:rPr lang="bs-Latn-BA" smtClean="0">
                <a:latin typeface="Calibri" panose="020F0502020204030204" pitchFamily="34" charset="0"/>
              </a:rPr>
              <a:pPr fontAlgn="base">
                <a:spcBef>
                  <a:spcPct val="0"/>
                </a:spcBef>
                <a:spcAft>
                  <a:spcPct val="0"/>
                </a:spcAft>
              </a:pPr>
              <a:t>11</a:t>
            </a:fld>
            <a:endParaRPr lang="bs-Latn-BA">
              <a:latin typeface="Calibri" panose="020F0502020204030204" pitchFamily="34" charset="0"/>
            </a:endParaRPr>
          </a:p>
        </p:txBody>
      </p:sp>
    </p:spTree>
    <p:extLst>
      <p:ext uri="{BB962C8B-B14F-4D97-AF65-F5344CB8AC3E}">
        <p14:creationId xmlns:p14="http://schemas.microsoft.com/office/powerpoint/2010/main" val="17180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5BFAE8C-B323-4012-B0E9-66BF77387273}" type="slidenum">
              <a:rPr lang="en-US" smtClean="0"/>
              <a:t>12</a:t>
            </a:fld>
            <a:endParaRPr lang="en-US"/>
          </a:p>
        </p:txBody>
      </p:sp>
    </p:spTree>
    <p:extLst>
      <p:ext uri="{BB962C8B-B14F-4D97-AF65-F5344CB8AC3E}">
        <p14:creationId xmlns:p14="http://schemas.microsoft.com/office/powerpoint/2010/main" val="22408186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bs-Latn-BA" dirty="0"/>
          </a:p>
        </p:txBody>
      </p:sp>
      <p:sp>
        <p:nvSpPr>
          <p:cNvPr id="389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fontAlgn="base">
              <a:spcBef>
                <a:spcPct val="0"/>
              </a:spcBef>
              <a:spcAft>
                <a:spcPct val="0"/>
              </a:spcAft>
            </a:pPr>
            <a:fld id="{F1B5F4CB-2D89-4CC8-8DAB-EA29669EF63A}" type="slidenum">
              <a:rPr lang="bs-Latn-BA" smtClean="0">
                <a:latin typeface="Calibri" panose="020F0502020204030204" pitchFamily="34" charset="0"/>
              </a:rPr>
              <a:pPr fontAlgn="base">
                <a:spcBef>
                  <a:spcPct val="0"/>
                </a:spcBef>
                <a:spcAft>
                  <a:spcPct val="0"/>
                </a:spcAft>
              </a:pPr>
              <a:t>13</a:t>
            </a:fld>
            <a:endParaRPr lang="bs-Latn-BA">
              <a:latin typeface="Calibri" panose="020F0502020204030204" pitchFamily="34" charset="0"/>
            </a:endParaRPr>
          </a:p>
        </p:txBody>
      </p:sp>
    </p:spTree>
    <p:extLst>
      <p:ext uri="{BB962C8B-B14F-4D97-AF65-F5344CB8AC3E}">
        <p14:creationId xmlns:p14="http://schemas.microsoft.com/office/powerpoint/2010/main" val="3267226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BD7FC7-20B9-499D-83E3-2F0339628023}" type="slidenum">
              <a:rPr lang="en-US" smtClean="0"/>
              <a:t>14</a:t>
            </a:fld>
            <a:endParaRPr lang="en-US"/>
          </a:p>
        </p:txBody>
      </p:sp>
    </p:spTree>
    <p:extLst>
      <p:ext uri="{BB962C8B-B14F-4D97-AF65-F5344CB8AC3E}">
        <p14:creationId xmlns:p14="http://schemas.microsoft.com/office/powerpoint/2010/main" val="35202779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BD7FC7-20B9-499D-83E3-2F0339628023}" type="slidenum">
              <a:rPr lang="en-US" smtClean="0"/>
              <a:t>15</a:t>
            </a:fld>
            <a:endParaRPr lang="en-US"/>
          </a:p>
        </p:txBody>
      </p:sp>
    </p:spTree>
    <p:extLst>
      <p:ext uri="{BB962C8B-B14F-4D97-AF65-F5344CB8AC3E}">
        <p14:creationId xmlns:p14="http://schemas.microsoft.com/office/powerpoint/2010/main" val="2014462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5BFAE8C-B323-4012-B0E9-66BF77387273}" type="slidenum">
              <a:rPr lang="en-US" smtClean="0"/>
              <a:t>16</a:t>
            </a:fld>
            <a:endParaRPr lang="en-US"/>
          </a:p>
        </p:txBody>
      </p:sp>
    </p:spTree>
    <p:extLst>
      <p:ext uri="{BB962C8B-B14F-4D97-AF65-F5344CB8AC3E}">
        <p14:creationId xmlns:p14="http://schemas.microsoft.com/office/powerpoint/2010/main" val="20627617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5BFAE8C-B323-4012-B0E9-66BF77387273}" type="slidenum">
              <a:rPr lang="en-US" smtClean="0"/>
              <a:t>17</a:t>
            </a:fld>
            <a:endParaRPr lang="en-US"/>
          </a:p>
        </p:txBody>
      </p:sp>
    </p:spTree>
    <p:extLst>
      <p:ext uri="{BB962C8B-B14F-4D97-AF65-F5344CB8AC3E}">
        <p14:creationId xmlns:p14="http://schemas.microsoft.com/office/powerpoint/2010/main" val="3607491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5BFAE8C-B323-4012-B0E9-66BF77387273}" type="slidenum">
              <a:rPr lang="en-US" smtClean="0"/>
              <a:t>18</a:t>
            </a:fld>
            <a:endParaRPr lang="en-US"/>
          </a:p>
        </p:txBody>
      </p:sp>
    </p:spTree>
    <p:extLst>
      <p:ext uri="{BB962C8B-B14F-4D97-AF65-F5344CB8AC3E}">
        <p14:creationId xmlns:p14="http://schemas.microsoft.com/office/powerpoint/2010/main" val="11622766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5BFAE8C-B323-4012-B0E9-66BF77387273}" type="slidenum">
              <a:rPr lang="en-US" smtClean="0"/>
              <a:t>19</a:t>
            </a:fld>
            <a:endParaRPr lang="en-US"/>
          </a:p>
        </p:txBody>
      </p:sp>
    </p:spTree>
    <p:extLst>
      <p:ext uri="{BB962C8B-B14F-4D97-AF65-F5344CB8AC3E}">
        <p14:creationId xmlns:p14="http://schemas.microsoft.com/office/powerpoint/2010/main" val="159470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5232EDB-6B67-4C3F-BFC6-6A14DFE0C0E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E4DB-2AE0-412C-B1F7-D378E3F81A85}" type="slidenum">
              <a:rPr lang="en-US" smtClean="0"/>
              <a:t>‹#›</a:t>
            </a:fld>
            <a:endParaRPr lang="en-US"/>
          </a:p>
        </p:txBody>
      </p:sp>
    </p:spTree>
    <p:extLst>
      <p:ext uri="{BB962C8B-B14F-4D97-AF65-F5344CB8AC3E}">
        <p14:creationId xmlns:p14="http://schemas.microsoft.com/office/powerpoint/2010/main" val="1561102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232EDB-6B67-4C3F-BFC6-6A14DFE0C0E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E4DB-2AE0-412C-B1F7-D378E3F81A85}" type="slidenum">
              <a:rPr lang="en-US" smtClean="0"/>
              <a:t>‹#›</a:t>
            </a:fld>
            <a:endParaRPr lang="en-US"/>
          </a:p>
        </p:txBody>
      </p:sp>
    </p:spTree>
    <p:extLst>
      <p:ext uri="{BB962C8B-B14F-4D97-AF65-F5344CB8AC3E}">
        <p14:creationId xmlns:p14="http://schemas.microsoft.com/office/powerpoint/2010/main" val="1484374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232EDB-6B67-4C3F-BFC6-6A14DFE0C0E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E4DB-2AE0-412C-B1F7-D378E3F81A85}" type="slidenum">
              <a:rPr lang="en-US" smtClean="0"/>
              <a:t>‹#›</a:t>
            </a:fld>
            <a:endParaRPr lang="en-US"/>
          </a:p>
        </p:txBody>
      </p:sp>
    </p:spTree>
    <p:extLst>
      <p:ext uri="{BB962C8B-B14F-4D97-AF65-F5344CB8AC3E}">
        <p14:creationId xmlns:p14="http://schemas.microsoft.com/office/powerpoint/2010/main" val="1112572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232EDB-6B67-4C3F-BFC6-6A14DFE0C0E6}"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FCE4DB-2AE0-412C-B1F7-D378E3F81A85}" type="slidenum">
              <a:rPr lang="en-US" smtClean="0"/>
              <a:t>‹#›</a:t>
            </a:fld>
            <a:endParaRPr lang="en-US"/>
          </a:p>
        </p:txBody>
      </p:sp>
    </p:spTree>
    <p:extLst>
      <p:ext uri="{BB962C8B-B14F-4D97-AF65-F5344CB8AC3E}">
        <p14:creationId xmlns:p14="http://schemas.microsoft.com/office/powerpoint/2010/main" val="1393381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232EDB-6B67-4C3F-BFC6-6A14DFE0C0E6}"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FCE4DB-2AE0-412C-B1F7-D378E3F81A85}" type="slidenum">
              <a:rPr lang="en-US" smtClean="0"/>
              <a:t>‹#›</a:t>
            </a:fld>
            <a:endParaRPr lang="en-US"/>
          </a:p>
        </p:txBody>
      </p:sp>
    </p:spTree>
    <p:extLst>
      <p:ext uri="{BB962C8B-B14F-4D97-AF65-F5344CB8AC3E}">
        <p14:creationId xmlns:p14="http://schemas.microsoft.com/office/powerpoint/2010/main" val="4191183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232EDB-6B67-4C3F-BFC6-6A14DFE0C0E6}"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FCE4DB-2AE0-412C-B1F7-D378E3F81A85}" type="slidenum">
              <a:rPr lang="en-US" smtClean="0"/>
              <a:t>‹#›</a:t>
            </a:fld>
            <a:endParaRPr lang="en-US"/>
          </a:p>
        </p:txBody>
      </p:sp>
    </p:spTree>
    <p:extLst>
      <p:ext uri="{BB962C8B-B14F-4D97-AF65-F5344CB8AC3E}">
        <p14:creationId xmlns:p14="http://schemas.microsoft.com/office/powerpoint/2010/main" val="380234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232EDB-6B67-4C3F-BFC6-6A14DFE0C0E6}"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FCE4DB-2AE0-412C-B1F7-D378E3F81A85}" type="slidenum">
              <a:rPr lang="en-US" smtClean="0"/>
              <a:t>‹#›</a:t>
            </a:fld>
            <a:endParaRPr lang="en-US"/>
          </a:p>
        </p:txBody>
      </p:sp>
    </p:spTree>
    <p:extLst>
      <p:ext uri="{BB962C8B-B14F-4D97-AF65-F5344CB8AC3E}">
        <p14:creationId xmlns:p14="http://schemas.microsoft.com/office/powerpoint/2010/main" val="3751438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232EDB-6B67-4C3F-BFC6-6A14DFE0C0E6}"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FCE4DB-2AE0-412C-B1F7-D378E3F81A85}" type="slidenum">
              <a:rPr lang="en-US" smtClean="0"/>
              <a:t>‹#›</a:t>
            </a:fld>
            <a:endParaRPr lang="en-US"/>
          </a:p>
        </p:txBody>
      </p:sp>
    </p:spTree>
    <p:extLst>
      <p:ext uri="{BB962C8B-B14F-4D97-AF65-F5344CB8AC3E}">
        <p14:creationId xmlns:p14="http://schemas.microsoft.com/office/powerpoint/2010/main" val="942249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FCE4DB-2AE0-412C-B1F7-D378E3F81A85}" type="slidenum">
              <a:rPr lang="en-US" smtClean="0"/>
              <a:t>‹#›</a:t>
            </a:fld>
            <a:endParaRPr lang="en-US"/>
          </a:p>
        </p:txBody>
      </p:sp>
      <p:sp>
        <p:nvSpPr>
          <p:cNvPr id="5" name="Date Placeholder 4"/>
          <p:cNvSpPr>
            <a:spLocks noGrp="1"/>
          </p:cNvSpPr>
          <p:nvPr>
            <p:ph type="dt" sz="half" idx="10"/>
          </p:nvPr>
        </p:nvSpPr>
        <p:spPr/>
        <p:txBody>
          <a:bodyPr/>
          <a:lstStyle/>
          <a:p>
            <a:fld id="{95232EDB-6B67-4C3F-BFC6-6A14DFE0C0E6}" type="datetimeFigureOut">
              <a:rPr lang="en-US" smtClean="0"/>
              <a:t>9/17/2026</a:t>
            </a:fld>
            <a:endParaRPr lang="en-US"/>
          </a:p>
        </p:txBody>
      </p:sp>
    </p:spTree>
    <p:extLst>
      <p:ext uri="{BB962C8B-B14F-4D97-AF65-F5344CB8AC3E}">
        <p14:creationId xmlns:p14="http://schemas.microsoft.com/office/powerpoint/2010/main" val="109421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232EDB-6B67-4C3F-BFC6-6A14DFE0C0E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E4DB-2AE0-412C-B1F7-D378E3F81A85}" type="slidenum">
              <a:rPr lang="en-US" smtClean="0"/>
              <a:t>‹#›</a:t>
            </a:fld>
            <a:endParaRPr lang="en-US"/>
          </a:p>
        </p:txBody>
      </p:sp>
    </p:spTree>
    <p:extLst>
      <p:ext uri="{BB962C8B-B14F-4D97-AF65-F5344CB8AC3E}">
        <p14:creationId xmlns:p14="http://schemas.microsoft.com/office/powerpoint/2010/main" val="209929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232EDB-6B67-4C3F-BFC6-6A14DFE0C0E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E4DB-2AE0-412C-B1F7-D378E3F81A8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61896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232EDB-6B67-4C3F-BFC6-6A14DFE0C0E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E4DB-2AE0-412C-B1F7-D378E3F81A85}" type="slidenum">
              <a:rPr lang="en-US" smtClean="0"/>
              <a:t>‹#›</a:t>
            </a:fld>
            <a:endParaRPr lang="en-US"/>
          </a:p>
        </p:txBody>
      </p:sp>
    </p:spTree>
    <p:extLst>
      <p:ext uri="{BB962C8B-B14F-4D97-AF65-F5344CB8AC3E}">
        <p14:creationId xmlns:p14="http://schemas.microsoft.com/office/powerpoint/2010/main" val="604159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232EDB-6B67-4C3F-BFC6-6A14DFE0C0E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E4DB-2AE0-412C-B1F7-D378E3F81A8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8092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232EDB-6B67-4C3F-BFC6-6A14DFE0C0E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E4DB-2AE0-412C-B1F7-D378E3F81A85}" type="slidenum">
              <a:rPr lang="en-US" smtClean="0"/>
              <a:t>‹#›</a:t>
            </a:fld>
            <a:endParaRPr lang="en-US"/>
          </a:p>
        </p:txBody>
      </p:sp>
    </p:spTree>
    <p:extLst>
      <p:ext uri="{BB962C8B-B14F-4D97-AF65-F5344CB8AC3E}">
        <p14:creationId xmlns:p14="http://schemas.microsoft.com/office/powerpoint/2010/main" val="29575472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232EDB-6B67-4C3F-BFC6-6A14DFE0C0E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E4DB-2AE0-412C-B1F7-D378E3F81A85}" type="slidenum">
              <a:rPr lang="en-US" smtClean="0"/>
              <a:t>‹#›</a:t>
            </a:fld>
            <a:endParaRPr lang="en-US"/>
          </a:p>
        </p:txBody>
      </p:sp>
    </p:spTree>
    <p:extLst>
      <p:ext uri="{BB962C8B-B14F-4D97-AF65-F5344CB8AC3E}">
        <p14:creationId xmlns:p14="http://schemas.microsoft.com/office/powerpoint/2010/main" val="32672749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232EDB-6B67-4C3F-BFC6-6A14DFE0C0E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E4DB-2AE0-412C-B1F7-D378E3F81A85}" type="slidenum">
              <a:rPr lang="en-US" smtClean="0"/>
              <a:t>‹#›</a:t>
            </a:fld>
            <a:endParaRPr lang="en-US"/>
          </a:p>
        </p:txBody>
      </p:sp>
    </p:spTree>
    <p:extLst>
      <p:ext uri="{BB962C8B-B14F-4D97-AF65-F5344CB8AC3E}">
        <p14:creationId xmlns:p14="http://schemas.microsoft.com/office/powerpoint/2010/main" val="33540005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Em branco">
    <p:spTree>
      <p:nvGrpSpPr>
        <p:cNvPr id="1" name=""/>
        <p:cNvGrpSpPr/>
        <p:nvPr/>
      </p:nvGrpSpPr>
      <p:grpSpPr>
        <a:xfrm>
          <a:off x="0" y="0"/>
          <a:ext cx="0" cy="0"/>
          <a:chOff x="0" y="0"/>
          <a:chExt cx="0" cy="0"/>
        </a:xfrm>
      </p:grpSpPr>
      <p:sp>
        <p:nvSpPr>
          <p:cNvPr id="4" name="Marcador de Posição do Número do Diapositivo 3">
            <a:extLst>
              <a:ext uri="{FF2B5EF4-FFF2-40B4-BE49-F238E27FC236}">
                <a16:creationId xmlns:a16="http://schemas.microsoft.com/office/drawing/2014/main" id="{C0EA466B-3AE4-B2A7-7F7B-6218E94C1F30}"/>
              </a:ext>
            </a:extLst>
          </p:cNvPr>
          <p:cNvSpPr>
            <a:spLocks noGrp="1"/>
          </p:cNvSpPr>
          <p:nvPr>
            <p:ph type="sldNum" sz="quarter" idx="12"/>
          </p:nvPr>
        </p:nvSpPr>
        <p:spPr/>
        <p:txBody>
          <a:bodyPr/>
          <a:lstStyle/>
          <a:p>
            <a:fld id="{6A0DCA4A-79A8-9645-9E63-9185EB4CD35F}" type="slidenum">
              <a:rPr lang="pt-PT" smtClean="0"/>
              <a:t>‹#›</a:t>
            </a:fld>
            <a:endParaRPr lang="pt-PT"/>
          </a:p>
        </p:txBody>
      </p:sp>
      <p:cxnSp>
        <p:nvCxnSpPr>
          <p:cNvPr id="6" name="Conexão Reta 5">
            <a:extLst>
              <a:ext uri="{FF2B5EF4-FFF2-40B4-BE49-F238E27FC236}">
                <a16:creationId xmlns:a16="http://schemas.microsoft.com/office/drawing/2014/main" id="{E11CD192-21A9-7947-E43E-F3B83F2EB75F}"/>
              </a:ext>
            </a:extLst>
          </p:cNvPr>
          <p:cNvCxnSpPr/>
          <p:nvPr userDrawn="1"/>
        </p:nvCxnSpPr>
        <p:spPr>
          <a:xfrm>
            <a:off x="597408" y="963168"/>
            <a:ext cx="10753344" cy="0"/>
          </a:xfrm>
          <a:prstGeom prst="line">
            <a:avLst/>
          </a:prstGeom>
          <a:ln w="19050">
            <a:solidFill>
              <a:srgbClr val="488ECD"/>
            </a:solidFill>
          </a:ln>
        </p:spPr>
        <p:style>
          <a:lnRef idx="1">
            <a:schemeClr val="accent1"/>
          </a:lnRef>
          <a:fillRef idx="0">
            <a:schemeClr val="accent1"/>
          </a:fillRef>
          <a:effectRef idx="0">
            <a:schemeClr val="accent1"/>
          </a:effectRef>
          <a:fontRef idx="minor">
            <a:schemeClr val="tx1"/>
          </a:fontRef>
        </p:style>
      </p:cxnSp>
      <p:sp>
        <p:nvSpPr>
          <p:cNvPr id="7" name="Marcador de Posição do Título 11">
            <a:extLst>
              <a:ext uri="{FF2B5EF4-FFF2-40B4-BE49-F238E27FC236}">
                <a16:creationId xmlns:a16="http://schemas.microsoft.com/office/drawing/2014/main" id="{AA5EAEB4-FF89-38DB-2D4F-BEB209C9BB32}"/>
              </a:ext>
            </a:extLst>
          </p:cNvPr>
          <p:cNvSpPr>
            <a:spLocks noGrp="1"/>
          </p:cNvSpPr>
          <p:nvPr>
            <p:ph type="title" hasCustomPrompt="1"/>
          </p:nvPr>
        </p:nvSpPr>
        <p:spPr>
          <a:xfrm>
            <a:off x="521208" y="365127"/>
            <a:ext cx="10515600" cy="500506"/>
          </a:xfrm>
          <a:prstGeom prst="rect">
            <a:avLst/>
          </a:prstGeom>
        </p:spPr>
        <p:txBody>
          <a:bodyPr vert="horz" lIns="91440" tIns="45720" rIns="91440" bIns="45720" rtlCol="0" anchor="ctr">
            <a:normAutofit/>
          </a:bodyPr>
          <a:lstStyle/>
          <a:p>
            <a:r>
              <a:rPr lang="en-GB" noProof="0"/>
              <a:t>Title</a:t>
            </a:r>
          </a:p>
        </p:txBody>
      </p:sp>
      <p:sp>
        <p:nvSpPr>
          <p:cNvPr id="8" name="Marcador de Posição do Texto 2">
            <a:extLst>
              <a:ext uri="{FF2B5EF4-FFF2-40B4-BE49-F238E27FC236}">
                <a16:creationId xmlns:a16="http://schemas.microsoft.com/office/drawing/2014/main" id="{502A9DA4-3204-97EB-E5E4-978D1CEE18D2}"/>
              </a:ext>
            </a:extLst>
          </p:cNvPr>
          <p:cNvSpPr>
            <a:spLocks noGrp="1"/>
          </p:cNvSpPr>
          <p:nvPr>
            <p:ph idx="1"/>
          </p:nvPr>
        </p:nvSpPr>
        <p:spPr>
          <a:xfrm>
            <a:off x="521208" y="1253331"/>
            <a:ext cx="10515600" cy="4351338"/>
          </a:xfrm>
          <a:prstGeom prst="rect">
            <a:avLst/>
          </a:prstGeom>
        </p:spPr>
        <p:txBody>
          <a:bodyPr vert="horz" lIns="91440" tIns="45720" rIns="91440" bIns="45720" rtlCol="0">
            <a:normAutofit/>
          </a:bodyPr>
          <a:lstStyle>
            <a:lvl1pPr>
              <a:defRPr b="0" i="0">
                <a:latin typeface="Arial Narrow" panose="020B0604020202020204" pitchFamily="34" charset="0"/>
                <a:cs typeface="Arial Narrow" panose="020B0604020202020204" pitchFamily="34" charset="0"/>
              </a:defRPr>
            </a:lvl1pPr>
            <a:lvl2pPr>
              <a:defRPr b="0" i="0">
                <a:latin typeface="Arial Narrow" panose="020B0604020202020204" pitchFamily="34" charset="0"/>
                <a:cs typeface="Arial Narrow" panose="020B0604020202020204" pitchFamily="34" charset="0"/>
              </a:defRPr>
            </a:lvl2pPr>
            <a:lvl3pPr>
              <a:defRPr b="0" i="0">
                <a:latin typeface="Arial Narrow" panose="020B0604020202020204" pitchFamily="34" charset="0"/>
                <a:cs typeface="Arial Narrow" panose="020B0604020202020204" pitchFamily="34" charset="0"/>
              </a:defRPr>
            </a:lvl3pPr>
            <a:lvl4pPr>
              <a:defRPr b="0" i="0">
                <a:latin typeface="Arial Narrow" panose="020B0604020202020204" pitchFamily="34" charset="0"/>
                <a:cs typeface="Arial Narrow" panose="020B0604020202020204" pitchFamily="34" charset="0"/>
              </a:defRPr>
            </a:lvl4pPr>
            <a:lvl5pPr>
              <a:defRPr b="0" i="0">
                <a:latin typeface="Arial Narrow" panose="020B0604020202020204" pitchFamily="34" charset="0"/>
                <a:cs typeface="Arial Narrow" panose="020B0604020202020204" pitchFamily="34" charset="0"/>
              </a:defRPr>
            </a:lvl5pPr>
          </a:lstStyle>
          <a:p>
            <a:pPr lvl="0"/>
            <a:r>
              <a:rPr lang="en-GB" noProof="0" dirty="0"/>
              <a:t>Clique para </a:t>
            </a:r>
            <a:r>
              <a:rPr lang="en-GB" noProof="0" dirty="0" err="1"/>
              <a:t>editar</a:t>
            </a:r>
            <a:r>
              <a:rPr lang="en-GB" noProof="0" dirty="0"/>
              <a:t> </a:t>
            </a:r>
            <a:r>
              <a:rPr lang="en-GB" noProof="0" dirty="0" err="1"/>
              <a:t>os</a:t>
            </a:r>
            <a:r>
              <a:rPr lang="en-GB" noProof="0" dirty="0"/>
              <a:t> </a:t>
            </a:r>
            <a:r>
              <a:rPr lang="en-GB" noProof="0" dirty="0" err="1"/>
              <a:t>estilos</a:t>
            </a:r>
            <a:r>
              <a:rPr lang="en-GB" noProof="0" dirty="0"/>
              <a:t> do </a:t>
            </a:r>
            <a:r>
              <a:rPr lang="en-GB" noProof="0" dirty="0" err="1"/>
              <a:t>texto</a:t>
            </a:r>
            <a:r>
              <a:rPr lang="en-GB" noProof="0" dirty="0"/>
              <a:t> de </a:t>
            </a:r>
            <a:r>
              <a:rPr lang="en-GB" noProof="0" dirty="0" err="1"/>
              <a:t>Modelo</a:t>
            </a:r>
            <a:r>
              <a:rPr lang="en-GB" noProof="0" dirty="0"/>
              <a:t> Global</a:t>
            </a:r>
          </a:p>
          <a:p>
            <a:pPr lvl="1"/>
            <a:r>
              <a:rPr lang="en-GB" noProof="0" dirty="0"/>
              <a:t>Segundo </a:t>
            </a:r>
            <a:r>
              <a:rPr lang="en-GB" noProof="0" dirty="0" err="1"/>
              <a:t>nível</a:t>
            </a:r>
            <a:endParaRPr lang="en-GB" noProof="0" dirty="0"/>
          </a:p>
          <a:p>
            <a:pPr lvl="2"/>
            <a:r>
              <a:rPr lang="en-GB" noProof="0" dirty="0" err="1"/>
              <a:t>Terceiro</a:t>
            </a:r>
            <a:r>
              <a:rPr lang="en-GB" noProof="0" dirty="0"/>
              <a:t> </a:t>
            </a:r>
            <a:r>
              <a:rPr lang="en-GB" noProof="0" dirty="0" err="1"/>
              <a:t>nível</a:t>
            </a:r>
            <a:endParaRPr lang="en-GB" noProof="0" dirty="0"/>
          </a:p>
          <a:p>
            <a:pPr lvl="3"/>
            <a:r>
              <a:rPr lang="en-GB" noProof="0" dirty="0"/>
              <a:t>Quarto </a:t>
            </a:r>
            <a:r>
              <a:rPr lang="en-GB" noProof="0" dirty="0" err="1"/>
              <a:t>nível</a:t>
            </a:r>
            <a:endParaRPr lang="en-GB" noProof="0" dirty="0"/>
          </a:p>
          <a:p>
            <a:pPr lvl="4"/>
            <a:r>
              <a:rPr lang="en-GB" noProof="0" dirty="0"/>
              <a:t>Quinto </a:t>
            </a:r>
            <a:r>
              <a:rPr lang="en-GB" noProof="0" dirty="0" err="1"/>
              <a:t>nível</a:t>
            </a:r>
            <a:endParaRPr lang="en-GB" noProof="0" dirty="0"/>
          </a:p>
        </p:txBody>
      </p:sp>
    </p:spTree>
    <p:extLst>
      <p:ext uri="{BB962C8B-B14F-4D97-AF65-F5344CB8AC3E}">
        <p14:creationId xmlns:p14="http://schemas.microsoft.com/office/powerpoint/2010/main" val="36517369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5232EDB-6B67-4C3F-BFC6-6A14DFE0C0E6}" type="datetimeFigureOut">
              <a:rPr lang="en-US" smtClean="0"/>
              <a:t>9/17/2026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0FCE4DB-2AE0-412C-B1F7-D378E3F81A85}" type="slidenum">
              <a:rPr lang="en-US" smtClean="0"/>
              <a:t>‹#›</a:t>
            </a:fld>
            <a:endParaRPr lang="en-US"/>
          </a:p>
        </p:txBody>
      </p:sp>
    </p:spTree>
    <p:extLst>
      <p:ext uri="{BB962C8B-B14F-4D97-AF65-F5344CB8AC3E}">
        <p14:creationId xmlns:p14="http://schemas.microsoft.com/office/powerpoint/2010/main" val="91493721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7.xml"/><Relationship Id="rId5" Type="http://schemas.openxmlformats.org/officeDocument/2006/relationships/image" Target="../media/image28.jpeg"/><Relationship Id="rId4" Type="http://schemas.openxmlformats.org/officeDocument/2006/relationships/image" Target="../media/image27.jpe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C66A1-ABA2-3F7F-9654-1628C468E88C}"/>
              </a:ext>
            </a:extLst>
          </p:cNvPr>
          <p:cNvSpPr>
            <a:spLocks noGrp="1"/>
          </p:cNvSpPr>
          <p:nvPr>
            <p:ph type="ctrTitle"/>
          </p:nvPr>
        </p:nvSpPr>
        <p:spPr>
          <a:xfrm>
            <a:off x="428692" y="2036688"/>
            <a:ext cx="11029071" cy="3854825"/>
          </a:xfrm>
        </p:spPr>
        <p:txBody>
          <a:bodyPr anchor="t">
            <a:normAutofit fontScale="90000"/>
          </a:bodyPr>
          <a:lstStyle/>
          <a:p>
            <a:pPr algn="ctr"/>
            <a:br>
              <a:rPr lang="bs-Latn-BA" sz="4000" b="1" dirty="0">
                <a:solidFill>
                  <a:schemeClr val="tx1"/>
                </a:solidFill>
                <a:latin typeface="Trebuchet MS" panose="020B0603020202020204" pitchFamily="34" charset="0"/>
                <a:cs typeface="Times New Roman" panose="02020603050405020304" pitchFamily="18" charset="0"/>
              </a:rPr>
            </a:br>
            <a:r>
              <a:rPr lang="en-US" sz="4000" b="1" dirty="0">
                <a:solidFill>
                  <a:schemeClr val="tx1"/>
                </a:solidFill>
                <a:latin typeface="Trebuchet MS" panose="020B0603020202020204" pitchFamily="34" charset="0"/>
                <a:cs typeface="Times New Roman" panose="02020603050405020304" pitchFamily="18" charset="0"/>
              </a:rPr>
              <a:t>Air Quality Monitoring in Bosnia and Herzegovina: Current Challenges and Future Prospects </a:t>
            </a:r>
            <a:br>
              <a:rPr lang="bs-Latn-BA" sz="4000" b="1" dirty="0">
                <a:solidFill>
                  <a:schemeClr val="tx1"/>
                </a:solidFill>
                <a:latin typeface="Trebuchet MS" panose="020B0603020202020204" pitchFamily="34" charset="0"/>
                <a:cs typeface="Times New Roman" panose="02020603050405020304" pitchFamily="18" charset="0"/>
              </a:rPr>
            </a:br>
            <a:br>
              <a:rPr lang="bs-Latn-BA" sz="4000" b="1" dirty="0">
                <a:solidFill>
                  <a:schemeClr val="tx1"/>
                </a:solidFill>
                <a:latin typeface="Trebuchet MS" panose="020B0603020202020204" pitchFamily="34" charset="0"/>
                <a:cs typeface="Times New Roman" panose="02020603050405020304" pitchFamily="18" charset="0"/>
              </a:rPr>
            </a:br>
            <a:r>
              <a:rPr lang="en-US" sz="2700" b="1" dirty="0">
                <a:solidFill>
                  <a:schemeClr val="tx1"/>
                </a:solidFill>
                <a:latin typeface="Trebuchet MS" panose="020B0603020202020204" pitchFamily="34" charset="0"/>
                <a:cs typeface="Times New Roman" panose="02020603050405020304" pitchFamily="18" charset="0"/>
              </a:rPr>
              <a:t>Prof. dr.  Sabina </a:t>
            </a:r>
            <a:r>
              <a:rPr lang="en-US" sz="2700" b="1" dirty="0" err="1">
                <a:solidFill>
                  <a:schemeClr val="tx1"/>
                </a:solidFill>
                <a:latin typeface="Trebuchet MS" panose="020B0603020202020204" pitchFamily="34" charset="0"/>
                <a:cs typeface="Times New Roman" panose="02020603050405020304" pitchFamily="18" charset="0"/>
              </a:rPr>
              <a:t>Žero</a:t>
            </a:r>
            <a:r>
              <a:rPr lang="en-US" sz="2700" b="1" dirty="0">
                <a:solidFill>
                  <a:schemeClr val="tx1"/>
                </a:solidFill>
                <a:latin typeface="Trebuchet MS" panose="020B0603020202020204" pitchFamily="34" charset="0"/>
                <a:cs typeface="Times New Roman" panose="02020603050405020304" pitchFamily="18" charset="0"/>
              </a:rPr>
              <a:t>, University of Sarajevo – Faculty of Science </a:t>
            </a:r>
            <a:br>
              <a:rPr lang="en-US" sz="2700" b="1" dirty="0">
                <a:solidFill>
                  <a:schemeClr val="tx1"/>
                </a:solidFill>
                <a:latin typeface="Trebuchet MS" panose="020B0603020202020204" pitchFamily="34" charset="0"/>
                <a:cs typeface="Times New Roman" panose="02020603050405020304" pitchFamily="18" charset="0"/>
              </a:rPr>
            </a:br>
            <a:r>
              <a:rPr lang="en-US" sz="2700" b="1" dirty="0">
                <a:solidFill>
                  <a:schemeClr val="tx1"/>
                </a:solidFill>
                <a:latin typeface="Trebuchet MS" panose="020B0603020202020204" pitchFamily="34" charset="0"/>
                <a:cs typeface="Times New Roman" panose="02020603050405020304" pitchFamily="18" charset="0"/>
              </a:rPr>
              <a:t> Prof. dr. </a:t>
            </a:r>
            <a:r>
              <a:rPr lang="en-US" sz="2700" b="1" dirty="0" err="1">
                <a:solidFill>
                  <a:schemeClr val="tx1"/>
                </a:solidFill>
                <a:latin typeface="Trebuchet MS" panose="020B0603020202020204" pitchFamily="34" charset="0"/>
                <a:cs typeface="Times New Roman" panose="02020603050405020304" pitchFamily="18" charset="0"/>
              </a:rPr>
              <a:t>Emina</a:t>
            </a:r>
            <a:r>
              <a:rPr lang="en-US" sz="2700" b="1" dirty="0">
                <a:solidFill>
                  <a:schemeClr val="tx1"/>
                </a:solidFill>
                <a:latin typeface="Trebuchet MS" panose="020B0603020202020204" pitchFamily="34" charset="0"/>
                <a:cs typeface="Times New Roman" panose="02020603050405020304" pitchFamily="18" charset="0"/>
              </a:rPr>
              <a:t> </a:t>
            </a:r>
            <a:r>
              <a:rPr lang="en-US" sz="2700" b="1" dirty="0" err="1">
                <a:solidFill>
                  <a:schemeClr val="tx1"/>
                </a:solidFill>
                <a:latin typeface="Trebuchet MS" panose="020B0603020202020204" pitchFamily="34" charset="0"/>
                <a:cs typeface="Times New Roman" panose="02020603050405020304" pitchFamily="18" charset="0"/>
              </a:rPr>
              <a:t>Ramić</a:t>
            </a:r>
            <a:r>
              <a:rPr lang="en-US" sz="2700" b="1" dirty="0">
                <a:solidFill>
                  <a:schemeClr val="tx1"/>
                </a:solidFill>
                <a:latin typeface="Trebuchet MS" panose="020B0603020202020204" pitchFamily="34" charset="0"/>
                <a:cs typeface="Times New Roman" panose="02020603050405020304" pitchFamily="18" charset="0"/>
              </a:rPr>
              <a:t>, University of Sarajevo – Faculty of Pharmacy </a:t>
            </a:r>
          </a:p>
        </p:txBody>
      </p:sp>
      <p:sp>
        <p:nvSpPr>
          <p:cNvPr id="13" name="TextBox 12">
            <a:extLst>
              <a:ext uri="{FF2B5EF4-FFF2-40B4-BE49-F238E27FC236}">
                <a16:creationId xmlns:a16="http://schemas.microsoft.com/office/drawing/2014/main" id="{EBDF8113-A3A9-D0E2-2E38-57A07FD66AE0}"/>
              </a:ext>
            </a:extLst>
          </p:cNvPr>
          <p:cNvSpPr txBox="1"/>
          <p:nvPr/>
        </p:nvSpPr>
        <p:spPr>
          <a:xfrm>
            <a:off x="2572534" y="6025916"/>
            <a:ext cx="6105378" cy="430887"/>
          </a:xfrm>
          <a:prstGeom prst="rect">
            <a:avLst/>
          </a:prstGeom>
          <a:noFill/>
        </p:spPr>
        <p:txBody>
          <a:bodyPr wrap="square">
            <a:spAutoFit/>
          </a:bodyPr>
          <a:lstStyle/>
          <a:p>
            <a:pPr algn="ctr"/>
            <a:r>
              <a:rPr lang="bs-Latn-BA" sz="2200" dirty="0">
                <a:latin typeface="Trebuchet MS" panose="020B0603020202020204" pitchFamily="34" charset="0"/>
                <a:cs typeface="Times New Roman" panose="02020603050405020304" pitchFamily="18" charset="0"/>
              </a:rPr>
              <a:t>Sarajevo, UNSA-PMF, 07.-08</a:t>
            </a:r>
            <a:r>
              <a:rPr lang="en-GB" sz="2200" dirty="0">
                <a:latin typeface="Trebuchet MS" panose="020B0603020202020204" pitchFamily="34" charset="0"/>
                <a:cs typeface="Times New Roman" panose="02020603050405020304" pitchFamily="18" charset="0"/>
              </a:rPr>
              <a:t>.</a:t>
            </a:r>
            <a:r>
              <a:rPr lang="bs-Latn-BA" sz="2200" dirty="0">
                <a:latin typeface="Trebuchet MS" panose="020B0603020202020204" pitchFamily="34" charset="0"/>
                <a:cs typeface="Times New Roman" panose="02020603050405020304" pitchFamily="18" charset="0"/>
              </a:rPr>
              <a:t>09.2026.</a:t>
            </a:r>
          </a:p>
        </p:txBody>
      </p:sp>
      <p:sp>
        <p:nvSpPr>
          <p:cNvPr id="3" name="Rectangle 2"/>
          <p:cNvSpPr/>
          <p:nvPr/>
        </p:nvSpPr>
        <p:spPr>
          <a:xfrm>
            <a:off x="3904648" y="628888"/>
            <a:ext cx="4081884" cy="369332"/>
          </a:xfrm>
          <a:prstGeom prst="rect">
            <a:avLst/>
          </a:prstGeom>
        </p:spPr>
        <p:txBody>
          <a:bodyPr wrap="square">
            <a:spAutoFit/>
          </a:bodyPr>
          <a:lstStyle/>
          <a:p>
            <a:pPr algn="ctr"/>
            <a:r>
              <a:rPr lang="bs-Latn-BA" dirty="0"/>
              <a:t>NextAIRE Summer School Sarajevo</a:t>
            </a:r>
          </a:p>
        </p:txBody>
      </p:sp>
      <p:pic>
        <p:nvPicPr>
          <p:cNvPr id="6" name="Picture 5"/>
          <p:cNvPicPr/>
          <p:nvPr/>
        </p:nvPicPr>
        <p:blipFill>
          <a:blip r:embed="rId3"/>
          <a:srcRect l="38900" r="38061"/>
          <a:stretch>
            <a:fillRect/>
          </a:stretch>
        </p:blipFill>
        <p:spPr bwMode="auto">
          <a:xfrm>
            <a:off x="8922602" y="186884"/>
            <a:ext cx="1620483" cy="1514593"/>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82410" y="174092"/>
            <a:ext cx="1278900" cy="1446003"/>
          </a:xfrm>
          <a:prstGeom prst="rect">
            <a:avLst/>
          </a:prstGeom>
        </p:spPr>
      </p:pic>
      <p:pic>
        <p:nvPicPr>
          <p:cNvPr id="9" name="image1.jpg" descr="A logo with a leaf in the center&#10;&#10;AI-generated content may be incorrect."/>
          <p:cNvPicPr/>
          <p:nvPr/>
        </p:nvPicPr>
        <p:blipFill>
          <a:blip r:embed="rId5"/>
          <a:srcRect/>
          <a:stretch>
            <a:fillRect/>
          </a:stretch>
        </p:blipFill>
        <p:spPr>
          <a:xfrm>
            <a:off x="972138" y="0"/>
            <a:ext cx="1996440" cy="1996440"/>
          </a:xfrm>
          <a:prstGeom prst="rect">
            <a:avLst/>
          </a:prstGeom>
          <a:ln/>
        </p:spPr>
      </p:pic>
      <p:pic>
        <p:nvPicPr>
          <p:cNvPr id="1026" name="image1.jpg" descr="Blue text on a white background&#10;&#10;AI-generated content may be incorrect."/>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72138" y="1801739"/>
            <a:ext cx="2355850" cy="46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3656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14325"/>
            <a:ext cx="8229600" cy="1143000"/>
          </a:xfrm>
        </p:spPr>
        <p:txBody>
          <a:bodyPr/>
          <a:lstStyle/>
          <a:p>
            <a:pPr algn="ctr" eaLnBrk="1" hangingPunct="1">
              <a:defRPr/>
            </a:pPr>
            <a:r>
              <a:rPr lang="bs-Latn-BA" sz="3750" dirty="0">
                <a:latin typeface="+mn-lt"/>
                <a:cs typeface="Times New Roman" panose="02020603050405020304" pitchFamily="18" charset="0"/>
              </a:rPr>
              <a:t>Air Pollution in Sarajevo</a:t>
            </a:r>
          </a:p>
        </p:txBody>
      </p:sp>
      <p:sp>
        <p:nvSpPr>
          <p:cNvPr id="9220" name="TextBox 6"/>
          <p:cNvSpPr txBox="1">
            <a:spLocks noChangeArrowheads="1"/>
          </p:cNvSpPr>
          <p:nvPr/>
        </p:nvSpPr>
        <p:spPr bwMode="auto">
          <a:xfrm>
            <a:off x="1897870" y="4870452"/>
            <a:ext cx="802014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eaLnBrk="1" hangingPunct="1"/>
            <a:r>
              <a:rPr lang="bs-Latn-BA" sz="2200" dirty="0">
                <a:solidFill>
                  <a:schemeClr val="tx2"/>
                </a:solidFill>
                <a:latin typeface="+mn-lt"/>
                <a:cs typeface="Times New Roman" panose="02020603050405020304" pitchFamily="18" charset="0"/>
              </a:rPr>
              <a:t>Alipašina ulica, Sarajevo, 17 dec 2015, period 7.00-8.00 hours</a:t>
            </a:r>
          </a:p>
        </p:txBody>
      </p:sp>
      <p:pic>
        <p:nvPicPr>
          <p:cNvPr id="9221"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00523" y="2117270"/>
            <a:ext cx="4414838"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0469" y="2461757"/>
            <a:ext cx="3189288"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009119" y="2461757"/>
            <a:ext cx="2444750"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238752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69583"/>
            <a:ext cx="8229600" cy="755650"/>
          </a:xfrm>
        </p:spPr>
        <p:txBody>
          <a:bodyPr/>
          <a:lstStyle/>
          <a:p>
            <a:pPr algn="ctr">
              <a:defRPr/>
            </a:pPr>
            <a:r>
              <a:rPr lang="en-US" dirty="0">
                <a:cs typeface="Times New Roman" panose="02020603050405020304" pitchFamily="18" charset="0"/>
              </a:rPr>
              <a:t>Why the </a:t>
            </a:r>
            <a:r>
              <a:rPr lang="bs-Latn-BA" dirty="0">
                <a:cs typeface="Times New Roman" panose="02020603050405020304" pitchFamily="18" charset="0"/>
              </a:rPr>
              <a:t>A</a:t>
            </a:r>
            <a:r>
              <a:rPr lang="en-US" dirty="0" err="1">
                <a:cs typeface="Times New Roman" panose="02020603050405020304" pitchFamily="18" charset="0"/>
              </a:rPr>
              <a:t>ir</a:t>
            </a:r>
            <a:r>
              <a:rPr lang="en-US" dirty="0">
                <a:cs typeface="Times New Roman" panose="02020603050405020304" pitchFamily="18" charset="0"/>
              </a:rPr>
              <a:t> of Sarajevo?</a:t>
            </a:r>
            <a:endParaRPr lang="bs-Latn-BA" sz="3750" dirty="0">
              <a:cs typeface="Times New Roman" panose="02020603050405020304" pitchFamily="18" charset="0"/>
            </a:endParaRPr>
          </a:p>
        </p:txBody>
      </p:sp>
      <p:sp>
        <p:nvSpPr>
          <p:cNvPr id="11267" name="Content Placeholder 2"/>
          <p:cNvSpPr>
            <a:spLocks noGrp="1"/>
          </p:cNvSpPr>
          <p:nvPr>
            <p:ph idx="1"/>
          </p:nvPr>
        </p:nvSpPr>
        <p:spPr>
          <a:xfrm>
            <a:off x="823294" y="1225233"/>
            <a:ext cx="8229600" cy="4389438"/>
          </a:xfrm>
        </p:spPr>
        <p:txBody>
          <a:bodyPr/>
          <a:lstStyle/>
          <a:p>
            <a:pPr algn="just"/>
            <a:r>
              <a:rPr lang="en-US" sz="2000" dirty="0">
                <a:latin typeface="+mj-lt"/>
                <a:cs typeface="Times New Roman" panose="02020603050405020304" pitchFamily="18" charset="0"/>
              </a:rPr>
              <a:t>Sarajevo's air is polluted air during the winter and is expected to be favorable as a research medium for particulate matter content</a:t>
            </a:r>
            <a:endParaRPr lang="bs-Latn-BA" sz="2000" dirty="0">
              <a:latin typeface="+mj-lt"/>
              <a:cs typeface="Times New Roman" panose="02020603050405020304" pitchFamily="18" charset="0"/>
            </a:endParaRPr>
          </a:p>
        </p:txBody>
      </p:sp>
      <p:pic>
        <p:nvPicPr>
          <p:cNvPr id="11268" name="Picture 2" descr="C:\Users\Alma\Pictures\Pictur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9441" y="2251642"/>
            <a:ext cx="8813119" cy="442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val 6"/>
          <p:cNvSpPr/>
          <p:nvPr/>
        </p:nvSpPr>
        <p:spPr>
          <a:xfrm>
            <a:off x="4938094" y="6108700"/>
            <a:ext cx="679450" cy="29845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bs-Latn-BA">
              <a:latin typeface="+mj-lt"/>
            </a:endParaRPr>
          </a:p>
        </p:txBody>
      </p:sp>
    </p:spTree>
    <p:extLst>
      <p:ext uri="{BB962C8B-B14F-4D97-AF65-F5344CB8AC3E}">
        <p14:creationId xmlns:p14="http://schemas.microsoft.com/office/powerpoint/2010/main" val="11657188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2)">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84039"/>
            <a:ext cx="8596668" cy="1320800"/>
          </a:xfrm>
        </p:spPr>
        <p:txBody>
          <a:bodyPr/>
          <a:lstStyle/>
          <a:p>
            <a:r>
              <a:rPr lang="bs-Latn-BA" dirty="0">
                <a:latin typeface="Trebuchet MS" panose="020B0603020202020204" pitchFamily="34" charset="0"/>
                <a:cs typeface="Times New Roman" panose="02020603050405020304" pitchFamily="18" charset="0"/>
              </a:rPr>
              <a:t>Sarajevo Air Quality</a:t>
            </a:r>
            <a:endParaRPr lang="en-US" dirty="0">
              <a:latin typeface="Trebuchet MS" panose="020B0603020202020204" pitchFamily="34" charset="0"/>
              <a:cs typeface="Times New Roman" panose="02020603050405020304" pitchFamily="18" charset="0"/>
            </a:endParaRP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76983" y="1214303"/>
            <a:ext cx="5126047" cy="2491829"/>
          </a:xfrm>
        </p:spPr>
      </p:pic>
      <p:sp>
        <p:nvSpPr>
          <p:cNvPr id="8" name="Slide Number Placeholder 7"/>
          <p:cNvSpPr>
            <a:spLocks noGrp="1"/>
          </p:cNvSpPr>
          <p:nvPr>
            <p:ph type="sldNum" sz="quarter" idx="12"/>
          </p:nvPr>
        </p:nvSpPr>
        <p:spPr/>
        <p:txBody>
          <a:bodyPr/>
          <a:lstStyle/>
          <a:p>
            <a:fld id="{360D0EED-A88C-4034-BB0C-56448F632475}" type="slidenum">
              <a:rPr lang="en-US" smtClean="0"/>
              <a:t>4</a:t>
            </a:fld>
            <a:endParaRPr lang="en-US"/>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3030" y="3894230"/>
            <a:ext cx="5629894" cy="2736754"/>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3439" y="3316174"/>
            <a:ext cx="5319591" cy="3338585"/>
          </a:xfrm>
          <a:prstGeom prst="rect">
            <a:avLst/>
          </a:prstGeom>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03030" y="404167"/>
            <a:ext cx="4962857" cy="3722143"/>
          </a:xfrm>
          <a:prstGeom prst="rect">
            <a:avLst/>
          </a:prstGeom>
        </p:spPr>
      </p:pic>
      <p:pic>
        <p:nvPicPr>
          <p:cNvPr id="3" name="Picture 2"/>
          <p:cNvPicPr>
            <a:picLocks noChangeAspect="1"/>
          </p:cNvPicPr>
          <p:nvPr/>
        </p:nvPicPr>
        <p:blipFill>
          <a:blip r:embed="rId7"/>
          <a:stretch>
            <a:fillRect/>
          </a:stretch>
        </p:blipFill>
        <p:spPr>
          <a:xfrm>
            <a:off x="4567235" y="3081500"/>
            <a:ext cx="2807091" cy="1577909"/>
          </a:xfrm>
          <a:prstGeom prst="rect">
            <a:avLst/>
          </a:prstGeom>
        </p:spPr>
      </p:pic>
    </p:spTree>
    <p:extLst>
      <p:ext uri="{BB962C8B-B14F-4D97-AF65-F5344CB8AC3E}">
        <p14:creationId xmlns:p14="http://schemas.microsoft.com/office/powerpoint/2010/main" val="342307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983552" y="627287"/>
            <a:ext cx="4464050" cy="579438"/>
          </a:xfrm>
        </p:spPr>
        <p:txBody>
          <a:bodyPr/>
          <a:lstStyle/>
          <a:p>
            <a:pPr eaLnBrk="1" hangingPunct="1"/>
            <a:r>
              <a:rPr lang="hr-HR" altLang="en-US" sz="3200" dirty="0">
                <a:latin typeface="Trebuchet MS" panose="020B0603020202020204" pitchFamily="34" charset="0"/>
                <a:cs typeface="Times New Roman" panose="02020603050405020304" pitchFamily="18" charset="0"/>
              </a:rPr>
              <a:t>Sampling of PM</a:t>
            </a:r>
            <a:r>
              <a:rPr lang="hr-HR" altLang="en-US" sz="1800" dirty="0">
                <a:latin typeface="Trebuchet MS" panose="020B0603020202020204" pitchFamily="34" charset="0"/>
                <a:cs typeface="Times New Roman" panose="02020603050405020304" pitchFamily="18" charset="0"/>
              </a:rPr>
              <a:t>10</a:t>
            </a:r>
          </a:p>
        </p:txBody>
      </p:sp>
      <p:pic>
        <p:nvPicPr>
          <p:cNvPr id="3" name="Picture 2"/>
          <p:cNvPicPr>
            <a:picLocks noChangeAspect="1"/>
          </p:cNvPicPr>
          <p:nvPr/>
        </p:nvPicPr>
        <p:blipFill>
          <a:blip r:embed="rId3"/>
          <a:stretch>
            <a:fillRect/>
          </a:stretch>
        </p:blipFill>
        <p:spPr>
          <a:xfrm>
            <a:off x="1234553" y="2333035"/>
            <a:ext cx="7663939" cy="4140214"/>
          </a:xfrm>
          <a:prstGeom prst="rect">
            <a:avLst/>
          </a:prstGeom>
        </p:spPr>
      </p:pic>
    </p:spTree>
    <p:extLst>
      <p:ext uri="{BB962C8B-B14F-4D97-AF65-F5344CB8AC3E}">
        <p14:creationId xmlns:p14="http://schemas.microsoft.com/office/powerpoint/2010/main" val="848174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983552" y="627287"/>
            <a:ext cx="4464050" cy="579438"/>
          </a:xfrm>
        </p:spPr>
        <p:txBody>
          <a:bodyPr/>
          <a:lstStyle/>
          <a:p>
            <a:pPr eaLnBrk="1" hangingPunct="1"/>
            <a:r>
              <a:rPr lang="hr-HR" altLang="en-US" sz="3200" dirty="0">
                <a:latin typeface="Trebuchet MS" panose="020B0603020202020204" pitchFamily="34" charset="0"/>
                <a:cs typeface="Times New Roman" panose="02020603050405020304" pitchFamily="18" charset="0"/>
              </a:rPr>
              <a:t>Sampling of PM10</a:t>
            </a:r>
          </a:p>
        </p:txBody>
      </p:sp>
      <p:sp>
        <p:nvSpPr>
          <p:cNvPr id="8196" name="Rectangle 7"/>
          <p:cNvSpPr>
            <a:spLocks noChangeArrowheads="1"/>
          </p:cNvSpPr>
          <p:nvPr/>
        </p:nvSpPr>
        <p:spPr bwMode="auto">
          <a:xfrm>
            <a:off x="902971" y="1348150"/>
            <a:ext cx="856932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9388" indent="-179388"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eaLnBrk="1" hangingPunct="1">
              <a:buClr>
                <a:schemeClr val="accent1"/>
              </a:buClr>
              <a:buFont typeface="Wingdings" panose="05000000000000000000" pitchFamily="2" charset="2"/>
              <a:buChar char="Ø"/>
            </a:pPr>
            <a:r>
              <a:rPr lang="hr-HR" altLang="en-US" sz="2000" dirty="0">
                <a:latin typeface="Trebuchet MS" panose="020B0603020202020204" pitchFamily="34" charset="0"/>
                <a:cs typeface="Times New Roman" panose="02020603050405020304" pitchFamily="18" charset="0"/>
              </a:rPr>
              <a:t>Sven Leckel MVS6 </a:t>
            </a:r>
          </a:p>
          <a:p>
            <a:pPr marL="342900" indent="-342900" eaLnBrk="1" hangingPunct="1">
              <a:buClr>
                <a:schemeClr val="accent1"/>
              </a:buClr>
              <a:buFont typeface="Wingdings" panose="05000000000000000000" pitchFamily="2" charset="2"/>
              <a:buChar char="Ø"/>
            </a:pPr>
            <a:r>
              <a:rPr lang="hr-HR" altLang="en-US" sz="2000" dirty="0">
                <a:latin typeface="Trebuchet MS" panose="020B0603020202020204" pitchFamily="34" charset="0"/>
                <a:cs typeface="Times New Roman" panose="02020603050405020304" pitchFamily="18" charset="0"/>
              </a:rPr>
              <a:t>Quartz Filters 47 mm Ø – Whatman Grade QMA</a:t>
            </a:r>
          </a:p>
          <a:p>
            <a:pPr eaLnBrk="1" hangingPunct="1">
              <a:buFont typeface="Arial" panose="020B0604020202020204" pitchFamily="34" charset="0"/>
              <a:buChar char="•"/>
            </a:pPr>
            <a:endParaRPr lang="hr-HR" altLang="en-US" sz="2000" dirty="0">
              <a:latin typeface="Trebuchet MS" panose="020B0603020202020204" pitchFamily="34" charset="0"/>
              <a:cs typeface="Times New Roman" panose="02020603050405020304" pitchFamily="18" charset="0"/>
            </a:endParaRPr>
          </a:p>
        </p:txBody>
      </p:sp>
      <p:pic>
        <p:nvPicPr>
          <p:cNvPr id="8197" name="Picture 6" descr="C:\Users\Sabina  Zero\Documents\Pictures\2010-04-01\krov (16).JPG"/>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557065" y="2040120"/>
            <a:ext cx="3517224" cy="4691880"/>
          </a:xfrm>
          <a:noFill/>
        </p:spPr>
      </p:pic>
      <p:pic>
        <p:nvPicPr>
          <p:cNvPr id="2" name="Picture 1"/>
          <p:cNvPicPr>
            <a:picLocks noChangeAspect="1"/>
          </p:cNvPicPr>
          <p:nvPr/>
        </p:nvPicPr>
        <p:blipFill>
          <a:blip r:embed="rId4"/>
          <a:stretch>
            <a:fillRect/>
          </a:stretch>
        </p:blipFill>
        <p:spPr>
          <a:xfrm>
            <a:off x="6503552" y="78222"/>
            <a:ext cx="4743099" cy="4889416"/>
          </a:xfrm>
          <a:prstGeom prst="rect">
            <a:avLst/>
          </a:prstGeom>
        </p:spPr>
      </p:pic>
      <p:pic>
        <p:nvPicPr>
          <p:cNvPr id="7" name="Picture 3"/>
          <p:cNvPicPr>
            <a:picLocks noChangeAspect="1"/>
          </p:cNvPicPr>
          <p:nvPr/>
        </p:nvPicPr>
        <p:blipFill>
          <a:blip r:embed="rId5" cstate="print">
            <a:extLst>
              <a:ext uri="{28A0092B-C50C-407E-A947-70E740481C1C}">
                <a14:useLocalDpi xmlns:a14="http://schemas.microsoft.com/office/drawing/2010/main" val="0"/>
              </a:ext>
            </a:extLst>
          </a:blip>
          <a:srcRect t="16042" b="11458"/>
          <a:stretch>
            <a:fillRect/>
          </a:stretch>
        </p:blipFill>
        <p:spPr bwMode="auto">
          <a:xfrm>
            <a:off x="4225797" y="2328630"/>
            <a:ext cx="4555509" cy="4403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2889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178497" y="653734"/>
            <a:ext cx="8229600" cy="650875"/>
          </a:xfrm>
        </p:spPr>
        <p:txBody>
          <a:bodyPr/>
          <a:lstStyle/>
          <a:p>
            <a:pPr eaLnBrk="1" hangingPunct="1"/>
            <a:r>
              <a:rPr lang="hr-HR" altLang="en-US" dirty="0">
                <a:cs typeface="Times New Roman" panose="02020603050405020304" pitchFamily="18" charset="0"/>
              </a:rPr>
              <a:t>Filter analysis</a:t>
            </a:r>
          </a:p>
        </p:txBody>
      </p:sp>
      <p:sp>
        <p:nvSpPr>
          <p:cNvPr id="3" name="Content Placeholder 2"/>
          <p:cNvSpPr>
            <a:spLocks noGrp="1"/>
          </p:cNvSpPr>
          <p:nvPr>
            <p:ph idx="1"/>
          </p:nvPr>
        </p:nvSpPr>
        <p:spPr>
          <a:xfrm>
            <a:off x="1178497" y="1395254"/>
            <a:ext cx="9842429" cy="1871663"/>
          </a:xfrm>
        </p:spPr>
        <p:txBody>
          <a:bodyPr>
            <a:normAutofit/>
          </a:bodyPr>
          <a:lstStyle/>
          <a:p>
            <a:pPr algn="just">
              <a:lnSpc>
                <a:spcPct val="90000"/>
              </a:lnSpc>
              <a:buFont typeface="Wingdings" panose="05000000000000000000" pitchFamily="2" charset="2"/>
              <a:buChar char="Ø"/>
              <a:defRPr/>
            </a:pPr>
            <a:r>
              <a:rPr lang="en-US" dirty="0">
                <a:latin typeface="+mj-lt"/>
                <a:cs typeface="Times New Roman" panose="02020603050405020304" pitchFamily="18" charset="0"/>
              </a:rPr>
              <a:t>Acid digestion</a:t>
            </a:r>
            <a:endParaRPr lang="bs-Latn-BA" dirty="0">
              <a:latin typeface="+mj-lt"/>
              <a:cs typeface="Times New Roman" panose="02020603050405020304" pitchFamily="18" charset="0"/>
            </a:endParaRPr>
          </a:p>
          <a:p>
            <a:pPr algn="just">
              <a:lnSpc>
                <a:spcPct val="90000"/>
              </a:lnSpc>
              <a:buFont typeface="Wingdings" panose="05000000000000000000" pitchFamily="2" charset="2"/>
              <a:buChar char="Ø"/>
              <a:defRPr/>
            </a:pPr>
            <a:r>
              <a:rPr lang="hr-HR" dirty="0">
                <a:latin typeface="+mj-lt"/>
                <a:cs typeface="Times New Roman" panose="02020603050405020304" pitchFamily="18" charset="0"/>
              </a:rPr>
              <a:t>Atomic absorption spectrometry: FAAS, GFAAS</a:t>
            </a:r>
          </a:p>
          <a:p>
            <a:pPr algn="just">
              <a:lnSpc>
                <a:spcPct val="90000"/>
              </a:lnSpc>
              <a:buFont typeface="Wingdings" panose="05000000000000000000" pitchFamily="2" charset="2"/>
              <a:buChar char="Ø"/>
              <a:defRPr/>
            </a:pPr>
            <a:r>
              <a:rPr lang="hr-HR" dirty="0">
                <a:latin typeface="+mj-lt"/>
                <a:cs typeface="Times New Roman" panose="02020603050405020304" pitchFamily="18" charset="0"/>
              </a:rPr>
              <a:t>Analytical quality control – CRM </a:t>
            </a:r>
          </a:p>
          <a:p>
            <a:pPr marL="274320" indent="-274320">
              <a:lnSpc>
                <a:spcPct val="90000"/>
              </a:lnSpc>
              <a:buClr>
                <a:schemeClr val="accent3"/>
              </a:buClr>
              <a:defRPr/>
            </a:pPr>
            <a:endParaRPr lang="hr-HR" dirty="0">
              <a:latin typeface="+mj-lt"/>
              <a:cs typeface="Arial" pitchFamily="34" charset="0"/>
            </a:endParaRPr>
          </a:p>
          <a:p>
            <a:pPr marL="274320" indent="-274320">
              <a:buClr>
                <a:schemeClr val="accent3"/>
              </a:buClr>
              <a:buNone/>
              <a:defRPr/>
            </a:pPr>
            <a:endParaRPr lang="hr-HR" dirty="0">
              <a:latin typeface="+mj-lt"/>
            </a:endParaRPr>
          </a:p>
        </p:txBody>
      </p:sp>
      <p:pic>
        <p:nvPicPr>
          <p:cNvPr id="2" name="Picture 1"/>
          <p:cNvPicPr>
            <a:picLocks noChangeAspect="1"/>
          </p:cNvPicPr>
          <p:nvPr/>
        </p:nvPicPr>
        <p:blipFill rotWithShape="1">
          <a:blip r:embed="rId3" cstate="print">
            <a:extLst>
              <a:ext uri="{28A0092B-C50C-407E-A947-70E740481C1C}">
                <a14:useLocalDpi xmlns:a14="http://schemas.microsoft.com/office/drawing/2010/main" val="0"/>
              </a:ext>
            </a:extLst>
          </a:blip>
          <a:srcRect b="8686"/>
          <a:stretch/>
        </p:blipFill>
        <p:spPr>
          <a:xfrm>
            <a:off x="1342126" y="2615664"/>
            <a:ext cx="5540943" cy="3794761"/>
          </a:xfrm>
          <a:prstGeom prst="rect">
            <a:avLst/>
          </a:prstGeom>
        </p:spPr>
      </p:pic>
    </p:spTree>
    <p:extLst>
      <p:ext uri="{BB962C8B-B14F-4D97-AF65-F5344CB8AC3E}">
        <p14:creationId xmlns:p14="http://schemas.microsoft.com/office/powerpoint/2010/main" val="28875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ln>
            <a:noFill/>
          </a:ln>
        </p:spPr>
        <p:txBody>
          <a:bodyPr/>
          <a:lstStyle/>
          <a:p>
            <a:fld id="{6A0DCA4A-79A8-9645-9E63-9185EB4CD35F}" type="slidenum">
              <a:rPr lang="pt-PT" smtClean="0"/>
              <a:t>8</a:t>
            </a:fld>
            <a:endParaRPr lang="pt-PT"/>
          </a:p>
        </p:txBody>
      </p:sp>
      <p:sp>
        <p:nvSpPr>
          <p:cNvPr id="3" name="Title 2"/>
          <p:cNvSpPr>
            <a:spLocks noGrp="1"/>
          </p:cNvSpPr>
          <p:nvPr>
            <p:ph type="title"/>
          </p:nvPr>
        </p:nvSpPr>
        <p:spPr>
          <a:xfrm>
            <a:off x="521208" y="456137"/>
            <a:ext cx="10515600" cy="500506"/>
          </a:xfrm>
          <a:ln>
            <a:noFill/>
          </a:ln>
        </p:spPr>
        <p:txBody>
          <a:bodyPr>
            <a:normAutofit fontScale="90000"/>
          </a:bodyPr>
          <a:lstStyle/>
          <a:p>
            <a:r>
              <a:rPr lang="bs-Latn-BA" dirty="0">
                <a:latin typeface="+mn-lt"/>
                <a:cs typeface="Times New Roman" panose="02020603050405020304" pitchFamily="18" charset="0"/>
              </a:rPr>
              <a:t>PM10 concentration trend in Sarajevo</a:t>
            </a:r>
            <a:endParaRPr lang="en-US" dirty="0">
              <a:latin typeface="+mn-lt"/>
              <a:cs typeface="Times New Roman" panose="02020603050405020304" pitchFamily="18" charset="0"/>
            </a:endParaRPr>
          </a:p>
        </p:txBody>
      </p:sp>
      <p:pic>
        <p:nvPicPr>
          <p:cNvPr id="5" name="Content Placeholder 3"/>
          <p:cNvPicPr>
            <a:picLocks noGrp="1" noChangeAspect="1"/>
          </p:cNvPicPr>
          <p:nvPr>
            <p:ph idx="1"/>
          </p:nvPr>
        </p:nvPicPr>
        <p:blipFill>
          <a:blip r:embed="rId3"/>
          <a:stretch>
            <a:fillRect/>
          </a:stretch>
        </p:blipFill>
        <p:spPr>
          <a:xfrm>
            <a:off x="969265" y="1235746"/>
            <a:ext cx="9913294" cy="3985758"/>
          </a:xfrm>
          <a:prstGeom prst="rect">
            <a:avLst/>
          </a:prstGeom>
          <a:ln>
            <a:noFill/>
          </a:ln>
        </p:spPr>
      </p:pic>
      <p:sp>
        <p:nvSpPr>
          <p:cNvPr id="7" name="Rectangle 6"/>
          <p:cNvSpPr/>
          <p:nvPr/>
        </p:nvSpPr>
        <p:spPr>
          <a:xfrm>
            <a:off x="407178" y="5500607"/>
            <a:ext cx="11571767" cy="1200329"/>
          </a:xfrm>
          <a:prstGeom prst="rect">
            <a:avLst/>
          </a:prstGeom>
          <a:ln>
            <a:noFill/>
          </a:ln>
        </p:spPr>
        <p:txBody>
          <a:bodyPr wrap="square">
            <a:spAutoFit/>
          </a:bodyPr>
          <a:lstStyle/>
          <a:p>
            <a:r>
              <a:rPr lang="en-US" dirty="0">
                <a:cs typeface="Times New Roman" panose="02020603050405020304" pitchFamily="18" charset="0"/>
              </a:rPr>
              <a:t>Air quality in Sarajevo is mostly affected by emission of pollutants from industrial facilities, households and traffic. The most common causes of pollutants from households are: individual heating of households by solid fuels in inadequate burning devices causing heat losses, room furnaces and boilers with small energetic efficiency.</a:t>
            </a:r>
          </a:p>
        </p:txBody>
      </p:sp>
    </p:spTree>
    <p:extLst>
      <p:ext uri="{BB962C8B-B14F-4D97-AF65-F5344CB8AC3E}">
        <p14:creationId xmlns:p14="http://schemas.microsoft.com/office/powerpoint/2010/main" val="2539748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bs-Latn-BA" dirty="0">
                <a:cs typeface="Times New Roman" panose="02020603050405020304" pitchFamily="18" charset="0"/>
              </a:rPr>
              <a:t>PM10 concentration trend in Sarajevo</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3"/>
          <a:stretch>
            <a:fillRect/>
          </a:stretch>
        </p:blipFill>
        <p:spPr>
          <a:xfrm>
            <a:off x="1244006" y="1541104"/>
            <a:ext cx="6971999" cy="2165689"/>
          </a:xfrm>
          <a:prstGeom prst="rect">
            <a:avLst/>
          </a:prstGeom>
        </p:spPr>
      </p:pic>
      <p:pic>
        <p:nvPicPr>
          <p:cNvPr id="5" name="Picture 4"/>
          <p:cNvPicPr>
            <a:picLocks noChangeAspect="1"/>
          </p:cNvPicPr>
          <p:nvPr/>
        </p:nvPicPr>
        <p:blipFill>
          <a:blip r:embed="rId4"/>
          <a:stretch>
            <a:fillRect/>
          </a:stretch>
        </p:blipFill>
        <p:spPr>
          <a:xfrm>
            <a:off x="1300037" y="4218411"/>
            <a:ext cx="6859936" cy="2186066"/>
          </a:xfrm>
          <a:prstGeom prst="rect">
            <a:avLst/>
          </a:prstGeom>
        </p:spPr>
      </p:pic>
    </p:spTree>
    <p:extLst>
      <p:ext uri="{BB962C8B-B14F-4D97-AF65-F5344CB8AC3E}">
        <p14:creationId xmlns:p14="http://schemas.microsoft.com/office/powerpoint/2010/main" val="3331426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365127"/>
            <a:ext cx="11279365" cy="500506"/>
          </a:xfrm>
        </p:spPr>
        <p:txBody>
          <a:bodyPr>
            <a:normAutofit fontScale="90000"/>
          </a:bodyPr>
          <a:lstStyle/>
          <a:p>
            <a:r>
              <a:rPr lang="en-US" sz="3100" dirty="0"/>
              <a:t>Concentrations of PM</a:t>
            </a:r>
            <a:r>
              <a:rPr lang="en-US" sz="3100" baseline="-25000" dirty="0"/>
              <a:t>10</a:t>
            </a:r>
            <a:r>
              <a:rPr lang="en-US" sz="3100" dirty="0"/>
              <a:t> in 2023 in relation to the EU daily limit value</a:t>
            </a:r>
            <a:endParaRPr lang="en-US" dirty="0"/>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21207" y="982096"/>
            <a:ext cx="5702650" cy="5702650"/>
          </a:xfrm>
        </p:spPr>
      </p:pic>
      <p:sp>
        <p:nvSpPr>
          <p:cNvPr id="5" name="Rectangle 4"/>
          <p:cNvSpPr/>
          <p:nvPr/>
        </p:nvSpPr>
        <p:spPr>
          <a:xfrm>
            <a:off x="6420050" y="1501541"/>
            <a:ext cx="5601903" cy="5262979"/>
          </a:xfrm>
          <a:prstGeom prst="rect">
            <a:avLst/>
          </a:prstGeom>
        </p:spPr>
        <p:txBody>
          <a:bodyPr wrap="square">
            <a:spAutoFit/>
          </a:bodyPr>
          <a:lstStyle/>
          <a:p>
            <a:r>
              <a:rPr lang="en-US" sz="1600" dirty="0"/>
              <a:t>Directive (EU) 2024/2881 of the European Parliament and of the Council of 23 October 2024 on ambient air quality and cleaner air for Europe (recast)</a:t>
            </a:r>
            <a:r>
              <a:rPr lang="bs-Latn-BA" sz="1600" dirty="0"/>
              <a:t> </a:t>
            </a:r>
            <a:r>
              <a:rPr lang="en-US" sz="1600" dirty="0"/>
              <a:t>aims to</a:t>
            </a:r>
          </a:p>
          <a:p>
            <a:pPr marL="285750" indent="-285750">
              <a:buFont typeface="Arial" panose="020B0604020202020204" pitchFamily="34" charset="0"/>
              <a:buChar char="•"/>
            </a:pPr>
            <a:r>
              <a:rPr lang="en-US" sz="1600" dirty="0"/>
              <a:t>Define common methods to </a:t>
            </a:r>
            <a:r>
              <a:rPr lang="en-US" sz="1600" b="1" dirty="0"/>
              <a:t>monitor</a:t>
            </a:r>
            <a:r>
              <a:rPr lang="en-US" sz="1600" dirty="0"/>
              <a:t>, </a:t>
            </a:r>
            <a:r>
              <a:rPr lang="en-US" sz="1600" b="1" dirty="0"/>
              <a:t>assess and inform </a:t>
            </a:r>
            <a:r>
              <a:rPr lang="en-US" sz="1600" dirty="0"/>
              <a:t>on ambient air quality in the EU, including pollutants of emerging concern;</a:t>
            </a:r>
          </a:p>
          <a:p>
            <a:pPr marL="285750" indent="-285750">
              <a:buFont typeface="Arial" panose="020B0604020202020204" pitchFamily="34" charset="0"/>
              <a:buChar char="•"/>
            </a:pPr>
            <a:r>
              <a:rPr lang="en-US" sz="1600" dirty="0"/>
              <a:t>Establish objectives for ambient air quality through a regular review mechanism to </a:t>
            </a:r>
            <a:r>
              <a:rPr lang="en-US" sz="1600" b="1" dirty="0"/>
              <a:t>avoid</a:t>
            </a:r>
            <a:r>
              <a:rPr lang="en-US" sz="1600" dirty="0"/>
              <a:t>, </a:t>
            </a:r>
            <a:r>
              <a:rPr lang="en-US" sz="1600" b="1" dirty="0"/>
              <a:t>prevent or reduce </a:t>
            </a:r>
            <a:r>
              <a:rPr lang="en-US" sz="1600" dirty="0"/>
              <a:t>harmful effects on human health and the environment;</a:t>
            </a:r>
          </a:p>
          <a:p>
            <a:pPr marL="285750" indent="-285750">
              <a:buFont typeface="Arial" panose="020B0604020202020204" pitchFamily="34" charset="0"/>
              <a:buChar char="•"/>
            </a:pPr>
            <a:r>
              <a:rPr lang="en-US" sz="1600" dirty="0"/>
              <a:t>Guide the assessment of air quality </a:t>
            </a:r>
            <a:r>
              <a:rPr lang="en-US" sz="1600" b="1" dirty="0"/>
              <a:t>supported by a representative high-quality monitoring network</a:t>
            </a:r>
            <a:r>
              <a:rPr lang="en-US" sz="1600" dirty="0"/>
              <a:t>, with more than 4,000 air quality monitoring stations across the EU and an enhanced use of air quality modelling; </a:t>
            </a:r>
          </a:p>
          <a:p>
            <a:pPr marL="285750" indent="-285750">
              <a:buFont typeface="Arial" panose="020B0604020202020204" pitchFamily="34" charset="0"/>
              <a:buChar char="•"/>
            </a:pPr>
            <a:r>
              <a:rPr lang="en-US" sz="1600" b="1" dirty="0"/>
              <a:t>Exchange reliable, objective and comparable information</a:t>
            </a:r>
            <a:r>
              <a:rPr lang="en-US" sz="1600" dirty="0"/>
              <a:t> on air quality, which includes informing the wider public about possible health impacts.</a:t>
            </a:r>
          </a:p>
          <a:p>
            <a:pPr marL="285750" indent="-285750">
              <a:buFont typeface="Arial" panose="020B0604020202020204" pitchFamily="34" charset="0"/>
              <a:buChar char="•"/>
            </a:pPr>
            <a:r>
              <a:rPr lang="en-US" sz="1600" dirty="0"/>
              <a:t>Develop </a:t>
            </a:r>
            <a:r>
              <a:rPr lang="en-US" sz="1600" b="1" dirty="0"/>
              <a:t>air quality plans</a:t>
            </a:r>
            <a:r>
              <a:rPr lang="en-US" sz="1600" dirty="0"/>
              <a:t> that are effective in ending and preventing exceedances of EU standards.</a:t>
            </a:r>
          </a:p>
          <a:p>
            <a:endParaRPr lang="en-US" sz="1600" dirty="0"/>
          </a:p>
        </p:txBody>
      </p:sp>
    </p:spTree>
    <p:extLst>
      <p:ext uri="{BB962C8B-B14F-4D97-AF65-F5344CB8AC3E}">
        <p14:creationId xmlns:p14="http://schemas.microsoft.com/office/powerpoint/2010/main" val="2681125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340465" y="451430"/>
            <a:ext cx="8907707" cy="1143000"/>
          </a:xfrm>
        </p:spPr>
        <p:txBody>
          <a:bodyPr>
            <a:normAutofit/>
          </a:bodyPr>
          <a:lstStyle/>
          <a:p>
            <a:pPr algn="ctr"/>
            <a:r>
              <a:rPr lang="en-GB" sz="3200" dirty="0">
                <a:latin typeface="Trebuchet MS" panose="020B0603020202020204" pitchFamily="34" charset="0"/>
                <a:cs typeface="Times New Roman" panose="02020603050405020304" pitchFamily="18" charset="0"/>
              </a:rPr>
              <a:t>Bioaccssesability </a:t>
            </a:r>
            <a:r>
              <a:rPr lang="en-US" sz="3200" dirty="0">
                <a:latin typeface="Trebuchet MS" panose="020B0603020202020204" pitchFamily="34" charset="0"/>
                <a:cs typeface="Times New Roman" panose="02020603050405020304" pitchFamily="18" charset="0"/>
              </a:rPr>
              <a:t>of metals in PM</a:t>
            </a:r>
            <a:r>
              <a:rPr lang="en-US" sz="2000" dirty="0">
                <a:latin typeface="Trebuchet MS" panose="020B0603020202020204" pitchFamily="34" charset="0"/>
                <a:cs typeface="Times New Roman" panose="02020603050405020304" pitchFamily="18" charset="0"/>
              </a:rPr>
              <a:t>10</a:t>
            </a:r>
            <a:r>
              <a:rPr lang="en-US" sz="3200" dirty="0">
                <a:latin typeface="Trebuchet MS" panose="020B0603020202020204" pitchFamily="34" charset="0"/>
                <a:cs typeface="Times New Roman" panose="02020603050405020304" pitchFamily="18" charset="0"/>
              </a:rPr>
              <a:t> fraction of particulate matter in urban and rural Sarajevo</a:t>
            </a:r>
            <a:endParaRPr lang="bs-Latn-BA" sz="3200" dirty="0">
              <a:latin typeface="Trebuchet MS" panose="020B0603020202020204" pitchFamily="34"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59172857"/>
              </p:ext>
            </p:extLst>
          </p:nvPr>
        </p:nvGraphicFramePr>
        <p:xfrm>
          <a:off x="1174899" y="3562628"/>
          <a:ext cx="8229600" cy="1646238"/>
        </p:xfrm>
        <a:graphic>
          <a:graphicData uri="http://schemas.openxmlformats.org/drawingml/2006/table">
            <a:tbl>
              <a:tblPr/>
              <a:tblGrid>
                <a:gridCol w="1221475">
                  <a:extLst>
                    <a:ext uri="{9D8B030D-6E8A-4147-A177-3AD203B41FA5}">
                      <a16:colId xmlns:a16="http://schemas.microsoft.com/office/drawing/2014/main" val="20000"/>
                    </a:ext>
                  </a:extLst>
                </a:gridCol>
                <a:gridCol w="614149">
                  <a:extLst>
                    <a:ext uri="{9D8B030D-6E8A-4147-A177-3AD203B41FA5}">
                      <a16:colId xmlns:a16="http://schemas.microsoft.com/office/drawing/2014/main" val="20001"/>
                    </a:ext>
                  </a:extLst>
                </a:gridCol>
                <a:gridCol w="709683">
                  <a:extLst>
                    <a:ext uri="{9D8B030D-6E8A-4147-A177-3AD203B41FA5}">
                      <a16:colId xmlns:a16="http://schemas.microsoft.com/office/drawing/2014/main" val="20002"/>
                    </a:ext>
                  </a:extLst>
                </a:gridCol>
                <a:gridCol w="746533">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822960">
                  <a:extLst>
                    <a:ext uri="{9D8B030D-6E8A-4147-A177-3AD203B41FA5}">
                      <a16:colId xmlns:a16="http://schemas.microsoft.com/office/drawing/2014/main" val="20008"/>
                    </a:ext>
                  </a:extLst>
                </a:gridCol>
                <a:gridCol w="822960">
                  <a:extLst>
                    <a:ext uri="{9D8B030D-6E8A-4147-A177-3AD203B41FA5}">
                      <a16:colId xmlns:a16="http://schemas.microsoft.com/office/drawing/2014/main" val="20009"/>
                    </a:ext>
                  </a:extLst>
                </a:gridCol>
              </a:tblGrid>
              <a:tr h="274373">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 </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gridSpan="9">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Bioaccssesability of metals (%)</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extLst>
                  <a:ext uri="{0D108BD9-81ED-4DB2-BD59-A6C34878D82A}">
                    <a16:rowId xmlns:a16="http://schemas.microsoft.com/office/drawing/2014/main" val="10000"/>
                  </a:ext>
                </a:extLst>
              </a:tr>
              <a:tr h="274373">
                <a:tc>
                  <a:txBody>
                    <a:bodyPr/>
                    <a:lstStyle/>
                    <a:p>
                      <a:pPr algn="ctr">
                        <a:lnSpc>
                          <a:spcPct val="100000"/>
                        </a:lnSpc>
                        <a:spcAft>
                          <a:spcPts val="0"/>
                        </a:spcAft>
                      </a:pPr>
                      <a:r>
                        <a:rPr lang="bs-Latn-BA" sz="1800">
                          <a:effectLst/>
                          <a:latin typeface="+mj-lt"/>
                          <a:ea typeface="Calibri" panose="020F0502020204030204" pitchFamily="34" charset="0"/>
                          <a:cs typeface="Times New Roman" panose="02020603050405020304" pitchFamily="18" charset="0"/>
                        </a:rPr>
                        <a:t> </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Cd</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Cr</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0000"/>
                        </a:lnSpc>
                        <a:spcAft>
                          <a:spcPts val="0"/>
                        </a:spcAft>
                      </a:pPr>
                      <a:r>
                        <a:rPr lang="bs-Latn-BA" sz="1800">
                          <a:effectLst/>
                          <a:latin typeface="+mj-lt"/>
                          <a:ea typeface="Calibri" panose="020F0502020204030204" pitchFamily="34" charset="0"/>
                          <a:cs typeface="Times New Roman" panose="02020603050405020304" pitchFamily="18" charset="0"/>
                        </a:rPr>
                        <a:t>Cu</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Mn</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Ni</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Pb</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V</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Zn</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0000"/>
                        </a:lnSpc>
                        <a:spcAft>
                          <a:spcPts val="0"/>
                        </a:spcAft>
                      </a:pPr>
                      <a:r>
                        <a:rPr lang="bs-Latn-BA" sz="1800">
                          <a:effectLst/>
                          <a:latin typeface="+mj-lt"/>
                          <a:ea typeface="Calibri" panose="020F0502020204030204" pitchFamily="34" charset="0"/>
                          <a:cs typeface="Times New Roman" panose="02020603050405020304" pitchFamily="18" charset="0"/>
                        </a:rPr>
                        <a:t>Fe</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1"/>
                  </a:ext>
                </a:extLst>
              </a:tr>
              <a:tr h="548746">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Urban</a:t>
                      </a:r>
                      <a:r>
                        <a:rPr lang="bs-Latn-BA" sz="1800" baseline="0" dirty="0">
                          <a:effectLst/>
                          <a:latin typeface="+mj-lt"/>
                          <a:ea typeface="Calibri" panose="020F0502020204030204" pitchFamily="34" charset="0"/>
                          <a:cs typeface="Times New Roman" panose="02020603050405020304" pitchFamily="18" charset="0"/>
                        </a:rPr>
                        <a:t> location</a:t>
                      </a:r>
                      <a:endParaRPr lang="bs-Latn-BA" sz="1800" dirty="0">
                        <a:effectLst/>
                        <a:latin typeface="+mj-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41</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449580" indent="-449580"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11</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0000"/>
                        </a:lnSpc>
                        <a:spcAft>
                          <a:spcPts val="0"/>
                        </a:spcAft>
                      </a:pPr>
                      <a:r>
                        <a:rPr lang="bs-Latn-BA" sz="1800">
                          <a:effectLst/>
                          <a:latin typeface="+mj-lt"/>
                          <a:ea typeface="Calibri" panose="020F0502020204030204" pitchFamily="34" charset="0"/>
                          <a:cs typeface="Times New Roman" panose="02020603050405020304" pitchFamily="18" charset="0"/>
                        </a:rPr>
                        <a:t>55</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0000"/>
                        </a:lnSpc>
                        <a:spcAft>
                          <a:spcPts val="0"/>
                        </a:spcAft>
                      </a:pPr>
                      <a:r>
                        <a:rPr lang="bs-Latn-BA" sz="1800">
                          <a:effectLst/>
                          <a:latin typeface="+mj-lt"/>
                          <a:ea typeface="Calibri" panose="020F0502020204030204" pitchFamily="34" charset="0"/>
                          <a:cs typeface="Times New Roman" panose="02020603050405020304" pitchFamily="18" charset="0"/>
                        </a:rPr>
                        <a:t>33</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0000"/>
                        </a:lnSpc>
                        <a:spcAft>
                          <a:spcPts val="0"/>
                        </a:spcAft>
                      </a:pPr>
                      <a:r>
                        <a:rPr lang="bs-Latn-BA" sz="1800">
                          <a:effectLst/>
                          <a:latin typeface="+mj-lt"/>
                          <a:ea typeface="Calibri" panose="020F0502020204030204" pitchFamily="34" charset="0"/>
                          <a:cs typeface="Times New Roman" panose="02020603050405020304" pitchFamily="18" charset="0"/>
                        </a:rPr>
                        <a:t>33</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0000"/>
                        </a:lnSpc>
                        <a:spcAft>
                          <a:spcPts val="0"/>
                        </a:spcAft>
                      </a:pPr>
                      <a:r>
                        <a:rPr lang="bs-Latn-BA" sz="1800">
                          <a:effectLst/>
                          <a:latin typeface="+mj-lt"/>
                          <a:ea typeface="Calibri" panose="020F0502020204030204" pitchFamily="34" charset="0"/>
                          <a:cs typeface="Times New Roman" panose="02020603050405020304" pitchFamily="18" charset="0"/>
                        </a:rPr>
                        <a:t>53</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29</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25</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15</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548746">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Rural</a:t>
                      </a:r>
                    </a:p>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Location</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36</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bs-Latn-BA" sz="1800">
                          <a:effectLst/>
                          <a:latin typeface="+mj-lt"/>
                          <a:ea typeface="Calibri" panose="020F0502020204030204" pitchFamily="34" charset="0"/>
                          <a:cs typeface="Times New Roman" panose="02020603050405020304" pitchFamily="18" charset="0"/>
                        </a:rPr>
                        <a:t>26</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bs-Latn-BA" sz="1800">
                          <a:effectLst/>
                          <a:latin typeface="+mj-lt"/>
                          <a:ea typeface="Calibri" panose="020F0502020204030204" pitchFamily="34" charset="0"/>
                          <a:cs typeface="Times New Roman" panose="02020603050405020304" pitchFamily="18" charset="0"/>
                        </a:rPr>
                        <a:t>54</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bs-Latn-BA" sz="1800">
                          <a:effectLst/>
                          <a:latin typeface="+mj-lt"/>
                          <a:ea typeface="Calibri" panose="020F0502020204030204" pitchFamily="34" charset="0"/>
                          <a:cs typeface="Times New Roman" panose="02020603050405020304" pitchFamily="18" charset="0"/>
                        </a:rPr>
                        <a:t>31</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34</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bs-Latn-BA" sz="1800">
                          <a:effectLst/>
                          <a:latin typeface="+mj-lt"/>
                          <a:ea typeface="Calibri" panose="020F0502020204030204" pitchFamily="34" charset="0"/>
                          <a:cs typeface="Times New Roman" panose="02020603050405020304" pitchFamily="18" charset="0"/>
                        </a:rPr>
                        <a:t>58</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28</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12</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bs-Latn-BA" sz="1800" dirty="0">
                          <a:effectLst/>
                          <a:latin typeface="+mj-lt"/>
                          <a:ea typeface="Calibri" panose="020F0502020204030204" pitchFamily="34" charset="0"/>
                          <a:cs typeface="Times New Roman" panose="02020603050405020304" pitchFamily="18" charset="0"/>
                        </a:rPr>
                        <a:t>8</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3795" name="Rectangle 3"/>
          <p:cNvSpPr>
            <a:spLocks noChangeArrowheads="1"/>
          </p:cNvSpPr>
          <p:nvPr/>
        </p:nvSpPr>
        <p:spPr bwMode="auto">
          <a:xfrm>
            <a:off x="572536" y="1989256"/>
            <a:ext cx="8229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marL="342900" indent="-342900" algn="just">
              <a:buFont typeface="Arial" panose="020B0604020202020204" pitchFamily="34" charset="0"/>
              <a:buChar char="•"/>
            </a:pPr>
            <a:r>
              <a:rPr lang="en-GB" sz="2000" dirty="0">
                <a:latin typeface="Trebuchet MS" panose="020B0603020202020204" pitchFamily="34" charset="0"/>
                <a:cs typeface="Times New Roman" panose="02020603050405020304" pitchFamily="18" charset="0"/>
              </a:rPr>
              <a:t>Bioaccssesability</a:t>
            </a:r>
            <a:r>
              <a:rPr lang="en-US" sz="2000" dirty="0">
                <a:latin typeface="Trebuchet MS" panose="020B0603020202020204" pitchFamily="34" charset="0"/>
                <a:cs typeface="Times New Roman" panose="02020603050405020304" pitchFamily="18" charset="0"/>
              </a:rPr>
              <a:t> is expressed as a percentage of the content of the elements obtained by batch extraction simulating body gastric juice relative to the total metal content of PM</a:t>
            </a:r>
            <a:r>
              <a:rPr lang="en-US" sz="1400" dirty="0">
                <a:latin typeface="Trebuchet MS" panose="020B0603020202020204" pitchFamily="34" charset="0"/>
                <a:cs typeface="Times New Roman" panose="02020603050405020304" pitchFamily="18" charset="0"/>
              </a:rPr>
              <a:t>10</a:t>
            </a:r>
            <a:endParaRPr lang="bs-Latn-BA" sz="1400"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400005351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err="1">
                <a:latin typeface="Trebuchet MS" panose="020B0603020202020204" pitchFamily="34" charset="0"/>
                <a:cs typeface="Times New Roman" panose="02020603050405020304" pitchFamily="18" charset="0"/>
              </a:rPr>
              <a:t>Bioaccssesability</a:t>
            </a:r>
            <a:r>
              <a:rPr lang="en-GB" dirty="0">
                <a:latin typeface="Trebuchet MS" panose="020B0603020202020204" pitchFamily="34" charset="0"/>
                <a:cs typeface="Times New Roman" panose="02020603050405020304" pitchFamily="18" charset="0"/>
              </a:rPr>
              <a:t> </a:t>
            </a:r>
            <a:r>
              <a:rPr lang="en-US" dirty="0">
                <a:latin typeface="Trebuchet MS" panose="020B0603020202020204" pitchFamily="34" charset="0"/>
                <a:cs typeface="Times New Roman" panose="02020603050405020304" pitchFamily="18" charset="0"/>
              </a:rPr>
              <a:t>of metals in PM</a:t>
            </a:r>
            <a:r>
              <a:rPr lang="en-US" sz="2400" dirty="0">
                <a:latin typeface="Trebuchet MS" panose="020B0603020202020204" pitchFamily="34" charset="0"/>
                <a:cs typeface="Times New Roman" panose="02020603050405020304" pitchFamily="18" charset="0"/>
              </a:rPr>
              <a:t>10</a:t>
            </a:r>
            <a:r>
              <a:rPr lang="en-US" dirty="0">
                <a:latin typeface="Trebuchet MS" panose="020B0603020202020204" pitchFamily="34" charset="0"/>
                <a:cs typeface="Times New Roman" panose="02020603050405020304" pitchFamily="18" charset="0"/>
              </a:rPr>
              <a:t> fraction of particulate matter in urban and rural Sarajevo</a:t>
            </a:r>
            <a:endParaRPr lang="en-US" dirty="0"/>
          </a:p>
        </p:txBody>
      </p:sp>
      <p:sp>
        <p:nvSpPr>
          <p:cNvPr id="3" name="Content Placeholder 2"/>
          <p:cNvSpPr>
            <a:spLocks noGrp="1"/>
          </p:cNvSpPr>
          <p:nvPr>
            <p:ph idx="1"/>
          </p:nvPr>
        </p:nvSpPr>
        <p:spPr/>
        <p:txBody>
          <a:bodyPr/>
          <a:lstStyle/>
          <a:p>
            <a:endParaRPr lang="en-US" dirty="0"/>
          </a:p>
        </p:txBody>
      </p:sp>
      <p:pic>
        <p:nvPicPr>
          <p:cNvPr id="5" name="Picture 4"/>
          <p:cNvPicPr>
            <a:picLocks noChangeAspect="1"/>
          </p:cNvPicPr>
          <p:nvPr/>
        </p:nvPicPr>
        <p:blipFill>
          <a:blip r:embed="rId3"/>
          <a:stretch>
            <a:fillRect/>
          </a:stretch>
        </p:blipFill>
        <p:spPr>
          <a:xfrm rot="5400000">
            <a:off x="4733852" y="-1198442"/>
            <a:ext cx="2762358" cy="10388671"/>
          </a:xfrm>
          <a:prstGeom prst="rect">
            <a:avLst/>
          </a:prstGeom>
        </p:spPr>
      </p:pic>
    </p:spTree>
    <p:extLst>
      <p:ext uri="{BB962C8B-B14F-4D97-AF65-F5344CB8AC3E}">
        <p14:creationId xmlns:p14="http://schemas.microsoft.com/office/powerpoint/2010/main" val="1859169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243840" y="670561"/>
            <a:ext cx="8229600" cy="588963"/>
          </a:xfrm>
        </p:spPr>
        <p:txBody>
          <a:bodyPr/>
          <a:lstStyle/>
          <a:p>
            <a:pPr marL="342900" indent="-342900" algn="ctr"/>
            <a:r>
              <a:rPr lang="hr-HR" sz="3200" dirty="0">
                <a:latin typeface="Trebuchet MS" panose="020B0603020202020204" pitchFamily="34" charset="0"/>
                <a:cs typeface="Times New Roman" panose="02020603050405020304" pitchFamily="18" charset="0"/>
              </a:rPr>
              <a:t>Enrichment factor</a:t>
            </a:r>
            <a:endParaRPr lang="bs-Latn-BA" sz="3200" dirty="0">
              <a:latin typeface="Trebuchet MS" panose="020B0603020202020204" pitchFamily="34" charset="0"/>
              <a:cs typeface="Times New Roman" panose="02020603050405020304" pitchFamily="18" charset="0"/>
            </a:endParaRPr>
          </a:p>
        </p:txBody>
      </p:sp>
      <p:sp>
        <p:nvSpPr>
          <p:cNvPr id="37891" name="Rectangle 2"/>
          <p:cNvSpPr>
            <a:spLocks noChangeArrowheads="1"/>
          </p:cNvSpPr>
          <p:nvPr/>
        </p:nvSpPr>
        <p:spPr bwMode="auto">
          <a:xfrm>
            <a:off x="752221" y="1411162"/>
            <a:ext cx="765175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algn="just">
              <a:buSzPct val="150000"/>
              <a:buFont typeface="Arial" panose="020B0604020202020204" pitchFamily="34" charset="0"/>
              <a:buChar char="•"/>
            </a:pPr>
            <a:r>
              <a:rPr lang="en-US" sz="2000" dirty="0">
                <a:latin typeface="Trebuchet MS" panose="020B0603020202020204" pitchFamily="34" charset="0"/>
                <a:cs typeface="Times New Roman" panose="02020603050405020304" pitchFamily="18" charset="0"/>
              </a:rPr>
              <a:t>In order to assess the potential source of PM10 in the Sarajevo area, the calculation of the enrichment factor (EF)</a:t>
            </a:r>
            <a:r>
              <a:rPr lang="bs-Latn-BA" sz="2000" dirty="0">
                <a:latin typeface="Trebuchet MS" panose="020B0603020202020204" pitchFamily="34" charset="0"/>
                <a:cs typeface="Times New Roman" panose="02020603050405020304" pitchFamily="18" charset="0"/>
              </a:rPr>
              <a:t> was performed</a:t>
            </a:r>
            <a:endParaRPr lang="en-US" sz="2000" dirty="0">
              <a:latin typeface="Trebuchet MS" panose="020B0603020202020204" pitchFamily="34" charset="0"/>
              <a:cs typeface="Times New Roman" panose="02020603050405020304" pitchFamily="18" charset="0"/>
            </a:endParaRPr>
          </a:p>
          <a:p>
            <a:pPr algn="just">
              <a:buSzPct val="150000"/>
              <a:buFont typeface="Arial" panose="020B0604020202020204" pitchFamily="34" charset="0"/>
              <a:buChar char="•"/>
            </a:pPr>
            <a:r>
              <a:rPr lang="en-US" sz="2000" dirty="0">
                <a:latin typeface="Trebuchet MS" panose="020B0603020202020204" pitchFamily="34" charset="0"/>
                <a:cs typeface="Times New Roman" panose="02020603050405020304" pitchFamily="18" charset="0"/>
              </a:rPr>
              <a:t>Fe was selected as the reference element</a:t>
            </a:r>
            <a:endParaRPr lang="bs-Latn-BA" sz="2000" dirty="0">
              <a:latin typeface="Trebuchet MS" panose="020B0603020202020204" pitchFamily="34" charset="0"/>
              <a:cs typeface="Times New Roman" panose="02020603050405020304"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973580372"/>
              </p:ext>
            </p:extLst>
          </p:nvPr>
        </p:nvGraphicFramePr>
        <p:xfrm>
          <a:off x="1255587" y="2678875"/>
          <a:ext cx="7739063" cy="2233612"/>
        </p:xfrm>
        <a:graphic>
          <a:graphicData uri="http://schemas.openxmlformats.org/drawingml/2006/table">
            <a:tbl>
              <a:tblPr firstRow="1" firstCol="1" bandRow="1"/>
              <a:tblGrid>
                <a:gridCol w="1402632">
                  <a:extLst>
                    <a:ext uri="{9D8B030D-6E8A-4147-A177-3AD203B41FA5}">
                      <a16:colId xmlns:a16="http://schemas.microsoft.com/office/drawing/2014/main" val="20000"/>
                    </a:ext>
                  </a:extLst>
                </a:gridCol>
                <a:gridCol w="879249">
                  <a:extLst>
                    <a:ext uri="{9D8B030D-6E8A-4147-A177-3AD203B41FA5}">
                      <a16:colId xmlns:a16="http://schemas.microsoft.com/office/drawing/2014/main" val="20001"/>
                    </a:ext>
                  </a:extLst>
                </a:gridCol>
                <a:gridCol w="858413">
                  <a:extLst>
                    <a:ext uri="{9D8B030D-6E8A-4147-A177-3AD203B41FA5}">
                      <a16:colId xmlns:a16="http://schemas.microsoft.com/office/drawing/2014/main" val="20002"/>
                    </a:ext>
                  </a:extLst>
                </a:gridCol>
                <a:gridCol w="1090936">
                  <a:extLst>
                    <a:ext uri="{9D8B030D-6E8A-4147-A177-3AD203B41FA5}">
                      <a16:colId xmlns:a16="http://schemas.microsoft.com/office/drawing/2014/main" val="20003"/>
                    </a:ext>
                  </a:extLst>
                </a:gridCol>
                <a:gridCol w="882584">
                  <a:extLst>
                    <a:ext uri="{9D8B030D-6E8A-4147-A177-3AD203B41FA5}">
                      <a16:colId xmlns:a16="http://schemas.microsoft.com/office/drawing/2014/main" val="20004"/>
                    </a:ext>
                  </a:extLst>
                </a:gridCol>
                <a:gridCol w="890085">
                  <a:extLst>
                    <a:ext uri="{9D8B030D-6E8A-4147-A177-3AD203B41FA5}">
                      <a16:colId xmlns:a16="http://schemas.microsoft.com/office/drawing/2014/main" val="20005"/>
                    </a:ext>
                  </a:extLst>
                </a:gridCol>
                <a:gridCol w="882584">
                  <a:extLst>
                    <a:ext uri="{9D8B030D-6E8A-4147-A177-3AD203B41FA5}">
                      <a16:colId xmlns:a16="http://schemas.microsoft.com/office/drawing/2014/main" val="20006"/>
                    </a:ext>
                  </a:extLst>
                </a:gridCol>
                <a:gridCol w="852580">
                  <a:extLst>
                    <a:ext uri="{9D8B030D-6E8A-4147-A177-3AD203B41FA5}">
                      <a16:colId xmlns:a16="http://schemas.microsoft.com/office/drawing/2014/main" val="20007"/>
                    </a:ext>
                  </a:extLst>
                </a:gridCol>
              </a:tblGrid>
              <a:tr h="365943">
                <a:tc gridSpan="8">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EF</a:t>
                      </a:r>
                    </a:p>
                  </a:txBody>
                  <a:tcPr marL="68587" marR="68587" marT="0" marB="0">
                    <a:lnL>
                      <a:noFill/>
                    </a:lnL>
                    <a:lnR>
                      <a:noFill/>
                    </a:lnR>
                    <a:lnT w="12700" cap="flat" cmpd="sng" algn="ctr">
                      <a:solidFill>
                        <a:srgbClr val="000000"/>
                      </a:solidFill>
                      <a:prstDash val="solid"/>
                      <a:round/>
                      <a:headEnd type="none" w="med" len="med"/>
                      <a:tailEnd type="none" w="med" len="med"/>
                    </a:lnT>
                    <a:lnB>
                      <a:noFill/>
                    </a:lnB>
                    <a:solidFill>
                      <a:srgbClr val="D9D9D9"/>
                    </a:solidFill>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tc hMerge="1">
                  <a:txBody>
                    <a:bodyPr/>
                    <a:lstStyle/>
                    <a:p>
                      <a:endParaRPr lang="bs-Latn-BA"/>
                    </a:p>
                  </a:txBody>
                  <a:tcPr/>
                </a:tc>
                <a:extLst>
                  <a:ext uri="{0D108BD9-81ED-4DB2-BD59-A6C34878D82A}">
                    <a16:rowId xmlns:a16="http://schemas.microsoft.com/office/drawing/2014/main" val="10000"/>
                  </a:ext>
                </a:extLst>
              </a:tr>
              <a:tr h="808973">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Location/metal</a:t>
                      </a:r>
                    </a:p>
                  </a:txBody>
                  <a:tcPr marL="68587" marR="68587" marT="0" marB="0">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Mn</a:t>
                      </a:r>
                    </a:p>
                  </a:txBody>
                  <a:tcPr marL="68587" marR="68587" marT="0" marB="0">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50000"/>
                        </a:lnSpc>
                        <a:spcAft>
                          <a:spcPts val="0"/>
                        </a:spcAft>
                      </a:pPr>
                      <a:r>
                        <a:rPr lang="bs-Latn-BA" sz="1600">
                          <a:effectLst/>
                          <a:latin typeface="+mj-lt"/>
                          <a:ea typeface="Calibri" panose="020F0502020204030204" pitchFamily="34" charset="0"/>
                          <a:cs typeface="Times New Roman" panose="02020603050405020304" pitchFamily="18" charset="0"/>
                        </a:rPr>
                        <a:t>Ni</a:t>
                      </a:r>
                    </a:p>
                  </a:txBody>
                  <a:tcPr marL="68587" marR="68587" marT="0" marB="0">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Cd</a:t>
                      </a:r>
                    </a:p>
                  </a:txBody>
                  <a:tcPr marL="68587" marR="68587" marT="0" marB="0">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Pb</a:t>
                      </a:r>
                    </a:p>
                  </a:txBody>
                  <a:tcPr marL="68587" marR="68587" marT="0" marB="0">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Zn</a:t>
                      </a:r>
                    </a:p>
                  </a:txBody>
                  <a:tcPr marL="68587" marR="68587" marT="0" marB="0">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Cu</a:t>
                      </a:r>
                    </a:p>
                  </a:txBody>
                  <a:tcPr marL="68587" marR="68587" marT="0" marB="0">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50000"/>
                        </a:lnSpc>
                        <a:spcAft>
                          <a:spcPts val="0"/>
                        </a:spcAft>
                      </a:pPr>
                      <a:r>
                        <a:rPr lang="bs-Latn-BA" sz="1600">
                          <a:effectLst/>
                          <a:latin typeface="+mj-lt"/>
                          <a:ea typeface="Calibri" panose="020F0502020204030204" pitchFamily="34" charset="0"/>
                          <a:cs typeface="Times New Roman" panose="02020603050405020304" pitchFamily="18" charset="0"/>
                        </a:rPr>
                        <a:t>Cr</a:t>
                      </a:r>
                    </a:p>
                  </a:txBody>
                  <a:tcPr marL="68587" marR="68587" marT="0" marB="0">
                    <a:lnL>
                      <a:noFill/>
                    </a:lnL>
                    <a:lnR>
                      <a:noFill/>
                    </a:lnR>
                    <a:lnT>
                      <a:noFill/>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1"/>
                  </a:ext>
                </a:extLst>
              </a:tr>
              <a:tr h="529348">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Urban</a:t>
                      </a:r>
                    </a:p>
                  </a:txBody>
                  <a:tcPr marL="68587" marR="68587"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spcAft>
                          <a:spcPts val="0"/>
                        </a:spcAft>
                      </a:pPr>
                      <a:r>
                        <a:rPr lang="bs-Latn-BA" sz="1600">
                          <a:effectLst/>
                          <a:latin typeface="+mj-lt"/>
                          <a:ea typeface="Calibri" panose="020F0502020204030204" pitchFamily="34" charset="0"/>
                          <a:cs typeface="Times New Roman" panose="02020603050405020304" pitchFamily="18" charset="0"/>
                        </a:rPr>
                        <a:t>1.1</a:t>
                      </a:r>
                    </a:p>
                  </a:txBody>
                  <a:tcPr marL="68587" marR="68587"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spcAft>
                          <a:spcPts val="0"/>
                        </a:spcAft>
                      </a:pPr>
                      <a:r>
                        <a:rPr lang="bs-Latn-BA" sz="1600">
                          <a:effectLst/>
                          <a:latin typeface="+mj-lt"/>
                          <a:ea typeface="Calibri" panose="020F0502020204030204" pitchFamily="34" charset="0"/>
                          <a:cs typeface="Times New Roman" panose="02020603050405020304" pitchFamily="18" charset="0"/>
                        </a:rPr>
                        <a:t>0.3</a:t>
                      </a:r>
                    </a:p>
                  </a:txBody>
                  <a:tcPr marL="68587" marR="68587"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spcAft>
                          <a:spcPts val="0"/>
                        </a:spcAft>
                      </a:pPr>
                      <a:r>
                        <a:rPr lang="bs-Latn-BA" sz="1600">
                          <a:effectLst/>
                          <a:latin typeface="+mj-lt"/>
                          <a:ea typeface="Calibri" panose="020F0502020204030204" pitchFamily="34" charset="0"/>
                          <a:cs typeface="Times New Roman" panose="02020603050405020304" pitchFamily="18" charset="0"/>
                        </a:rPr>
                        <a:t>2.1</a:t>
                      </a:r>
                    </a:p>
                  </a:txBody>
                  <a:tcPr marL="68587" marR="68587"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spcAft>
                          <a:spcPts val="0"/>
                        </a:spcAft>
                      </a:pPr>
                      <a:r>
                        <a:rPr lang="bs-Latn-BA" sz="1600">
                          <a:effectLst/>
                          <a:latin typeface="+mj-lt"/>
                          <a:ea typeface="Calibri" panose="020F0502020204030204" pitchFamily="34" charset="0"/>
                          <a:cs typeface="Times New Roman" panose="02020603050405020304" pitchFamily="18" charset="0"/>
                        </a:rPr>
                        <a:t>7.0</a:t>
                      </a:r>
                    </a:p>
                  </a:txBody>
                  <a:tcPr marL="68587" marR="68587"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141</a:t>
                      </a:r>
                    </a:p>
                  </a:txBody>
                  <a:tcPr marL="68587" marR="68587"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70.6</a:t>
                      </a:r>
                    </a:p>
                  </a:txBody>
                  <a:tcPr marL="68587" marR="68587"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5.9</a:t>
                      </a:r>
                    </a:p>
                  </a:txBody>
                  <a:tcPr marL="68587" marR="68587"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529348">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Rural</a:t>
                      </a:r>
                    </a:p>
                  </a:txBody>
                  <a:tcPr marL="68587" marR="68587"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2.1</a:t>
                      </a:r>
                    </a:p>
                  </a:txBody>
                  <a:tcPr marL="68587" marR="68587"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0.7</a:t>
                      </a:r>
                    </a:p>
                  </a:txBody>
                  <a:tcPr marL="68587" marR="68587"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bs-Latn-BA" sz="1600">
                          <a:effectLst/>
                          <a:latin typeface="+mj-lt"/>
                          <a:ea typeface="Calibri" panose="020F0502020204030204" pitchFamily="34" charset="0"/>
                          <a:cs typeface="Times New Roman" panose="02020603050405020304" pitchFamily="18" charset="0"/>
                        </a:rPr>
                        <a:t>10.1</a:t>
                      </a:r>
                    </a:p>
                  </a:txBody>
                  <a:tcPr marL="68587" marR="68587"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bs-Latn-BA" sz="1600">
                          <a:effectLst/>
                          <a:latin typeface="+mj-lt"/>
                          <a:ea typeface="Calibri" panose="020F0502020204030204" pitchFamily="34" charset="0"/>
                          <a:cs typeface="Times New Roman" panose="02020603050405020304" pitchFamily="18" charset="0"/>
                        </a:rPr>
                        <a:t>38.6</a:t>
                      </a:r>
                    </a:p>
                  </a:txBody>
                  <a:tcPr marL="68587" marR="68587"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bs-Latn-BA" sz="1600">
                          <a:effectLst/>
                          <a:latin typeface="+mj-lt"/>
                          <a:ea typeface="Calibri" panose="020F0502020204030204" pitchFamily="34" charset="0"/>
                          <a:cs typeface="Times New Roman" panose="02020603050405020304" pitchFamily="18" charset="0"/>
                        </a:rPr>
                        <a:t>1390</a:t>
                      </a:r>
                    </a:p>
                  </a:txBody>
                  <a:tcPr marL="68587" marR="68587"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275</a:t>
                      </a:r>
                    </a:p>
                  </a:txBody>
                  <a:tcPr marL="68587" marR="68587"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bs-Latn-BA" sz="1600" dirty="0">
                          <a:effectLst/>
                          <a:latin typeface="+mj-lt"/>
                          <a:ea typeface="Calibri" panose="020F0502020204030204" pitchFamily="34" charset="0"/>
                          <a:cs typeface="Times New Roman" panose="02020603050405020304" pitchFamily="18" charset="0"/>
                        </a:rPr>
                        <a:t>10.2</a:t>
                      </a:r>
                    </a:p>
                  </a:txBody>
                  <a:tcPr marL="68587" marR="68587"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 name="Rectangle 1"/>
          <p:cNvSpPr/>
          <p:nvPr/>
        </p:nvSpPr>
        <p:spPr>
          <a:xfrm>
            <a:off x="752220" y="5164537"/>
            <a:ext cx="10238867" cy="1200329"/>
          </a:xfrm>
          <a:prstGeom prst="rect">
            <a:avLst/>
          </a:prstGeom>
        </p:spPr>
        <p:txBody>
          <a:bodyPr wrap="square">
            <a:spAutoFit/>
          </a:bodyPr>
          <a:lstStyle/>
          <a:p>
            <a:r>
              <a:rPr lang="en-US" dirty="0">
                <a:latin typeface="Trebuchet MS" panose="020B0603020202020204" pitchFamily="34" charset="0"/>
                <a:cs typeface="Times New Roman" panose="02020603050405020304" pitchFamily="18" charset="0"/>
              </a:rPr>
              <a:t>In order to evaluate the source of PM10 in the Sarajevo area, an enrichment factor (EF) was calculated. When EF is close to one, soil is considered to be the dominant source of metal in the air (Dai et al., 2015), while EF&gt; 5 indicates that much of the element can be attributed to anthropogenic or non-soil sources (Lee and </a:t>
            </a:r>
            <a:r>
              <a:rPr lang="en-US" dirty="0" err="1">
                <a:latin typeface="Trebuchet MS" panose="020B0603020202020204" pitchFamily="34" charset="0"/>
                <a:cs typeface="Times New Roman" panose="02020603050405020304" pitchFamily="18" charset="0"/>
              </a:rPr>
              <a:t>Hieu</a:t>
            </a:r>
            <a:r>
              <a:rPr lang="en-US" dirty="0">
                <a:latin typeface="Trebuchet MS" panose="020B0603020202020204" pitchFamily="34" charset="0"/>
                <a:cs typeface="Times New Roman" panose="02020603050405020304" pitchFamily="18" charset="0"/>
              </a:rPr>
              <a:t> , 2011).</a:t>
            </a:r>
          </a:p>
        </p:txBody>
      </p:sp>
      <p:pic>
        <p:nvPicPr>
          <p:cNvPr id="6" name="Content Placeholder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8707467" y="0"/>
            <a:ext cx="3484533" cy="2612942"/>
          </a:xfrm>
          <a:prstGeom prst="rect">
            <a:avLst/>
          </a:prstGeom>
        </p:spPr>
      </p:pic>
    </p:spTree>
    <p:extLst>
      <p:ext uri="{BB962C8B-B14F-4D97-AF65-F5344CB8AC3E}">
        <p14:creationId xmlns:p14="http://schemas.microsoft.com/office/powerpoint/2010/main" val="31344159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s-Latn-BA" dirty="0">
                <a:latin typeface="Trebuchet MS" panose="020B0603020202020204" pitchFamily="34" charset="0"/>
                <a:cs typeface="Times New Roman" panose="02020603050405020304" pitchFamily="18" charset="0"/>
              </a:rPr>
              <a:t>Metals in PM10</a:t>
            </a:r>
            <a:endParaRPr lang="en-US" dirty="0">
              <a:latin typeface="Trebuchet MS" panose="020B0603020202020204" pitchFamily="34" charset="0"/>
              <a:cs typeface="Times New Roman" panose="02020603050405020304" pitchFamily="18" charset="0"/>
            </a:endParaRPr>
          </a:p>
        </p:txBody>
      </p:sp>
      <p:sp>
        <p:nvSpPr>
          <p:cNvPr id="3" name="Content Placeholder 2"/>
          <p:cNvSpPr>
            <a:spLocks noGrp="1"/>
          </p:cNvSpPr>
          <p:nvPr>
            <p:ph idx="1"/>
          </p:nvPr>
        </p:nvSpPr>
        <p:spPr>
          <a:xfrm>
            <a:off x="677334" y="1429069"/>
            <a:ext cx="8596668" cy="3880773"/>
          </a:xfrm>
        </p:spPr>
        <p:txBody>
          <a:bodyPr/>
          <a:lstStyle/>
          <a:p>
            <a:pPr algn="just"/>
            <a:r>
              <a:rPr lang="en-US" sz="2400" dirty="0">
                <a:latin typeface="Trebuchet MS" panose="020B0603020202020204" pitchFamily="34" charset="0"/>
                <a:cs typeface="Times New Roman" panose="02020603050405020304" pitchFamily="18" charset="0"/>
              </a:rPr>
              <a:t>The </a:t>
            </a:r>
            <a:r>
              <a:rPr lang="en-US" sz="2400" dirty="0" err="1">
                <a:latin typeface="Trebuchet MS" panose="020B0603020202020204" pitchFamily="34" charset="0"/>
                <a:cs typeface="Times New Roman" panose="02020603050405020304" pitchFamily="18" charset="0"/>
              </a:rPr>
              <a:t>highe</a:t>
            </a:r>
            <a:r>
              <a:rPr lang="bs-Latn-BA" sz="2400" dirty="0">
                <a:latin typeface="Trebuchet MS" panose="020B0603020202020204" pitchFamily="34" charset="0"/>
                <a:cs typeface="Times New Roman" panose="02020603050405020304" pitchFamily="18" charset="0"/>
              </a:rPr>
              <a:t>r</a:t>
            </a:r>
            <a:r>
              <a:rPr lang="en-US" sz="2400" dirty="0">
                <a:latin typeface="Trebuchet MS" panose="020B0603020202020204" pitchFamily="34" charset="0"/>
                <a:cs typeface="Times New Roman" panose="02020603050405020304" pitchFamily="18" charset="0"/>
              </a:rPr>
              <a:t> values of the examined metals were generally higher in samples from location near traffic road</a:t>
            </a:r>
            <a:r>
              <a:rPr lang="bs-Latn-BA" sz="2400" dirty="0">
                <a:latin typeface="Trebuchet MS" panose="020B0603020202020204" pitchFamily="34" charset="0"/>
                <a:cs typeface="Times New Roman" panose="02020603050405020304" pitchFamily="18" charset="0"/>
              </a:rPr>
              <a:t> with higher density, or in urban than rural areas.</a:t>
            </a:r>
          </a:p>
          <a:p>
            <a:pPr algn="just"/>
            <a:r>
              <a:rPr lang="en-US" sz="2400" dirty="0">
                <a:latin typeface="Trebuchet MS" panose="020B0603020202020204" pitchFamily="34" charset="0"/>
                <a:cs typeface="Times New Roman" panose="02020603050405020304" pitchFamily="18" charset="0"/>
              </a:rPr>
              <a:t>Based on the obtained results it can be concluded that the air in the </a:t>
            </a:r>
            <a:r>
              <a:rPr lang="bs-Latn-BA" sz="2400" dirty="0">
                <a:latin typeface="Trebuchet MS" panose="020B0603020202020204" pitchFamily="34" charset="0"/>
                <a:cs typeface="Times New Roman" panose="02020603050405020304" pitchFamily="18" charset="0"/>
              </a:rPr>
              <a:t>Sarajevo</a:t>
            </a:r>
            <a:r>
              <a:rPr lang="en-US" sz="2400" dirty="0">
                <a:latin typeface="Trebuchet MS" panose="020B0603020202020204" pitchFamily="34" charset="0"/>
                <a:cs typeface="Times New Roman" panose="02020603050405020304" pitchFamily="18" charset="0"/>
              </a:rPr>
              <a:t> area is relatively loaded with heavy metals.</a:t>
            </a:r>
            <a:endParaRPr lang="bs-Latn-BA" sz="2400" dirty="0">
              <a:latin typeface="Trebuchet MS" panose="020B0603020202020204" pitchFamily="34" charset="0"/>
              <a:cs typeface="Times New Roman" panose="02020603050405020304" pitchFamily="18" charset="0"/>
            </a:endParaRPr>
          </a:p>
          <a:p>
            <a:r>
              <a:rPr lang="bs-Latn-BA" sz="2400" dirty="0">
                <a:latin typeface="Trebuchet MS" panose="020B0603020202020204" pitchFamily="34" charset="0"/>
                <a:cs typeface="Times New Roman" panose="02020603050405020304" pitchFamily="18" charset="0"/>
              </a:rPr>
              <a:t>Further analysis is needed.</a:t>
            </a:r>
          </a:p>
          <a:p>
            <a:endParaRPr lang="en-US" dirty="0">
              <a:latin typeface="Trebuchet MS" panose="020B0603020202020204" pitchFamily="34" charset="0"/>
            </a:endParaRPr>
          </a:p>
        </p:txBody>
      </p:sp>
      <p:pic>
        <p:nvPicPr>
          <p:cNvPr id="7" name="Picture 6"/>
          <p:cNvPicPr>
            <a:picLocks noChangeAspect="1"/>
          </p:cNvPicPr>
          <p:nvPr/>
        </p:nvPicPr>
        <p:blipFill>
          <a:blip r:embed="rId3"/>
          <a:stretch>
            <a:fillRect/>
          </a:stretch>
        </p:blipFill>
        <p:spPr>
          <a:xfrm>
            <a:off x="5370651" y="3555833"/>
            <a:ext cx="4283095" cy="2888599"/>
          </a:xfrm>
          <a:prstGeom prst="rect">
            <a:avLst/>
          </a:prstGeom>
        </p:spPr>
      </p:pic>
    </p:spTree>
    <p:extLst>
      <p:ext uri="{BB962C8B-B14F-4D97-AF65-F5344CB8AC3E}">
        <p14:creationId xmlns:p14="http://schemas.microsoft.com/office/powerpoint/2010/main" val="795468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A0DCA4A-79A8-9645-9E63-9185EB4CD35F}" type="slidenum">
              <a:rPr lang="pt-PT" smtClean="0"/>
              <a:t>15</a:t>
            </a:fld>
            <a:endParaRPr lang="pt-PT"/>
          </a:p>
        </p:txBody>
      </p:sp>
      <p:sp>
        <p:nvSpPr>
          <p:cNvPr id="3" name="Title 2"/>
          <p:cNvSpPr>
            <a:spLocks noGrp="1"/>
          </p:cNvSpPr>
          <p:nvPr>
            <p:ph type="title"/>
          </p:nvPr>
        </p:nvSpPr>
        <p:spPr/>
        <p:txBody>
          <a:bodyPr>
            <a:normAutofit fontScale="90000"/>
          </a:bodyPr>
          <a:lstStyle/>
          <a:p>
            <a:r>
              <a:rPr lang="bs-Latn-BA" dirty="0"/>
              <a:t>??</a:t>
            </a:r>
            <a:endParaRPr lang="en-US" dirty="0"/>
          </a:p>
        </p:txBody>
      </p:sp>
      <p:pic>
        <p:nvPicPr>
          <p:cNvPr id="5" name="Content Placeholder 3"/>
          <p:cNvPicPr>
            <a:picLocks noGrp="1" noChangeAspect="1"/>
          </p:cNvPicPr>
          <p:nvPr>
            <p:ph idx="1"/>
          </p:nvPr>
        </p:nvPicPr>
        <p:blipFill>
          <a:blip r:embed="rId3"/>
          <a:stretch>
            <a:fillRect/>
          </a:stretch>
        </p:blipFill>
        <p:spPr>
          <a:xfrm>
            <a:off x="554094" y="945321"/>
            <a:ext cx="5224914" cy="3918686"/>
          </a:xfrm>
          <a:prstGeom prst="rect">
            <a:avLst/>
          </a:prstGeom>
        </p:spPr>
      </p:pic>
      <p:sp>
        <p:nvSpPr>
          <p:cNvPr id="4" name="Rectangle 3"/>
          <p:cNvSpPr/>
          <p:nvPr/>
        </p:nvSpPr>
        <p:spPr>
          <a:xfrm>
            <a:off x="6258943" y="1539681"/>
            <a:ext cx="4663440" cy="3416320"/>
          </a:xfrm>
          <a:prstGeom prst="rect">
            <a:avLst/>
          </a:prstGeom>
        </p:spPr>
        <p:txBody>
          <a:bodyPr wrap="square">
            <a:spAutoFit/>
          </a:bodyPr>
          <a:lstStyle/>
          <a:p>
            <a:pPr marL="285750" indent="-285750">
              <a:buFont typeface="Arial" panose="020B0604020202020204" pitchFamily="34" charset="0"/>
              <a:buChar char="•"/>
            </a:pPr>
            <a:r>
              <a:rPr lang="en-US" dirty="0">
                <a:latin typeface="Trebuchet MS" panose="020B0603020202020204" pitchFamily="34" charset="0"/>
                <a:cs typeface="Times New Roman" panose="02020603050405020304" pitchFamily="18" charset="0"/>
              </a:rPr>
              <a:t>What can the biota tell us about the environment and its response to natural stress?</a:t>
            </a:r>
            <a:endParaRPr lang="bs-Latn-BA" dirty="0">
              <a:latin typeface="Trebuchet MS" panose="020B0603020202020204" pitchFamily="34" charset="0"/>
              <a:cs typeface="Times New Roman" panose="02020603050405020304" pitchFamily="18" charset="0"/>
            </a:endParaRPr>
          </a:p>
          <a:p>
            <a:pPr marL="285750" indent="-285750">
              <a:buFont typeface="Arial" panose="020B0604020202020204" pitchFamily="34" charset="0"/>
              <a:buChar char="•"/>
            </a:pPr>
            <a:r>
              <a:rPr lang="en-US" dirty="0">
                <a:latin typeface="Trebuchet MS" panose="020B0603020202020204" pitchFamily="34" charset="0"/>
                <a:cs typeface="Times New Roman" panose="02020603050405020304" pitchFamily="18" charset="0"/>
              </a:rPr>
              <a:t>All species (or species assemblages) tolerate a limited range of chemical, physical, and biological conditions, which we can use to evaluate environmental quality. </a:t>
            </a:r>
            <a:endParaRPr lang="bs-Latn-BA" dirty="0">
              <a:latin typeface="Trebuchet MS" panose="020B0603020202020204" pitchFamily="34" charset="0"/>
              <a:cs typeface="Times New Roman" panose="02020603050405020304" pitchFamily="18" charset="0"/>
            </a:endParaRPr>
          </a:p>
          <a:p>
            <a:pPr marL="285750" indent="-285750">
              <a:buFont typeface="Arial" panose="020B0604020202020204" pitchFamily="34" charset="0"/>
              <a:buChar char="•"/>
            </a:pPr>
            <a:r>
              <a:rPr lang="en-US" dirty="0">
                <a:latin typeface="Trebuchet MS" panose="020B0603020202020204" pitchFamily="34" charset="0"/>
                <a:cs typeface="Times New Roman" panose="02020603050405020304" pitchFamily="18" charset="0"/>
              </a:rPr>
              <a:t>Despite many technological advances, we find ourselves turning to the biota of natural ecosystems to tell us the story of </a:t>
            </a:r>
            <a:r>
              <a:rPr lang="bs-Latn-BA" dirty="0">
                <a:latin typeface="Trebuchet MS" panose="020B0603020202020204" pitchFamily="34" charset="0"/>
                <a:cs typeface="Times New Roman" panose="02020603050405020304" pitchFamily="18" charset="0"/>
              </a:rPr>
              <a:t>the</a:t>
            </a:r>
            <a:r>
              <a:rPr lang="en-US" dirty="0">
                <a:latin typeface="Trebuchet MS" panose="020B0603020202020204" pitchFamily="34" charset="0"/>
                <a:cs typeface="Times New Roman" panose="02020603050405020304" pitchFamily="18" charset="0"/>
              </a:rPr>
              <a:t> world.</a:t>
            </a:r>
          </a:p>
        </p:txBody>
      </p:sp>
      <p:pic>
        <p:nvPicPr>
          <p:cNvPr id="6" name="Picture 5" descr="C:\Users\PC\Pictures\20221128_103711.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15871" y="4937194"/>
            <a:ext cx="2129718" cy="1748138"/>
          </a:xfrm>
          <a:prstGeom prst="rect">
            <a:avLst/>
          </a:prstGeom>
          <a:noFill/>
          <a:ln>
            <a:noFill/>
          </a:ln>
        </p:spPr>
      </p:pic>
      <p:pic>
        <p:nvPicPr>
          <p:cNvPr id="7" name="Picture 6" descr="C:\Users\PC\Pictures\20221128_103705.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500839" y="4864006"/>
            <a:ext cx="2176794" cy="1894515"/>
          </a:xfrm>
          <a:prstGeom prst="rect">
            <a:avLst/>
          </a:prstGeom>
          <a:noFill/>
          <a:ln>
            <a:noFill/>
          </a:ln>
        </p:spPr>
      </p:pic>
    </p:spTree>
    <p:extLst>
      <p:ext uri="{BB962C8B-B14F-4D97-AF65-F5344CB8AC3E}">
        <p14:creationId xmlns:p14="http://schemas.microsoft.com/office/powerpoint/2010/main" val="1120204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609600"/>
            <a:ext cx="10545723" cy="1320800"/>
          </a:xfrm>
        </p:spPr>
        <p:txBody>
          <a:bodyPr/>
          <a:lstStyle/>
          <a:p>
            <a:r>
              <a:rPr lang="en-US" dirty="0"/>
              <a:t>What we can do to prevent further pollution and climate change?</a:t>
            </a:r>
          </a:p>
        </p:txBody>
      </p:sp>
      <p:pic>
        <p:nvPicPr>
          <p:cNvPr id="5" name="Content Placeholder 4"/>
          <p:cNvPicPr>
            <a:picLocks noGrp="1" noChangeAspect="1"/>
          </p:cNvPicPr>
          <p:nvPr>
            <p:ph idx="1"/>
          </p:nvPr>
        </p:nvPicPr>
        <p:blipFill>
          <a:blip r:embed="rId3"/>
          <a:stretch>
            <a:fillRect/>
          </a:stretch>
        </p:blipFill>
        <p:spPr>
          <a:xfrm>
            <a:off x="326789" y="2168764"/>
            <a:ext cx="11684284" cy="3734324"/>
          </a:xfrm>
          <a:prstGeom prst="rect">
            <a:avLst/>
          </a:prstGeom>
        </p:spPr>
      </p:pic>
    </p:spTree>
    <p:extLst>
      <p:ext uri="{BB962C8B-B14F-4D97-AF65-F5344CB8AC3E}">
        <p14:creationId xmlns:p14="http://schemas.microsoft.com/office/powerpoint/2010/main" val="2920870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A0DCA4A-79A8-9645-9E63-9185EB4CD35F}" type="slidenum">
              <a:rPr lang="pt-PT" smtClean="0"/>
              <a:t>17</a:t>
            </a:fld>
            <a:endParaRPr lang="pt-PT"/>
          </a:p>
        </p:txBody>
      </p:sp>
      <p:sp>
        <p:nvSpPr>
          <p:cNvPr id="3" name="Title 2"/>
          <p:cNvSpPr>
            <a:spLocks noGrp="1"/>
          </p:cNvSpPr>
          <p:nvPr>
            <p:ph type="title"/>
          </p:nvPr>
        </p:nvSpPr>
        <p:spPr/>
        <p:txBody>
          <a:bodyPr>
            <a:normAutofit fontScale="90000"/>
          </a:bodyPr>
          <a:lstStyle/>
          <a:p>
            <a:r>
              <a:rPr lang="en-US" sz="3200" dirty="0">
                <a:solidFill>
                  <a:schemeClr val="accent2"/>
                </a:solidFill>
                <a:cs typeface="Times New Roman" panose="02020603050405020304" pitchFamily="18" charset="0"/>
              </a:rPr>
              <a:t>Sarajevo Air Quality</a:t>
            </a:r>
            <a:endParaRPr lang="en-US" dirty="0">
              <a:solidFill>
                <a:schemeClr val="accent2"/>
              </a:solidFill>
              <a:cs typeface="Times New Roman" panose="02020603050405020304" pitchFamily="18" charset="0"/>
            </a:endParaRPr>
          </a:p>
        </p:txBody>
      </p:sp>
      <p:pic>
        <p:nvPicPr>
          <p:cNvPr id="5"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67377" y="1262812"/>
            <a:ext cx="4464447" cy="3393891"/>
          </a:xfr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40402" y="2267319"/>
            <a:ext cx="3608352" cy="2688019"/>
          </a:xfrm>
          <a:prstGeom prst="rect">
            <a:avLst/>
          </a:prstGeom>
        </p:spPr>
      </p:pic>
      <p:pic>
        <p:nvPicPr>
          <p:cNvPr id="7" name="Picture 6"/>
          <p:cNvPicPr>
            <a:picLocks noChangeAspect="1"/>
          </p:cNvPicPr>
          <p:nvPr/>
        </p:nvPicPr>
        <p:blipFill rotWithShape="1">
          <a:blip r:embed="rId5" cstate="print">
            <a:extLst>
              <a:ext uri="{28A0092B-C50C-407E-A947-70E740481C1C}">
                <a14:useLocalDpi xmlns:a14="http://schemas.microsoft.com/office/drawing/2010/main" val="0"/>
              </a:ext>
            </a:extLst>
          </a:blip>
          <a:srcRect b="6075"/>
          <a:stretch/>
        </p:blipFill>
        <p:spPr>
          <a:xfrm>
            <a:off x="4273937" y="1262812"/>
            <a:ext cx="4145728" cy="3221665"/>
          </a:xfrm>
          <a:prstGeom prst="rect">
            <a:avLst/>
          </a:prstGeom>
        </p:spPr>
      </p:pic>
      <p:pic>
        <p:nvPicPr>
          <p:cNvPr id="8" name="Content Placeholder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1208" y="3523700"/>
            <a:ext cx="4118487" cy="3060364"/>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98713" y="3698957"/>
            <a:ext cx="3741689" cy="2594280"/>
          </a:xfrm>
          <a:prstGeom prst="rect">
            <a:avLst/>
          </a:prstGeom>
        </p:spPr>
      </p:pic>
    </p:spTree>
    <p:extLst>
      <p:ext uri="{BB962C8B-B14F-4D97-AF65-F5344CB8AC3E}">
        <p14:creationId xmlns:p14="http://schemas.microsoft.com/office/powerpoint/2010/main" val="2422641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New Air Protection Law</a:t>
            </a:r>
            <a:br>
              <a:rPr lang="bs-Latn-BA" dirty="0"/>
            </a:br>
            <a:r>
              <a:rPr lang="en-US" dirty="0"/>
              <a:t>ZAKON O ZAŠTITI ZRAKA</a:t>
            </a:r>
          </a:p>
        </p:txBody>
      </p:sp>
      <p:sp>
        <p:nvSpPr>
          <p:cNvPr id="3" name="Content Placeholder 2"/>
          <p:cNvSpPr>
            <a:spLocks noGrp="1"/>
          </p:cNvSpPr>
          <p:nvPr>
            <p:ph idx="1"/>
          </p:nvPr>
        </p:nvSpPr>
        <p:spPr/>
        <p:txBody>
          <a:bodyPr>
            <a:normAutofit/>
          </a:bodyPr>
          <a:lstStyle/>
          <a:p>
            <a:endParaRPr lang="bs-Latn-BA" dirty="0"/>
          </a:p>
        </p:txBody>
      </p:sp>
      <p:pic>
        <p:nvPicPr>
          <p:cNvPr id="6" name="Picture 5"/>
          <p:cNvPicPr>
            <a:picLocks noChangeAspect="1"/>
          </p:cNvPicPr>
          <p:nvPr/>
        </p:nvPicPr>
        <p:blipFill>
          <a:blip r:embed="rId3"/>
          <a:stretch>
            <a:fillRect/>
          </a:stretch>
        </p:blipFill>
        <p:spPr>
          <a:xfrm>
            <a:off x="-206705" y="1930400"/>
            <a:ext cx="6696212" cy="3921003"/>
          </a:xfrm>
          <a:prstGeom prst="rect">
            <a:avLst/>
          </a:prstGeom>
        </p:spPr>
      </p:pic>
      <p:sp>
        <p:nvSpPr>
          <p:cNvPr id="7" name="Rectangle 6"/>
          <p:cNvSpPr/>
          <p:nvPr/>
        </p:nvSpPr>
        <p:spPr>
          <a:xfrm>
            <a:off x="5926491" y="3054132"/>
            <a:ext cx="4231550" cy="1200329"/>
          </a:xfrm>
          <a:prstGeom prst="rect">
            <a:avLst/>
          </a:prstGeom>
        </p:spPr>
        <p:txBody>
          <a:bodyPr wrap="square">
            <a:spAutoFit/>
          </a:bodyPr>
          <a:lstStyle/>
          <a:p>
            <a:r>
              <a:rPr lang="en-US" dirty="0">
                <a:latin typeface="Trebuchet MS" panose="020B0603020202020204" pitchFamily="34" charset="0"/>
                <a:ea typeface="Times New Roman" panose="02020603050405020304" pitchFamily="18" charset="0"/>
              </a:rPr>
              <a:t>The law is designed to </a:t>
            </a:r>
            <a:r>
              <a:rPr lang="en-US" b="1" dirty="0">
                <a:latin typeface="Trebuchet MS" panose="020B0603020202020204" pitchFamily="34" charset="0"/>
                <a:ea typeface="Times New Roman" panose="02020603050405020304" pitchFamily="18" charset="0"/>
              </a:rPr>
              <a:t>harmonize with EU environmental legislation</a:t>
            </a:r>
            <a:r>
              <a:rPr lang="bs-Latn-BA" dirty="0">
                <a:latin typeface="Trebuchet MS" panose="020B0603020202020204" pitchFamily="34" charset="0"/>
                <a:ea typeface="Times New Roman" panose="02020603050405020304" pitchFamily="18" charset="0"/>
              </a:rPr>
              <a:t>. </a:t>
            </a:r>
            <a:r>
              <a:rPr lang="en-US" dirty="0">
                <a:latin typeface="Trebuchet MS" panose="020B0603020202020204" pitchFamily="34" charset="0"/>
                <a:ea typeface="Times New Roman" panose="02020603050405020304" pitchFamily="18" charset="0"/>
              </a:rPr>
              <a:t>It also integrates climate change mitigation and adaptation strategies.</a:t>
            </a:r>
          </a:p>
        </p:txBody>
      </p:sp>
      <p:sp>
        <p:nvSpPr>
          <p:cNvPr id="8" name="Rectangle 7"/>
          <p:cNvSpPr/>
          <p:nvPr/>
        </p:nvSpPr>
        <p:spPr>
          <a:xfrm>
            <a:off x="677334" y="5948385"/>
            <a:ext cx="4197711" cy="646331"/>
          </a:xfrm>
          <a:prstGeom prst="rect">
            <a:avLst/>
          </a:prstGeom>
        </p:spPr>
        <p:txBody>
          <a:bodyPr wrap="square">
            <a:spAutoFit/>
          </a:bodyPr>
          <a:lstStyle/>
          <a:p>
            <a:r>
              <a:rPr lang="en-US" dirty="0"/>
              <a:t>SLUŽBENE NOVINE FEDERACIJE </a:t>
            </a:r>
            <a:r>
              <a:rPr lang="en-US" dirty="0" err="1"/>
              <a:t>BiH</a:t>
            </a:r>
            <a:r>
              <a:rPr lang="en-US" dirty="0"/>
              <a:t> </a:t>
            </a:r>
            <a:r>
              <a:rPr lang="en-US" dirty="0" err="1"/>
              <a:t>Broj</a:t>
            </a:r>
            <a:r>
              <a:rPr lang="en-US" dirty="0"/>
              <a:t> 72</a:t>
            </a:r>
            <a:r>
              <a:rPr lang="bs-Latn-BA" dirty="0"/>
              <a:t>, </a:t>
            </a:r>
            <a:r>
              <a:rPr lang="en-US" dirty="0"/>
              <a:t>13. 9. 2024. </a:t>
            </a:r>
            <a:endParaRPr lang="bs-Latn-BA" dirty="0"/>
          </a:p>
        </p:txBody>
      </p:sp>
    </p:spTree>
    <p:extLst>
      <p:ext uri="{BB962C8B-B14F-4D97-AF65-F5344CB8AC3E}">
        <p14:creationId xmlns:p14="http://schemas.microsoft.com/office/powerpoint/2010/main" val="332657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Keep%20Our%20Air%20Clea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36" y="-210134"/>
            <a:ext cx="12678175" cy="716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97004" y="206661"/>
            <a:ext cx="8596668" cy="3880773"/>
          </a:xfrm>
        </p:spPr>
        <p:txBody>
          <a:bodyPr>
            <a:normAutofit/>
          </a:bodyPr>
          <a:lstStyle/>
          <a:p>
            <a:pPr marL="0" indent="0" algn="ctr">
              <a:buNone/>
            </a:pPr>
            <a:endParaRPr lang="bs-Latn-BA" sz="3600" dirty="0"/>
          </a:p>
          <a:p>
            <a:pPr marL="0" indent="0" algn="ctr">
              <a:buNone/>
            </a:pPr>
            <a:r>
              <a:rPr lang="bs-Latn-BA" sz="3600" dirty="0"/>
              <a:t>Thank you!</a:t>
            </a:r>
          </a:p>
        </p:txBody>
      </p:sp>
    </p:spTree>
    <p:extLst>
      <p:ext uri="{BB962C8B-B14F-4D97-AF65-F5344CB8AC3E}">
        <p14:creationId xmlns:p14="http://schemas.microsoft.com/office/powerpoint/2010/main" val="95189407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968</TotalTime>
  <Words>812</Words>
  <Application>Microsoft Office PowerPoint</Application>
  <PresentationFormat>Widescreen</PresentationFormat>
  <Paragraphs>129</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Narrow</vt:lpstr>
      <vt:lpstr>Calibri</vt:lpstr>
      <vt:lpstr>Trebuchet MS</vt:lpstr>
      <vt:lpstr>Wingdings</vt:lpstr>
      <vt:lpstr>Wingdings 3</vt:lpstr>
      <vt:lpstr>Facet</vt:lpstr>
      <vt:lpstr> Air Quality Monitoring in Bosnia and Herzegovina: Current Challenges and Future Prospects   Prof. dr.  Sabina Žero, University of Sarajevo – Faculty of Science   Prof. dr. Emina Ramić, University of Sarajevo – Faculty of Pharmacy </vt:lpstr>
      <vt:lpstr>Air Pollution in Sarajevo</vt:lpstr>
      <vt:lpstr>Why the Air of Sarajevo?</vt:lpstr>
      <vt:lpstr>Sarajevo Air Quality</vt:lpstr>
      <vt:lpstr>Sampling of PM10</vt:lpstr>
      <vt:lpstr>Sampling of PM10</vt:lpstr>
      <vt:lpstr>Filter analysis</vt:lpstr>
      <vt:lpstr>PM10 concentration trend in Sarajevo</vt:lpstr>
      <vt:lpstr>PM10 concentration trend in Sarajevo</vt:lpstr>
      <vt:lpstr>Concentrations of PM10 in 2023 in relation to the EU daily limit value</vt:lpstr>
      <vt:lpstr>Bioaccssesability of metals in PM10 fraction of particulate matter in urban and rural Sarajevo</vt:lpstr>
      <vt:lpstr>Bioaccssesability of metals in PM10 fraction of particulate matter in urban and rural Sarajevo</vt:lpstr>
      <vt:lpstr>Enrichment factor</vt:lpstr>
      <vt:lpstr>Metals in PM10</vt:lpstr>
      <vt:lpstr>??</vt:lpstr>
      <vt:lpstr>What we can do to prevent further pollution and climate change?</vt:lpstr>
      <vt:lpstr>Sarajevo Air Quality</vt:lpstr>
      <vt:lpstr>New Air Protection Law ZAKON O ZAŠTITI ZRAKA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Korisnik</cp:lastModifiedBy>
  <cp:revision>60</cp:revision>
  <dcterms:created xsi:type="dcterms:W3CDTF">2025-08-19T19:58:16Z</dcterms:created>
  <dcterms:modified xsi:type="dcterms:W3CDTF">2026-09-17T14:46:54Z</dcterms:modified>
</cp:coreProperties>
</file>