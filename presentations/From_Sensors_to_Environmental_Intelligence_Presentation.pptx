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72" r:id="rId5"/>
    <p:sldId id="275" r:id="rId3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4" r:id="rId31"/>
  </p:sldIdLst>
  <p:sldSz cx="18288000" cy="10287000"/>
  <p:notesSz cx="6858000" cy="9144000"/>
  <p:embeddedFontLst>
    <p:embeddedFont>
      <p:font typeface="Poppins" pitchFamily="2" charset="77"/>
      <p:regular r:id="rId24"/>
    </p:embeddedFont>
    <p:embeddedFont>
      <p:font typeface="Poppins Bold" pitchFamily="2" charset="77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DDCF"/>
    <a:srgbClr val="CBD7BB"/>
    <a:srgbClr val="000610"/>
    <a:srgbClr val="0C1615"/>
    <a:srgbClr val="79EBB8"/>
    <a:srgbClr val="278364"/>
    <a:srgbClr val="018A26"/>
    <a:srgbClr val="02464E"/>
    <a:srgbClr val="139944"/>
    <a:srgbClr val="5BA9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 autoAdjust="0"/>
    <p:restoredTop sz="94589" autoAdjust="0"/>
  </p:normalViewPr>
  <p:slideViewPr>
    <p:cSldViewPr>
      <p:cViewPr>
        <p:scale>
          <a:sx n="60" d="100"/>
          <a:sy n="60" d="100"/>
        </p:scale>
        <p:origin x="736" y="8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18.xml"/>
  <Relationship Id="rId32" Type="http://schemas.openxmlformats.org/officeDocument/2006/relationships/slide" Target="slides/slide1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323DEF-6D24-F83E-E7EF-56367F02602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144002-6B61-79BD-5BC0-FC69727CEE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3750E-CB5B-4335-AD9A-B2CEB03DA998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EE6CD0-2883-BE00-7A37-AEBDDBEAB9E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0D67C0-55BA-BE84-7339-280D1F7D3C3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894DCB-B0B4-4202-A4B7-E085325358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4986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964CB-DDF6-46BE-8177-760CEBCFC587}" type="datetimeFigureOut">
              <a:rPr lang="en-GB" smtClean="0"/>
              <a:t>05/09/2026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E80D6-E494-40D6-93EE-412ACE2458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59350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5BF79-C93E-46E4-B94F-690D14F7F6C4}" type="datetime1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EE1A-8B1A-C616-CFD3-3514FEC5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1239C-96AE-42FC-9EC6-61CC8B3F6C34}" type="datetime1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86F6D-876E-C855-F8E4-40CFF4C8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22DE-50C8-B0CF-A377-740BE0EC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0FC85BAA-B81E-B08C-B1D9-46AC6E250770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0" y="13032"/>
            <a:ext cx="18288000" cy="10287000"/>
          </a:xfrm>
        </p:spPr>
        <p:txBody>
          <a:bodyPr/>
          <a:lstStyle/>
          <a:p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4D051E-FD15-3EE9-CF0A-EBB7600407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656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CFC005-3159-3F37-F0BF-BA768A15EF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300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5903C8F-59E1-3CE9-3F7F-44E040F262B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051209" y="109863"/>
            <a:ext cx="3271181" cy="2615550"/>
          </a:xfrm>
          <a:prstGeom prst="rect">
            <a:avLst/>
          </a:prstGeom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AA753E9F-8557-95B5-2691-4FC61C0B560D}"/>
              </a:ext>
            </a:extLst>
          </p:cNvPr>
          <p:cNvSpPr txBox="1"/>
          <p:nvPr userDrawn="1"/>
        </p:nvSpPr>
        <p:spPr>
          <a:xfrm>
            <a:off x="3076831" y="3543816"/>
            <a:ext cx="12134338" cy="213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42"/>
              </a:lnSpc>
            </a:pPr>
            <a:r>
              <a:rPr lang="en-US" sz="125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</a:t>
            </a:r>
            <a:r>
              <a:rPr lang="en-US" sz="1253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AIRE</a:t>
            </a:r>
            <a:endParaRPr lang="en-US" sz="1253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3D18B3F2-20D9-5408-D860-83200EED783F}"/>
              </a:ext>
            </a:extLst>
          </p:cNvPr>
          <p:cNvSpPr txBox="1"/>
          <p:nvPr userDrawn="1"/>
        </p:nvSpPr>
        <p:spPr>
          <a:xfrm>
            <a:off x="2869148" y="5929658"/>
            <a:ext cx="12549704" cy="5092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Generation AI Researchers for Air Quality Excellence</a:t>
            </a:r>
          </a:p>
        </p:txBody>
      </p:sp>
    </p:spTree>
    <p:extLst>
      <p:ext uri="{BB962C8B-B14F-4D97-AF65-F5344CB8AC3E}">
        <p14:creationId xmlns:p14="http://schemas.microsoft.com/office/powerpoint/2010/main" val="352770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3EE1A-8B1A-C616-CFD3-3514FEC5D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7C36-456A-4703-B8BA-956A57E9A5E7}" type="datetime1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86F6D-876E-C855-F8E4-40CFF4C8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22DE-50C8-B0CF-A377-740BE0EC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2D2B1-3B10-6055-AAC0-726A999C5E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33267" y="-17787"/>
            <a:ext cx="8943607" cy="10065368"/>
          </a:xfrm>
          <a:prstGeom prst="rect">
            <a:avLst/>
          </a:prstGeom>
        </p:spPr>
      </p:pic>
      <p:sp>
        <p:nvSpPr>
          <p:cNvPr id="7" name="Online Image Placeholder 6">
            <a:extLst>
              <a:ext uri="{FF2B5EF4-FFF2-40B4-BE49-F238E27FC236}">
                <a16:creationId xmlns:a16="http://schemas.microsoft.com/office/drawing/2014/main" id="{0FC85BAA-B81E-B08C-B1D9-46AC6E250770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15240" y="-17787"/>
            <a:ext cx="18288000" cy="10287000"/>
          </a:xfrm>
        </p:spPr>
        <p:txBody>
          <a:bodyPr/>
          <a:lstStyle/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1CFC005-3159-3F37-F0BF-BA768A15EF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" y="-13032"/>
            <a:ext cx="18288000" cy="10300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963A73CE-5D55-AFA4-33B1-D6FE4ED7AEC3}"/>
              </a:ext>
            </a:extLst>
          </p:cNvPr>
          <p:cNvSpPr/>
          <p:nvPr userDrawn="1"/>
        </p:nvSpPr>
        <p:spPr>
          <a:xfrm>
            <a:off x="10896600" y="925220"/>
            <a:ext cx="2860324" cy="2284778"/>
          </a:xfrm>
          <a:custGeom>
            <a:avLst/>
            <a:gdLst/>
            <a:ahLst/>
            <a:cxnLst/>
            <a:rect l="l" t="t" r="r" b="b"/>
            <a:pathLst>
              <a:path w="2860324" h="2284778">
                <a:moveTo>
                  <a:pt x="0" y="0"/>
                </a:moveTo>
                <a:lnTo>
                  <a:pt x="2860324" y="0"/>
                </a:lnTo>
                <a:lnTo>
                  <a:pt x="2860324" y="2284778"/>
                </a:lnTo>
                <a:lnTo>
                  <a:pt x="0" y="228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AA753E9F-8557-95B5-2691-4FC61C0B560D}"/>
              </a:ext>
            </a:extLst>
          </p:cNvPr>
          <p:cNvSpPr txBox="1"/>
          <p:nvPr userDrawn="1"/>
        </p:nvSpPr>
        <p:spPr>
          <a:xfrm>
            <a:off x="6537960" y="3320814"/>
            <a:ext cx="12134338" cy="2133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542"/>
              </a:lnSpc>
            </a:pPr>
            <a:r>
              <a:rPr lang="en-US" sz="125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</a:t>
            </a:r>
            <a:r>
              <a:rPr lang="en-US" sz="1253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AIRE</a:t>
            </a:r>
            <a:endParaRPr lang="en-US" sz="1253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3D18B3F2-20D9-5408-D860-83200EED783F}"/>
              </a:ext>
            </a:extLst>
          </p:cNvPr>
          <p:cNvSpPr txBox="1"/>
          <p:nvPr userDrawn="1"/>
        </p:nvSpPr>
        <p:spPr>
          <a:xfrm>
            <a:off x="9068515" y="5675530"/>
            <a:ext cx="7195553" cy="103502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11"/>
              </a:lnSpc>
            </a:pPr>
            <a:r>
              <a:rPr lang="en-US" sz="3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Generation AI Researchers for Air Quality Excellence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AEC3FE6-1D42-AE05-1782-368C09A240CD}"/>
              </a:ext>
            </a:extLst>
          </p:cNvPr>
          <p:cNvSpPr/>
          <p:nvPr userDrawn="1"/>
        </p:nvSpPr>
        <p:spPr>
          <a:xfrm>
            <a:off x="11705969" y="3338601"/>
            <a:ext cx="6781800" cy="7399625"/>
          </a:xfrm>
          <a:custGeom>
            <a:avLst/>
            <a:gdLst/>
            <a:ahLst/>
            <a:cxnLst/>
            <a:rect l="l" t="t" r="r" b="b"/>
            <a:pathLst>
              <a:path w="2860324" h="2284778">
                <a:moveTo>
                  <a:pt x="0" y="0"/>
                </a:moveTo>
                <a:lnTo>
                  <a:pt x="2860324" y="0"/>
                </a:lnTo>
                <a:lnTo>
                  <a:pt x="2860324" y="2284778"/>
                </a:lnTo>
                <a:lnTo>
                  <a:pt x="0" y="228477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0000"/>
            </a:blip>
            <a:stretch>
              <a:fillRect r="-90249" b="-26828"/>
            </a:stretch>
          </a:blipFill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33446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1BCC-4B99-4F75-8CC4-5A07FBDE5D30}" type="datetime1">
              <a:rPr lang="en-US" smtClean="0"/>
              <a:t>9/5/26</a:t>
            </a:fld>
            <a:endParaRPr lang="en-US"/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FA73A885-947B-FED1-5595-BF0CB9DA2269}"/>
              </a:ext>
            </a:extLst>
          </p:cNvPr>
          <p:cNvSpPr/>
          <p:nvPr userDrawn="1"/>
        </p:nvSpPr>
        <p:spPr>
          <a:xfrm>
            <a:off x="0" y="1555472"/>
            <a:ext cx="6254109" cy="8739148"/>
          </a:xfrm>
          <a:custGeom>
            <a:avLst/>
            <a:gdLst/>
            <a:ahLst/>
            <a:cxnLst/>
            <a:rect l="l" t="t" r="r" b="b"/>
            <a:pathLst>
              <a:path w="4544332" h="6350000">
                <a:moveTo>
                  <a:pt x="0" y="0"/>
                </a:moveTo>
                <a:lnTo>
                  <a:pt x="0" y="6350000"/>
                </a:lnTo>
                <a:lnTo>
                  <a:pt x="4544332" y="6350000"/>
                </a:lnTo>
                <a:cubicBezTo>
                  <a:pt x="4544332" y="2843530"/>
                  <a:pt x="2509380" y="0"/>
                  <a:pt x="0" y="0"/>
                </a:cubicBezTo>
                <a:close/>
              </a:path>
            </a:pathLst>
          </a:custGeom>
          <a:blipFill>
            <a:blip r:embed="rId2"/>
            <a:stretch>
              <a:fillRect l="-9185" t="-12363" b="-43912"/>
            </a:stretch>
          </a:blipFill>
        </p:spPr>
        <p:txBody>
          <a:bodyPr/>
          <a:lstStyle/>
          <a:p>
            <a:endParaRPr lang="el-G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07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  <p:sp>
        <p:nvSpPr>
          <p:cNvPr id="2" name="Freeform 4">
            <a:extLst>
              <a:ext uri="{FF2B5EF4-FFF2-40B4-BE49-F238E27FC236}">
                <a16:creationId xmlns:a16="http://schemas.microsoft.com/office/drawing/2014/main" id="{E2272AE0-341C-9DAD-408A-A227D590CCD5}"/>
              </a:ext>
            </a:extLst>
          </p:cNvPr>
          <p:cNvSpPr/>
          <p:nvPr userDrawn="1"/>
        </p:nvSpPr>
        <p:spPr>
          <a:xfrm>
            <a:off x="5334000" y="0"/>
            <a:ext cx="20391119" cy="10287000"/>
          </a:xfrm>
          <a:prstGeom prst="flowChartExtract">
            <a:avLst/>
          </a:prstGeom>
          <a:blipFill>
            <a:blip r:embed="rId3"/>
            <a:srcRect/>
            <a:stretch>
              <a:fillRect l="-12145" r="36473"/>
            </a:stretch>
          </a:blipFill>
        </p:spPr>
        <p:txBody>
          <a:bodyPr/>
          <a:lstStyle/>
          <a:p>
            <a:endParaRPr lang="el-G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252098" y="9182100"/>
            <a:ext cx="4035902" cy="89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0986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8BE68E-1A4A-4322-8BAF-237E971FA78D}" type="datetime1">
              <a:rPr lang="en-US" smtClean="0"/>
              <a:t>9/5/26</a:t>
            </a:fld>
            <a:endParaRPr lang="en-US"/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3C29D15-A5F6-6048-E6D5-D7B2F1F877F9}"/>
              </a:ext>
            </a:extLst>
          </p:cNvPr>
          <p:cNvGrpSpPr/>
          <p:nvPr userDrawn="1"/>
        </p:nvGrpSpPr>
        <p:grpSpPr>
          <a:xfrm>
            <a:off x="-217170" y="1638381"/>
            <a:ext cx="9019485" cy="9019485"/>
            <a:chOff x="0" y="0"/>
            <a:chExt cx="6350000" cy="6350000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D656A311-2087-B570-42EA-23DC97085F28}"/>
                </a:ext>
              </a:extLst>
            </p:cNvPr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0" y="0"/>
                  </a:moveTo>
                  <a:lnTo>
                    <a:pt x="0" y="6350000"/>
                  </a:lnTo>
                  <a:lnTo>
                    <a:pt x="6350000" y="6350000"/>
                  </a:lnTo>
                  <a:cubicBezTo>
                    <a:pt x="6350000" y="2843530"/>
                    <a:pt x="3506470" y="0"/>
                    <a:pt x="0" y="0"/>
                  </a:cubicBezTo>
                  <a:close/>
                </a:path>
              </a:pathLst>
            </a:custGeom>
            <a:blipFill>
              <a:blip r:embed="rId2">
                <a:alphaModFix amt="75000"/>
              </a:blip>
              <a:stretch>
                <a:fillRect t="-25136" b="-25136"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0944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288000" cy="1257299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  <p:grpSp>
        <p:nvGrpSpPr>
          <p:cNvPr id="2" name="Group 20">
            <a:extLst>
              <a:ext uri="{FF2B5EF4-FFF2-40B4-BE49-F238E27FC236}">
                <a16:creationId xmlns:a16="http://schemas.microsoft.com/office/drawing/2014/main" id="{AE77915C-58F5-66DE-C7DA-B914631DBF32}"/>
              </a:ext>
            </a:extLst>
          </p:cNvPr>
          <p:cNvGrpSpPr/>
          <p:nvPr userDrawn="1"/>
        </p:nvGrpSpPr>
        <p:grpSpPr>
          <a:xfrm>
            <a:off x="12806460" y="541466"/>
            <a:ext cx="5481540" cy="9745534"/>
            <a:chOff x="0" y="0"/>
            <a:chExt cx="3571665" cy="6350000"/>
          </a:xfrm>
        </p:grpSpPr>
        <p:sp>
          <p:nvSpPr>
            <p:cNvPr id="4" name="Freeform 21">
              <a:extLst>
                <a:ext uri="{FF2B5EF4-FFF2-40B4-BE49-F238E27FC236}">
                  <a16:creationId xmlns:a16="http://schemas.microsoft.com/office/drawing/2014/main" id="{5E78CA94-BA02-F0AA-307E-BFA60F320CE0}"/>
                </a:ext>
              </a:extLst>
            </p:cNvPr>
            <p:cNvSpPr/>
            <p:nvPr/>
          </p:nvSpPr>
          <p:spPr>
            <a:xfrm>
              <a:off x="0" y="0"/>
              <a:ext cx="3571665" cy="6350000"/>
            </a:xfrm>
            <a:custGeom>
              <a:avLst/>
              <a:gdLst/>
              <a:ahLst/>
              <a:cxnLst/>
              <a:rect l="l" t="t" r="r" b="b"/>
              <a:pathLst>
                <a:path w="3571665" h="6350000">
                  <a:moveTo>
                    <a:pt x="3571665" y="0"/>
                  </a:moveTo>
                  <a:lnTo>
                    <a:pt x="3571665" y="6350000"/>
                  </a:lnTo>
                  <a:lnTo>
                    <a:pt x="0" y="6350000"/>
                  </a:lnTo>
                  <a:lnTo>
                    <a:pt x="0" y="4433570"/>
                  </a:lnTo>
                  <a:cubicBezTo>
                    <a:pt x="0" y="1985010"/>
                    <a:pt x="1599115" y="0"/>
                    <a:pt x="3571665" y="0"/>
                  </a:cubicBezTo>
                  <a:close/>
                </a:path>
              </a:pathLst>
            </a:custGeom>
            <a:blipFill>
              <a:blip r:embed="rId4"/>
              <a:stretch>
                <a:fillRect b="-12493"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</p:spTree>
    <p:extLst>
      <p:ext uri="{BB962C8B-B14F-4D97-AF65-F5344CB8AC3E}">
        <p14:creationId xmlns:p14="http://schemas.microsoft.com/office/powerpoint/2010/main" val="799621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F07FDC6-9BDE-6AE3-B330-405883C1FD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6358" b="3208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288000" cy="1257299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883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BB43-E16D-4909-B705-10F3C312386B}" type="datetime1">
              <a:rPr lang="en-US" smtClean="0"/>
              <a:t>9/5/26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6494784"/>
            <a:ext cx="18288000" cy="3792216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14D5DDD-850C-E3D5-089F-946B31AA6E4F}"/>
              </a:ext>
            </a:extLst>
          </p:cNvPr>
          <p:cNvGrpSpPr/>
          <p:nvPr userDrawn="1"/>
        </p:nvGrpSpPr>
        <p:grpSpPr>
          <a:xfrm>
            <a:off x="2243781" y="4802337"/>
            <a:ext cx="3044498" cy="3044498"/>
            <a:chOff x="0" y="0"/>
            <a:chExt cx="812800" cy="8128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5832B86-816F-4E35-739E-4E4D8720A7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8487" y="0"/>
                  </a:moveTo>
                  <a:lnTo>
                    <a:pt x="754313" y="0"/>
                  </a:lnTo>
                  <a:cubicBezTo>
                    <a:pt x="769825" y="0"/>
                    <a:pt x="784701" y="6162"/>
                    <a:pt x="795670" y="17131"/>
                  </a:cubicBezTo>
                  <a:cubicBezTo>
                    <a:pt x="806638" y="28099"/>
                    <a:pt x="812800" y="42975"/>
                    <a:pt x="812800" y="58487"/>
                  </a:cubicBezTo>
                  <a:lnTo>
                    <a:pt x="812800" y="754313"/>
                  </a:lnTo>
                  <a:cubicBezTo>
                    <a:pt x="812800" y="769825"/>
                    <a:pt x="806638" y="784701"/>
                    <a:pt x="795670" y="795670"/>
                  </a:cubicBezTo>
                  <a:cubicBezTo>
                    <a:pt x="784701" y="806638"/>
                    <a:pt x="769825" y="812800"/>
                    <a:pt x="754313" y="812800"/>
                  </a:cubicBezTo>
                  <a:lnTo>
                    <a:pt x="58487" y="812800"/>
                  </a:lnTo>
                  <a:cubicBezTo>
                    <a:pt x="42975" y="812800"/>
                    <a:pt x="28099" y="806638"/>
                    <a:pt x="17131" y="795670"/>
                  </a:cubicBezTo>
                  <a:cubicBezTo>
                    <a:pt x="6162" y="784701"/>
                    <a:pt x="0" y="769825"/>
                    <a:pt x="0" y="754313"/>
                  </a:cubicBezTo>
                  <a:lnTo>
                    <a:pt x="0" y="58487"/>
                  </a:lnTo>
                  <a:cubicBezTo>
                    <a:pt x="0" y="42975"/>
                    <a:pt x="6162" y="28099"/>
                    <a:pt x="17131" y="17131"/>
                  </a:cubicBezTo>
                  <a:cubicBezTo>
                    <a:pt x="28099" y="6162"/>
                    <a:pt x="42975" y="0"/>
                    <a:pt x="58487" y="0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7445D5-D8D6-6336-54B5-EDD6B53E34E3}"/>
              </a:ext>
            </a:extLst>
          </p:cNvPr>
          <p:cNvGrpSpPr/>
          <p:nvPr userDrawn="1"/>
        </p:nvGrpSpPr>
        <p:grpSpPr>
          <a:xfrm>
            <a:off x="12911781" y="4798394"/>
            <a:ext cx="3044498" cy="3044498"/>
            <a:chOff x="0" y="0"/>
            <a:chExt cx="812800" cy="8128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1B8107B-4159-A752-2A6F-923937A45B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8487" y="0"/>
                  </a:moveTo>
                  <a:lnTo>
                    <a:pt x="754313" y="0"/>
                  </a:lnTo>
                  <a:cubicBezTo>
                    <a:pt x="769825" y="0"/>
                    <a:pt x="784701" y="6162"/>
                    <a:pt x="795670" y="17131"/>
                  </a:cubicBezTo>
                  <a:cubicBezTo>
                    <a:pt x="806638" y="28099"/>
                    <a:pt x="812800" y="42975"/>
                    <a:pt x="812800" y="58487"/>
                  </a:cubicBezTo>
                  <a:lnTo>
                    <a:pt x="812800" y="754313"/>
                  </a:lnTo>
                  <a:cubicBezTo>
                    <a:pt x="812800" y="769825"/>
                    <a:pt x="806638" y="784701"/>
                    <a:pt x="795670" y="795670"/>
                  </a:cubicBezTo>
                  <a:cubicBezTo>
                    <a:pt x="784701" y="806638"/>
                    <a:pt x="769825" y="812800"/>
                    <a:pt x="754313" y="812800"/>
                  </a:cubicBezTo>
                  <a:lnTo>
                    <a:pt x="58487" y="812800"/>
                  </a:lnTo>
                  <a:cubicBezTo>
                    <a:pt x="42975" y="812800"/>
                    <a:pt x="28099" y="806638"/>
                    <a:pt x="17131" y="795670"/>
                  </a:cubicBezTo>
                  <a:cubicBezTo>
                    <a:pt x="6162" y="784701"/>
                    <a:pt x="0" y="769825"/>
                    <a:pt x="0" y="754313"/>
                  </a:cubicBezTo>
                  <a:lnTo>
                    <a:pt x="0" y="58487"/>
                  </a:lnTo>
                  <a:cubicBezTo>
                    <a:pt x="0" y="42975"/>
                    <a:pt x="6162" y="28099"/>
                    <a:pt x="17131" y="17131"/>
                  </a:cubicBezTo>
                  <a:cubicBezTo>
                    <a:pt x="28099" y="6162"/>
                    <a:pt x="42975" y="0"/>
                    <a:pt x="58487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BF38E9-5C83-1950-5E84-09CD9738214E}"/>
              </a:ext>
            </a:extLst>
          </p:cNvPr>
          <p:cNvGrpSpPr/>
          <p:nvPr userDrawn="1"/>
        </p:nvGrpSpPr>
        <p:grpSpPr>
          <a:xfrm>
            <a:off x="7562541" y="4800724"/>
            <a:ext cx="3044498" cy="3046111"/>
            <a:chOff x="9601200" y="4149039"/>
            <a:chExt cx="3044498" cy="29228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003CE0B-E8E0-B705-414C-24C924BDF831}"/>
                </a:ext>
              </a:extLst>
            </p:cNvPr>
            <p:cNvGrpSpPr/>
            <p:nvPr userDrawn="1"/>
          </p:nvGrpSpPr>
          <p:grpSpPr>
            <a:xfrm>
              <a:off x="9601200" y="4149039"/>
              <a:ext cx="3044498" cy="2922843"/>
              <a:chOff x="0" y="0"/>
              <a:chExt cx="812800" cy="812800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E8448F53-CA56-01A5-B7F3-DE10F7E207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3316" y="0"/>
                    </a:moveTo>
                    <a:lnTo>
                      <a:pt x="749484" y="0"/>
                    </a:lnTo>
                    <a:cubicBezTo>
                      <a:pt x="766277" y="0"/>
                      <a:pt x="782381" y="6671"/>
                      <a:pt x="794255" y="18545"/>
                    </a:cubicBezTo>
                    <a:cubicBezTo>
                      <a:pt x="806129" y="30419"/>
                      <a:pt x="812800" y="46523"/>
                      <a:pt x="812800" y="63316"/>
                    </a:cubicBezTo>
                    <a:lnTo>
                      <a:pt x="812800" y="749484"/>
                    </a:lnTo>
                    <a:cubicBezTo>
                      <a:pt x="812800" y="766277"/>
                      <a:pt x="806129" y="782381"/>
                      <a:pt x="794255" y="794255"/>
                    </a:cubicBezTo>
                    <a:cubicBezTo>
                      <a:pt x="782381" y="806129"/>
                      <a:pt x="766277" y="812800"/>
                      <a:pt x="749484" y="812800"/>
                    </a:cubicBezTo>
                    <a:lnTo>
                      <a:pt x="63316" y="812800"/>
                    </a:lnTo>
                    <a:cubicBezTo>
                      <a:pt x="46523" y="812800"/>
                      <a:pt x="30419" y="806129"/>
                      <a:pt x="18545" y="794255"/>
                    </a:cubicBezTo>
                    <a:cubicBezTo>
                      <a:pt x="6671" y="782381"/>
                      <a:pt x="0" y="766277"/>
                      <a:pt x="0" y="749484"/>
                    </a:cubicBezTo>
                    <a:lnTo>
                      <a:pt x="0" y="63316"/>
                    </a:lnTo>
                    <a:cubicBezTo>
                      <a:pt x="0" y="46523"/>
                      <a:pt x="6671" y="30419"/>
                      <a:pt x="18545" y="18545"/>
                    </a:cubicBezTo>
                    <a:cubicBezTo>
                      <a:pt x="30419" y="6671"/>
                      <a:pt x="46523" y="0"/>
                      <a:pt x="63316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endParaRPr lang="el-GR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237E87-9726-1D7E-D830-7E7564A61D87}"/>
                </a:ext>
              </a:extLst>
            </p:cNvPr>
            <p:cNvSpPr/>
            <p:nvPr userDrawn="1"/>
          </p:nvSpPr>
          <p:spPr>
            <a:xfrm>
              <a:off x="9616440" y="4351487"/>
              <a:ext cx="842661" cy="450850"/>
            </a:xfrm>
            <a:prstGeom prst="rect">
              <a:avLst/>
            </a:prstGeom>
            <a:solidFill>
              <a:srgbClr val="00061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719955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>
            <a:extLst>
              <a:ext uri="{FF2B5EF4-FFF2-40B4-BE49-F238E27FC236}">
                <a16:creationId xmlns:a16="http://schemas.microsoft.com/office/drawing/2014/main" id="{573948BD-6543-7A38-1A57-C3758689B1CF}"/>
              </a:ext>
            </a:extLst>
          </p:cNvPr>
          <p:cNvSpPr/>
          <p:nvPr userDrawn="1"/>
        </p:nvSpPr>
        <p:spPr>
          <a:xfrm>
            <a:off x="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0198727" h="13465818">
                <a:moveTo>
                  <a:pt x="0" y="0"/>
                </a:moveTo>
                <a:lnTo>
                  <a:pt x="20198727" y="0"/>
                </a:lnTo>
                <a:lnTo>
                  <a:pt x="20198727" y="13465819"/>
                </a:lnTo>
                <a:lnTo>
                  <a:pt x="0" y="134658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4725"/>
            </a:stretch>
          </a:blipFill>
        </p:spPr>
        <p:txBody>
          <a:bodyPr/>
          <a:lstStyle/>
          <a:p>
            <a:endParaRPr lang="el-G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sp>
        <p:nvSpPr>
          <p:cNvPr id="7" name="Freeform 11">
            <a:extLst>
              <a:ext uri="{FF2B5EF4-FFF2-40B4-BE49-F238E27FC236}">
                <a16:creationId xmlns:a16="http://schemas.microsoft.com/office/drawing/2014/main" id="{0AEAF7D9-ADC4-49A0-9DA9-7783245CAC9B}"/>
              </a:ext>
            </a:extLst>
          </p:cNvPr>
          <p:cNvSpPr/>
          <p:nvPr userDrawn="1"/>
        </p:nvSpPr>
        <p:spPr>
          <a:xfrm>
            <a:off x="-381000" y="-38100"/>
            <a:ext cx="2179610" cy="1741035"/>
          </a:xfrm>
          <a:custGeom>
            <a:avLst/>
            <a:gdLst/>
            <a:ahLst/>
            <a:cxnLst/>
            <a:rect l="l" t="t" r="r" b="b"/>
            <a:pathLst>
              <a:path w="2860324" h="2284778">
                <a:moveTo>
                  <a:pt x="0" y="0"/>
                </a:moveTo>
                <a:lnTo>
                  <a:pt x="2860324" y="0"/>
                </a:lnTo>
                <a:lnTo>
                  <a:pt x="2860324" y="2284778"/>
                </a:lnTo>
                <a:lnTo>
                  <a:pt x="0" y="228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08628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03FD400-28F7-6F22-DE86-998BFBEDF074}"/>
              </a:ext>
            </a:extLst>
          </p:cNvPr>
          <p:cNvSpPr/>
          <p:nvPr userDrawn="1"/>
        </p:nvSpPr>
        <p:spPr>
          <a:xfrm rot="-5400000">
            <a:off x="3989072" y="-4011932"/>
            <a:ext cx="10309860" cy="18288003"/>
          </a:xfrm>
          <a:custGeom>
            <a:avLst/>
            <a:gdLst/>
            <a:ahLst/>
            <a:cxnLst/>
            <a:rect l="l" t="t" r="r" b="b"/>
            <a:pathLst>
              <a:path w="12590962" h="18886443">
                <a:moveTo>
                  <a:pt x="0" y="0"/>
                </a:moveTo>
                <a:lnTo>
                  <a:pt x="12590962" y="0"/>
                </a:lnTo>
                <a:lnTo>
                  <a:pt x="12590962" y="18886443"/>
                </a:lnTo>
                <a:lnTo>
                  <a:pt x="0" y="18886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BD6BA-554C-4DDB-80F8-8F83FFE9CA97}" type="datetime1">
              <a:rPr lang="en-US" smtClean="0"/>
              <a:t>9/5/26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F7E55-1DB2-C0AF-3876-1821F53D1C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0300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FD2C28-FE9D-044B-3D88-B8377B57DB85}"/>
              </a:ext>
            </a:extLst>
          </p:cNvPr>
          <p:cNvSpPr/>
          <p:nvPr userDrawn="1"/>
        </p:nvSpPr>
        <p:spPr>
          <a:xfrm>
            <a:off x="1931498" y="3965417"/>
            <a:ext cx="3740699" cy="52236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4D5DDD-850C-E3D5-089F-946B31AA6E4F}"/>
              </a:ext>
            </a:extLst>
          </p:cNvPr>
          <p:cNvGrpSpPr/>
          <p:nvPr userDrawn="1"/>
        </p:nvGrpSpPr>
        <p:grpSpPr>
          <a:xfrm>
            <a:off x="2243781" y="4802337"/>
            <a:ext cx="3044498" cy="3044498"/>
            <a:chOff x="0" y="0"/>
            <a:chExt cx="812800" cy="812800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5832B86-816F-4E35-739E-4E4D8720A79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8487" y="0"/>
                  </a:moveTo>
                  <a:lnTo>
                    <a:pt x="754313" y="0"/>
                  </a:lnTo>
                  <a:cubicBezTo>
                    <a:pt x="769825" y="0"/>
                    <a:pt x="784701" y="6162"/>
                    <a:pt x="795670" y="17131"/>
                  </a:cubicBezTo>
                  <a:cubicBezTo>
                    <a:pt x="806638" y="28099"/>
                    <a:pt x="812800" y="42975"/>
                    <a:pt x="812800" y="58487"/>
                  </a:cubicBezTo>
                  <a:lnTo>
                    <a:pt x="812800" y="754313"/>
                  </a:lnTo>
                  <a:cubicBezTo>
                    <a:pt x="812800" y="769825"/>
                    <a:pt x="806638" y="784701"/>
                    <a:pt x="795670" y="795670"/>
                  </a:cubicBezTo>
                  <a:cubicBezTo>
                    <a:pt x="784701" y="806638"/>
                    <a:pt x="769825" y="812800"/>
                    <a:pt x="754313" y="812800"/>
                  </a:cubicBezTo>
                  <a:lnTo>
                    <a:pt x="58487" y="812800"/>
                  </a:lnTo>
                  <a:cubicBezTo>
                    <a:pt x="42975" y="812800"/>
                    <a:pt x="28099" y="806638"/>
                    <a:pt x="17131" y="795670"/>
                  </a:cubicBezTo>
                  <a:cubicBezTo>
                    <a:pt x="6162" y="784701"/>
                    <a:pt x="0" y="769825"/>
                    <a:pt x="0" y="754313"/>
                  </a:cubicBezTo>
                  <a:lnTo>
                    <a:pt x="0" y="58487"/>
                  </a:lnTo>
                  <a:cubicBezTo>
                    <a:pt x="0" y="42975"/>
                    <a:pt x="6162" y="28099"/>
                    <a:pt x="17131" y="17131"/>
                  </a:cubicBezTo>
                  <a:cubicBezTo>
                    <a:pt x="28099" y="6162"/>
                    <a:pt x="42975" y="0"/>
                    <a:pt x="58487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10DAFA7-7298-5A98-EC85-1AB3FB6C201B}"/>
              </a:ext>
            </a:extLst>
          </p:cNvPr>
          <p:cNvSpPr/>
          <p:nvPr userDrawn="1"/>
        </p:nvSpPr>
        <p:spPr>
          <a:xfrm>
            <a:off x="12497382" y="3965417"/>
            <a:ext cx="3740699" cy="52236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E96E066-0844-5673-644D-922AE47FAA9D}"/>
              </a:ext>
            </a:extLst>
          </p:cNvPr>
          <p:cNvSpPr/>
          <p:nvPr userDrawn="1"/>
        </p:nvSpPr>
        <p:spPr>
          <a:xfrm>
            <a:off x="7214440" y="3955589"/>
            <a:ext cx="3740699" cy="522366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7445D5-D8D6-6336-54B5-EDD6B53E34E3}"/>
              </a:ext>
            </a:extLst>
          </p:cNvPr>
          <p:cNvGrpSpPr/>
          <p:nvPr userDrawn="1"/>
        </p:nvGrpSpPr>
        <p:grpSpPr>
          <a:xfrm>
            <a:off x="12911781" y="4798394"/>
            <a:ext cx="3044498" cy="3044498"/>
            <a:chOff x="0" y="0"/>
            <a:chExt cx="812800" cy="812800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E1B8107B-4159-A752-2A6F-923937A45B9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8487" y="0"/>
                  </a:moveTo>
                  <a:lnTo>
                    <a:pt x="754313" y="0"/>
                  </a:lnTo>
                  <a:cubicBezTo>
                    <a:pt x="769825" y="0"/>
                    <a:pt x="784701" y="6162"/>
                    <a:pt x="795670" y="17131"/>
                  </a:cubicBezTo>
                  <a:cubicBezTo>
                    <a:pt x="806638" y="28099"/>
                    <a:pt x="812800" y="42975"/>
                    <a:pt x="812800" y="58487"/>
                  </a:cubicBezTo>
                  <a:lnTo>
                    <a:pt x="812800" y="754313"/>
                  </a:lnTo>
                  <a:cubicBezTo>
                    <a:pt x="812800" y="769825"/>
                    <a:pt x="806638" y="784701"/>
                    <a:pt x="795670" y="795670"/>
                  </a:cubicBezTo>
                  <a:cubicBezTo>
                    <a:pt x="784701" y="806638"/>
                    <a:pt x="769825" y="812800"/>
                    <a:pt x="754313" y="812800"/>
                  </a:cubicBezTo>
                  <a:lnTo>
                    <a:pt x="58487" y="812800"/>
                  </a:lnTo>
                  <a:cubicBezTo>
                    <a:pt x="42975" y="812800"/>
                    <a:pt x="28099" y="806638"/>
                    <a:pt x="17131" y="795670"/>
                  </a:cubicBezTo>
                  <a:cubicBezTo>
                    <a:pt x="6162" y="784701"/>
                    <a:pt x="0" y="769825"/>
                    <a:pt x="0" y="754313"/>
                  </a:cubicBezTo>
                  <a:lnTo>
                    <a:pt x="0" y="58487"/>
                  </a:lnTo>
                  <a:cubicBezTo>
                    <a:pt x="0" y="42975"/>
                    <a:pt x="6162" y="28099"/>
                    <a:pt x="17131" y="17131"/>
                  </a:cubicBezTo>
                  <a:cubicBezTo>
                    <a:pt x="28099" y="6162"/>
                    <a:pt x="42975" y="0"/>
                    <a:pt x="58487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l-GR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7BF38E9-5C83-1950-5E84-09CD9738214E}"/>
              </a:ext>
            </a:extLst>
          </p:cNvPr>
          <p:cNvGrpSpPr/>
          <p:nvPr userDrawn="1"/>
        </p:nvGrpSpPr>
        <p:grpSpPr>
          <a:xfrm>
            <a:off x="7562541" y="4800724"/>
            <a:ext cx="3044498" cy="3046111"/>
            <a:chOff x="9601200" y="4149039"/>
            <a:chExt cx="3044498" cy="292284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003CE0B-E8E0-B705-414C-24C924BDF831}"/>
                </a:ext>
              </a:extLst>
            </p:cNvPr>
            <p:cNvGrpSpPr/>
            <p:nvPr userDrawn="1"/>
          </p:nvGrpSpPr>
          <p:grpSpPr>
            <a:xfrm>
              <a:off x="9601200" y="4149039"/>
              <a:ext cx="3044498" cy="2922843"/>
              <a:chOff x="0" y="0"/>
              <a:chExt cx="812800" cy="812800"/>
            </a:xfrm>
          </p:grpSpPr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E8448F53-CA56-01A5-B7F3-DE10F7E2075A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63316" y="0"/>
                    </a:moveTo>
                    <a:lnTo>
                      <a:pt x="749484" y="0"/>
                    </a:lnTo>
                    <a:cubicBezTo>
                      <a:pt x="766277" y="0"/>
                      <a:pt x="782381" y="6671"/>
                      <a:pt x="794255" y="18545"/>
                    </a:cubicBezTo>
                    <a:cubicBezTo>
                      <a:pt x="806129" y="30419"/>
                      <a:pt x="812800" y="46523"/>
                      <a:pt x="812800" y="63316"/>
                    </a:cubicBezTo>
                    <a:lnTo>
                      <a:pt x="812800" y="749484"/>
                    </a:lnTo>
                    <a:cubicBezTo>
                      <a:pt x="812800" y="766277"/>
                      <a:pt x="806129" y="782381"/>
                      <a:pt x="794255" y="794255"/>
                    </a:cubicBezTo>
                    <a:cubicBezTo>
                      <a:pt x="782381" y="806129"/>
                      <a:pt x="766277" y="812800"/>
                      <a:pt x="749484" y="812800"/>
                    </a:cubicBezTo>
                    <a:lnTo>
                      <a:pt x="63316" y="812800"/>
                    </a:lnTo>
                    <a:cubicBezTo>
                      <a:pt x="46523" y="812800"/>
                      <a:pt x="30419" y="806129"/>
                      <a:pt x="18545" y="794255"/>
                    </a:cubicBezTo>
                    <a:cubicBezTo>
                      <a:pt x="6671" y="782381"/>
                      <a:pt x="0" y="766277"/>
                      <a:pt x="0" y="749484"/>
                    </a:cubicBezTo>
                    <a:lnTo>
                      <a:pt x="0" y="63316"/>
                    </a:lnTo>
                    <a:cubicBezTo>
                      <a:pt x="0" y="46523"/>
                      <a:pt x="6671" y="30419"/>
                      <a:pt x="18545" y="18545"/>
                    </a:cubicBezTo>
                    <a:cubicBezTo>
                      <a:pt x="30419" y="6671"/>
                      <a:pt x="46523" y="0"/>
                      <a:pt x="63316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l="-25000" r="-25000"/>
                </a:stretch>
              </a:blipFill>
            </p:spPr>
            <p:txBody>
              <a:bodyPr/>
              <a:lstStyle/>
              <a:p>
                <a:endParaRPr lang="el-GR"/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237E87-9726-1D7E-D830-7E7564A61D87}"/>
                </a:ext>
              </a:extLst>
            </p:cNvPr>
            <p:cNvSpPr/>
            <p:nvPr userDrawn="1"/>
          </p:nvSpPr>
          <p:spPr>
            <a:xfrm>
              <a:off x="9616440" y="4351487"/>
              <a:ext cx="842661" cy="450850"/>
            </a:xfrm>
            <a:prstGeom prst="rect">
              <a:avLst/>
            </a:prstGeom>
            <a:solidFill>
              <a:srgbClr val="00061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" name="Freeform 11">
            <a:extLst>
              <a:ext uri="{FF2B5EF4-FFF2-40B4-BE49-F238E27FC236}">
                <a16:creationId xmlns:a16="http://schemas.microsoft.com/office/drawing/2014/main" id="{578061C8-C3CC-455C-3B74-C08EB3728E81}"/>
              </a:ext>
            </a:extLst>
          </p:cNvPr>
          <p:cNvSpPr/>
          <p:nvPr userDrawn="1"/>
        </p:nvSpPr>
        <p:spPr>
          <a:xfrm>
            <a:off x="-381000" y="-38100"/>
            <a:ext cx="2179610" cy="1741035"/>
          </a:xfrm>
          <a:custGeom>
            <a:avLst/>
            <a:gdLst/>
            <a:ahLst/>
            <a:cxnLst/>
            <a:rect l="l" t="t" r="r" b="b"/>
            <a:pathLst>
              <a:path w="2860324" h="2284778">
                <a:moveTo>
                  <a:pt x="0" y="0"/>
                </a:moveTo>
                <a:lnTo>
                  <a:pt x="2860324" y="0"/>
                </a:lnTo>
                <a:lnTo>
                  <a:pt x="2860324" y="2284778"/>
                </a:lnTo>
                <a:lnTo>
                  <a:pt x="0" y="2284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7929620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288000" cy="1257299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  <p:sp>
        <p:nvSpPr>
          <p:cNvPr id="10" name="Freeform 11">
            <a:extLst>
              <a:ext uri="{FF2B5EF4-FFF2-40B4-BE49-F238E27FC236}">
                <a16:creationId xmlns:a16="http://schemas.microsoft.com/office/drawing/2014/main" id="{D1682B63-6C1E-8144-8AC2-C471C71E1736}"/>
              </a:ext>
            </a:extLst>
          </p:cNvPr>
          <p:cNvSpPr/>
          <p:nvPr userDrawn="1"/>
        </p:nvSpPr>
        <p:spPr>
          <a:xfrm>
            <a:off x="8839200" y="4076700"/>
            <a:ext cx="10992661" cy="4953000"/>
          </a:xfrm>
          <a:custGeom>
            <a:avLst/>
            <a:gdLst/>
            <a:ahLst/>
            <a:cxnLst/>
            <a:rect l="l" t="t" r="r" b="b"/>
            <a:pathLst>
              <a:path w="2860324" h="2284778">
                <a:moveTo>
                  <a:pt x="0" y="0"/>
                </a:moveTo>
                <a:lnTo>
                  <a:pt x="2860324" y="0"/>
                </a:lnTo>
                <a:lnTo>
                  <a:pt x="2860324" y="2284778"/>
                </a:lnTo>
                <a:lnTo>
                  <a:pt x="0" y="228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duotone>
                <a:prstClr val="black"/>
                <a:srgbClr val="02464E">
                  <a:tint val="45000"/>
                  <a:satMod val="400000"/>
                </a:srgbClr>
              </a:duotone>
            </a:blip>
            <a:stretch>
              <a:fillRect t="-1" r="-6918" b="-89066"/>
            </a:stretch>
          </a:blipFill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29805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>
            <a:extLst>
              <a:ext uri="{FF2B5EF4-FFF2-40B4-BE49-F238E27FC236}">
                <a16:creationId xmlns:a16="http://schemas.microsoft.com/office/drawing/2014/main" id="{573948BD-6543-7A38-1A57-C3758689B1CF}"/>
              </a:ext>
            </a:extLst>
          </p:cNvPr>
          <p:cNvSpPr/>
          <p:nvPr userDrawn="1"/>
        </p:nvSpPr>
        <p:spPr>
          <a:xfrm>
            <a:off x="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0198727" h="13465818">
                <a:moveTo>
                  <a:pt x="0" y="0"/>
                </a:moveTo>
                <a:lnTo>
                  <a:pt x="20198727" y="0"/>
                </a:lnTo>
                <a:lnTo>
                  <a:pt x="20198727" y="13465819"/>
                </a:lnTo>
                <a:lnTo>
                  <a:pt x="0" y="134658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000"/>
            </a:blip>
            <a:stretch>
              <a:fillRect t="-14725"/>
            </a:stretch>
          </a:blipFill>
        </p:spPr>
        <p:txBody>
          <a:bodyPr/>
          <a:lstStyle/>
          <a:p>
            <a:endParaRPr lang="el-G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sp>
        <p:nvSpPr>
          <p:cNvPr id="7" name="Freeform 11">
            <a:extLst>
              <a:ext uri="{FF2B5EF4-FFF2-40B4-BE49-F238E27FC236}">
                <a16:creationId xmlns:a16="http://schemas.microsoft.com/office/drawing/2014/main" id="{0AEAF7D9-ADC4-49A0-9DA9-7783245CAC9B}"/>
              </a:ext>
            </a:extLst>
          </p:cNvPr>
          <p:cNvSpPr/>
          <p:nvPr userDrawn="1"/>
        </p:nvSpPr>
        <p:spPr>
          <a:xfrm>
            <a:off x="-381000" y="-38100"/>
            <a:ext cx="2179610" cy="1741035"/>
          </a:xfrm>
          <a:custGeom>
            <a:avLst/>
            <a:gdLst/>
            <a:ahLst/>
            <a:cxnLst/>
            <a:rect l="l" t="t" r="r" b="b"/>
            <a:pathLst>
              <a:path w="2860324" h="2284778">
                <a:moveTo>
                  <a:pt x="0" y="0"/>
                </a:moveTo>
                <a:lnTo>
                  <a:pt x="2860324" y="0"/>
                </a:lnTo>
                <a:lnTo>
                  <a:pt x="2860324" y="2284778"/>
                </a:lnTo>
                <a:lnTo>
                  <a:pt x="0" y="228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95787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288000" cy="1257299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  <p:sp>
        <p:nvSpPr>
          <p:cNvPr id="3" name="Hexagon 2">
            <a:extLst>
              <a:ext uri="{FF2B5EF4-FFF2-40B4-BE49-F238E27FC236}">
                <a16:creationId xmlns:a16="http://schemas.microsoft.com/office/drawing/2014/main" id="{A1CE02BE-54DF-B836-6301-C0351D5BEB32}"/>
              </a:ext>
            </a:extLst>
          </p:cNvPr>
          <p:cNvSpPr/>
          <p:nvPr userDrawn="1"/>
        </p:nvSpPr>
        <p:spPr>
          <a:xfrm rot="2132267">
            <a:off x="16392396" y="3061738"/>
            <a:ext cx="3109848" cy="2602118"/>
          </a:xfrm>
          <a:prstGeom prst="hexagon">
            <a:avLst>
              <a:gd name="adj" fmla="val 35893"/>
              <a:gd name="vf" fmla="val 115470"/>
            </a:avLst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4B7F180F-EBEC-3D13-BF6C-6C186C2426D4}"/>
              </a:ext>
            </a:extLst>
          </p:cNvPr>
          <p:cNvSpPr/>
          <p:nvPr userDrawn="1"/>
        </p:nvSpPr>
        <p:spPr>
          <a:xfrm rot="2202666">
            <a:off x="15772524" y="1603956"/>
            <a:ext cx="1986938" cy="1662764"/>
          </a:xfrm>
          <a:prstGeom prst="hexagon">
            <a:avLst>
              <a:gd name="adj" fmla="val 33340"/>
              <a:gd name="vf" fmla="val 115470"/>
            </a:avLst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526B01A-0E1C-BCE6-2FE0-BD5B8ECDD61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0248" t="24065" b="23513"/>
          <a:stretch>
            <a:fillRect/>
          </a:stretch>
        </p:blipFill>
        <p:spPr>
          <a:xfrm>
            <a:off x="14547520" y="5166360"/>
            <a:ext cx="4097103" cy="3729068"/>
          </a:xfrm>
          <a:prstGeom prst="pentagon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5A45C1-F571-B0AA-6FFE-108ACEC289E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10248" t="24065" b="23513"/>
          <a:stretch>
            <a:fillRect/>
          </a:stretch>
        </p:blipFill>
        <p:spPr>
          <a:xfrm rot="2078217">
            <a:off x="16998354" y="527104"/>
            <a:ext cx="1460052" cy="1273428"/>
          </a:xfrm>
          <a:prstGeom prst="pentagon">
            <a:avLst/>
          </a:prstGeom>
        </p:spPr>
      </p:pic>
    </p:spTree>
    <p:extLst>
      <p:ext uri="{BB962C8B-B14F-4D97-AF65-F5344CB8AC3E}">
        <p14:creationId xmlns:p14="http://schemas.microsoft.com/office/powerpoint/2010/main" val="1006412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516600" cy="1257300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672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516600" cy="1257300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C8A599-0361-19A8-DD77-4FA71EA48AE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207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CE1299-D360-ECC5-DF55-7F2C0031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C0E06-B361-4987-9FD9-1A2641C05328}" type="datetime1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86F6D-876E-C855-F8E4-40CFF4C85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722DE-50C8-B0CF-A377-740BE0ECB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4D051E-FD15-3EE9-CF0A-EBB7600407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6358" b="3208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3A4CA1F-3890-D6BF-56BD-3B67D35ABF61}"/>
              </a:ext>
            </a:extLst>
          </p:cNvPr>
          <p:cNvSpPr/>
          <p:nvPr userDrawn="1"/>
        </p:nvSpPr>
        <p:spPr>
          <a:xfrm>
            <a:off x="0" y="9029700"/>
            <a:ext cx="18516600" cy="1257300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B036AC-BB8C-0AD3-F326-0F902DB9D9A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329571" y="0"/>
            <a:ext cx="2051981" cy="164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94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F35AE2-98FD-AAC4-5B46-ABBA896419A3}"/>
              </a:ext>
            </a:extLst>
          </p:cNvPr>
          <p:cNvSpPr/>
          <p:nvPr userDrawn="1"/>
        </p:nvSpPr>
        <p:spPr>
          <a:xfrm>
            <a:off x="0" y="0"/>
            <a:ext cx="18288000" cy="7395807"/>
          </a:xfrm>
          <a:custGeom>
            <a:avLst/>
            <a:gdLst/>
            <a:ahLst/>
            <a:cxnLst/>
            <a:rect l="l" t="t" r="r" b="b"/>
            <a:pathLst>
              <a:path w="18194019" h="11512089">
                <a:moveTo>
                  <a:pt x="0" y="0"/>
                </a:moveTo>
                <a:lnTo>
                  <a:pt x="18194020" y="0"/>
                </a:lnTo>
                <a:lnTo>
                  <a:pt x="18194020" y="11512088"/>
                </a:lnTo>
                <a:lnTo>
                  <a:pt x="0" y="11512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5303" b="-188459"/>
            </a:stretch>
          </a:blipFill>
        </p:spPr>
        <p:txBody>
          <a:bodyPr/>
          <a:lstStyle/>
          <a:p>
            <a:endParaRPr lang="el-G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06D58-4995-A0BF-8DB7-4C939F579B54}"/>
              </a:ext>
            </a:extLst>
          </p:cNvPr>
          <p:cNvSpPr/>
          <p:nvPr userDrawn="1"/>
        </p:nvSpPr>
        <p:spPr>
          <a:xfrm>
            <a:off x="0" y="9029700"/>
            <a:ext cx="18516600" cy="1257300"/>
          </a:xfrm>
          <a:prstGeom prst="rect">
            <a:avLst/>
          </a:prstGeom>
          <a:solidFill>
            <a:srgbClr val="02464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17921-C4CF-E9AF-D712-819D456650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28600" y="9202112"/>
            <a:ext cx="4035902" cy="89619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3035AC-0941-D2D7-D9A0-D851459A13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59504" y="7395807"/>
            <a:ext cx="2168991" cy="17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54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B35E8F-E06E-4E25-ACD7-59446347D123}" type="datetime1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0" r:id="rId2"/>
    <p:sldLayoutId id="2147483661" r:id="rId3"/>
    <p:sldLayoutId id="2147483662" r:id="rId4"/>
    <p:sldLayoutId id="2147483672" r:id="rId5"/>
    <p:sldLayoutId id="2147483663" r:id="rId6"/>
    <p:sldLayoutId id="2147483664" r:id="rId7"/>
    <p:sldLayoutId id="2147483673" r:id="rId8"/>
    <p:sldLayoutId id="2147483665" r:id="rId9"/>
    <p:sldLayoutId id="2147483674" r:id="rId10"/>
    <p:sldLayoutId id="2147483667" r:id="rId11"/>
    <p:sldLayoutId id="2147483668" r:id="rId12"/>
    <p:sldLayoutId id="2147483666" r:id="rId13"/>
    <p:sldLayoutId id="2147483669" r:id="rId14"/>
    <p:sldLayoutId id="2147483670" r:id="rId15"/>
    <p:sldLayoutId id="2147483675" r:id="rId16"/>
    <p:sldLayoutId id="2147483671" r:id="rId17"/>
    <p:sldLayoutId id="214748367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100" Type="http://schemas.openxmlformats.org/officeDocument/2006/relationships/image" Target="../media/process_white.png"/><Relationship Id="rId101" Type="http://schemas.openxmlformats.org/officeDocument/2006/relationships/image" Target="../media/storage_white.png"/><Relationship Id="rId102" Type="http://schemas.openxmlformats.org/officeDocument/2006/relationships/image" Target="../media/act_white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100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1.png"/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2" Type="http://schemas.openxmlformats.org/officeDocument/2006/relationships/image" Target="../media/image32.png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5.png"/><Relationship Id="rId11" Type="http://schemas.openxmlformats.org/officeDocument/2006/relationships/image" Target="../media/image39.png"/><Relationship Id="rId5" Type="http://schemas.openxmlformats.org/officeDocument/2006/relationships/image" Target="../media/image34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17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9.png"/><Relationship Id="rId4" Type="http://schemas.openxmlformats.org/officeDocument/2006/relationships/image" Target="../media/image18.png"/><Relationship Id="rId100" Type="http://schemas.openxmlformats.org/officeDocument/2006/relationships/image" Target="../media/image40.png"/><Relationship Id="rId101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77DAB5-1FCF-D8F3-135B-3ADF26FE407A}"/>
              </a:ext>
            </a:extLst>
          </p:cNvPr>
          <p:cNvSpPr txBox="1"/>
          <p:nvPr/>
        </p:nvSpPr>
        <p:spPr>
          <a:xfrm>
            <a:off x="4800600" y="6896100"/>
            <a:ext cx="92601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</a:rPr>
              <a:t>FROM SENSORS TO</a:t>
            </a:r>
            <a:r>
              <a:rPr kumimoji="0" lang="el-G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alibri" panose="020B0004020202020204" pitchFamily="34" charset="0"/>
              </a:rPr>
              <a:t>ENVIRONMENTAL INTELLIGENCE
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02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52600" y="495880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The Environmental Data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2600" y="1147213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Why collection alone is not enough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4397" y="2315245"/>
            <a:ext cx="3429000" cy="4251960"/>
          </a:xfrm>
          <a:prstGeom prst="roundRect">
            <a:avLst/>
          </a:prstGeom>
          <a:solidFill>
            <a:srgbClr val="E2EFF7"/>
          </a:solidFill>
          <a:ln w="10160"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299321" y="2472760"/>
            <a:ext cx="45719" cy="3787140"/>
          </a:xfrm>
          <a:prstGeom prst="roundRect">
            <a:avLst/>
          </a:prstGeom>
          <a:solidFill>
            <a:srgbClr val="1E6FA8"/>
          </a:solidFill>
          <a:ln>
            <a:solidFill>
              <a:srgbClr val="1E6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01335" y="2508821"/>
            <a:ext cx="310896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C243A"/>
                </a:solidFill>
                <a:latin typeface="Calibri"/>
              </a:rPr>
              <a:t>Heterogeneous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8361" y="3428095"/>
            <a:ext cx="1828076" cy="317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B2B36"/>
                </a:solidFill>
                <a:latin typeface="Calibri"/>
              </a:rPr>
              <a:t>Multiple manufacturers
Different pollutants &amp; units
Different sampling rates
External weather and reference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6272" y="2287924"/>
            <a:ext cx="3429000" cy="4251960"/>
          </a:xfrm>
          <a:prstGeom prst="roundRect">
            <a:avLst/>
          </a:prstGeom>
          <a:solidFill>
            <a:srgbClr val="E0F5F6"/>
          </a:solidFill>
          <a:ln w="10160"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64229" y="2364846"/>
            <a:ext cx="47680" cy="4002969"/>
          </a:xfrm>
          <a:prstGeom prst="roundRect">
            <a:avLst/>
          </a:prstGeom>
          <a:solidFill>
            <a:srgbClr val="25AAB4"/>
          </a:solidFill>
          <a:ln>
            <a:solidFill>
              <a:srgbClr val="25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24246" y="2458599"/>
            <a:ext cx="31089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C243A"/>
                </a:solidFill>
                <a:latin typeface="Calibri"/>
              </a:rPr>
              <a:t>Data quality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5062" y="3488536"/>
            <a:ext cx="2297138" cy="28623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B2B36"/>
                </a:solidFill>
                <a:latin typeface="Calibri"/>
              </a:rPr>
              <a:t>Missing data &amp; communication gaps
Noise, spikes &amp; flat-lines
Drift and cross-sensitivity
Temperature / humidity effects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24603" y="2230155"/>
            <a:ext cx="3429000" cy="4251960"/>
          </a:xfrm>
          <a:prstGeom prst="roundRect">
            <a:avLst/>
          </a:prstGeom>
          <a:solidFill>
            <a:srgbClr val="E5F2EB"/>
          </a:solidFill>
          <a:ln w="10160"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3208871" y="2344455"/>
            <a:ext cx="45719" cy="4023360"/>
          </a:xfrm>
          <a:prstGeom prst="roundRect">
            <a:avLst/>
          </a:prstGeom>
          <a:solidFill>
            <a:srgbClr val="4C9674"/>
          </a:solidFill>
          <a:ln>
            <a:solidFill>
              <a:srgbClr val="4C9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348385" y="2320758"/>
            <a:ext cx="310896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0C243A"/>
                </a:solidFill>
                <a:latin typeface="Calibri"/>
              </a:rPr>
              <a:t>Operational requirements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48385" y="3704610"/>
            <a:ext cx="2611265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rgbClr val="1B2B36"/>
                </a:solidFill>
                <a:latin typeface="Calibri"/>
              </a:rPr>
              <a:t>Near-real-time processing
Historical analytics
Traceability &amp; provenance
Integration with external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9783" y="6977892"/>
            <a:ext cx="99669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The goal: convert distributed raw measurements into consistent, trustworthy and reusable environmental information.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A04593-8A77-6A62-71E8-D5479AEB9459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CE2955DD-0EA6-7A8A-F269-38DF72DB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 flipV="1">
            <a:off x="4829322" y="3230997"/>
            <a:ext cx="580878" cy="464703"/>
          </a:xfrm>
          <a:prstGeom prst="rect">
            <a:avLst/>
          </a:prstGeom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0A271C24-D32F-197B-CAED-A83E64BB2F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271" y="3141171"/>
            <a:ext cx="478329" cy="478329"/>
          </a:xfrm>
          <a:prstGeom prst="rect">
            <a:avLst/>
          </a:prstGeom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BCFFA250-B6EF-D43A-17FB-CB3A9B098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97200" y="3162300"/>
            <a:ext cx="457200" cy="457200"/>
          </a:xfrm>
          <a:prstGeom prst="rect">
            <a:avLst/>
          </a:prstGeom>
        </p:spPr>
      </p:pic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40" y="321706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0C243A"/>
                </a:solidFill>
                <a:latin typeface="Calibri"/>
              </a:rPr>
              <a:t>The End-to-End Environmental Data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9389" y="1018157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A single pipeline from observation to decision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46965" y="7340243"/>
            <a:ext cx="10972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Data provenance and traceability are maintained across every transformation.</a:t>
            </a:r>
          </a:p>
        </p:txBody>
      </p:sp>
      <p:grpSp>
        <p:nvGrpSpPr>
          <p:cNvPr id="300" name="Ομάδα 299">
            <a:extLst>
              <a:ext uri="{FF2B5EF4-FFF2-40B4-BE49-F238E27FC236}">
                <a16:creationId xmlns:a16="http://schemas.microsoft.com/office/drawing/2014/main" id="{593F3E5C-E3CC-0132-DF55-6CBDA92FD3E6}"/>
              </a:ext>
            </a:extLst>
          </p:cNvPr>
          <p:cNvGrpSpPr/>
          <p:nvPr/>
        </p:nvGrpSpPr>
        <p:grpSpPr>
          <a:xfrm>
            <a:off x="2362200" y="2210453"/>
            <a:ext cx="13335000" cy="4333148"/>
            <a:chOff x="640080" y="1481327"/>
            <a:chExt cx="10972800" cy="3411637"/>
          </a:xfrm>
        </p:grpSpPr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53E431A1-D335-66F4-1C74-4F7071054B5F}"/>
                </a:ext>
              </a:extLst>
            </p:cNvPr>
            <p:cNvSpPr txBox="1"/>
            <p:nvPr/>
          </p:nvSpPr>
          <p:spPr>
            <a:xfrm>
              <a:off x="640080" y="2331720"/>
              <a:ext cx="2194560" cy="21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b="1" i="0" dirty="0">
                  <a:solidFill>
                    <a:srgbClr val="0C243A"/>
                  </a:solidFill>
                  <a:latin typeface="Calibri"/>
                </a:rPr>
                <a:t>SENSE</a:t>
              </a:r>
            </a:p>
          </p:txBody>
        </p:sp>
        <p:grpSp>
          <p:nvGrpSpPr>
            <p:cNvPr id="302" name="Ομάδα 301">
              <a:extLst>
                <a:ext uri="{FF2B5EF4-FFF2-40B4-BE49-F238E27FC236}">
                  <a16:creationId xmlns:a16="http://schemas.microsoft.com/office/drawing/2014/main" id="{F864201B-1138-D370-F14F-0FF3214D9D56}"/>
                </a:ext>
              </a:extLst>
            </p:cNvPr>
            <p:cNvGrpSpPr/>
            <p:nvPr/>
          </p:nvGrpSpPr>
          <p:grpSpPr>
            <a:xfrm>
              <a:off x="1892808" y="1481327"/>
              <a:ext cx="7525512" cy="2157985"/>
              <a:chOff x="1892808" y="1481327"/>
              <a:chExt cx="7525512" cy="2157985"/>
            </a:xfrm>
          </p:grpSpPr>
          <p:sp>
            <p:nvSpPr>
              <p:cNvPr id="351" name="Oval 6">
                <a:extLst>
                  <a:ext uri="{FF2B5EF4-FFF2-40B4-BE49-F238E27FC236}">
                    <a16:creationId xmlns:a16="http://schemas.microsoft.com/office/drawing/2014/main" id="{613662B0-2F67-9E7E-FE83-9131C7B91B52}"/>
                  </a:ext>
                </a:extLst>
              </p:cNvPr>
              <p:cNvSpPr/>
              <p:nvPr/>
            </p:nvSpPr>
            <p:spPr>
              <a:xfrm>
                <a:off x="1892808" y="1481327"/>
                <a:ext cx="237744" cy="23774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1E6F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sz="1000" b="1">
                    <a:solidFill>
                      <a:srgbClr val="1E6FA8"/>
                    </a:solidFill>
                    <a:latin typeface="Calibri"/>
                  </a:rPr>
                  <a:t>1</a:t>
                </a:r>
              </a:p>
            </p:txBody>
          </p:sp>
          <p:sp>
            <p:nvSpPr>
              <p:cNvPr id="352" name="Oval 11">
                <a:extLst>
                  <a:ext uri="{FF2B5EF4-FFF2-40B4-BE49-F238E27FC236}">
                    <a16:creationId xmlns:a16="http://schemas.microsoft.com/office/drawing/2014/main" id="{A0CFCBF5-6FA8-23D9-DAAB-20BF09A4F4F6}"/>
                  </a:ext>
                </a:extLst>
              </p:cNvPr>
              <p:cNvSpPr/>
              <p:nvPr/>
            </p:nvSpPr>
            <p:spPr>
              <a:xfrm>
                <a:off x="4087368" y="1481327"/>
                <a:ext cx="237744" cy="23774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25AAB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sz="1000" b="1">
                    <a:solidFill>
                      <a:srgbClr val="25AAB4"/>
                    </a:solidFill>
                    <a:latin typeface="Calibri"/>
                  </a:rPr>
                  <a:t>2</a:t>
                </a:r>
              </a:p>
            </p:txBody>
          </p:sp>
          <p:sp>
            <p:nvSpPr>
              <p:cNvPr id="353" name="Oval 16">
                <a:extLst>
                  <a:ext uri="{FF2B5EF4-FFF2-40B4-BE49-F238E27FC236}">
                    <a16:creationId xmlns:a16="http://schemas.microsoft.com/office/drawing/2014/main" id="{D17F4E5C-B14E-C95C-5604-5FBC1B4EA33A}"/>
                  </a:ext>
                </a:extLst>
              </p:cNvPr>
              <p:cNvSpPr/>
              <p:nvPr/>
            </p:nvSpPr>
            <p:spPr>
              <a:xfrm>
                <a:off x="6281928" y="1481327"/>
                <a:ext cx="237744" cy="237744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4C967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sz="1000" b="1">
                    <a:solidFill>
                      <a:srgbClr val="4C9674"/>
                    </a:solidFill>
                    <a:latin typeface="Calibri"/>
                  </a:rPr>
                  <a:t>3</a:t>
                </a:r>
              </a:p>
            </p:txBody>
          </p:sp>
          <p:grpSp>
            <p:nvGrpSpPr>
              <p:cNvPr id="354" name="Ομάδα 353">
                <a:extLst>
                  <a:ext uri="{FF2B5EF4-FFF2-40B4-BE49-F238E27FC236}">
                    <a16:creationId xmlns:a16="http://schemas.microsoft.com/office/drawing/2014/main" id="{17EB9762-C8F6-E2FD-B4BC-50B10CCD9DE4}"/>
                  </a:ext>
                </a:extLst>
              </p:cNvPr>
              <p:cNvGrpSpPr/>
              <p:nvPr/>
            </p:nvGrpSpPr>
            <p:grpSpPr>
              <a:xfrm>
                <a:off x="2834640" y="2331720"/>
                <a:ext cx="6583680" cy="1307592"/>
                <a:chOff x="2834640" y="2331720"/>
                <a:chExt cx="6583680" cy="1307592"/>
              </a:xfrm>
            </p:grpSpPr>
            <p:sp>
              <p:nvSpPr>
                <p:cNvPr id="355" name="TextBox 354">
                  <a:extLst>
                    <a:ext uri="{FF2B5EF4-FFF2-40B4-BE49-F238E27FC236}">
                      <a16:creationId xmlns:a16="http://schemas.microsoft.com/office/drawing/2014/main" id="{4B411F7F-7D02-34C6-AD3F-F5C1332C2423}"/>
                    </a:ext>
                  </a:extLst>
                </p:cNvPr>
                <p:cNvSpPr txBox="1"/>
                <p:nvPr/>
              </p:nvSpPr>
              <p:spPr>
                <a:xfrm>
                  <a:off x="2834640" y="2331720"/>
                  <a:ext cx="2194560" cy="2180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b="1" i="0" dirty="0">
                      <a:solidFill>
                        <a:srgbClr val="0C243A"/>
                      </a:solidFill>
                      <a:latin typeface="Calibri"/>
                    </a:rPr>
                    <a:t>CONNECT</a:t>
                  </a:r>
                  <a:endParaRPr sz="1600" b="1" i="0" dirty="0">
                    <a:solidFill>
                      <a:srgbClr val="0C243A"/>
                    </a:solidFill>
                    <a:latin typeface="Calibri"/>
                  </a:endParaRPr>
                </a:p>
              </p:txBody>
            </p:sp>
            <p:sp>
              <p:nvSpPr>
                <p:cNvPr id="356" name="TextBox 355">
                  <a:extLst>
                    <a:ext uri="{FF2B5EF4-FFF2-40B4-BE49-F238E27FC236}">
                      <a16:creationId xmlns:a16="http://schemas.microsoft.com/office/drawing/2014/main" id="{620B2389-BD38-DA24-E8E9-869FEF6100CE}"/>
                    </a:ext>
                  </a:extLst>
                </p:cNvPr>
                <p:cNvSpPr txBox="1"/>
                <p:nvPr/>
              </p:nvSpPr>
              <p:spPr>
                <a:xfrm>
                  <a:off x="7223760" y="2331720"/>
                  <a:ext cx="2194560" cy="21809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t">
                  <a:spAutoFit/>
                </a:bodyPr>
                <a:lstStyle/>
                <a:p>
                  <a:pPr algn="ctr"/>
                  <a:r>
                    <a:rPr b="1" i="0" dirty="0">
                      <a:solidFill>
                        <a:srgbClr val="0C243A"/>
                      </a:solidFill>
                      <a:latin typeface="Calibri"/>
                    </a:rPr>
                    <a:t>VALIDATE</a:t>
                  </a:r>
                </a:p>
              </p:txBody>
            </p:sp>
            <p:sp>
              <p:nvSpPr>
                <p:cNvPr id="357" name="Oval 45">
                  <a:extLst>
                    <a:ext uri="{FF2B5EF4-FFF2-40B4-BE49-F238E27FC236}">
                      <a16:creationId xmlns:a16="http://schemas.microsoft.com/office/drawing/2014/main" id="{5EBF29C7-5EC7-90BB-FEE9-67D44046E7CB}"/>
                    </a:ext>
                  </a:extLst>
                </p:cNvPr>
                <p:cNvSpPr/>
                <p:nvPr/>
              </p:nvSpPr>
              <p:spPr>
                <a:xfrm>
                  <a:off x="6281928" y="3401568"/>
                  <a:ext cx="237744" cy="237744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E28E39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sz="1000" b="1">
                      <a:solidFill>
                        <a:srgbClr val="E28E39"/>
                      </a:solidFill>
                      <a:latin typeface="Calibri"/>
                    </a:rPr>
                    <a:t>8</a:t>
                  </a:r>
                </a:p>
              </p:txBody>
            </p:sp>
          </p:grpSp>
        </p:grpSp>
        <p:grpSp>
          <p:nvGrpSpPr>
            <p:cNvPr id="303" name="Ομάδα 302">
              <a:extLst>
                <a:ext uri="{FF2B5EF4-FFF2-40B4-BE49-F238E27FC236}">
                  <a16:creationId xmlns:a16="http://schemas.microsoft.com/office/drawing/2014/main" id="{BEBAB3BE-2C35-DF55-3708-F961B83145F5}"/>
                </a:ext>
              </a:extLst>
            </p:cNvPr>
            <p:cNvGrpSpPr/>
            <p:nvPr/>
          </p:nvGrpSpPr>
          <p:grpSpPr>
            <a:xfrm>
              <a:off x="685800" y="1481327"/>
              <a:ext cx="10927080" cy="3411637"/>
              <a:chOff x="685800" y="1481327"/>
              <a:chExt cx="10927080" cy="3411637"/>
            </a:xfrm>
          </p:grpSpPr>
          <p:sp>
            <p:nvSpPr>
              <p:cNvPr id="304" name="TextBox 303">
                <a:extLst>
                  <a:ext uri="{FF2B5EF4-FFF2-40B4-BE49-F238E27FC236}">
                    <a16:creationId xmlns:a16="http://schemas.microsoft.com/office/drawing/2014/main" id="{A90049FA-FAF6-D674-3B2B-0C71A7523F4D}"/>
                  </a:ext>
                </a:extLst>
              </p:cNvPr>
              <p:cNvSpPr txBox="1"/>
              <p:nvPr/>
            </p:nvSpPr>
            <p:spPr>
              <a:xfrm>
                <a:off x="685800" y="2633472"/>
                <a:ext cx="2103120" cy="3392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400" b="0" i="0" dirty="0">
                    <a:solidFill>
                      <a:srgbClr val="697B89"/>
                    </a:solidFill>
                    <a:latin typeface="Calibri"/>
                  </a:rPr>
                  <a:t>Environmental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sz="1400" b="0" i="0" dirty="0">
                    <a:solidFill>
                      <a:srgbClr val="697B89"/>
                    </a:solidFill>
                    <a:latin typeface="Calibri"/>
                  </a:rPr>
                  <a:t>observations</a:t>
                </a:r>
              </a:p>
            </p:txBody>
          </p:sp>
          <p:sp>
            <p:nvSpPr>
              <p:cNvPr id="305" name="TextBox 304">
                <a:extLst>
                  <a:ext uri="{FF2B5EF4-FFF2-40B4-BE49-F238E27FC236}">
                    <a16:creationId xmlns:a16="http://schemas.microsoft.com/office/drawing/2014/main" id="{8D5CC8A9-F418-B2D8-F33E-E0FECEECACDD}"/>
                  </a:ext>
                </a:extLst>
              </p:cNvPr>
              <p:cNvSpPr txBox="1"/>
              <p:nvPr/>
            </p:nvSpPr>
            <p:spPr>
              <a:xfrm>
                <a:off x="5074920" y="2633472"/>
                <a:ext cx="2103120" cy="33925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sz="1400" b="0" i="0" dirty="0">
                    <a:solidFill>
                      <a:srgbClr val="697B89"/>
                    </a:solidFill>
                    <a:latin typeface="Calibri"/>
                  </a:rPr>
                  <a:t>Streaming &amp;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sz="1400" b="0" i="0" dirty="0">
                    <a:solidFill>
                      <a:srgbClr val="697B89"/>
                    </a:solidFill>
                    <a:latin typeface="Calibri"/>
                  </a:rPr>
                  <a:t>batch ingestion</a:t>
                </a:r>
              </a:p>
            </p:txBody>
          </p:sp>
          <p:cxnSp>
            <p:nvCxnSpPr>
              <p:cNvPr id="306" name="Connector 53">
                <a:extLst>
                  <a:ext uri="{FF2B5EF4-FFF2-40B4-BE49-F238E27FC236}">
                    <a16:creationId xmlns:a16="http://schemas.microsoft.com/office/drawing/2014/main" id="{B3AC03D4-6882-843B-4CC1-3AB73AA80747}"/>
                  </a:ext>
                </a:extLst>
              </p:cNvPr>
              <p:cNvCxnSpPr/>
              <p:nvPr/>
            </p:nvCxnSpPr>
            <p:spPr>
              <a:xfrm flipH="1">
                <a:off x="8737092" y="3794760"/>
                <a:ext cx="1362456" cy="0"/>
              </a:xfrm>
              <a:prstGeom prst="line">
                <a:avLst/>
              </a:prstGeom>
              <a:ln w="22225">
                <a:solidFill>
                  <a:srgbClr val="697B89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Connector 58">
                <a:extLst>
                  <a:ext uri="{FF2B5EF4-FFF2-40B4-BE49-F238E27FC236}">
                    <a16:creationId xmlns:a16="http://schemas.microsoft.com/office/drawing/2014/main" id="{BE688F74-A57F-360E-9432-F13C9569B97D}"/>
                  </a:ext>
                </a:extLst>
              </p:cNvPr>
              <p:cNvCxnSpPr/>
              <p:nvPr/>
            </p:nvCxnSpPr>
            <p:spPr>
              <a:xfrm flipH="1">
                <a:off x="10931652" y="3794760"/>
                <a:ext cx="292608" cy="0"/>
              </a:xfrm>
              <a:prstGeom prst="line">
                <a:avLst/>
              </a:prstGeom>
              <a:ln w="22225">
                <a:solidFill>
                  <a:srgbClr val="0C243A"/>
                </a:solidFill>
                <a:tailEnd type="triangle" w="med" len="med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8" name="Ομάδα 307">
                <a:extLst>
                  <a:ext uri="{FF2B5EF4-FFF2-40B4-BE49-F238E27FC236}">
                    <a16:creationId xmlns:a16="http://schemas.microsoft.com/office/drawing/2014/main" id="{66E95E2E-68FD-860E-A61B-B52340110B03}"/>
                  </a:ext>
                </a:extLst>
              </p:cNvPr>
              <p:cNvGrpSpPr/>
              <p:nvPr/>
            </p:nvGrpSpPr>
            <p:grpSpPr>
              <a:xfrm>
                <a:off x="1367028" y="1481327"/>
                <a:ext cx="10245852" cy="3411637"/>
                <a:chOff x="1367028" y="1481327"/>
                <a:chExt cx="10245852" cy="3411637"/>
              </a:xfrm>
            </p:grpSpPr>
            <p:cxnSp>
              <p:nvCxnSpPr>
                <p:cNvPr id="309" name="Connector 29">
                  <a:extLst>
                    <a:ext uri="{FF2B5EF4-FFF2-40B4-BE49-F238E27FC236}">
                      <a16:creationId xmlns:a16="http://schemas.microsoft.com/office/drawing/2014/main" id="{CA7E932D-1FC2-3072-CD8B-5400B2323B46}"/>
                    </a:ext>
                  </a:extLst>
                </p:cNvPr>
                <p:cNvCxnSpPr/>
                <p:nvPr/>
              </p:nvCxnSpPr>
              <p:spPr>
                <a:xfrm>
                  <a:off x="2153412" y="1874519"/>
                  <a:ext cx="1362456" cy="0"/>
                </a:xfrm>
                <a:prstGeom prst="line">
                  <a:avLst/>
                </a:prstGeom>
                <a:ln w="22225">
                  <a:solidFill>
                    <a:srgbClr val="697B89"/>
                  </a:solidFill>
                  <a:tailEnd type="triangle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Connector 30">
                  <a:extLst>
                    <a:ext uri="{FF2B5EF4-FFF2-40B4-BE49-F238E27FC236}">
                      <a16:creationId xmlns:a16="http://schemas.microsoft.com/office/drawing/2014/main" id="{F3D89F84-6C81-0C6A-7085-1A36747D47AC}"/>
                    </a:ext>
                  </a:extLst>
                </p:cNvPr>
                <p:cNvCxnSpPr/>
                <p:nvPr/>
              </p:nvCxnSpPr>
              <p:spPr>
                <a:xfrm>
                  <a:off x="4347972" y="1874519"/>
                  <a:ext cx="1362456" cy="0"/>
                </a:xfrm>
                <a:prstGeom prst="line">
                  <a:avLst/>
                </a:prstGeom>
                <a:ln w="22225">
                  <a:solidFill>
                    <a:srgbClr val="697B89"/>
                  </a:solidFill>
                  <a:tailEnd type="triangle" w="med" len="med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11" name="Ομάδα 310">
                  <a:extLst>
                    <a:ext uri="{FF2B5EF4-FFF2-40B4-BE49-F238E27FC236}">
                      <a16:creationId xmlns:a16="http://schemas.microsoft.com/office/drawing/2014/main" id="{6734B274-D42A-9C34-E1FA-423C821690B9}"/>
                    </a:ext>
                  </a:extLst>
                </p:cNvPr>
                <p:cNvGrpSpPr/>
                <p:nvPr/>
              </p:nvGrpSpPr>
              <p:grpSpPr>
                <a:xfrm>
                  <a:off x="1367028" y="1481327"/>
                  <a:ext cx="10245852" cy="3411637"/>
                  <a:chOff x="1367028" y="1481327"/>
                  <a:chExt cx="10245852" cy="3411637"/>
                </a:xfrm>
              </p:grpSpPr>
              <p:sp>
                <p:nvSpPr>
                  <p:cNvPr id="312" name="Oval 19">
                    <a:extLst>
                      <a:ext uri="{FF2B5EF4-FFF2-40B4-BE49-F238E27FC236}">
                        <a16:creationId xmlns:a16="http://schemas.microsoft.com/office/drawing/2014/main" id="{A729A071-CC8F-45A0-9FE1-7672E5F35091}"/>
                      </a:ext>
                    </a:extLst>
                  </p:cNvPr>
                  <p:cNvSpPr/>
                  <p:nvPr/>
                </p:nvSpPr>
                <p:spPr>
                  <a:xfrm>
                    <a:off x="7932420" y="1485899"/>
                    <a:ext cx="777240" cy="777240"/>
                  </a:xfrm>
                  <a:prstGeom prst="ellipse">
                    <a:avLst/>
                  </a:prstGeom>
                  <a:solidFill>
                    <a:srgbClr val="E28E39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13" name="Picture 20" descr="validate.png">
                    <a:extLst>
                      <a:ext uri="{FF2B5EF4-FFF2-40B4-BE49-F238E27FC236}">
                        <a16:creationId xmlns:a16="http://schemas.microsoft.com/office/drawing/2014/main" id="{18A72E53-C4C7-FDF1-10D6-E21C24891C8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8118958" y="1672437"/>
                    <a:ext cx="404164" cy="404164"/>
                  </a:xfrm>
                  <a:prstGeom prst="rect">
                    <a:avLst/>
                  </a:prstGeom>
                </p:spPr>
              </p:pic>
              <p:sp>
                <p:nvSpPr>
                  <p:cNvPr id="314" name="Oval 21">
                    <a:extLst>
                      <a:ext uri="{FF2B5EF4-FFF2-40B4-BE49-F238E27FC236}">
                        <a16:creationId xmlns:a16="http://schemas.microsoft.com/office/drawing/2014/main" id="{9333D258-68FA-2841-BF60-A314BE4DBCA3}"/>
                      </a:ext>
                    </a:extLst>
                  </p:cNvPr>
                  <p:cNvSpPr/>
                  <p:nvPr/>
                </p:nvSpPr>
                <p:spPr>
                  <a:xfrm>
                    <a:off x="8476488" y="1481327"/>
                    <a:ext cx="237744" cy="23774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E28E39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sz="1000" b="1">
                        <a:solidFill>
                          <a:srgbClr val="E28E39"/>
                        </a:solidFill>
                        <a:latin typeface="Calibri"/>
                      </a:rPr>
                      <a:t>4</a:t>
                    </a:r>
                  </a:p>
                </p:txBody>
              </p:sp>
              <p:sp>
                <p:nvSpPr>
                  <p:cNvPr id="315" name="TextBox 314">
                    <a:extLst>
                      <a:ext uri="{FF2B5EF4-FFF2-40B4-BE49-F238E27FC236}">
                        <a16:creationId xmlns:a16="http://schemas.microsoft.com/office/drawing/2014/main" id="{3265048E-884B-1DF8-E10C-A3772832D927}"/>
                      </a:ext>
                    </a:extLst>
                  </p:cNvPr>
                  <p:cNvSpPr txBox="1"/>
                  <p:nvPr/>
                </p:nvSpPr>
                <p:spPr>
                  <a:xfrm>
                    <a:off x="7269480" y="2633472"/>
                    <a:ext cx="2103120" cy="3392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QA/QC &amp;</a:t>
                    </a:r>
                  </a:p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quality flags</a:t>
                    </a:r>
                  </a:p>
                </p:txBody>
              </p:sp>
              <p:sp>
                <p:nvSpPr>
                  <p:cNvPr id="316" name="Oval 24">
                    <a:extLst>
                      <a:ext uri="{FF2B5EF4-FFF2-40B4-BE49-F238E27FC236}">
                        <a16:creationId xmlns:a16="http://schemas.microsoft.com/office/drawing/2014/main" id="{736DB950-1468-CD9F-6AC9-413A74AA77E6}"/>
                      </a:ext>
                    </a:extLst>
                  </p:cNvPr>
                  <p:cNvSpPr/>
                  <p:nvPr/>
                </p:nvSpPr>
                <p:spPr>
                  <a:xfrm>
                    <a:off x="10126980" y="1485899"/>
                    <a:ext cx="777240" cy="777240"/>
                  </a:xfrm>
                  <a:prstGeom prst="ellipse">
                    <a:avLst/>
                  </a:prstGeom>
                  <a:solidFill>
                    <a:srgbClr val="0C243A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17" name="Oval 26">
                    <a:extLst>
                      <a:ext uri="{FF2B5EF4-FFF2-40B4-BE49-F238E27FC236}">
                        <a16:creationId xmlns:a16="http://schemas.microsoft.com/office/drawing/2014/main" id="{1B72F2F1-D3AA-8ED6-438B-3C4D76558B36}"/>
                      </a:ext>
                    </a:extLst>
                  </p:cNvPr>
                  <p:cNvSpPr/>
                  <p:nvPr/>
                </p:nvSpPr>
                <p:spPr>
                  <a:xfrm>
                    <a:off x="10671048" y="1481327"/>
                    <a:ext cx="237744" cy="23774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C243A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sz="1000" b="1">
                        <a:solidFill>
                          <a:srgbClr val="0C243A"/>
                        </a:solidFill>
                        <a:latin typeface="Calibri"/>
                      </a:rPr>
                      <a:t>5</a:t>
                    </a:r>
                  </a:p>
                </p:txBody>
              </p:sp>
              <p:sp>
                <p:nvSpPr>
                  <p:cNvPr id="318" name="TextBox 317">
                    <a:extLst>
                      <a:ext uri="{FF2B5EF4-FFF2-40B4-BE49-F238E27FC236}">
                        <a16:creationId xmlns:a16="http://schemas.microsoft.com/office/drawing/2014/main" id="{DCC955E8-3BC5-D29A-E075-E0BD29F49154}"/>
                      </a:ext>
                    </a:extLst>
                  </p:cNvPr>
                  <p:cNvSpPr txBox="1"/>
                  <p:nvPr/>
                </p:nvSpPr>
                <p:spPr>
                  <a:xfrm>
                    <a:off x="9418320" y="2331720"/>
                    <a:ext cx="2194560" cy="2180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/>
                    <a:r>
                      <a:rPr b="1" i="0" dirty="0">
                        <a:solidFill>
                          <a:srgbClr val="0C243A"/>
                        </a:solidFill>
                        <a:latin typeface="Calibri"/>
                      </a:rPr>
                      <a:t>PROCESS</a:t>
                    </a:r>
                  </a:p>
                </p:txBody>
              </p:sp>
              <p:sp>
                <p:nvSpPr>
                  <p:cNvPr id="319" name="TextBox 318">
                    <a:extLst>
                      <a:ext uri="{FF2B5EF4-FFF2-40B4-BE49-F238E27FC236}">
                        <a16:creationId xmlns:a16="http://schemas.microsoft.com/office/drawing/2014/main" id="{87914E99-FDF3-4996-56A3-CB78EA00EE8E}"/>
                      </a:ext>
                    </a:extLst>
                  </p:cNvPr>
                  <p:cNvSpPr txBox="1"/>
                  <p:nvPr/>
                </p:nvSpPr>
                <p:spPr>
                  <a:xfrm>
                    <a:off x="9464040" y="2633472"/>
                    <a:ext cx="2103120" cy="3392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Calibration &amp;</a:t>
                    </a:r>
                  </a:p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 err="1">
                        <a:solidFill>
                          <a:srgbClr val="697B89"/>
                        </a:solidFill>
                        <a:latin typeface="Calibri"/>
                      </a:rPr>
                      <a:t>harmonisation</a:t>
                    </a:r>
                    <a:endParaRPr sz="1400" b="0" i="0" dirty="0">
                      <a:solidFill>
                        <a:srgbClr val="697B89"/>
                      </a:solidFill>
                      <a:latin typeface="Calibri"/>
                    </a:endParaRPr>
                  </a:p>
                </p:txBody>
              </p:sp>
              <p:cxnSp>
                <p:nvCxnSpPr>
                  <p:cNvPr id="320" name="Connector 31">
                    <a:extLst>
                      <a:ext uri="{FF2B5EF4-FFF2-40B4-BE49-F238E27FC236}">
                        <a16:creationId xmlns:a16="http://schemas.microsoft.com/office/drawing/2014/main" id="{7132FC76-E4C2-A1FF-2D03-26F41E183A2A}"/>
                      </a:ext>
                    </a:extLst>
                  </p:cNvPr>
                  <p:cNvCxnSpPr/>
                  <p:nvPr/>
                </p:nvCxnSpPr>
                <p:spPr>
                  <a:xfrm>
                    <a:off x="6542532" y="1874519"/>
                    <a:ext cx="1362456" cy="0"/>
                  </a:xfrm>
                  <a:prstGeom prst="line">
                    <a:avLst/>
                  </a:prstGeom>
                  <a:ln w="22225">
                    <a:solidFill>
                      <a:srgbClr val="697B89"/>
                    </a:solidFill>
                    <a:tailEnd type="triangle" w="med" len="med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Connector 32">
                    <a:extLst>
                      <a:ext uri="{FF2B5EF4-FFF2-40B4-BE49-F238E27FC236}">
                        <a16:creationId xmlns:a16="http://schemas.microsoft.com/office/drawing/2014/main" id="{79EC659A-2272-5F05-0D13-EDDA801E63A3}"/>
                      </a:ext>
                    </a:extLst>
                  </p:cNvPr>
                  <p:cNvCxnSpPr/>
                  <p:nvPr/>
                </p:nvCxnSpPr>
                <p:spPr>
                  <a:xfrm>
                    <a:off x="8737092" y="1874519"/>
                    <a:ext cx="1362456" cy="0"/>
                  </a:xfrm>
                  <a:prstGeom prst="line">
                    <a:avLst/>
                  </a:prstGeom>
                  <a:ln w="22225">
                    <a:solidFill>
                      <a:srgbClr val="697B89"/>
                    </a:solidFill>
                    <a:tailEnd type="triangle" w="med" len="med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2" name="Oval 33">
                    <a:extLst>
                      <a:ext uri="{FF2B5EF4-FFF2-40B4-BE49-F238E27FC236}">
                        <a16:creationId xmlns:a16="http://schemas.microsoft.com/office/drawing/2014/main" id="{952223FB-1F22-51C3-967D-FDB5E2842931}"/>
                      </a:ext>
                    </a:extLst>
                  </p:cNvPr>
                  <p:cNvSpPr/>
                  <p:nvPr/>
                </p:nvSpPr>
                <p:spPr>
                  <a:xfrm>
                    <a:off x="10126980" y="3406140"/>
                    <a:ext cx="777240" cy="777240"/>
                  </a:xfrm>
                  <a:prstGeom prst="ellipse">
                    <a:avLst/>
                  </a:prstGeom>
                  <a:solidFill>
                    <a:srgbClr val="25AAB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23" name="Oval 35">
                    <a:extLst>
                      <a:ext uri="{FF2B5EF4-FFF2-40B4-BE49-F238E27FC236}">
                        <a16:creationId xmlns:a16="http://schemas.microsoft.com/office/drawing/2014/main" id="{3D1125E9-4676-754E-7012-69374FDFA11A}"/>
                      </a:ext>
                    </a:extLst>
                  </p:cNvPr>
                  <p:cNvSpPr/>
                  <p:nvPr/>
                </p:nvSpPr>
                <p:spPr>
                  <a:xfrm>
                    <a:off x="10671048" y="3401568"/>
                    <a:ext cx="237744" cy="23774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25AAB4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sz="1000" b="1">
                        <a:solidFill>
                          <a:srgbClr val="25AAB4"/>
                        </a:solidFill>
                        <a:latin typeface="Calibri"/>
                      </a:rPr>
                      <a:t>6</a:t>
                    </a:r>
                  </a:p>
                </p:txBody>
              </p:sp>
              <p:sp>
                <p:nvSpPr>
                  <p:cNvPr id="324" name="TextBox 323">
                    <a:extLst>
                      <a:ext uri="{FF2B5EF4-FFF2-40B4-BE49-F238E27FC236}">
                        <a16:creationId xmlns:a16="http://schemas.microsoft.com/office/drawing/2014/main" id="{F280A534-3217-2D8A-3584-3689DF9648C5}"/>
                      </a:ext>
                    </a:extLst>
                  </p:cNvPr>
                  <p:cNvSpPr txBox="1"/>
                  <p:nvPr/>
                </p:nvSpPr>
                <p:spPr>
                  <a:xfrm>
                    <a:off x="9418320" y="4251960"/>
                    <a:ext cx="2194560" cy="2180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/>
                    <a:r>
                      <a:rPr b="1" i="0" dirty="0">
                        <a:solidFill>
                          <a:srgbClr val="0C243A"/>
                        </a:solidFill>
                        <a:latin typeface="Calibri"/>
                      </a:rPr>
                      <a:t>STORE</a:t>
                    </a:r>
                  </a:p>
                </p:txBody>
              </p:sp>
              <p:sp>
                <p:nvSpPr>
                  <p:cNvPr id="325" name="TextBox 324">
                    <a:extLst>
                      <a:ext uri="{FF2B5EF4-FFF2-40B4-BE49-F238E27FC236}">
                        <a16:creationId xmlns:a16="http://schemas.microsoft.com/office/drawing/2014/main" id="{C1D98213-92D4-7265-E1B1-19ED4F948472}"/>
                      </a:ext>
                    </a:extLst>
                  </p:cNvPr>
                  <p:cNvSpPr txBox="1"/>
                  <p:nvPr/>
                </p:nvSpPr>
                <p:spPr>
                  <a:xfrm>
                    <a:off x="9464040" y="4553712"/>
                    <a:ext cx="2103120" cy="3392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Time-series &amp;</a:t>
                    </a:r>
                  </a:p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metadata</a:t>
                    </a:r>
                  </a:p>
                </p:txBody>
              </p:sp>
              <p:sp>
                <p:nvSpPr>
                  <p:cNvPr id="326" name="Oval 38">
                    <a:extLst>
                      <a:ext uri="{FF2B5EF4-FFF2-40B4-BE49-F238E27FC236}">
                        <a16:creationId xmlns:a16="http://schemas.microsoft.com/office/drawing/2014/main" id="{110D0859-FE37-1B04-D1EB-825DA72C46DA}"/>
                      </a:ext>
                    </a:extLst>
                  </p:cNvPr>
                  <p:cNvSpPr/>
                  <p:nvPr/>
                </p:nvSpPr>
                <p:spPr>
                  <a:xfrm>
                    <a:off x="7932420" y="3406140"/>
                    <a:ext cx="777240" cy="777240"/>
                  </a:xfrm>
                  <a:prstGeom prst="ellipse">
                    <a:avLst/>
                  </a:prstGeom>
                  <a:solidFill>
                    <a:srgbClr val="4C967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27" name="Picture 39" descr="analyse.png">
                    <a:extLst>
                      <a:ext uri="{FF2B5EF4-FFF2-40B4-BE49-F238E27FC236}">
                        <a16:creationId xmlns:a16="http://schemas.microsoft.com/office/drawing/2014/main" id="{C0421FC2-6C4B-E1A9-55AA-F0BCFBAB09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8118958" y="3592678"/>
                    <a:ext cx="404164" cy="404164"/>
                  </a:xfrm>
                  <a:prstGeom prst="rect">
                    <a:avLst/>
                  </a:prstGeom>
                </p:spPr>
              </p:pic>
              <p:sp>
                <p:nvSpPr>
                  <p:cNvPr id="328" name="Oval 40">
                    <a:extLst>
                      <a:ext uri="{FF2B5EF4-FFF2-40B4-BE49-F238E27FC236}">
                        <a16:creationId xmlns:a16="http://schemas.microsoft.com/office/drawing/2014/main" id="{7ADCBF8F-93F7-33F7-5181-49D892B986BE}"/>
                      </a:ext>
                    </a:extLst>
                  </p:cNvPr>
                  <p:cNvSpPr/>
                  <p:nvPr/>
                </p:nvSpPr>
                <p:spPr>
                  <a:xfrm>
                    <a:off x="8476488" y="3401568"/>
                    <a:ext cx="237744" cy="23774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4C9674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sz="1000" b="1">
                        <a:solidFill>
                          <a:srgbClr val="4C9674"/>
                        </a:solidFill>
                        <a:latin typeface="Calibri"/>
                      </a:rPr>
                      <a:t>7</a:t>
                    </a:r>
                  </a:p>
                </p:txBody>
              </p:sp>
              <p:sp>
                <p:nvSpPr>
                  <p:cNvPr id="329" name="TextBox 328">
                    <a:extLst>
                      <a:ext uri="{FF2B5EF4-FFF2-40B4-BE49-F238E27FC236}">
                        <a16:creationId xmlns:a16="http://schemas.microsoft.com/office/drawing/2014/main" id="{9944F922-2265-E0FC-869B-981CC29A5662}"/>
                      </a:ext>
                    </a:extLst>
                  </p:cNvPr>
                  <p:cNvSpPr txBox="1"/>
                  <p:nvPr/>
                </p:nvSpPr>
                <p:spPr>
                  <a:xfrm>
                    <a:off x="7223760" y="4251960"/>
                    <a:ext cx="2194560" cy="2180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/>
                    <a:r>
                      <a:rPr b="1" i="0" dirty="0">
                        <a:solidFill>
                          <a:srgbClr val="0C243A"/>
                        </a:solidFill>
                        <a:latin typeface="Calibri"/>
                      </a:rPr>
                      <a:t>ANALYSE</a:t>
                    </a:r>
                  </a:p>
                </p:txBody>
              </p:sp>
              <p:sp>
                <p:nvSpPr>
                  <p:cNvPr id="330" name="TextBox 329">
                    <a:extLst>
                      <a:ext uri="{FF2B5EF4-FFF2-40B4-BE49-F238E27FC236}">
                        <a16:creationId xmlns:a16="http://schemas.microsoft.com/office/drawing/2014/main" id="{5BE85C0C-8EB8-3A2B-45FC-142D753317AE}"/>
                      </a:ext>
                    </a:extLst>
                  </p:cNvPr>
                  <p:cNvSpPr txBox="1"/>
                  <p:nvPr/>
                </p:nvSpPr>
                <p:spPr>
                  <a:xfrm>
                    <a:off x="7269480" y="4553712"/>
                    <a:ext cx="2103120" cy="3392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AI &amp;</a:t>
                    </a:r>
                  </a:p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analytics</a:t>
                    </a:r>
                  </a:p>
                </p:txBody>
              </p:sp>
              <p:sp>
                <p:nvSpPr>
                  <p:cNvPr id="331" name="TextBox 330">
                    <a:extLst>
                      <a:ext uri="{FF2B5EF4-FFF2-40B4-BE49-F238E27FC236}">
                        <a16:creationId xmlns:a16="http://schemas.microsoft.com/office/drawing/2014/main" id="{204845B5-C85D-06EF-9428-E5ADB47C403B}"/>
                      </a:ext>
                    </a:extLst>
                  </p:cNvPr>
                  <p:cNvSpPr txBox="1"/>
                  <p:nvPr/>
                </p:nvSpPr>
                <p:spPr>
                  <a:xfrm>
                    <a:off x="5029200" y="4251960"/>
                    <a:ext cx="2194560" cy="2180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/>
                    <a:r>
                      <a:rPr b="1" i="0" dirty="0">
                        <a:solidFill>
                          <a:srgbClr val="0C243A"/>
                        </a:solidFill>
                        <a:latin typeface="Calibri"/>
                      </a:rPr>
                      <a:t>INTEGRATE</a:t>
                    </a:r>
                  </a:p>
                </p:txBody>
              </p:sp>
              <p:sp>
                <p:nvSpPr>
                  <p:cNvPr id="332" name="TextBox 331">
                    <a:extLst>
                      <a:ext uri="{FF2B5EF4-FFF2-40B4-BE49-F238E27FC236}">
                        <a16:creationId xmlns:a16="http://schemas.microsoft.com/office/drawing/2014/main" id="{83EC6949-7A45-EA07-5E3C-1F94950AD256}"/>
                      </a:ext>
                    </a:extLst>
                  </p:cNvPr>
                  <p:cNvSpPr txBox="1"/>
                  <p:nvPr/>
                </p:nvSpPr>
                <p:spPr>
                  <a:xfrm>
                    <a:off x="5074920" y="4553712"/>
                    <a:ext cx="2103120" cy="3392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APIs &amp;</a:t>
                    </a:r>
                  </a:p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services</a:t>
                    </a:r>
                  </a:p>
                </p:txBody>
              </p:sp>
              <p:sp>
                <p:nvSpPr>
                  <p:cNvPr id="333" name="Oval 48">
                    <a:extLst>
                      <a:ext uri="{FF2B5EF4-FFF2-40B4-BE49-F238E27FC236}">
                        <a16:creationId xmlns:a16="http://schemas.microsoft.com/office/drawing/2014/main" id="{ECEA4769-618F-ADBC-9A06-6D9C257D53F1}"/>
                      </a:ext>
                    </a:extLst>
                  </p:cNvPr>
                  <p:cNvSpPr/>
                  <p:nvPr/>
                </p:nvSpPr>
                <p:spPr>
                  <a:xfrm>
                    <a:off x="3543300" y="3406140"/>
                    <a:ext cx="777240" cy="777240"/>
                  </a:xfrm>
                  <a:prstGeom prst="ellipse">
                    <a:avLst/>
                  </a:prstGeom>
                  <a:solidFill>
                    <a:srgbClr val="0C243A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34" name="Oval 50">
                    <a:extLst>
                      <a:ext uri="{FF2B5EF4-FFF2-40B4-BE49-F238E27FC236}">
                        <a16:creationId xmlns:a16="http://schemas.microsoft.com/office/drawing/2014/main" id="{9B2881D7-C44C-31BE-E073-8ED91373E00A}"/>
                      </a:ext>
                    </a:extLst>
                  </p:cNvPr>
                  <p:cNvSpPr/>
                  <p:nvPr/>
                </p:nvSpPr>
                <p:spPr>
                  <a:xfrm>
                    <a:off x="4087368" y="3401568"/>
                    <a:ext cx="237744" cy="237744"/>
                  </a:xfrm>
                  <a:prstGeom prst="ellipse">
                    <a:avLst/>
                  </a:prstGeom>
                  <a:solidFill>
                    <a:srgbClr val="FFFFFF"/>
                  </a:solidFill>
                  <a:ln w="19050">
                    <a:solidFill>
                      <a:srgbClr val="0C243A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sz="1000" b="1">
                        <a:solidFill>
                          <a:srgbClr val="0C243A"/>
                        </a:solidFill>
                        <a:latin typeface="Calibri"/>
                      </a:rPr>
                      <a:t>9</a:t>
                    </a:r>
                  </a:p>
                </p:txBody>
              </p:sp>
              <p:pic>
                <p:nvPicPr>
                  <p:cNvPr id="9001" name="Picture Process" descr="process.png"/>
                  <p:cNvPicPr>
                    <a:picLocks noChangeAspect="1"/>
                  </p:cNvPicPr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10313518" y="1672437"/>
                    <a:ext cx="404164" cy="404164"/>
                  </a:xfrm>
                  <a:prstGeom prst="rect">
                    <a:avLst/>
                  </a:prstGeom>
                </p:spPr>
              </p:pic>
              <p:pic>
                <p:nvPicPr>
                  <p:cNvPr id="9002" name="Picture Store" descr="storage.png"/>
                  <p:cNvPicPr>
                    <a:picLocks noChangeAspect="1"/>
                  </p:cNvPicPr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10313518" y="3592678"/>
                    <a:ext cx="404164" cy="404164"/>
                  </a:xfrm>
                  <a:prstGeom prst="rect">
                    <a:avLst/>
                  </a:prstGeom>
                </p:spPr>
              </p:pic>
              <p:pic>
                <p:nvPicPr>
                  <p:cNvPr id="9003" name="Picture Act" descr="act.png"/>
                  <p:cNvPicPr>
                    <a:picLocks noChangeAspect="1"/>
                  </p:cNvPicPr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3729838" y="3592678"/>
                    <a:ext cx="404164" cy="404164"/>
                  </a:xfrm>
                  <a:prstGeom prst="rect">
                    <a:avLst/>
                  </a:prstGeom>
                </p:spPr>
              </p:pic>
              <p:sp>
                <p:nvSpPr>
                  <p:cNvPr id="335" name="TextBox 334">
                    <a:extLst>
                      <a:ext uri="{FF2B5EF4-FFF2-40B4-BE49-F238E27FC236}">
                        <a16:creationId xmlns:a16="http://schemas.microsoft.com/office/drawing/2014/main" id="{71F28630-42DD-03D0-73F4-B00DC0BA836B}"/>
                      </a:ext>
                    </a:extLst>
                  </p:cNvPr>
                  <p:cNvSpPr txBox="1"/>
                  <p:nvPr/>
                </p:nvSpPr>
                <p:spPr>
                  <a:xfrm>
                    <a:off x="2834640" y="4251960"/>
                    <a:ext cx="2194560" cy="2180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/>
                    <a:r>
                      <a:rPr b="1" i="0">
                        <a:solidFill>
                          <a:srgbClr val="0C243A"/>
                        </a:solidFill>
                        <a:latin typeface="Calibri"/>
                      </a:rPr>
                      <a:t>ACT</a:t>
                    </a:r>
                  </a:p>
                </p:txBody>
              </p:sp>
              <p:sp>
                <p:nvSpPr>
                  <p:cNvPr id="336" name="TextBox 335">
                    <a:extLst>
                      <a:ext uri="{FF2B5EF4-FFF2-40B4-BE49-F238E27FC236}">
                        <a16:creationId xmlns:a16="http://schemas.microsoft.com/office/drawing/2014/main" id="{46DE30C8-EACC-900E-C46F-260DE1372B75}"/>
                      </a:ext>
                    </a:extLst>
                  </p:cNvPr>
                  <p:cNvSpPr txBox="1"/>
                  <p:nvPr/>
                </p:nvSpPr>
                <p:spPr>
                  <a:xfrm>
                    <a:off x="2880360" y="4553712"/>
                    <a:ext cx="2103120" cy="33925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Alerts &amp;</a:t>
                    </a:r>
                  </a:p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decisions</a:t>
                    </a:r>
                  </a:p>
                </p:txBody>
              </p:sp>
              <p:cxnSp>
                <p:nvCxnSpPr>
                  <p:cNvPr id="337" name="Connector 54">
                    <a:extLst>
                      <a:ext uri="{FF2B5EF4-FFF2-40B4-BE49-F238E27FC236}">
                        <a16:creationId xmlns:a16="http://schemas.microsoft.com/office/drawing/2014/main" id="{6455F514-460E-E222-1EED-7AAF481E918D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542532" y="3794760"/>
                    <a:ext cx="1362456" cy="0"/>
                  </a:xfrm>
                  <a:prstGeom prst="line">
                    <a:avLst/>
                  </a:prstGeom>
                  <a:ln w="22225">
                    <a:solidFill>
                      <a:srgbClr val="697B89"/>
                    </a:solidFill>
                    <a:tailEnd type="triangle" w="med" len="med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Connector 55">
                    <a:extLst>
                      <a:ext uri="{FF2B5EF4-FFF2-40B4-BE49-F238E27FC236}">
                        <a16:creationId xmlns:a16="http://schemas.microsoft.com/office/drawing/2014/main" id="{115BC9FB-C460-51D1-6F6C-C274EB05906F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347972" y="3794760"/>
                    <a:ext cx="1362456" cy="0"/>
                  </a:xfrm>
                  <a:prstGeom prst="line">
                    <a:avLst/>
                  </a:prstGeom>
                  <a:ln w="22225">
                    <a:solidFill>
                      <a:srgbClr val="697B89"/>
                    </a:solidFill>
                    <a:tailEnd type="triangle" w="med" len="med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9" name="Connector 56">
                    <a:extLst>
                      <a:ext uri="{FF2B5EF4-FFF2-40B4-BE49-F238E27FC236}">
                        <a16:creationId xmlns:a16="http://schemas.microsoft.com/office/drawing/2014/main" id="{3830894B-EBEB-D132-ABB6-715372CE07B1}"/>
                      </a:ext>
                    </a:extLst>
                  </p:cNvPr>
                  <p:cNvCxnSpPr/>
                  <p:nvPr/>
                </p:nvCxnSpPr>
                <p:spPr>
                  <a:xfrm>
                    <a:off x="10931652" y="1874519"/>
                    <a:ext cx="292608" cy="0"/>
                  </a:xfrm>
                  <a:prstGeom prst="line">
                    <a:avLst/>
                  </a:prstGeom>
                  <a:ln w="22225">
                    <a:solidFill>
                      <a:srgbClr val="0C243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0" name="Connector 57">
                    <a:extLst>
                      <a:ext uri="{FF2B5EF4-FFF2-40B4-BE49-F238E27FC236}">
                        <a16:creationId xmlns:a16="http://schemas.microsoft.com/office/drawing/2014/main" id="{6F2B0878-F523-B944-E95E-2EA0026B46F8}"/>
                      </a:ext>
                    </a:extLst>
                  </p:cNvPr>
                  <p:cNvCxnSpPr/>
                  <p:nvPr/>
                </p:nvCxnSpPr>
                <p:spPr>
                  <a:xfrm>
                    <a:off x="11224260" y="1874519"/>
                    <a:ext cx="0" cy="1920241"/>
                  </a:xfrm>
                  <a:prstGeom prst="line">
                    <a:avLst/>
                  </a:prstGeom>
                  <a:ln w="22225">
                    <a:solidFill>
                      <a:srgbClr val="0C243A"/>
                    </a:solidFill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1" name="Oval 4">
                    <a:extLst>
                      <a:ext uri="{FF2B5EF4-FFF2-40B4-BE49-F238E27FC236}">
                        <a16:creationId xmlns:a16="http://schemas.microsoft.com/office/drawing/2014/main" id="{C2DD6A14-6FEA-AA37-CB74-C226D52D742B}"/>
                      </a:ext>
                    </a:extLst>
                  </p:cNvPr>
                  <p:cNvSpPr/>
                  <p:nvPr/>
                </p:nvSpPr>
                <p:spPr>
                  <a:xfrm>
                    <a:off x="1367028" y="1554478"/>
                    <a:ext cx="777240" cy="777240"/>
                  </a:xfrm>
                  <a:prstGeom prst="ellipse">
                    <a:avLst/>
                  </a:prstGeom>
                  <a:solidFill>
                    <a:srgbClr val="1E6FA8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42" name="Picture 5" descr="sense.png">
                    <a:extLst>
                      <a:ext uri="{FF2B5EF4-FFF2-40B4-BE49-F238E27FC236}">
                        <a16:creationId xmlns:a16="http://schemas.microsoft.com/office/drawing/2014/main" id="{DF76A2D5-7F53-918F-F5A6-BE81E516CA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553566" y="1741016"/>
                    <a:ext cx="404164" cy="404164"/>
                  </a:xfrm>
                  <a:prstGeom prst="rect">
                    <a:avLst/>
                  </a:prstGeom>
                </p:spPr>
              </p:pic>
              <p:sp>
                <p:nvSpPr>
                  <p:cNvPr id="343" name="Oval 9">
                    <a:extLst>
                      <a:ext uri="{FF2B5EF4-FFF2-40B4-BE49-F238E27FC236}">
                        <a16:creationId xmlns:a16="http://schemas.microsoft.com/office/drawing/2014/main" id="{529C8C36-779A-B0E7-6906-7C08136C233B}"/>
                      </a:ext>
                    </a:extLst>
                  </p:cNvPr>
                  <p:cNvSpPr/>
                  <p:nvPr/>
                </p:nvSpPr>
                <p:spPr>
                  <a:xfrm>
                    <a:off x="3561588" y="1554478"/>
                    <a:ext cx="777240" cy="777240"/>
                  </a:xfrm>
                  <a:prstGeom prst="ellipse">
                    <a:avLst/>
                  </a:prstGeom>
                  <a:solidFill>
                    <a:srgbClr val="25AAB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44" name="Picture 10" descr="connect.png">
                    <a:extLst>
                      <a:ext uri="{FF2B5EF4-FFF2-40B4-BE49-F238E27FC236}">
                        <a16:creationId xmlns:a16="http://schemas.microsoft.com/office/drawing/2014/main" id="{FD954285-8F99-6424-AF14-30707C7FEB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3748126" y="1741016"/>
                    <a:ext cx="404164" cy="404164"/>
                  </a:xfrm>
                  <a:prstGeom prst="rect">
                    <a:avLst/>
                  </a:prstGeom>
                </p:spPr>
              </p:pic>
              <p:sp>
                <p:nvSpPr>
                  <p:cNvPr id="345" name="TextBox 344">
                    <a:extLst>
                      <a:ext uri="{FF2B5EF4-FFF2-40B4-BE49-F238E27FC236}">
                        <a16:creationId xmlns:a16="http://schemas.microsoft.com/office/drawing/2014/main" id="{98826240-4431-9ECC-30A6-623C059490AC}"/>
                      </a:ext>
                    </a:extLst>
                  </p:cNvPr>
                  <p:cNvSpPr txBox="1"/>
                  <p:nvPr/>
                </p:nvSpPr>
                <p:spPr>
                  <a:xfrm>
                    <a:off x="2898648" y="2702051"/>
                    <a:ext cx="2103120" cy="16962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>
                      <a:lnSpc>
                        <a:spcPct val="100000"/>
                      </a:lnSpc>
                    </a:pPr>
                    <a:r>
                      <a:rPr sz="1400" b="0" i="0" dirty="0">
                        <a:solidFill>
                          <a:srgbClr val="697B89"/>
                        </a:solidFill>
                        <a:latin typeface="Calibri"/>
                      </a:rPr>
                      <a:t>IoT &amp; </a:t>
                    </a:r>
                    <a:r>
                      <a:rPr sz="1400" b="0" i="0" dirty="0" err="1">
                        <a:solidFill>
                          <a:srgbClr val="697B89"/>
                        </a:solidFill>
                        <a:latin typeface="Calibri"/>
                      </a:rPr>
                      <a:t>Edge</a:t>
                    </a:r>
                    <a:endParaRPr sz="1400" b="0" i="0" dirty="0">
                      <a:solidFill>
                        <a:srgbClr val="697B89"/>
                      </a:solidFill>
                      <a:latin typeface="Calibri"/>
                    </a:endParaRPr>
                  </a:p>
                </p:txBody>
              </p:sp>
              <p:sp>
                <p:nvSpPr>
                  <p:cNvPr id="346" name="Oval 14">
                    <a:extLst>
                      <a:ext uri="{FF2B5EF4-FFF2-40B4-BE49-F238E27FC236}">
                        <a16:creationId xmlns:a16="http://schemas.microsoft.com/office/drawing/2014/main" id="{13582B29-D659-7F1C-3021-C1B80152DF7D}"/>
                      </a:ext>
                    </a:extLst>
                  </p:cNvPr>
                  <p:cNvSpPr/>
                  <p:nvPr/>
                </p:nvSpPr>
                <p:spPr>
                  <a:xfrm>
                    <a:off x="5756148" y="1554478"/>
                    <a:ext cx="777240" cy="777240"/>
                  </a:xfrm>
                  <a:prstGeom prst="ellipse">
                    <a:avLst/>
                  </a:prstGeom>
                  <a:solidFill>
                    <a:srgbClr val="4C9674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47" name="Picture 15" descr="collect.png">
                    <a:extLst>
                      <a:ext uri="{FF2B5EF4-FFF2-40B4-BE49-F238E27FC236}">
                        <a16:creationId xmlns:a16="http://schemas.microsoft.com/office/drawing/2014/main" id="{0CE73D19-6FC9-89C0-6EE8-60FB26489B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5942686" y="1741016"/>
                    <a:ext cx="404164" cy="404164"/>
                  </a:xfrm>
                  <a:prstGeom prst="rect">
                    <a:avLst/>
                  </a:prstGeom>
                </p:spPr>
              </p:pic>
              <p:sp>
                <p:nvSpPr>
                  <p:cNvPr id="348" name="TextBox 347">
                    <a:extLst>
                      <a:ext uri="{FF2B5EF4-FFF2-40B4-BE49-F238E27FC236}">
                        <a16:creationId xmlns:a16="http://schemas.microsoft.com/office/drawing/2014/main" id="{6757CDC5-F20C-FA3A-6F02-17D09309D9B8}"/>
                      </a:ext>
                    </a:extLst>
                  </p:cNvPr>
                  <p:cNvSpPr txBox="1"/>
                  <p:nvPr/>
                </p:nvSpPr>
                <p:spPr>
                  <a:xfrm>
                    <a:off x="5047488" y="2400299"/>
                    <a:ext cx="2194560" cy="21809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t">
                    <a:spAutoFit/>
                  </a:bodyPr>
                  <a:lstStyle/>
                  <a:p>
                    <a:pPr algn="ctr"/>
                    <a:r>
                      <a:rPr b="1" i="0" dirty="0">
                        <a:solidFill>
                          <a:srgbClr val="0C243A"/>
                        </a:solidFill>
                        <a:latin typeface="Calibri"/>
                      </a:rPr>
                      <a:t>COLLECT</a:t>
                    </a:r>
                  </a:p>
                </p:txBody>
              </p:sp>
              <p:sp>
                <p:nvSpPr>
                  <p:cNvPr id="349" name="Oval 43">
                    <a:extLst>
                      <a:ext uri="{FF2B5EF4-FFF2-40B4-BE49-F238E27FC236}">
                        <a16:creationId xmlns:a16="http://schemas.microsoft.com/office/drawing/2014/main" id="{14F49957-1233-379C-9987-3AC20B8B91A4}"/>
                      </a:ext>
                    </a:extLst>
                  </p:cNvPr>
                  <p:cNvSpPr/>
                  <p:nvPr/>
                </p:nvSpPr>
                <p:spPr>
                  <a:xfrm>
                    <a:off x="5756148" y="3474719"/>
                    <a:ext cx="777240" cy="777240"/>
                  </a:xfrm>
                  <a:prstGeom prst="ellipse">
                    <a:avLst/>
                  </a:prstGeom>
                  <a:solidFill>
                    <a:srgbClr val="E28E39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pic>
                <p:nvPicPr>
                  <p:cNvPr id="350" name="Picture 44" descr="integrate.png">
                    <a:extLst>
                      <a:ext uri="{FF2B5EF4-FFF2-40B4-BE49-F238E27FC236}">
                        <a16:creationId xmlns:a16="http://schemas.microsoft.com/office/drawing/2014/main" id="{EFD39594-A896-DD72-E648-83ACE6B8E62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5942686" y="3661257"/>
                    <a:ext cx="404164" cy="404164"/>
                  </a:xfrm>
                  <a:prstGeom prst="rect">
                    <a:avLst/>
                  </a:prstGeom>
                </p:spPr>
              </p:pic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F846622-C2FE-A911-067E-D23EB09E6790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0458" y="368273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Data Gathering: Multi-Source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0458" y="1123877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Sensor-agnostic acquisition for environmental monitoring</a:t>
            </a:r>
          </a:p>
        </p:txBody>
      </p:sp>
      <p:grpSp>
        <p:nvGrpSpPr>
          <p:cNvPr id="31" name="Ομάδα 30">
            <a:extLst>
              <a:ext uri="{FF2B5EF4-FFF2-40B4-BE49-F238E27FC236}">
                <a16:creationId xmlns:a16="http://schemas.microsoft.com/office/drawing/2014/main" id="{F3894E05-7BAD-1722-19A8-DE15A3BE2B65}"/>
              </a:ext>
            </a:extLst>
          </p:cNvPr>
          <p:cNvGrpSpPr/>
          <p:nvPr/>
        </p:nvGrpSpPr>
        <p:grpSpPr>
          <a:xfrm>
            <a:off x="3429000" y="2324100"/>
            <a:ext cx="12192000" cy="4643846"/>
            <a:chOff x="2930652" y="1417320"/>
            <a:chExt cx="10744200" cy="4160519"/>
          </a:xfrm>
        </p:grpSpPr>
        <p:cxnSp>
          <p:nvCxnSpPr>
            <p:cNvPr id="21" name="Connector 20"/>
            <p:cNvCxnSpPr/>
            <p:nvPr/>
          </p:nvCxnSpPr>
          <p:spPr>
            <a:xfrm flipH="1">
              <a:off x="9909810" y="2472065"/>
              <a:ext cx="640080" cy="731520"/>
            </a:xfrm>
            <a:prstGeom prst="line">
              <a:avLst/>
            </a:prstGeom>
            <a:ln w="21590">
              <a:solidFill>
                <a:srgbClr val="4C96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10400850" y="3950208"/>
              <a:ext cx="3108960" cy="160020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611612" y="3977639"/>
              <a:ext cx="73152" cy="1600200"/>
            </a:xfrm>
            <a:prstGeom prst="roundRect">
              <a:avLst/>
            </a:prstGeom>
            <a:solidFill>
              <a:srgbClr val="E28E39"/>
            </a:solidFill>
            <a:ln>
              <a:solidFill>
                <a:srgbClr val="E28E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7" name="Ομάδα 26">
              <a:extLst>
                <a:ext uri="{FF2B5EF4-FFF2-40B4-BE49-F238E27FC236}">
                  <a16:creationId xmlns:a16="http://schemas.microsoft.com/office/drawing/2014/main" id="{3C2C9229-80E5-D278-425E-EDF66638BD72}"/>
                </a:ext>
              </a:extLst>
            </p:cNvPr>
            <p:cNvGrpSpPr/>
            <p:nvPr/>
          </p:nvGrpSpPr>
          <p:grpSpPr>
            <a:xfrm>
              <a:off x="2930652" y="1417320"/>
              <a:ext cx="10744200" cy="4160519"/>
              <a:chOff x="594360" y="1417320"/>
              <a:chExt cx="10744200" cy="4160519"/>
            </a:xfrm>
          </p:grpSpPr>
          <p:sp>
            <p:nvSpPr>
              <p:cNvPr id="5" name="Rounded Rectangle 4"/>
              <p:cNvSpPr/>
              <p:nvPr/>
            </p:nvSpPr>
            <p:spPr>
              <a:xfrm>
                <a:off x="4572000" y="2331720"/>
                <a:ext cx="3017520" cy="1234440"/>
              </a:xfrm>
              <a:prstGeom prst="roundRect">
                <a:avLst/>
              </a:prstGeom>
              <a:solidFill>
                <a:srgbClr val="0C243A"/>
              </a:solidFill>
              <a:ln>
                <a:solidFill>
                  <a:srgbClr val="0C243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4780229" y="2425296"/>
                <a:ext cx="2568036" cy="10754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400" b="1" dirty="0">
                    <a:solidFill>
                      <a:srgbClr val="FFFFFF"/>
                    </a:solidFill>
                    <a:latin typeface="Calibri"/>
                  </a:rPr>
                  <a:t>ENVIRONMENTAL
OBSERVATION LAYER</a:t>
                </a:r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594360" y="1417320"/>
                <a:ext cx="3108960" cy="1600200"/>
              </a:xfrm>
              <a:prstGeom prst="roundRect">
                <a:avLst/>
              </a:prstGeom>
              <a:solidFill>
                <a:srgbClr val="FFFFFF"/>
              </a:solidFill>
              <a:ln w="10160">
                <a:solidFill>
                  <a:srgbClr val="DCE6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594360" y="1417320"/>
                <a:ext cx="73152" cy="1600200"/>
              </a:xfrm>
              <a:prstGeom prst="roundRect">
                <a:avLst/>
              </a:prstGeom>
              <a:solidFill>
                <a:srgbClr val="1E6FA8"/>
              </a:solidFill>
              <a:ln>
                <a:solidFill>
                  <a:srgbClr val="1E6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795528" y="1581912"/>
                <a:ext cx="2788920" cy="41361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C243A"/>
                    </a:solidFill>
                    <a:latin typeface="Calibri"/>
                  </a:rPr>
                  <a:t>Air Quality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795528" y="2011680"/>
                <a:ext cx="2788920" cy="82723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b="0" dirty="0">
                    <a:solidFill>
                      <a:srgbClr val="1B2B36"/>
                    </a:solidFill>
                    <a:latin typeface="Calibri"/>
                  </a:rPr>
                  <a:t>PM₁ • PM₂.₅ • PM₁₀
NO₂ • O₃ • CO • SO₂
VOC/TVOC • CO₂</a:t>
                </a:r>
              </a:p>
            </p:txBody>
          </p:sp>
          <p:cxnSp>
            <p:nvCxnSpPr>
              <p:cNvPr id="11" name="Connector 10"/>
              <p:cNvCxnSpPr/>
              <p:nvPr/>
            </p:nvCxnSpPr>
            <p:spPr>
              <a:xfrm>
                <a:off x="3703320" y="2194560"/>
                <a:ext cx="868680" cy="731520"/>
              </a:xfrm>
              <a:prstGeom prst="line">
                <a:avLst/>
              </a:prstGeom>
              <a:ln w="21590">
                <a:solidFill>
                  <a:srgbClr val="1E6FA8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Rounded Rectangle 11"/>
              <p:cNvSpPr/>
              <p:nvPr/>
            </p:nvSpPr>
            <p:spPr>
              <a:xfrm>
                <a:off x="594360" y="3977639"/>
                <a:ext cx="3108960" cy="1600200"/>
              </a:xfrm>
              <a:prstGeom prst="roundRect">
                <a:avLst/>
              </a:prstGeom>
              <a:solidFill>
                <a:srgbClr val="FFFFFF"/>
              </a:solidFill>
              <a:ln w="10160">
                <a:solidFill>
                  <a:srgbClr val="DCE6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594360" y="3977639"/>
                <a:ext cx="73152" cy="1600200"/>
              </a:xfrm>
              <a:prstGeom prst="roundRect">
                <a:avLst/>
              </a:prstGeom>
              <a:solidFill>
                <a:srgbClr val="25AAB4"/>
              </a:solidFill>
              <a:ln>
                <a:solidFill>
                  <a:srgbClr val="25AAB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795528" y="4142231"/>
                <a:ext cx="2788920" cy="41361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C243A"/>
                    </a:solidFill>
                    <a:latin typeface="Calibri"/>
                  </a:rPr>
                  <a:t>Meteorology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795528" y="4572000"/>
                <a:ext cx="2788920" cy="57906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b="0" dirty="0">
                    <a:solidFill>
                      <a:srgbClr val="1B2B36"/>
                    </a:solidFill>
                    <a:latin typeface="Calibri"/>
                  </a:rPr>
                  <a:t>Temperature • RH • Pressure
Wind • Rainfall • Solar</a:t>
                </a:r>
              </a:p>
            </p:txBody>
          </p:sp>
          <p:cxnSp>
            <p:nvCxnSpPr>
              <p:cNvPr id="16" name="Connector 15"/>
              <p:cNvCxnSpPr/>
              <p:nvPr/>
            </p:nvCxnSpPr>
            <p:spPr>
              <a:xfrm flipV="1">
                <a:off x="3703320" y="2926080"/>
                <a:ext cx="868680" cy="1828799"/>
              </a:xfrm>
              <a:prstGeom prst="line">
                <a:avLst/>
              </a:prstGeom>
              <a:ln w="21590">
                <a:solidFill>
                  <a:srgbClr val="25AAB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ounded Rectangle 16"/>
              <p:cNvSpPr/>
              <p:nvPr/>
            </p:nvSpPr>
            <p:spPr>
              <a:xfrm>
                <a:off x="8229600" y="1417320"/>
                <a:ext cx="3108960" cy="1600200"/>
              </a:xfrm>
              <a:prstGeom prst="roundRect">
                <a:avLst/>
              </a:prstGeom>
              <a:solidFill>
                <a:srgbClr val="FFFFFF"/>
              </a:solidFill>
              <a:ln w="10160">
                <a:solidFill>
                  <a:srgbClr val="DCE6E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8229600" y="1417320"/>
                <a:ext cx="73152" cy="1600200"/>
              </a:xfrm>
              <a:prstGeom prst="roundRect">
                <a:avLst/>
              </a:prstGeom>
              <a:solidFill>
                <a:srgbClr val="4C9674"/>
              </a:solidFill>
              <a:ln>
                <a:solidFill>
                  <a:srgbClr val="4C96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8430768" y="1581912"/>
                <a:ext cx="2788920" cy="41361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C243A"/>
                    </a:solidFill>
                    <a:latin typeface="Calibri"/>
                  </a:rPr>
                  <a:t>Reference &amp; Lab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8458200" y="2011680"/>
                <a:ext cx="2788920" cy="82723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b="0" dirty="0">
                    <a:solidFill>
                      <a:srgbClr val="1B2B36"/>
                    </a:solidFill>
                    <a:latin typeface="Calibri"/>
                  </a:rPr>
                  <a:t>Reference instruments
Co-location datasets
Laboratory calibration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430768" y="4142231"/>
                <a:ext cx="2788920" cy="41361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C243A"/>
                    </a:solidFill>
                    <a:latin typeface="Calibri"/>
                  </a:rPr>
                  <a:t>External Sources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8430768" y="4572000"/>
                <a:ext cx="2788920" cy="827231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b="0" dirty="0">
                    <a:solidFill>
                      <a:srgbClr val="1B2B36"/>
                    </a:solidFill>
                    <a:latin typeface="Calibri"/>
                  </a:rPr>
                  <a:t>Weather APIs
Earth observation
Existing monitoring networks</a:t>
                </a:r>
              </a:p>
            </p:txBody>
          </p:sp>
        </p:grpSp>
        <p:cxnSp>
          <p:nvCxnSpPr>
            <p:cNvPr id="26" name="Connector 25"/>
            <p:cNvCxnSpPr>
              <a:cxnSpLocks/>
            </p:cNvCxnSpPr>
            <p:nvPr/>
          </p:nvCxnSpPr>
          <p:spPr>
            <a:xfrm flipH="1" flipV="1">
              <a:off x="9953694" y="3203585"/>
              <a:ext cx="458924" cy="1219451"/>
            </a:xfrm>
            <a:prstGeom prst="line">
              <a:avLst/>
            </a:prstGeom>
            <a:ln w="21590">
              <a:solidFill>
                <a:srgbClr val="E28E3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F2C34F8-82FB-59EA-F7B2-D14A5F7BDF54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pic>
        <p:nvPicPr>
          <p:cNvPr id="28" name="Picture 27" descr="image.png">
            <a:extLst>
              <a:ext uri="{FF2B5EF4-FFF2-40B4-BE49-F238E27FC236}">
                <a16:creationId xmlns:a16="http://schemas.microsoft.com/office/drawing/2014/main" id="{65680B59-37A6-A7E7-125B-A3F25A925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773" y="5673211"/>
            <a:ext cx="4249678" cy="3254124"/>
          </a:xfrm>
          <a:prstGeom prst="rect">
            <a:avLst/>
          </a:prstGeom>
        </p:spPr>
      </p:pic>
      <p:pic>
        <p:nvPicPr>
          <p:cNvPr id="30" name="Picture 29" descr="image.png">
            <a:extLst>
              <a:ext uri="{FF2B5EF4-FFF2-40B4-BE49-F238E27FC236}">
                <a16:creationId xmlns:a16="http://schemas.microsoft.com/office/drawing/2014/main" id="{1285DE9B-0F21-C199-720A-CC7351F41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4975" y="2552700"/>
            <a:ext cx="428625" cy="437165"/>
          </a:xfrm>
          <a:prstGeom prst="rect">
            <a:avLst/>
          </a:prstGeom>
        </p:spPr>
      </p:pic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CF0699D2-45CA-DCFD-75FB-ACBDA5E931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6225" y="5342441"/>
            <a:ext cx="581025" cy="472199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FD50F275-F803-10DB-8BEA-4D9BA0EF6A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31003" y="2578975"/>
            <a:ext cx="473255" cy="384614"/>
          </a:xfrm>
          <a:prstGeom prst="rect">
            <a:avLst/>
          </a:prstGeom>
        </p:spPr>
      </p:pic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5</a:t>
            </a:r>
          </a:p>
        </p:txBody>
      </p:sp>
      <p:pic>
        <p:nvPicPr>
          <p:cNvPr id="9010" name="Picture External Sources" descr="extapi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15024760" y="5240691"/>
            <a:ext cx="400000" cy="4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20240" y="320782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IoT Connectivity &amp; Edge 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1094879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Reliable field-to-cloud data transfer</a:t>
            </a:r>
          </a:p>
        </p:txBody>
      </p:sp>
      <p:grpSp>
        <p:nvGrpSpPr>
          <p:cNvPr id="31" name="Ομάδα 30">
            <a:extLst>
              <a:ext uri="{FF2B5EF4-FFF2-40B4-BE49-F238E27FC236}">
                <a16:creationId xmlns:a16="http://schemas.microsoft.com/office/drawing/2014/main" id="{CA0908DE-02F1-7A79-3D7D-0D85DFE2D6F5}"/>
              </a:ext>
            </a:extLst>
          </p:cNvPr>
          <p:cNvGrpSpPr/>
          <p:nvPr/>
        </p:nvGrpSpPr>
        <p:grpSpPr>
          <a:xfrm>
            <a:off x="3200400" y="2044007"/>
            <a:ext cx="13792200" cy="4466520"/>
            <a:chOff x="731520" y="1860743"/>
            <a:chExt cx="11294798" cy="3077016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1874519"/>
              <a:ext cx="2057400" cy="306324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31520" y="1874519"/>
              <a:ext cx="2057400" cy="438912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22960" y="1984248"/>
              <a:ext cx="1874519" cy="27563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FIELD</a:t>
              </a:r>
              <a:endParaRPr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20" y="3106984"/>
              <a:ext cx="1600200" cy="82691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 dirty="0">
                  <a:solidFill>
                    <a:srgbClr val="1B2B36"/>
                  </a:solidFill>
                  <a:latin typeface="Calibri"/>
                </a:rPr>
                <a:t>Sensors
Stations
Gateways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2816352" y="3401568"/>
              <a:ext cx="274320" cy="0"/>
            </a:xfrm>
            <a:prstGeom prst="line">
              <a:avLst/>
            </a:prstGeom>
            <a:ln w="2540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3154680" y="1874519"/>
              <a:ext cx="2057400" cy="306324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154680" y="1874519"/>
              <a:ext cx="2057400" cy="438912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6120" y="1984248"/>
              <a:ext cx="1874519" cy="27563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CONNECTIVITY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3383280" y="2852548"/>
              <a:ext cx="1600200" cy="133578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 dirty="0">
                  <a:solidFill>
                    <a:srgbClr val="1B2B36"/>
                  </a:solidFill>
                  <a:latin typeface="Calibri"/>
                </a:rPr>
                <a:t>Wi-Fi
Ethernet
4G / 5G
NB-IoT
</a:t>
              </a:r>
              <a:r>
                <a:rPr sz="2400" b="1" dirty="0" err="1">
                  <a:solidFill>
                    <a:srgbClr val="1B2B36"/>
                  </a:solidFill>
                  <a:latin typeface="Calibri"/>
                </a:rPr>
                <a:t>LoRaWAN</a:t>
              </a:r>
              <a:endParaRPr sz="2400" b="1" dirty="0">
                <a:solidFill>
                  <a:srgbClr val="1B2B36"/>
                </a:solidFill>
                <a:latin typeface="Calibri"/>
              </a:endParaRP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5239512" y="3401568"/>
              <a:ext cx="274320" cy="0"/>
            </a:xfrm>
            <a:prstGeom prst="line">
              <a:avLst/>
            </a:prstGeom>
            <a:ln w="2540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5577840" y="1874519"/>
              <a:ext cx="2057400" cy="306324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5577840" y="1874519"/>
              <a:ext cx="2057400" cy="438912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669279" y="1984248"/>
              <a:ext cx="1874519" cy="27563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PROTOCOLS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806440" y="3106984"/>
              <a:ext cx="1600200" cy="82691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 dirty="0">
                  <a:solidFill>
                    <a:srgbClr val="1B2B36"/>
                  </a:solidFill>
                  <a:latin typeface="Calibri"/>
                </a:rPr>
                <a:t>MQTT
HTTP(S)
REST API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662671" y="3401568"/>
              <a:ext cx="274321" cy="0"/>
            </a:xfrm>
            <a:prstGeom prst="line">
              <a:avLst/>
            </a:prstGeom>
            <a:ln w="2540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ounded Rectangle 19"/>
            <p:cNvSpPr/>
            <p:nvPr/>
          </p:nvSpPr>
          <p:spPr>
            <a:xfrm>
              <a:off x="8001000" y="1874519"/>
              <a:ext cx="2377438" cy="306324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8001000" y="1874519"/>
              <a:ext cx="2057400" cy="438912"/>
            </a:xfrm>
            <a:prstGeom prst="roundRect">
              <a:avLst/>
            </a:prstGeom>
            <a:solidFill>
              <a:srgbClr val="E28E39"/>
            </a:solidFill>
            <a:ln>
              <a:solidFill>
                <a:srgbClr val="E28E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8092439" y="1860743"/>
              <a:ext cx="1874519" cy="48766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CLOUD INGESTION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29599" y="2979765"/>
              <a:ext cx="1874518" cy="1081349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sz="2400" b="1" dirty="0">
                  <a:solidFill>
                    <a:srgbClr val="1B2B36"/>
                  </a:solidFill>
                  <a:latin typeface="Calibri"/>
                </a:rPr>
                <a:t>Authentication
Buffering
Validation
Routing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0378439" y="1874519"/>
              <a:ext cx="1647879" cy="3063240"/>
            </a:xfrm>
            <a:prstGeom prst="roundRect">
              <a:avLst/>
            </a:prstGeom>
            <a:solidFill>
              <a:srgbClr val="E2EFF7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0378440" y="1874519"/>
              <a:ext cx="73152" cy="3063240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0579608" y="2039112"/>
              <a:ext cx="822960" cy="27563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0C243A"/>
                  </a:solidFill>
                  <a:latin typeface="Calibri"/>
                </a:rPr>
                <a:t>EDGE</a:t>
              </a:r>
              <a:endParaRPr sz="1600"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708059" y="2870199"/>
              <a:ext cx="1070284" cy="133578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lang="en-GB" sz="2000" b="0" dirty="0">
                  <a:solidFill>
                    <a:srgbClr val="1B2B36"/>
                  </a:solidFill>
                  <a:latin typeface="Calibri"/>
                </a:rPr>
                <a:t>Time</a:t>
              </a:r>
              <a:r>
                <a:rPr sz="2000" b="0" dirty="0">
                  <a:solidFill>
                    <a:srgbClr val="1B2B36"/>
                  </a:solidFill>
                  <a:latin typeface="Calibri"/>
                </a:rPr>
                <a:t>
Local buffer
Store &amp; forward
Retries</a:t>
              </a: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4895429" y="6945871"/>
            <a:ext cx="10058400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Resilience </a:t>
            </a:r>
            <a:r>
              <a:rPr sz="2000" b="1" i="1" dirty="0">
                <a:solidFill>
                  <a:srgbClr val="0C243A"/>
                </a:solidFill>
                <a:latin typeface="Calibri"/>
              </a:rPr>
              <a:t>principle</a:t>
            </a:r>
            <a:r>
              <a:rPr b="1" i="1" dirty="0">
                <a:solidFill>
                  <a:srgbClr val="0C243A"/>
                </a:solidFill>
                <a:latin typeface="Calibri"/>
              </a:rPr>
              <a:t>: temporary connectivity loss should not automatically become permanent data loss.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7318CE-AD61-23E4-CCDD-5668B0E8A067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2738" y="366419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Scalable Data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5477" y="1063862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A common entry point for heterogeneous environmental data</a:t>
            </a:r>
          </a:p>
        </p:txBody>
      </p:sp>
      <p:grpSp>
        <p:nvGrpSpPr>
          <p:cNvPr id="29" name="Ομάδα 28">
            <a:extLst>
              <a:ext uri="{FF2B5EF4-FFF2-40B4-BE49-F238E27FC236}">
                <a16:creationId xmlns:a16="http://schemas.microsoft.com/office/drawing/2014/main" id="{9BFF2658-F09F-6636-B51C-7556DB5EA581}"/>
              </a:ext>
            </a:extLst>
          </p:cNvPr>
          <p:cNvGrpSpPr/>
          <p:nvPr/>
        </p:nvGrpSpPr>
        <p:grpSpPr>
          <a:xfrm>
            <a:off x="3124200" y="1957321"/>
            <a:ext cx="12573000" cy="5117592"/>
            <a:chOff x="685800" y="1554480"/>
            <a:chExt cx="10698480" cy="3794760"/>
          </a:xfrm>
        </p:grpSpPr>
        <p:sp>
          <p:nvSpPr>
            <p:cNvPr id="5" name="Rounded Rectangle 4"/>
            <p:cNvSpPr/>
            <p:nvPr/>
          </p:nvSpPr>
          <p:spPr>
            <a:xfrm>
              <a:off x="685800" y="1554480"/>
              <a:ext cx="3200400" cy="1143000"/>
            </a:xfrm>
            <a:prstGeom prst="roundRect">
              <a:avLst/>
            </a:prstGeom>
            <a:solidFill>
              <a:srgbClr val="E2EFF7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85800" y="1554480"/>
              <a:ext cx="73152" cy="1143000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86968" y="1719072"/>
              <a:ext cx="2880360" cy="34233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Real-time streams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86968" y="2148840"/>
              <a:ext cx="2880360" cy="4792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0" dirty="0">
                  <a:solidFill>
                    <a:srgbClr val="1B2B36"/>
                  </a:solidFill>
                  <a:latin typeface="Calibri"/>
                </a:rPr>
                <a:t>Continuous sensor and station observations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685800" y="2880360"/>
              <a:ext cx="3200400" cy="1143000"/>
            </a:xfrm>
            <a:prstGeom prst="roundRect">
              <a:avLst/>
            </a:prstGeom>
            <a:solidFill>
              <a:srgbClr val="E0F5F6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685800" y="2880360"/>
              <a:ext cx="73152" cy="1143000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86968" y="3044952"/>
              <a:ext cx="2880360" cy="34233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Batch ingestion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86968" y="3474720"/>
              <a:ext cx="2880360" cy="4792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0" dirty="0">
                  <a:solidFill>
                    <a:srgbClr val="1B2B36"/>
                  </a:solidFill>
                  <a:latin typeface="Calibri"/>
                </a:rPr>
                <a:t>Historical files, laboratory datasets, backfills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85800" y="4206240"/>
              <a:ext cx="3200400" cy="1143000"/>
            </a:xfrm>
            <a:prstGeom prst="roundRect">
              <a:avLst/>
            </a:prstGeom>
            <a:solidFill>
              <a:srgbClr val="E5F2EB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85800" y="4206240"/>
              <a:ext cx="73152" cy="1143000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86968" y="4370831"/>
              <a:ext cx="2880360" cy="34233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External APIs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86968" y="4800600"/>
              <a:ext cx="2880360" cy="47926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b="0" dirty="0">
                  <a:solidFill>
                    <a:srgbClr val="1B2B36"/>
                  </a:solidFill>
                  <a:latin typeface="Calibri"/>
                </a:rPr>
                <a:t>Meteorology, public datasets, third-party services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023360" y="3429000"/>
              <a:ext cx="731520" cy="0"/>
            </a:xfrm>
            <a:prstGeom prst="line">
              <a:avLst/>
            </a:prstGeom>
            <a:ln w="27940">
              <a:solidFill>
                <a:srgbClr val="0C24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4800600" y="1874519"/>
              <a:ext cx="2743200" cy="3154680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20640" y="2331720"/>
              <a:ext cx="2103120" cy="70748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Calibri"/>
                </a:rPr>
                <a:t>INGESTION
LAYER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12080" y="3246120"/>
              <a:ext cx="1920240" cy="120956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0" dirty="0">
                  <a:solidFill>
                    <a:srgbClr val="DBE8EF"/>
                  </a:solidFill>
                  <a:latin typeface="Calibri"/>
                </a:rPr>
                <a:t>Authentication
Schema validation
Normalization
Routing
Monitoring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7635240" y="3429000"/>
              <a:ext cx="731520" cy="0"/>
            </a:xfrm>
            <a:prstGeom prst="line">
              <a:avLst/>
            </a:prstGeom>
            <a:ln w="27940">
              <a:solidFill>
                <a:srgbClr val="0C24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8412480" y="2011680"/>
              <a:ext cx="2971800" cy="27889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2E0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641080" y="2286000"/>
              <a:ext cx="2514600" cy="89005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0C243A"/>
                  </a:solidFill>
                  <a:latin typeface="Calibri"/>
                </a:rPr>
                <a:t>COMMON OBSERVATION MODEL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823960" y="2788920"/>
              <a:ext cx="2148840" cy="184858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endParaRPr lang="en-US" b="0" dirty="0">
                <a:solidFill>
                  <a:srgbClr val="1B2B36"/>
                </a:solidFill>
                <a:latin typeface="Calibri"/>
              </a:endParaRPr>
            </a:p>
            <a:p>
              <a:pPr algn="ctr"/>
              <a:endParaRPr lang="en-US" dirty="0">
                <a:solidFill>
                  <a:srgbClr val="1B2B36"/>
                </a:solidFill>
                <a:latin typeface="Calibri"/>
              </a:endParaRPr>
            </a:p>
            <a:p>
              <a:pPr algn="ctr"/>
              <a:r>
                <a:rPr sz="2000" b="0" dirty="0">
                  <a:solidFill>
                    <a:srgbClr val="1B2B36"/>
                  </a:solidFill>
                  <a:latin typeface="Calibri"/>
                </a:rPr>
                <a:t>Device</a:t>
              </a:r>
              <a:endParaRPr lang="en-US" dirty="0">
                <a:solidFill>
                  <a:srgbClr val="1B2B36"/>
                </a:solidFill>
                <a:latin typeface="Calibri"/>
              </a:endParaRPr>
            </a:p>
            <a:p>
              <a:pPr algn="ctr"/>
              <a:r>
                <a:rPr sz="2000" b="0" dirty="0">
                  <a:solidFill>
                    <a:srgbClr val="1B2B36"/>
                  </a:solidFill>
                  <a:latin typeface="Calibri"/>
                </a:rPr>
                <a:t>Sensor / Parameter
Value + Unit
Timestamp
Location
Quality / Metadata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BED97F-F4E2-12E9-5580-0A8A4E48B815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1955" y="426712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From Raw Measurements to Trusted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3454" y="1022186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Separate data maturity levels instead of overwriting observations</a:t>
            </a:r>
          </a:p>
        </p:txBody>
      </p:sp>
      <p:grpSp>
        <p:nvGrpSpPr>
          <p:cNvPr id="44" name="Ομάδα 43">
            <a:extLst>
              <a:ext uri="{FF2B5EF4-FFF2-40B4-BE49-F238E27FC236}">
                <a16:creationId xmlns:a16="http://schemas.microsoft.com/office/drawing/2014/main" id="{A3D6390E-7ACF-1935-9D1F-2A69BC0ED48A}"/>
              </a:ext>
            </a:extLst>
          </p:cNvPr>
          <p:cNvGrpSpPr/>
          <p:nvPr/>
        </p:nvGrpSpPr>
        <p:grpSpPr>
          <a:xfrm>
            <a:off x="3500628" y="1668517"/>
            <a:ext cx="12653772" cy="5405924"/>
            <a:chOff x="1097280" y="1508760"/>
            <a:chExt cx="9418320" cy="4453128"/>
          </a:xfrm>
        </p:grpSpPr>
        <p:sp>
          <p:nvSpPr>
            <p:cNvPr id="5" name="Rounded Rectangle 4"/>
            <p:cNvSpPr/>
            <p:nvPr/>
          </p:nvSpPr>
          <p:spPr>
            <a:xfrm>
              <a:off x="1097280" y="1508760"/>
              <a:ext cx="914400" cy="658368"/>
            </a:xfrm>
            <a:prstGeom prst="roundRect">
              <a:avLst/>
            </a:prstGeom>
            <a:solidFill>
              <a:srgbClr val="697B89"/>
            </a:solidFill>
            <a:ln>
              <a:solidFill>
                <a:srgbClr val="697B8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691639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L0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48840" y="1508760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31720" y="1682495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RAW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74920" y="1508760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303520" y="1682495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Original observations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097280" y="2267712"/>
              <a:ext cx="914400" cy="658368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97280" y="2450592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L1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48840" y="2267712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31720" y="2441448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VALIDATED</a:t>
              </a:r>
              <a:endParaRPr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4920" y="2267712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03520" y="2441448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Structural checks + QA/QC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97280" y="3026664"/>
              <a:ext cx="914400" cy="658368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7280" y="3209544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L2</a:t>
              </a:r>
              <a:endParaRPr sz="14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148840" y="3026664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331720" y="3200400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CORRECTED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074920" y="3026664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03520" y="3200400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Cleaning + calibration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97280" y="3785615"/>
              <a:ext cx="914400" cy="658368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968496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L3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148840" y="3785615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31720" y="3959352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HARMONISED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074920" y="3785615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03520" y="3959352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Units + timestamps + formats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97280" y="4544568"/>
              <a:ext cx="914400" cy="658368"/>
            </a:xfrm>
            <a:prstGeom prst="roundRect">
              <a:avLst/>
            </a:prstGeom>
            <a:solidFill>
              <a:srgbClr val="E28E39"/>
            </a:solidFill>
            <a:ln>
              <a:solidFill>
                <a:srgbClr val="E28E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4727448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L4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148840" y="4544568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31720" y="4718304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DERIVED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074920" y="4544568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03520" y="4718304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Aggregates + indicators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97280" y="5303520"/>
              <a:ext cx="914400" cy="658368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7280" y="5486400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L5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148840" y="5303520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31720" y="5477256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INTELLIGENCE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074920" y="5303520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03520" y="5477256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Forecasts + alerts + decisions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605528" y="7255784"/>
            <a:ext cx="98755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Reprocessing is reproducible because the original measurement and processing history are preserved.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30655-52A1-5327-2ABC-F157DBCC3035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397532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Automated Data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45539" y="1045737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Quality control is a platform service, not a manual afterthought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52265" y="7792022"/>
            <a:ext cx="74066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Flag questionable data — do not silently destroy provenance.</a:t>
            </a:r>
          </a:p>
        </p:txBody>
      </p:sp>
      <p:grpSp>
        <p:nvGrpSpPr>
          <p:cNvPr id="66" name="Ομάδα 65">
            <a:extLst>
              <a:ext uri="{FF2B5EF4-FFF2-40B4-BE49-F238E27FC236}">
                <a16:creationId xmlns:a16="http://schemas.microsoft.com/office/drawing/2014/main" id="{3D864C00-C46E-C326-126D-1E2895C2CE88}"/>
              </a:ext>
            </a:extLst>
          </p:cNvPr>
          <p:cNvGrpSpPr/>
          <p:nvPr/>
        </p:nvGrpSpPr>
        <p:grpSpPr>
          <a:xfrm>
            <a:off x="2171700" y="1672036"/>
            <a:ext cx="14706600" cy="5940787"/>
            <a:chOff x="685800" y="1508760"/>
            <a:chExt cx="10927080" cy="4197096"/>
          </a:xfrm>
        </p:grpSpPr>
        <p:grpSp>
          <p:nvGrpSpPr>
            <p:cNvPr id="67" name="Ομάδα 66">
              <a:extLst>
                <a:ext uri="{FF2B5EF4-FFF2-40B4-BE49-F238E27FC236}">
                  <a16:creationId xmlns:a16="http://schemas.microsoft.com/office/drawing/2014/main" id="{A774611F-985E-0ABE-1D51-8C4DA166E63C}"/>
                </a:ext>
              </a:extLst>
            </p:cNvPr>
            <p:cNvGrpSpPr/>
            <p:nvPr/>
          </p:nvGrpSpPr>
          <p:grpSpPr>
            <a:xfrm>
              <a:off x="685800" y="1508760"/>
              <a:ext cx="10927080" cy="4197096"/>
              <a:chOff x="685800" y="1508760"/>
              <a:chExt cx="10927080" cy="4197096"/>
            </a:xfrm>
          </p:grpSpPr>
          <p:sp>
            <p:nvSpPr>
              <p:cNvPr id="69" name="Rounded Rectangle 4">
                <a:extLst>
                  <a:ext uri="{FF2B5EF4-FFF2-40B4-BE49-F238E27FC236}">
                    <a16:creationId xmlns:a16="http://schemas.microsoft.com/office/drawing/2014/main" id="{2CF86EB9-B89C-B457-4CD7-80A9EC3F92A0}"/>
                  </a:ext>
                </a:extLst>
              </p:cNvPr>
              <p:cNvSpPr/>
              <p:nvPr/>
            </p:nvSpPr>
            <p:spPr>
              <a:xfrm>
                <a:off x="685800" y="15087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Rounded Rectangle 5">
                <a:extLst>
                  <a:ext uri="{FF2B5EF4-FFF2-40B4-BE49-F238E27FC236}">
                    <a16:creationId xmlns:a16="http://schemas.microsoft.com/office/drawing/2014/main" id="{7D0FD2FC-3AF9-8960-8D14-3789D7FA46E3}"/>
                  </a:ext>
                </a:extLst>
              </p:cNvPr>
              <p:cNvSpPr/>
              <p:nvPr/>
            </p:nvSpPr>
            <p:spPr>
              <a:xfrm>
                <a:off x="795528" y="1691639"/>
                <a:ext cx="274320" cy="274320"/>
              </a:xfrm>
              <a:prstGeom prst="roundRect">
                <a:avLst/>
              </a:prstGeom>
              <a:solidFill>
                <a:srgbClr val="1E6FA8"/>
              </a:solidFill>
              <a:ln>
                <a:solidFill>
                  <a:srgbClr val="1E6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9F15AAB-56F2-CEED-82E2-D7217203547D}"/>
                  </a:ext>
                </a:extLst>
              </p:cNvPr>
              <p:cNvSpPr txBox="1"/>
              <p:nvPr/>
            </p:nvSpPr>
            <p:spPr>
              <a:xfrm>
                <a:off x="1188720" y="1673351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Range / physical limits</a:t>
                </a:r>
              </a:p>
            </p:txBody>
          </p:sp>
          <p:sp>
            <p:nvSpPr>
              <p:cNvPr id="72" name="Rounded Rectangle 7">
                <a:extLst>
                  <a:ext uri="{FF2B5EF4-FFF2-40B4-BE49-F238E27FC236}">
                    <a16:creationId xmlns:a16="http://schemas.microsoft.com/office/drawing/2014/main" id="{0F037170-F3BB-48FD-698F-C25D452B77A3}"/>
                  </a:ext>
                </a:extLst>
              </p:cNvPr>
              <p:cNvSpPr/>
              <p:nvPr/>
            </p:nvSpPr>
            <p:spPr>
              <a:xfrm>
                <a:off x="4480560" y="15087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Rounded Rectangle 8">
                <a:extLst>
                  <a:ext uri="{FF2B5EF4-FFF2-40B4-BE49-F238E27FC236}">
                    <a16:creationId xmlns:a16="http://schemas.microsoft.com/office/drawing/2014/main" id="{B2CC0404-95DC-AF74-53B2-D367A0495AD3}"/>
                  </a:ext>
                </a:extLst>
              </p:cNvPr>
              <p:cNvSpPr/>
              <p:nvPr/>
            </p:nvSpPr>
            <p:spPr>
              <a:xfrm>
                <a:off x="4590288" y="1691639"/>
                <a:ext cx="274320" cy="274320"/>
              </a:xfrm>
              <a:prstGeom prst="roundRect">
                <a:avLst/>
              </a:prstGeom>
              <a:solidFill>
                <a:srgbClr val="1E6FA8"/>
              </a:solidFill>
              <a:ln>
                <a:solidFill>
                  <a:srgbClr val="1E6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069DDF6-A1E9-136E-39AB-BB5C8F464412}"/>
                  </a:ext>
                </a:extLst>
              </p:cNvPr>
              <p:cNvSpPr txBox="1"/>
              <p:nvPr/>
            </p:nvSpPr>
            <p:spPr>
              <a:xfrm>
                <a:off x="4983480" y="1673351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Missing values</a:t>
                </a:r>
              </a:p>
            </p:txBody>
          </p:sp>
          <p:sp>
            <p:nvSpPr>
              <p:cNvPr id="75" name="Rounded Rectangle 10">
                <a:extLst>
                  <a:ext uri="{FF2B5EF4-FFF2-40B4-BE49-F238E27FC236}">
                    <a16:creationId xmlns:a16="http://schemas.microsoft.com/office/drawing/2014/main" id="{95836834-351D-0448-59D5-98C87565ED21}"/>
                  </a:ext>
                </a:extLst>
              </p:cNvPr>
              <p:cNvSpPr/>
              <p:nvPr/>
            </p:nvSpPr>
            <p:spPr>
              <a:xfrm>
                <a:off x="8275320" y="15087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Rounded Rectangle 11">
                <a:extLst>
                  <a:ext uri="{FF2B5EF4-FFF2-40B4-BE49-F238E27FC236}">
                    <a16:creationId xmlns:a16="http://schemas.microsoft.com/office/drawing/2014/main" id="{68FF9E56-4690-38B1-EF88-C8CC309E0973}"/>
                  </a:ext>
                </a:extLst>
              </p:cNvPr>
              <p:cNvSpPr/>
              <p:nvPr/>
            </p:nvSpPr>
            <p:spPr>
              <a:xfrm>
                <a:off x="8385048" y="1691639"/>
                <a:ext cx="274320" cy="274320"/>
              </a:xfrm>
              <a:prstGeom prst="roundRect">
                <a:avLst/>
              </a:prstGeom>
              <a:solidFill>
                <a:srgbClr val="1E6FA8"/>
              </a:solidFill>
              <a:ln>
                <a:solidFill>
                  <a:srgbClr val="1E6FA8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9BD3B3B2-43EE-AB41-F933-60D404D52076}"/>
                  </a:ext>
                </a:extLst>
              </p:cNvPr>
              <p:cNvSpPr txBox="1"/>
              <p:nvPr/>
            </p:nvSpPr>
            <p:spPr>
              <a:xfrm>
                <a:off x="8778240" y="1673351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Spikes &amp; outliers</a:t>
                </a:r>
              </a:p>
            </p:txBody>
          </p:sp>
          <p:sp>
            <p:nvSpPr>
              <p:cNvPr id="78" name="Rounded Rectangle 13">
                <a:extLst>
                  <a:ext uri="{FF2B5EF4-FFF2-40B4-BE49-F238E27FC236}">
                    <a16:creationId xmlns:a16="http://schemas.microsoft.com/office/drawing/2014/main" id="{81735E99-C774-0C35-1BAD-B650132F6D81}"/>
                  </a:ext>
                </a:extLst>
              </p:cNvPr>
              <p:cNvSpPr/>
              <p:nvPr/>
            </p:nvSpPr>
            <p:spPr>
              <a:xfrm>
                <a:off x="685800" y="24231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Rounded Rectangle 14">
                <a:extLst>
                  <a:ext uri="{FF2B5EF4-FFF2-40B4-BE49-F238E27FC236}">
                    <a16:creationId xmlns:a16="http://schemas.microsoft.com/office/drawing/2014/main" id="{FB7A6DE6-5A75-89E0-1F53-6FEBFDFC4AD0}"/>
                  </a:ext>
                </a:extLst>
              </p:cNvPr>
              <p:cNvSpPr/>
              <p:nvPr/>
            </p:nvSpPr>
            <p:spPr>
              <a:xfrm>
                <a:off x="795528" y="2606040"/>
                <a:ext cx="274320" cy="274320"/>
              </a:xfrm>
              <a:prstGeom prst="roundRect">
                <a:avLst/>
              </a:prstGeom>
              <a:solidFill>
                <a:srgbClr val="25AAB4"/>
              </a:solidFill>
              <a:ln>
                <a:solidFill>
                  <a:srgbClr val="25AAB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2C960B2-1B14-301F-198F-8FBC4CBD801A}"/>
                  </a:ext>
                </a:extLst>
              </p:cNvPr>
              <p:cNvSpPr txBox="1"/>
              <p:nvPr/>
            </p:nvSpPr>
            <p:spPr>
              <a:xfrm>
                <a:off x="1188720" y="25877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Flat-line detection</a:t>
                </a:r>
              </a:p>
            </p:txBody>
          </p:sp>
          <p:sp>
            <p:nvSpPr>
              <p:cNvPr id="81" name="Rounded Rectangle 16">
                <a:extLst>
                  <a:ext uri="{FF2B5EF4-FFF2-40B4-BE49-F238E27FC236}">
                    <a16:creationId xmlns:a16="http://schemas.microsoft.com/office/drawing/2014/main" id="{BB090240-AE44-110A-3855-A9675EFF3D20}"/>
                  </a:ext>
                </a:extLst>
              </p:cNvPr>
              <p:cNvSpPr/>
              <p:nvPr/>
            </p:nvSpPr>
            <p:spPr>
              <a:xfrm>
                <a:off x="4480560" y="24231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Rounded Rectangle 17">
                <a:extLst>
                  <a:ext uri="{FF2B5EF4-FFF2-40B4-BE49-F238E27FC236}">
                    <a16:creationId xmlns:a16="http://schemas.microsoft.com/office/drawing/2014/main" id="{6BF5EA73-5E1B-A1AB-6F31-C2C47D21D1A1}"/>
                  </a:ext>
                </a:extLst>
              </p:cNvPr>
              <p:cNvSpPr/>
              <p:nvPr/>
            </p:nvSpPr>
            <p:spPr>
              <a:xfrm>
                <a:off x="4590288" y="2606040"/>
                <a:ext cx="274320" cy="274320"/>
              </a:xfrm>
              <a:prstGeom prst="roundRect">
                <a:avLst/>
              </a:prstGeom>
              <a:solidFill>
                <a:srgbClr val="25AAB4"/>
              </a:solidFill>
              <a:ln>
                <a:solidFill>
                  <a:srgbClr val="25AAB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BF7F8E7-0653-F2A8-BBD1-98C752F3B934}"/>
                  </a:ext>
                </a:extLst>
              </p:cNvPr>
              <p:cNvSpPr txBox="1"/>
              <p:nvPr/>
            </p:nvSpPr>
            <p:spPr>
              <a:xfrm>
                <a:off x="4983480" y="25877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Rate-of-change</a:t>
                </a:r>
              </a:p>
            </p:txBody>
          </p:sp>
          <p:sp>
            <p:nvSpPr>
              <p:cNvPr id="84" name="Rounded Rectangle 19">
                <a:extLst>
                  <a:ext uri="{FF2B5EF4-FFF2-40B4-BE49-F238E27FC236}">
                    <a16:creationId xmlns:a16="http://schemas.microsoft.com/office/drawing/2014/main" id="{D0657845-D3C1-13FA-2308-1FC49A2AA031}"/>
                  </a:ext>
                </a:extLst>
              </p:cNvPr>
              <p:cNvSpPr/>
              <p:nvPr/>
            </p:nvSpPr>
            <p:spPr>
              <a:xfrm>
                <a:off x="8275320" y="24231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Rounded Rectangle 20">
                <a:extLst>
                  <a:ext uri="{FF2B5EF4-FFF2-40B4-BE49-F238E27FC236}">
                    <a16:creationId xmlns:a16="http://schemas.microsoft.com/office/drawing/2014/main" id="{917268FA-3BFF-53C5-BF1A-B63CEAB5BEE6}"/>
                  </a:ext>
                </a:extLst>
              </p:cNvPr>
              <p:cNvSpPr/>
              <p:nvPr/>
            </p:nvSpPr>
            <p:spPr>
              <a:xfrm>
                <a:off x="8385048" y="2606040"/>
                <a:ext cx="274320" cy="274320"/>
              </a:xfrm>
              <a:prstGeom prst="roundRect">
                <a:avLst/>
              </a:prstGeom>
              <a:solidFill>
                <a:srgbClr val="25AAB4"/>
              </a:solidFill>
              <a:ln>
                <a:solidFill>
                  <a:srgbClr val="25AAB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F3121CE9-6F81-0EB9-460E-EC25282A73A1}"/>
                  </a:ext>
                </a:extLst>
              </p:cNvPr>
              <p:cNvSpPr txBox="1"/>
              <p:nvPr/>
            </p:nvSpPr>
            <p:spPr>
              <a:xfrm>
                <a:off x="8778240" y="25877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Duplicate data</a:t>
                </a:r>
              </a:p>
            </p:txBody>
          </p:sp>
          <p:sp>
            <p:nvSpPr>
              <p:cNvPr id="87" name="Rounded Rectangle 22">
                <a:extLst>
                  <a:ext uri="{FF2B5EF4-FFF2-40B4-BE49-F238E27FC236}">
                    <a16:creationId xmlns:a16="http://schemas.microsoft.com/office/drawing/2014/main" id="{62BFDC41-0EC8-28A9-54A0-2170C95E9A19}"/>
                  </a:ext>
                </a:extLst>
              </p:cNvPr>
              <p:cNvSpPr/>
              <p:nvPr/>
            </p:nvSpPr>
            <p:spPr>
              <a:xfrm>
                <a:off x="685800" y="33375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Rounded Rectangle 23">
                <a:extLst>
                  <a:ext uri="{FF2B5EF4-FFF2-40B4-BE49-F238E27FC236}">
                    <a16:creationId xmlns:a16="http://schemas.microsoft.com/office/drawing/2014/main" id="{CCABA673-56A0-7843-7D8B-EB55C10CFEF8}"/>
                  </a:ext>
                </a:extLst>
              </p:cNvPr>
              <p:cNvSpPr/>
              <p:nvPr/>
            </p:nvSpPr>
            <p:spPr>
              <a:xfrm>
                <a:off x="795528" y="3520440"/>
                <a:ext cx="274320" cy="274320"/>
              </a:xfrm>
              <a:prstGeom prst="roundRect">
                <a:avLst/>
              </a:prstGeom>
              <a:solidFill>
                <a:srgbClr val="4C9674"/>
              </a:solidFill>
              <a:ln>
                <a:solidFill>
                  <a:srgbClr val="4C96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A7E13BF4-6CF4-1ACA-9097-17487421DA7E}"/>
                  </a:ext>
                </a:extLst>
              </p:cNvPr>
              <p:cNvSpPr txBox="1"/>
              <p:nvPr/>
            </p:nvSpPr>
            <p:spPr>
              <a:xfrm>
                <a:off x="1188720" y="35021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Timestamp consistency</a:t>
                </a:r>
              </a:p>
            </p:txBody>
          </p:sp>
          <p:sp>
            <p:nvSpPr>
              <p:cNvPr id="90" name="Rounded Rectangle 25">
                <a:extLst>
                  <a:ext uri="{FF2B5EF4-FFF2-40B4-BE49-F238E27FC236}">
                    <a16:creationId xmlns:a16="http://schemas.microsoft.com/office/drawing/2014/main" id="{CF977D66-FBCF-0374-EBE0-E92A8249DEB4}"/>
                  </a:ext>
                </a:extLst>
              </p:cNvPr>
              <p:cNvSpPr/>
              <p:nvPr/>
            </p:nvSpPr>
            <p:spPr>
              <a:xfrm>
                <a:off x="4480560" y="33375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Rounded Rectangle 26">
                <a:extLst>
                  <a:ext uri="{FF2B5EF4-FFF2-40B4-BE49-F238E27FC236}">
                    <a16:creationId xmlns:a16="http://schemas.microsoft.com/office/drawing/2014/main" id="{1EF2F0CF-ECD9-1BAD-1C10-E4ECBA4FD366}"/>
                  </a:ext>
                </a:extLst>
              </p:cNvPr>
              <p:cNvSpPr/>
              <p:nvPr/>
            </p:nvSpPr>
            <p:spPr>
              <a:xfrm>
                <a:off x="4590288" y="3520440"/>
                <a:ext cx="274320" cy="274320"/>
              </a:xfrm>
              <a:prstGeom prst="roundRect">
                <a:avLst/>
              </a:prstGeom>
              <a:solidFill>
                <a:srgbClr val="4C9674"/>
              </a:solidFill>
              <a:ln>
                <a:solidFill>
                  <a:srgbClr val="4C96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21FEFA67-43D5-E882-2513-91128CF3001B}"/>
                  </a:ext>
                </a:extLst>
              </p:cNvPr>
              <p:cNvSpPr txBox="1"/>
              <p:nvPr/>
            </p:nvSpPr>
            <p:spPr>
              <a:xfrm>
                <a:off x="4983480" y="35021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Communication gaps</a:t>
                </a:r>
              </a:p>
            </p:txBody>
          </p:sp>
          <p:sp>
            <p:nvSpPr>
              <p:cNvPr id="93" name="Rounded Rectangle 28">
                <a:extLst>
                  <a:ext uri="{FF2B5EF4-FFF2-40B4-BE49-F238E27FC236}">
                    <a16:creationId xmlns:a16="http://schemas.microsoft.com/office/drawing/2014/main" id="{62A27798-8116-C187-B775-ABBB96864BC8}"/>
                  </a:ext>
                </a:extLst>
              </p:cNvPr>
              <p:cNvSpPr/>
              <p:nvPr/>
            </p:nvSpPr>
            <p:spPr>
              <a:xfrm>
                <a:off x="8275320" y="33375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Rounded Rectangle 29">
                <a:extLst>
                  <a:ext uri="{FF2B5EF4-FFF2-40B4-BE49-F238E27FC236}">
                    <a16:creationId xmlns:a16="http://schemas.microsoft.com/office/drawing/2014/main" id="{B19091F9-2BFB-3028-BD2D-9732FFD72775}"/>
                  </a:ext>
                </a:extLst>
              </p:cNvPr>
              <p:cNvSpPr/>
              <p:nvPr/>
            </p:nvSpPr>
            <p:spPr>
              <a:xfrm>
                <a:off x="8385048" y="3520440"/>
                <a:ext cx="274320" cy="274320"/>
              </a:xfrm>
              <a:prstGeom prst="roundRect">
                <a:avLst/>
              </a:prstGeom>
              <a:solidFill>
                <a:srgbClr val="4C9674"/>
              </a:solidFill>
              <a:ln>
                <a:solidFill>
                  <a:srgbClr val="4C9674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77D37870-3C4C-25A1-E4E6-56510AF64E36}"/>
                  </a:ext>
                </a:extLst>
              </p:cNvPr>
              <p:cNvSpPr txBox="1"/>
              <p:nvPr/>
            </p:nvSpPr>
            <p:spPr>
              <a:xfrm>
                <a:off x="8778240" y="35021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Cross-sensor consistency</a:t>
                </a:r>
              </a:p>
            </p:txBody>
          </p:sp>
          <p:sp>
            <p:nvSpPr>
              <p:cNvPr id="96" name="Rounded Rectangle 31">
                <a:extLst>
                  <a:ext uri="{FF2B5EF4-FFF2-40B4-BE49-F238E27FC236}">
                    <a16:creationId xmlns:a16="http://schemas.microsoft.com/office/drawing/2014/main" id="{CB5E83BE-608E-0DEA-6ABB-814ADDBE0F8E}"/>
                  </a:ext>
                </a:extLst>
              </p:cNvPr>
              <p:cNvSpPr/>
              <p:nvPr/>
            </p:nvSpPr>
            <p:spPr>
              <a:xfrm>
                <a:off x="685800" y="42519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Rounded Rectangle 32">
                <a:extLst>
                  <a:ext uri="{FF2B5EF4-FFF2-40B4-BE49-F238E27FC236}">
                    <a16:creationId xmlns:a16="http://schemas.microsoft.com/office/drawing/2014/main" id="{CA2DF625-1BFC-7485-9A63-F820A7A92EB8}"/>
                  </a:ext>
                </a:extLst>
              </p:cNvPr>
              <p:cNvSpPr/>
              <p:nvPr/>
            </p:nvSpPr>
            <p:spPr>
              <a:xfrm>
                <a:off x="795528" y="4434840"/>
                <a:ext cx="274320" cy="274320"/>
              </a:xfrm>
              <a:prstGeom prst="roundRect">
                <a:avLst/>
              </a:prstGeom>
              <a:solidFill>
                <a:srgbClr val="E28E39"/>
              </a:solidFill>
              <a:ln>
                <a:solidFill>
                  <a:srgbClr val="E28E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EBBEF89-EE79-D762-B249-66C1BC52C374}"/>
                  </a:ext>
                </a:extLst>
              </p:cNvPr>
              <p:cNvSpPr txBox="1"/>
              <p:nvPr/>
            </p:nvSpPr>
            <p:spPr>
              <a:xfrm>
                <a:off x="1188720" y="44165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Sensor drift</a:t>
                </a:r>
              </a:p>
            </p:txBody>
          </p:sp>
          <p:sp>
            <p:nvSpPr>
              <p:cNvPr id="99" name="Rounded Rectangle 34">
                <a:extLst>
                  <a:ext uri="{FF2B5EF4-FFF2-40B4-BE49-F238E27FC236}">
                    <a16:creationId xmlns:a16="http://schemas.microsoft.com/office/drawing/2014/main" id="{9E5A1D4D-A3B0-174F-6E4E-64057E29188E}"/>
                  </a:ext>
                </a:extLst>
              </p:cNvPr>
              <p:cNvSpPr/>
              <p:nvPr/>
            </p:nvSpPr>
            <p:spPr>
              <a:xfrm>
                <a:off x="4480560" y="42519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Rounded Rectangle 35">
                <a:extLst>
                  <a:ext uri="{FF2B5EF4-FFF2-40B4-BE49-F238E27FC236}">
                    <a16:creationId xmlns:a16="http://schemas.microsoft.com/office/drawing/2014/main" id="{8C858ABC-7D23-0B9D-CD20-302AE31EF7F4}"/>
                  </a:ext>
                </a:extLst>
              </p:cNvPr>
              <p:cNvSpPr/>
              <p:nvPr/>
            </p:nvSpPr>
            <p:spPr>
              <a:xfrm>
                <a:off x="4590288" y="4434840"/>
                <a:ext cx="274320" cy="274320"/>
              </a:xfrm>
              <a:prstGeom prst="roundRect">
                <a:avLst/>
              </a:prstGeom>
              <a:solidFill>
                <a:srgbClr val="E28E39"/>
              </a:solidFill>
              <a:ln>
                <a:solidFill>
                  <a:srgbClr val="E28E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9D25C0F3-B5C7-DC68-FE38-A55F72DD53C1}"/>
                  </a:ext>
                </a:extLst>
              </p:cNvPr>
              <p:cNvSpPr txBox="1"/>
              <p:nvPr/>
            </p:nvSpPr>
            <p:spPr>
              <a:xfrm>
                <a:off x="4983480" y="44165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 dirty="0">
                    <a:solidFill>
                      <a:srgbClr val="1B2B36"/>
                    </a:solidFill>
                    <a:latin typeface="Calibri"/>
                  </a:rPr>
                  <a:t>Environmental interference</a:t>
                </a:r>
              </a:p>
            </p:txBody>
          </p:sp>
          <p:sp>
            <p:nvSpPr>
              <p:cNvPr id="102" name="Rounded Rectangle 37">
                <a:extLst>
                  <a:ext uri="{FF2B5EF4-FFF2-40B4-BE49-F238E27FC236}">
                    <a16:creationId xmlns:a16="http://schemas.microsoft.com/office/drawing/2014/main" id="{B5E74037-403D-7143-9371-E71C40ECF5D1}"/>
                  </a:ext>
                </a:extLst>
              </p:cNvPr>
              <p:cNvSpPr/>
              <p:nvPr/>
            </p:nvSpPr>
            <p:spPr>
              <a:xfrm>
                <a:off x="8275320" y="4251960"/>
                <a:ext cx="3337560" cy="658368"/>
              </a:xfrm>
              <a:prstGeom prst="roundRect">
                <a:avLst/>
              </a:prstGeom>
              <a:solidFill>
                <a:srgbClr val="FFFFFF"/>
              </a:solidFill>
              <a:ln w="8890">
                <a:solidFill>
                  <a:srgbClr val="DAE4E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Rounded Rectangle 38">
                <a:extLst>
                  <a:ext uri="{FF2B5EF4-FFF2-40B4-BE49-F238E27FC236}">
                    <a16:creationId xmlns:a16="http://schemas.microsoft.com/office/drawing/2014/main" id="{8B3B255F-3E9C-874B-162A-B0AF7224CF14}"/>
                  </a:ext>
                </a:extLst>
              </p:cNvPr>
              <p:cNvSpPr/>
              <p:nvPr/>
            </p:nvSpPr>
            <p:spPr>
              <a:xfrm>
                <a:off x="8385048" y="4434840"/>
                <a:ext cx="274320" cy="274320"/>
              </a:xfrm>
              <a:prstGeom prst="roundRect">
                <a:avLst/>
              </a:prstGeom>
              <a:solidFill>
                <a:srgbClr val="E28E39"/>
              </a:solidFill>
              <a:ln>
                <a:solidFill>
                  <a:srgbClr val="E28E3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A51D13C-659C-89AC-D5F8-B183EE33C2DC}"/>
                  </a:ext>
                </a:extLst>
              </p:cNvPr>
              <p:cNvSpPr txBox="1"/>
              <p:nvPr/>
            </p:nvSpPr>
            <p:spPr>
              <a:xfrm>
                <a:off x="8778240" y="4416552"/>
                <a:ext cx="2651760" cy="282673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2000" b="1">
                    <a:solidFill>
                      <a:srgbClr val="1B2B36"/>
                    </a:solidFill>
                    <a:latin typeface="Calibri"/>
                  </a:rPr>
                  <a:t>Sensor health</a:t>
                </a:r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B157C47-0365-D8E8-9EF1-C4492221AF8B}"/>
                  </a:ext>
                </a:extLst>
              </p:cNvPr>
              <p:cNvSpPr txBox="1"/>
              <p:nvPr/>
            </p:nvSpPr>
            <p:spPr>
              <a:xfrm>
                <a:off x="685800" y="5426244"/>
                <a:ext cx="1463040" cy="239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0C243A"/>
                    </a:solidFill>
                    <a:latin typeface="Calibri"/>
                  </a:rPr>
                  <a:t>QUALITY FLAGS</a:t>
                </a:r>
              </a:p>
            </p:txBody>
          </p:sp>
          <p:sp>
            <p:nvSpPr>
              <p:cNvPr id="106" name="Rounded Rectangle 41">
                <a:extLst>
                  <a:ext uri="{FF2B5EF4-FFF2-40B4-BE49-F238E27FC236}">
                    <a16:creationId xmlns:a16="http://schemas.microsoft.com/office/drawing/2014/main" id="{24A901C2-AC93-D462-5D11-7911406F9DC8}"/>
                  </a:ext>
                </a:extLst>
              </p:cNvPr>
              <p:cNvSpPr/>
              <p:nvPr/>
            </p:nvSpPr>
            <p:spPr>
              <a:xfrm>
                <a:off x="2057400" y="5321808"/>
                <a:ext cx="128016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9ABB70A5-9B3C-A9BC-CDEB-39A6A5349DFF}"/>
                  </a:ext>
                </a:extLst>
              </p:cNvPr>
              <p:cNvSpPr txBox="1"/>
              <p:nvPr/>
            </p:nvSpPr>
            <p:spPr>
              <a:xfrm>
                <a:off x="2130552" y="5385816"/>
                <a:ext cx="1133856" cy="239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4C9674"/>
                    </a:solidFill>
                    <a:latin typeface="Calibri"/>
                  </a:rPr>
                  <a:t>VALID</a:t>
                </a:r>
              </a:p>
            </p:txBody>
          </p:sp>
          <p:sp>
            <p:nvSpPr>
              <p:cNvPr id="108" name="Rounded Rectangle 43">
                <a:extLst>
                  <a:ext uri="{FF2B5EF4-FFF2-40B4-BE49-F238E27FC236}">
                    <a16:creationId xmlns:a16="http://schemas.microsoft.com/office/drawing/2014/main" id="{DFBD3B75-3968-5F5D-2F9F-96DBC32D313B}"/>
                  </a:ext>
                </a:extLst>
              </p:cNvPr>
              <p:cNvSpPr/>
              <p:nvPr/>
            </p:nvSpPr>
            <p:spPr>
              <a:xfrm>
                <a:off x="3520440" y="5321808"/>
                <a:ext cx="128016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94C5537-47E7-5B0D-00AD-D79AEB26D534}"/>
                  </a:ext>
                </a:extLst>
              </p:cNvPr>
              <p:cNvSpPr txBox="1"/>
              <p:nvPr/>
            </p:nvSpPr>
            <p:spPr>
              <a:xfrm>
                <a:off x="3593592" y="5385816"/>
                <a:ext cx="1133856" cy="239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E28E39"/>
                    </a:solidFill>
                    <a:latin typeface="Calibri"/>
                  </a:rPr>
                  <a:t>SUSPECT</a:t>
                </a:r>
                <a:endParaRPr sz="1100" b="1" dirty="0">
                  <a:solidFill>
                    <a:srgbClr val="E28E39"/>
                  </a:solidFill>
                  <a:latin typeface="Calibri"/>
                </a:endParaRPr>
              </a:p>
            </p:txBody>
          </p:sp>
          <p:sp>
            <p:nvSpPr>
              <p:cNvPr id="110" name="Rounded Rectangle 45">
                <a:extLst>
                  <a:ext uri="{FF2B5EF4-FFF2-40B4-BE49-F238E27FC236}">
                    <a16:creationId xmlns:a16="http://schemas.microsoft.com/office/drawing/2014/main" id="{FB6BC594-5492-DEFE-152F-A30E9735F4C0}"/>
                  </a:ext>
                </a:extLst>
              </p:cNvPr>
              <p:cNvSpPr/>
              <p:nvPr/>
            </p:nvSpPr>
            <p:spPr>
              <a:xfrm>
                <a:off x="4983480" y="5321808"/>
                <a:ext cx="128016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786E28E5-9073-3BF6-94D2-610811666D07}"/>
                  </a:ext>
                </a:extLst>
              </p:cNvPr>
              <p:cNvSpPr txBox="1"/>
              <p:nvPr/>
            </p:nvSpPr>
            <p:spPr>
              <a:xfrm>
                <a:off x="5056632" y="5385816"/>
                <a:ext cx="1133856" cy="239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C2483F"/>
                    </a:solidFill>
                    <a:latin typeface="Calibri"/>
                  </a:rPr>
                  <a:t>INVALID</a:t>
                </a:r>
                <a:endParaRPr sz="1100" b="1" dirty="0">
                  <a:solidFill>
                    <a:srgbClr val="C2483F"/>
                  </a:solidFill>
                  <a:latin typeface="Calibri"/>
                </a:endParaRPr>
              </a:p>
            </p:txBody>
          </p:sp>
          <p:sp>
            <p:nvSpPr>
              <p:cNvPr id="112" name="Rounded Rectangle 47">
                <a:extLst>
                  <a:ext uri="{FF2B5EF4-FFF2-40B4-BE49-F238E27FC236}">
                    <a16:creationId xmlns:a16="http://schemas.microsoft.com/office/drawing/2014/main" id="{83FB7CBA-2C2F-BD38-AA99-2DABE6DDBAA4}"/>
                  </a:ext>
                </a:extLst>
              </p:cNvPr>
              <p:cNvSpPr/>
              <p:nvPr/>
            </p:nvSpPr>
            <p:spPr>
              <a:xfrm>
                <a:off x="6446520" y="5321808"/>
                <a:ext cx="128016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1C43E8A7-C82B-05F0-F976-90860AE59E9D}"/>
                  </a:ext>
                </a:extLst>
              </p:cNvPr>
              <p:cNvSpPr txBox="1"/>
              <p:nvPr/>
            </p:nvSpPr>
            <p:spPr>
              <a:xfrm>
                <a:off x="6519672" y="5385816"/>
                <a:ext cx="1133856" cy="239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600" b="1">
                    <a:solidFill>
                      <a:srgbClr val="697B89"/>
                    </a:solidFill>
                    <a:latin typeface="Calibri"/>
                  </a:rPr>
                  <a:t>MISSING</a:t>
                </a:r>
              </a:p>
            </p:txBody>
          </p:sp>
          <p:sp>
            <p:nvSpPr>
              <p:cNvPr id="114" name="Rounded Rectangle 49">
                <a:extLst>
                  <a:ext uri="{FF2B5EF4-FFF2-40B4-BE49-F238E27FC236}">
                    <a16:creationId xmlns:a16="http://schemas.microsoft.com/office/drawing/2014/main" id="{9A18D320-9769-58F8-140F-995425B35259}"/>
                  </a:ext>
                </a:extLst>
              </p:cNvPr>
              <p:cNvSpPr/>
              <p:nvPr/>
            </p:nvSpPr>
            <p:spPr>
              <a:xfrm>
                <a:off x="7909560" y="5321808"/>
                <a:ext cx="128016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434FFB69-6586-5CFA-9830-84CB47457A25}"/>
                  </a:ext>
                </a:extLst>
              </p:cNvPr>
              <p:cNvSpPr txBox="1"/>
              <p:nvPr/>
            </p:nvSpPr>
            <p:spPr>
              <a:xfrm>
                <a:off x="7982712" y="5385816"/>
                <a:ext cx="1133856" cy="2391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sz="1600" b="1" dirty="0">
                    <a:solidFill>
                      <a:srgbClr val="1E6FA8"/>
                    </a:solidFill>
                    <a:latin typeface="Calibri"/>
                  </a:rPr>
                  <a:t>CALIBRATED</a:t>
                </a:r>
                <a:endParaRPr sz="1100" b="1" dirty="0">
                  <a:solidFill>
                    <a:srgbClr val="1E6FA8"/>
                  </a:solidFill>
                  <a:latin typeface="Calibri"/>
                </a:endParaRPr>
              </a:p>
            </p:txBody>
          </p:sp>
          <p:sp>
            <p:nvSpPr>
              <p:cNvPr id="116" name="Rounded Rectangle 51">
                <a:extLst>
                  <a:ext uri="{FF2B5EF4-FFF2-40B4-BE49-F238E27FC236}">
                    <a16:creationId xmlns:a16="http://schemas.microsoft.com/office/drawing/2014/main" id="{F8430B8C-A4F8-1A0B-1F3F-B145504AF70C}"/>
                  </a:ext>
                </a:extLst>
              </p:cNvPr>
              <p:cNvSpPr/>
              <p:nvPr/>
            </p:nvSpPr>
            <p:spPr>
              <a:xfrm>
                <a:off x="9372600" y="5321808"/>
                <a:ext cx="128016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D8097BA-FEB0-9C25-8386-C22263ED1820}"/>
                </a:ext>
              </a:extLst>
            </p:cNvPr>
            <p:cNvSpPr txBox="1"/>
            <p:nvPr/>
          </p:nvSpPr>
          <p:spPr>
            <a:xfrm>
              <a:off x="9445752" y="5385816"/>
              <a:ext cx="1133856" cy="23918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1600" b="1" dirty="0">
                  <a:solidFill>
                    <a:srgbClr val="25AAB4"/>
                  </a:solidFill>
                  <a:latin typeface="Calibri"/>
                </a:rPr>
                <a:t>ESTIMATED</a:t>
              </a:r>
              <a:endParaRPr sz="1100" b="1" dirty="0">
                <a:solidFill>
                  <a:srgbClr val="25AAB4"/>
                </a:solidFill>
                <a:latin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EF4D3A-BA1B-E602-E4E2-7FA3AA963980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382767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Calibration &amp; Environmental Compensation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5007" y="972440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Transform sensor response into a traceable corrected measurement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11292840" y="4270312"/>
            <a:ext cx="966116" cy="0"/>
          </a:xfrm>
          <a:prstGeom prst="line">
            <a:avLst/>
          </a:prstGeom>
          <a:ln w="29209">
            <a:solidFill>
              <a:srgbClr val="0C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Ομάδα 22">
            <a:extLst>
              <a:ext uri="{FF2B5EF4-FFF2-40B4-BE49-F238E27FC236}">
                <a16:creationId xmlns:a16="http://schemas.microsoft.com/office/drawing/2014/main" id="{61B6EE20-3FFB-849F-A777-504690CA6CF2}"/>
              </a:ext>
            </a:extLst>
          </p:cNvPr>
          <p:cNvGrpSpPr/>
          <p:nvPr/>
        </p:nvGrpSpPr>
        <p:grpSpPr>
          <a:xfrm>
            <a:off x="3147060" y="1918678"/>
            <a:ext cx="12755880" cy="4652254"/>
            <a:chOff x="731520" y="1508760"/>
            <a:chExt cx="10698480" cy="3566160"/>
          </a:xfrm>
        </p:grpSpPr>
        <p:sp>
          <p:nvSpPr>
            <p:cNvPr id="5" name="Rounded Rectangle 4"/>
            <p:cNvSpPr/>
            <p:nvPr/>
          </p:nvSpPr>
          <p:spPr>
            <a:xfrm>
              <a:off x="731520" y="1508760"/>
              <a:ext cx="2926080" cy="3566160"/>
            </a:xfrm>
            <a:prstGeom prst="roundRect">
              <a:avLst/>
            </a:prstGeom>
            <a:solidFill>
              <a:srgbClr val="E2EFF7"/>
            </a:solidFill>
            <a:ln>
              <a:solidFill>
                <a:srgbClr val="E2EF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60120" y="1783080"/>
              <a:ext cx="2468880" cy="3538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1E6FA8"/>
                  </a:solidFill>
                  <a:latin typeface="Calibri"/>
                </a:rPr>
                <a:t>INPUTS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1560" y="2331720"/>
              <a:ext cx="2331720" cy="18402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Raw sensor response y</a:t>
              </a:r>
            </a:p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Temperature T</a:t>
              </a:r>
            </a:p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Relative humidity RH</a:t>
              </a:r>
            </a:p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Context / co-pollutants x</a:t>
              </a:r>
            </a:p>
          </p:txBody>
        </p:sp>
        <p:cxnSp>
          <p:nvCxnSpPr>
            <p:cNvPr id="8" name="Connector 7"/>
            <p:cNvCxnSpPr/>
            <p:nvPr/>
          </p:nvCxnSpPr>
          <p:spPr>
            <a:xfrm>
              <a:off x="3794760" y="3246120"/>
              <a:ext cx="777240" cy="0"/>
            </a:xfrm>
            <a:prstGeom prst="line">
              <a:avLst/>
            </a:prstGeom>
            <a:ln w="29209">
              <a:solidFill>
                <a:srgbClr val="0C243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ounded Rectangle 8"/>
            <p:cNvSpPr/>
            <p:nvPr/>
          </p:nvSpPr>
          <p:spPr>
            <a:xfrm>
              <a:off x="4617720" y="2057400"/>
              <a:ext cx="2880360" cy="2377440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37760" y="2377440"/>
              <a:ext cx="2240280" cy="68580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FFFFFF"/>
                  </a:solidFill>
                  <a:latin typeface="Calibri"/>
                </a:rPr>
                <a:t>CALIBRATION
MODEL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83480" y="3337560"/>
              <a:ext cx="2148840" cy="3067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BCE0E5"/>
                  </a:solidFill>
                  <a:latin typeface="Calibri"/>
                </a:rPr>
                <a:t>ŷ = f(</a:t>
              </a:r>
              <a:r>
                <a:rPr sz="2000" b="1" dirty="0" err="1">
                  <a:solidFill>
                    <a:srgbClr val="BCE0E5"/>
                  </a:solidFill>
                  <a:latin typeface="Calibri"/>
                </a:rPr>
                <a:t>yraw</a:t>
              </a:r>
              <a:r>
                <a:rPr sz="2000" b="1" dirty="0">
                  <a:solidFill>
                    <a:srgbClr val="BCE0E5"/>
                  </a:solidFill>
                  <a:latin typeface="Calibri"/>
                </a:rPr>
                <a:t>, T, RH, x)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458200" y="1508760"/>
              <a:ext cx="2971800" cy="3566160"/>
            </a:xfrm>
            <a:prstGeom prst="roundRect">
              <a:avLst/>
            </a:prstGeom>
            <a:solidFill>
              <a:srgbClr val="E5F2EB"/>
            </a:solidFill>
            <a:ln>
              <a:solidFill>
                <a:srgbClr val="E5F2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732520" y="1783080"/>
              <a:ext cx="2423160" cy="35388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400" b="1" dirty="0">
                  <a:solidFill>
                    <a:srgbClr val="4C9674"/>
                  </a:solidFill>
                  <a:latin typeface="Calibri"/>
                </a:rPr>
                <a:t>OUTPUT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778240" y="2331720"/>
              <a:ext cx="2331720" cy="16042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Corrected value ŷ</a:t>
              </a:r>
            </a:p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Uncertainty / confidence</a:t>
              </a:r>
            </a:p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Calibration version</a:t>
              </a:r>
            </a:p>
            <a:p>
              <a:pPr>
                <a:spcAft>
                  <a:spcPts val="1200"/>
                </a:spcAft>
                <a:defRPr sz="1600">
                  <a:solidFill>
                    <a:srgbClr val="1B2B36"/>
                  </a:solidFill>
                  <a:latin typeface="Calibri"/>
                </a:defRPr>
              </a:pPr>
              <a:r>
                <a:rPr sz="2000" dirty="0"/>
                <a:t>• Quality information</a:t>
              </a: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4157147" y="6980850"/>
            <a:ext cx="99669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Supported approaches: laboratory calibration • field co-location • multivariate models • ML • drift correction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B895A-E9FE-E682-2F76-2598A3F68D19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4208" y="424964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 err="1">
                <a:solidFill>
                  <a:srgbClr val="0C243A"/>
                </a:solidFill>
                <a:latin typeface="Calibri"/>
              </a:rPr>
              <a:t>Harmonisation</a:t>
            </a:r>
            <a:r>
              <a:rPr sz="3600" b="1" dirty="0">
                <a:solidFill>
                  <a:srgbClr val="0C243A"/>
                </a:solidFill>
                <a:latin typeface="Calibri"/>
              </a:rPr>
              <a:t>, Processing &amp; Data Fusion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6693" y="975751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Move from device-specific measurements to a common environmental information model</a:t>
            </a:r>
          </a:p>
        </p:txBody>
      </p:sp>
      <p:grpSp>
        <p:nvGrpSpPr>
          <p:cNvPr id="53" name="Ομάδα 52">
            <a:extLst>
              <a:ext uri="{FF2B5EF4-FFF2-40B4-BE49-F238E27FC236}">
                <a16:creationId xmlns:a16="http://schemas.microsoft.com/office/drawing/2014/main" id="{1F45D811-F817-2BC4-8C0F-A75C433B71CD}"/>
              </a:ext>
            </a:extLst>
          </p:cNvPr>
          <p:cNvGrpSpPr/>
          <p:nvPr/>
        </p:nvGrpSpPr>
        <p:grpSpPr>
          <a:xfrm>
            <a:off x="1686693" y="1926648"/>
            <a:ext cx="14467707" cy="5655252"/>
            <a:chOff x="594360" y="1600200"/>
            <a:chExt cx="11155680" cy="4197096"/>
          </a:xfrm>
        </p:grpSpPr>
        <p:sp>
          <p:nvSpPr>
            <p:cNvPr id="5" name="Rounded Rectangle 4"/>
            <p:cNvSpPr/>
            <p:nvPr/>
          </p:nvSpPr>
          <p:spPr>
            <a:xfrm>
              <a:off x="594360" y="1600200"/>
              <a:ext cx="2514600" cy="34747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594360" y="1600200"/>
              <a:ext cx="73152" cy="3474720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95528" y="1764792"/>
              <a:ext cx="2373509" cy="3426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Temporal processing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95528" y="2194560"/>
              <a:ext cx="2194560" cy="153040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endParaRPr lang="el-GR" sz="1600" b="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endParaRPr lang="el-GR" sz="160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endParaRPr lang="el-GR" sz="160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Resampling
</a:t>
              </a:r>
              <a:r>
                <a:rPr sz="2000" b="0" dirty="0" err="1">
                  <a:solidFill>
                    <a:srgbClr val="1B2B36"/>
                  </a:solidFill>
                  <a:latin typeface="Calibri"/>
                </a:rPr>
                <a:t>Synchronisation</a:t>
              </a:r>
              <a:r>
                <a:rPr sz="2000" b="0" dirty="0">
                  <a:solidFill>
                    <a:srgbClr val="1B2B36"/>
                  </a:solidFill>
                  <a:latin typeface="Calibri"/>
                </a:rPr>
                <a:t>
Interpolation
Rolling statistics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474720" y="1600200"/>
              <a:ext cx="2514600" cy="34747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474720" y="1600200"/>
              <a:ext cx="73152" cy="3474720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675887" y="1764792"/>
              <a:ext cx="2194560" cy="3426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 err="1">
                  <a:solidFill>
                    <a:srgbClr val="0C243A"/>
                  </a:solidFill>
                  <a:latin typeface="Calibri"/>
                </a:rPr>
                <a:t>Harmonisation</a:t>
              </a:r>
              <a:endParaRPr sz="2400"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675887" y="2194560"/>
              <a:ext cx="2194560" cy="1439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endParaRPr lang="el-GR" sz="2000" b="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endParaRPr lang="el-GR" sz="200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Unit conversion
Naming conventions
Common timestamps
Metadata mapping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6355080" y="1600200"/>
              <a:ext cx="2514600" cy="34747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355080" y="1600200"/>
              <a:ext cx="73152" cy="3474720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556248" y="1764792"/>
              <a:ext cx="2194560" cy="3426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Sensor processing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556248" y="2194560"/>
              <a:ext cx="2194560" cy="1439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endParaRPr lang="el-GR" sz="2000" b="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endParaRPr lang="el-GR" sz="200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Calibration
Drift correction
Outlier handling
Missing-data handling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235440" y="1600200"/>
              <a:ext cx="2514600" cy="34747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9235440" y="1600200"/>
              <a:ext cx="73152" cy="3474720"/>
            </a:xfrm>
            <a:prstGeom prst="roundRect">
              <a:avLst/>
            </a:prstGeom>
            <a:solidFill>
              <a:srgbClr val="E28E39"/>
            </a:solidFill>
            <a:ln>
              <a:solidFill>
                <a:srgbClr val="E28E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9436608" y="1764792"/>
              <a:ext cx="2194560" cy="34262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Data fusion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436608" y="2194560"/>
              <a:ext cx="2194560" cy="14390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endParaRPr lang="el-GR" sz="2000" b="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endParaRPr lang="el-GR" sz="2000" dirty="0">
                <a:solidFill>
                  <a:srgbClr val="1B2B36"/>
                </a:solidFill>
                <a:latin typeface="Calibri"/>
              </a:endParaRPr>
            </a:p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Multi-sensor consensus
Reference integration
Spatial combination
Uncertainty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9718" y="5509458"/>
              <a:ext cx="1645920" cy="25126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1600" b="1" dirty="0">
                  <a:solidFill>
                    <a:srgbClr val="0C243A"/>
                  </a:solidFill>
                  <a:latin typeface="Calibri"/>
                </a:rPr>
                <a:t>DERIVED PRODUCTS</a:t>
              </a: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2331720" y="5413248"/>
              <a:ext cx="1508760" cy="384048"/>
            </a:xfrm>
            <a:prstGeom prst="roundRect">
              <a:avLst/>
            </a:prstGeom>
            <a:solidFill>
              <a:srgbClr val="F5F8F9"/>
            </a:solidFill>
            <a:ln>
              <a:solidFill>
                <a:srgbClr val="F5F8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404872" y="5477256"/>
              <a:ext cx="1362456" cy="29694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1E6FA8"/>
                  </a:solidFill>
                  <a:latin typeface="Calibri"/>
                </a:rPr>
                <a:t>AQ indicators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023360" y="5413248"/>
              <a:ext cx="1508760" cy="384048"/>
            </a:xfrm>
            <a:prstGeom prst="roundRect">
              <a:avLst/>
            </a:prstGeom>
            <a:solidFill>
              <a:srgbClr val="F5F8F9"/>
            </a:solidFill>
            <a:ln>
              <a:solidFill>
                <a:srgbClr val="F5F8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096512" y="5477256"/>
              <a:ext cx="1362456" cy="29694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25AAB4"/>
                  </a:solidFill>
                  <a:latin typeface="Calibri"/>
                </a:rPr>
                <a:t>Exceedances</a:t>
              </a:r>
              <a:endParaRPr b="1" dirty="0">
                <a:solidFill>
                  <a:srgbClr val="25AAB4"/>
                </a:solidFill>
                <a:latin typeface="Calibri"/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5715000" y="5413248"/>
              <a:ext cx="1508760" cy="384048"/>
            </a:xfrm>
            <a:prstGeom prst="roundRect">
              <a:avLst/>
            </a:prstGeom>
            <a:solidFill>
              <a:srgbClr val="F5F8F9"/>
            </a:solidFill>
            <a:ln>
              <a:solidFill>
                <a:srgbClr val="F5F8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578717" y="5477256"/>
              <a:ext cx="1751076" cy="29694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4C9674"/>
                  </a:solidFill>
                  <a:latin typeface="Calibri"/>
                </a:rPr>
                <a:t>Exposure metrics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7406640" y="5413248"/>
              <a:ext cx="1508760" cy="384048"/>
            </a:xfrm>
            <a:prstGeom prst="roundRect">
              <a:avLst/>
            </a:prstGeom>
            <a:solidFill>
              <a:srgbClr val="F5F8F9"/>
            </a:solidFill>
            <a:ln>
              <a:solidFill>
                <a:srgbClr val="F5F8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79792" y="5477256"/>
              <a:ext cx="1362456" cy="29694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E28E39"/>
                  </a:solidFill>
                  <a:latin typeface="Calibri"/>
                </a:rPr>
                <a:t>Statistics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098280" y="5413248"/>
              <a:ext cx="1508760" cy="384048"/>
            </a:xfrm>
            <a:prstGeom prst="roundRect">
              <a:avLst/>
            </a:prstGeom>
            <a:solidFill>
              <a:srgbClr val="F5F8F9"/>
            </a:solidFill>
            <a:ln>
              <a:solidFill>
                <a:srgbClr val="F5F8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9171432" y="5477256"/>
              <a:ext cx="1362456" cy="29694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0C243A"/>
                  </a:solidFill>
                  <a:latin typeface="Calibri"/>
                </a:rPr>
                <a:t>Spatial layers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8C6FA0D-333A-F490-6087-26E0B7E7CC6A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pic>
        <p:nvPicPr>
          <p:cNvPr id="32" name="Picture 31" descr="image.png">
            <a:extLst>
              <a:ext uri="{FF2B5EF4-FFF2-40B4-BE49-F238E27FC236}">
                <a16:creationId xmlns:a16="http://schemas.microsoft.com/office/drawing/2014/main" id="{3B767051-DBB8-C497-67B6-A4E655C9B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284" y="2628900"/>
            <a:ext cx="488916" cy="488916"/>
          </a:xfrm>
          <a:prstGeom prst="rect">
            <a:avLst/>
          </a:prstGeom>
        </p:spPr>
      </p:pic>
      <p:pic>
        <p:nvPicPr>
          <p:cNvPr id="34" name="Picture 33" descr="image.png">
            <a:extLst>
              <a:ext uri="{FF2B5EF4-FFF2-40B4-BE49-F238E27FC236}">
                <a16:creationId xmlns:a16="http://schemas.microsoft.com/office/drawing/2014/main" id="{EA8744EA-5E88-B675-AD23-362F42C88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635759"/>
            <a:ext cx="450341" cy="450341"/>
          </a:xfrm>
          <a:prstGeom prst="rect">
            <a:avLst/>
          </a:prstGeom>
        </p:spPr>
      </p:pic>
      <p:pic>
        <p:nvPicPr>
          <p:cNvPr id="36" name="Picture 35" descr="image.png">
            <a:extLst>
              <a:ext uri="{FF2B5EF4-FFF2-40B4-BE49-F238E27FC236}">
                <a16:creationId xmlns:a16="http://schemas.microsoft.com/office/drawing/2014/main" id="{93A81934-2ECA-8238-6E8C-6CECAC714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9245" y="2495058"/>
            <a:ext cx="642262" cy="5709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7FC5E97-97B1-33CD-E7FF-D3F5511B2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4587" y="2552700"/>
            <a:ext cx="800613" cy="718572"/>
          </a:xfrm>
          <a:prstGeom prst="rect">
            <a:avLst/>
          </a:prstGeom>
        </p:spPr>
      </p:pic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4D720CD3-4A17-9470-4FC5-F47583516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400" y="1181100"/>
            <a:ext cx="6096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649668" y="276337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Environmental 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925332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Raw, trusted and derived information coexist</a:t>
            </a:r>
          </a:p>
        </p:txBody>
      </p:sp>
      <p:grpSp>
        <p:nvGrpSpPr>
          <p:cNvPr id="28" name="Ομάδα 27">
            <a:extLst>
              <a:ext uri="{FF2B5EF4-FFF2-40B4-BE49-F238E27FC236}">
                <a16:creationId xmlns:a16="http://schemas.microsoft.com/office/drawing/2014/main" id="{DE500C98-4F46-9B53-C625-85AD3CCC2419}"/>
              </a:ext>
            </a:extLst>
          </p:cNvPr>
          <p:cNvGrpSpPr/>
          <p:nvPr/>
        </p:nvGrpSpPr>
        <p:grpSpPr>
          <a:xfrm>
            <a:off x="1649668" y="1876976"/>
            <a:ext cx="14504732" cy="4843540"/>
            <a:chOff x="777240" y="1417320"/>
            <a:chExt cx="10607040" cy="4186578"/>
          </a:xfrm>
        </p:grpSpPr>
        <p:sp>
          <p:nvSpPr>
            <p:cNvPr id="5" name="Rounded Rectangle 4"/>
            <p:cNvSpPr/>
            <p:nvPr/>
          </p:nvSpPr>
          <p:spPr>
            <a:xfrm>
              <a:off x="777240" y="1417320"/>
              <a:ext cx="4846320" cy="713232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05840" y="1572768"/>
              <a:ext cx="1463040" cy="3458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FFFFFF"/>
                  </a:solidFill>
                  <a:latin typeface="Calibri"/>
                </a:rPr>
                <a:t>INTELLIGENCE</a:t>
              </a:r>
              <a:endParaRPr sz="14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14600" y="1572768"/>
              <a:ext cx="2788920" cy="39904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0" dirty="0">
                  <a:solidFill>
                    <a:srgbClr val="FFFFFF"/>
                  </a:solidFill>
                  <a:latin typeface="Calibri"/>
                </a:rPr>
                <a:t>AI • forecasts • risk • alerts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77240" y="2240280"/>
              <a:ext cx="4846320" cy="713232"/>
            </a:xfrm>
            <a:prstGeom prst="roundRect">
              <a:avLst/>
            </a:prstGeom>
            <a:solidFill>
              <a:srgbClr val="E28E39"/>
            </a:solidFill>
            <a:ln>
              <a:solidFill>
                <a:srgbClr val="E28E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5840" y="2395728"/>
              <a:ext cx="1463040" cy="3458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FFFFFF"/>
                  </a:solidFill>
                  <a:latin typeface="Calibri"/>
                </a:rPr>
                <a:t>DERIVED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14600" y="2395728"/>
              <a:ext cx="2788920" cy="39904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0" dirty="0">
                  <a:solidFill>
                    <a:srgbClr val="FFFFFF"/>
                  </a:solidFill>
                  <a:latin typeface="Calibri"/>
                </a:rPr>
                <a:t>AQI • statistics • exposure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77240" y="3063240"/>
              <a:ext cx="4846320" cy="713232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05840" y="3218688"/>
              <a:ext cx="1463040" cy="3458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FFFFFF"/>
                  </a:solidFill>
                  <a:latin typeface="Calibri"/>
                </a:rPr>
                <a:t>CALIBRATED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41091" y="3073212"/>
              <a:ext cx="2788920" cy="71828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0" dirty="0">
                  <a:solidFill>
                    <a:srgbClr val="FFFFFF"/>
                  </a:solidFill>
                  <a:latin typeface="Calibri"/>
                </a:rPr>
                <a:t>Corrected values • uncertainty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777240" y="3886200"/>
              <a:ext cx="4846320" cy="713232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5840" y="4041648"/>
              <a:ext cx="1463040" cy="3458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FFFF"/>
                  </a:solidFill>
                  <a:latin typeface="Calibri"/>
                </a:rPr>
                <a:t>VALIDATED</a:t>
              </a:r>
              <a:endParaRPr sz="20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514600" y="4041648"/>
              <a:ext cx="2788920" cy="399046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0">
                  <a:solidFill>
                    <a:srgbClr val="FFFFFF"/>
                  </a:solidFill>
                  <a:latin typeface="Calibri"/>
                </a:rPr>
                <a:t>QA/QC • quality flags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77240" y="4709160"/>
              <a:ext cx="4846320" cy="713232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5840" y="4864608"/>
              <a:ext cx="1463040" cy="3458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FFFFFF"/>
                  </a:solidFill>
                  <a:latin typeface="Calibri"/>
                </a:rPr>
                <a:t>RAW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472534" y="4739584"/>
              <a:ext cx="2788920" cy="71828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0" dirty="0">
                  <a:solidFill>
                    <a:srgbClr val="FFFFFF"/>
                  </a:solidFill>
                  <a:latin typeface="Calibri"/>
                </a:rPr>
                <a:t>Original immutable observations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6172200" y="1417320"/>
              <a:ext cx="5212080" cy="4005072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446520" y="1737360"/>
              <a:ext cx="4663440" cy="34584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0C243A"/>
                  </a:solidFill>
                  <a:latin typeface="Calibri"/>
                </a:rPr>
                <a:t>CONTEXT &amp; PROVENANCE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536323" y="2331719"/>
              <a:ext cx="4736510" cy="32721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Device &amp; sensor metadata</a:t>
              </a:r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Location &amp; deployment</a:t>
              </a:r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Configuration history</a:t>
              </a:r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Calibration models &amp; versions</a:t>
              </a:r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Quality flags</a:t>
              </a:r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Processing lineage</a:t>
              </a:r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dirty="0"/>
                <a:t>• User / tenant ownership</a:t>
              </a:r>
              <a:endParaRPr lang="en-US" dirty="0"/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endParaRPr lang="en-US" dirty="0"/>
            </a:p>
            <a:p>
              <a:pPr>
                <a:spcAft>
                  <a:spcPts val="9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endParaRPr dirty="0"/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267200" y="7244941"/>
            <a:ext cx="100584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Architecture principle: never lose the path from the original observation to the final information product.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840F4D-473C-B6FB-C5B3-B0B1A6833071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63040" y="349893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AI &amp; Advanced Environmental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990891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Trusted data becomes the foundation for prediction and decision support</a:t>
            </a:r>
          </a:p>
        </p:txBody>
      </p:sp>
      <p:grpSp>
        <p:nvGrpSpPr>
          <p:cNvPr id="30" name="Ομάδα 29">
            <a:extLst>
              <a:ext uri="{FF2B5EF4-FFF2-40B4-BE49-F238E27FC236}">
                <a16:creationId xmlns:a16="http://schemas.microsoft.com/office/drawing/2014/main" id="{79FA3ED2-D70F-7593-45CD-D7758F2FEA14}"/>
              </a:ext>
            </a:extLst>
          </p:cNvPr>
          <p:cNvGrpSpPr/>
          <p:nvPr/>
        </p:nvGrpSpPr>
        <p:grpSpPr>
          <a:xfrm>
            <a:off x="2209800" y="1754981"/>
            <a:ext cx="14980920" cy="5941793"/>
            <a:chOff x="640080" y="1508760"/>
            <a:chExt cx="11109960" cy="4680022"/>
          </a:xfrm>
        </p:grpSpPr>
        <p:sp>
          <p:nvSpPr>
            <p:cNvPr id="5" name="Rounded Rectangle 4"/>
            <p:cNvSpPr/>
            <p:nvPr/>
          </p:nvSpPr>
          <p:spPr>
            <a:xfrm>
              <a:off x="640080" y="1508760"/>
              <a:ext cx="3429000" cy="41605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508760"/>
              <a:ext cx="73152" cy="4160520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41247" y="1673351"/>
              <a:ext cx="3108960" cy="6545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Sensor Intelligence</a:t>
              </a:r>
              <a:r>
                <a:rPr lang="en-US" sz="2400" b="1" dirty="0">
                  <a:solidFill>
                    <a:srgbClr val="0C243A"/>
                  </a:solidFill>
                  <a:latin typeface="Calibri"/>
                </a:rPr>
                <a:t> -</a:t>
              </a:r>
            </a:p>
            <a:p>
              <a:pPr algn="l"/>
              <a:r>
                <a:rPr lang="en-US" sz="2400" b="1" dirty="0">
                  <a:solidFill>
                    <a:srgbClr val="0C243A"/>
                  </a:solidFill>
                  <a:latin typeface="Calibri"/>
                </a:rPr>
                <a:t>Hardware Level</a:t>
              </a:r>
              <a:endParaRPr sz="2400"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60119" y="2331720"/>
              <a:ext cx="2788920" cy="1563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Automated calibration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Drift detection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Sensor-health monitoring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Anomaly detection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480560" y="1508760"/>
              <a:ext cx="3429000" cy="41605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480560" y="1508760"/>
              <a:ext cx="73152" cy="4160520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681728" y="1673351"/>
              <a:ext cx="3108960" cy="6545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Data Intelligence</a:t>
              </a:r>
              <a:r>
                <a:rPr lang="en-US" sz="2400" b="1" dirty="0">
                  <a:solidFill>
                    <a:srgbClr val="0C243A"/>
                  </a:solidFill>
                  <a:latin typeface="Calibri"/>
                </a:rPr>
                <a:t> -</a:t>
              </a:r>
            </a:p>
            <a:p>
              <a:pPr algn="l"/>
              <a:r>
                <a:rPr lang="en-US" sz="2400" b="1" dirty="0">
                  <a:solidFill>
                    <a:srgbClr val="0C243A"/>
                  </a:solidFill>
                  <a:latin typeface="Calibri"/>
                </a:rPr>
                <a:t>Data Level</a:t>
              </a:r>
              <a:endParaRPr sz="2400"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800600" y="2331720"/>
              <a:ext cx="2788920" cy="1563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Missing-data imputation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Denoising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Data fusion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 dirty="0"/>
                <a:t>• Uncertainty estimation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8321040" y="1508760"/>
              <a:ext cx="3429000" cy="4160520"/>
            </a:xfrm>
            <a:prstGeom prst="roundRect">
              <a:avLst/>
            </a:prstGeom>
            <a:solidFill>
              <a:srgbClr val="FFFFFF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8321040" y="1508760"/>
              <a:ext cx="73152" cy="4160520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522208" y="1673351"/>
              <a:ext cx="3108960" cy="65453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Environmental Intelligence</a:t>
              </a:r>
              <a:r>
                <a:rPr lang="en-US" sz="2400" b="1" dirty="0">
                  <a:solidFill>
                    <a:srgbClr val="0C243A"/>
                  </a:solidFill>
                  <a:latin typeface="Calibri"/>
                </a:rPr>
                <a:t> -</a:t>
              </a:r>
            </a:p>
            <a:p>
              <a:pPr algn="l"/>
              <a:r>
                <a:rPr lang="en-US" sz="2400" b="1" dirty="0">
                  <a:solidFill>
                    <a:srgbClr val="0C243A"/>
                  </a:solidFill>
                  <a:latin typeface="Calibri"/>
                </a:rPr>
                <a:t>Domain Level</a:t>
              </a:r>
              <a:endParaRPr sz="2400"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641080" y="2331720"/>
              <a:ext cx="2788920" cy="1563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/>
                <a:t>• Air-quality forecasting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/>
                <a:t>• Pollution-event detection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/>
                <a:t>• Spatial estimation</a:t>
              </a:r>
            </a:p>
            <a:p>
              <a:pPr>
                <a:spcAft>
                  <a:spcPts val="1400"/>
                </a:spcAft>
                <a:defRPr sz="1500">
                  <a:solidFill>
                    <a:srgbClr val="1B2B36"/>
                  </a:solidFill>
                  <a:latin typeface="Calibri"/>
                </a:defRPr>
              </a:pPr>
              <a:r>
                <a:rPr sz="2200"/>
                <a:t>• Exposure / risk analysis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280160" y="5897880"/>
              <a:ext cx="1188720" cy="2909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b="1" dirty="0">
                  <a:solidFill>
                    <a:srgbClr val="1E6FA8"/>
                  </a:solidFill>
                  <a:latin typeface="Calibri"/>
                </a:rPr>
                <a:t>MEASURE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514600" y="6016752"/>
              <a:ext cx="640080" cy="0"/>
            </a:xfrm>
            <a:prstGeom prst="line">
              <a:avLst/>
            </a:prstGeom>
            <a:ln w="1905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3200400" y="5897880"/>
              <a:ext cx="1188720" cy="2909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b="1" dirty="0">
                  <a:solidFill>
                    <a:srgbClr val="25AAB4"/>
                  </a:solidFill>
                  <a:latin typeface="Calibri"/>
                </a:rPr>
                <a:t>VALIDATE</a:t>
              </a:r>
            </a:p>
          </p:txBody>
        </p:sp>
        <p:cxnSp>
          <p:nvCxnSpPr>
            <p:cNvPr id="20" name="Connector 19"/>
            <p:cNvCxnSpPr/>
            <p:nvPr/>
          </p:nvCxnSpPr>
          <p:spPr>
            <a:xfrm>
              <a:off x="4434840" y="6016752"/>
              <a:ext cx="640080" cy="0"/>
            </a:xfrm>
            <a:prstGeom prst="line">
              <a:avLst/>
            </a:prstGeom>
            <a:ln w="1905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120640" y="5897880"/>
              <a:ext cx="1463040" cy="2909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b="1" dirty="0">
                  <a:solidFill>
                    <a:srgbClr val="4C9674"/>
                  </a:solidFill>
                  <a:latin typeface="Calibri"/>
                </a:rPr>
                <a:t>UNDERSTAND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6629400" y="6016752"/>
              <a:ext cx="640080" cy="0"/>
            </a:xfrm>
            <a:prstGeom prst="line">
              <a:avLst/>
            </a:prstGeom>
            <a:ln w="1905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7315200" y="5897880"/>
              <a:ext cx="1188720" cy="2909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b="1" dirty="0">
                  <a:solidFill>
                    <a:srgbClr val="E28E39"/>
                  </a:solidFill>
                  <a:latin typeface="Calibri"/>
                </a:rPr>
                <a:t>PREDICT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8549640" y="6016752"/>
              <a:ext cx="640080" cy="0"/>
            </a:xfrm>
            <a:prstGeom prst="line">
              <a:avLst/>
            </a:prstGeom>
            <a:ln w="19050">
              <a:solidFill>
                <a:srgbClr val="697B8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9235440" y="5897880"/>
              <a:ext cx="914400" cy="29090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b="1" dirty="0">
                  <a:solidFill>
                    <a:srgbClr val="0C243A"/>
                  </a:solidFill>
                  <a:latin typeface="Calibri"/>
                </a:rPr>
                <a:t>ACT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AD0E0-1CE2-050D-41D7-7820E0C50169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97380" y="2743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0C243A"/>
                </a:solidFill>
                <a:latin typeface="Calibri"/>
              </a:rPr>
              <a:t>Platform Integration: Data In, Intelligence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58187" y="945041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The platform can be the user-facing solution or the environmental data backbone</a:t>
            </a:r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5D6C9764-8EF9-0514-9D4C-C0EE01743C40}"/>
              </a:ext>
            </a:extLst>
          </p:cNvPr>
          <p:cNvGrpSpPr/>
          <p:nvPr/>
        </p:nvGrpSpPr>
        <p:grpSpPr>
          <a:xfrm>
            <a:off x="2286000" y="1852579"/>
            <a:ext cx="14752320" cy="6164580"/>
            <a:chOff x="640080" y="1367028"/>
            <a:chExt cx="10911535" cy="4078224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0A56A999-C640-2BE2-8386-31CAE3B60FA2}"/>
                </a:ext>
              </a:extLst>
            </p:cNvPr>
            <p:cNvSpPr/>
            <p:nvPr/>
          </p:nvSpPr>
          <p:spPr>
            <a:xfrm>
              <a:off x="4404207" y="1508760"/>
              <a:ext cx="3383280" cy="3794760"/>
            </a:xfrm>
            <a:prstGeom prst="roundRect">
              <a:avLst>
                <a:gd name="adj" fmla="val 6000"/>
              </a:avLst>
            </a:prstGeom>
            <a:solidFill>
              <a:srgbClr val="0C2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F714B93A-D348-9BE2-F660-D1DAE600FBC5}"/>
                </a:ext>
              </a:extLst>
            </p:cNvPr>
            <p:cNvSpPr/>
            <p:nvPr/>
          </p:nvSpPr>
          <p:spPr>
            <a:xfrm>
              <a:off x="4568799" y="1673352"/>
              <a:ext cx="3054096" cy="3465576"/>
            </a:xfrm>
            <a:prstGeom prst="roundRect">
              <a:avLst>
                <a:gd name="adj" fmla="val 8000"/>
              </a:avLst>
            </a:prstGeom>
            <a:noFill/>
            <a:ln w="12700">
              <a:solidFill>
                <a:srgbClr val="2A445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EE420074-EF34-5432-35CC-13A115829D42}"/>
                </a:ext>
              </a:extLst>
            </p:cNvPr>
            <p:cNvSpPr/>
            <p:nvPr/>
          </p:nvSpPr>
          <p:spPr>
            <a:xfrm>
              <a:off x="5812383" y="1792224"/>
              <a:ext cx="566928" cy="566928"/>
            </a:xfrm>
            <a:prstGeom prst="ellipse">
              <a:avLst/>
            </a:prstGeom>
            <a:solidFill>
              <a:srgbClr val="25AA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7" name="Picture 6" descr="hub.png">
              <a:extLst>
                <a:ext uri="{FF2B5EF4-FFF2-40B4-BE49-F238E27FC236}">
                  <a16:creationId xmlns:a16="http://schemas.microsoft.com/office/drawing/2014/main" id="{32BAF15F-29FC-4848-B882-6C8DF017C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39942" y="1919783"/>
              <a:ext cx="311810" cy="3118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941DF7F-F527-4674-F586-EAF53C04A9F8}"/>
                </a:ext>
              </a:extLst>
            </p:cNvPr>
            <p:cNvSpPr txBox="1"/>
            <p:nvPr/>
          </p:nvSpPr>
          <p:spPr>
            <a:xfrm>
              <a:off x="4587087" y="2468880"/>
              <a:ext cx="3017520" cy="4072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2000" i="0">
                  <a:solidFill>
                    <a:srgbClr val="FFFFFF"/>
                  </a:solidFill>
                  <a:latin typeface="Calibri"/>
                </a:rPr>
                <a:t>ENVIRONMENTAL</a:t>
              </a:r>
            </a:p>
            <a:p>
              <a:pPr algn="ctr">
                <a:lnSpc>
                  <a:spcPct val="100000"/>
                </a:lnSpc>
              </a:pPr>
              <a:r>
                <a:rPr sz="2000" i="0">
                  <a:solidFill>
                    <a:srgbClr val="FFFFFF"/>
                  </a:solidFill>
                  <a:latin typeface="Calibri"/>
                </a:rPr>
                <a:t>DATA PLATFORM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BECC448-DD24-90A3-5E13-F8B3D2179C0C}"/>
                </a:ext>
              </a:extLst>
            </p:cNvPr>
            <p:cNvSpPr/>
            <p:nvPr/>
          </p:nvSpPr>
          <p:spPr>
            <a:xfrm>
              <a:off x="4769967" y="3383280"/>
              <a:ext cx="274320" cy="274320"/>
            </a:xfrm>
            <a:prstGeom prst="ellipse">
              <a:avLst/>
            </a:prstGeom>
            <a:solidFill>
              <a:srgbClr val="1B3A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10" name="Picture 9" descr="ingestion.png">
              <a:extLst>
                <a:ext uri="{FF2B5EF4-FFF2-40B4-BE49-F238E27FC236}">
                  <a16:creationId xmlns:a16="http://schemas.microsoft.com/office/drawing/2014/main" id="{F5C7D6BF-5128-31A4-126D-3E8E815B2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1689" y="3445002"/>
              <a:ext cx="150876" cy="15087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28E5D35-7A13-F783-A6BA-C79D0ECE14AC}"/>
                </a:ext>
              </a:extLst>
            </p:cNvPr>
            <p:cNvSpPr txBox="1"/>
            <p:nvPr/>
          </p:nvSpPr>
          <p:spPr>
            <a:xfrm>
              <a:off x="5163159" y="3517554"/>
              <a:ext cx="237744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FFFFFF"/>
                  </a:solidFill>
                  <a:latin typeface="Calibri"/>
                </a:rPr>
                <a:t>Ingestion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C2553EF-A3D5-B1EC-B65C-BB4209E87B6C}"/>
                </a:ext>
              </a:extLst>
            </p:cNvPr>
            <p:cNvSpPr/>
            <p:nvPr/>
          </p:nvSpPr>
          <p:spPr>
            <a:xfrm>
              <a:off x="4769967" y="3749040"/>
              <a:ext cx="274320" cy="274320"/>
            </a:xfrm>
            <a:prstGeom prst="ellipse">
              <a:avLst/>
            </a:prstGeom>
            <a:solidFill>
              <a:srgbClr val="1B3A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13" name="Picture 12" descr="validate.png">
              <a:extLst>
                <a:ext uri="{FF2B5EF4-FFF2-40B4-BE49-F238E27FC236}">
                  <a16:creationId xmlns:a16="http://schemas.microsoft.com/office/drawing/2014/main" id="{73B95FB2-C1DA-DE2A-34B4-440A32B33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31689" y="3810762"/>
              <a:ext cx="150876" cy="15087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1588A0-6DB2-3D91-F5BA-377B8D9ADA87}"/>
                </a:ext>
              </a:extLst>
            </p:cNvPr>
            <p:cNvSpPr txBox="1"/>
            <p:nvPr/>
          </p:nvSpPr>
          <p:spPr>
            <a:xfrm>
              <a:off x="5163159" y="3883315"/>
              <a:ext cx="237744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FFFFFF"/>
                  </a:solidFill>
                  <a:latin typeface="Calibri"/>
                </a:rPr>
                <a:t>QA / QC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9FC6103-130E-9046-FA4E-272627A38CE6}"/>
                </a:ext>
              </a:extLst>
            </p:cNvPr>
            <p:cNvSpPr/>
            <p:nvPr/>
          </p:nvSpPr>
          <p:spPr>
            <a:xfrm>
              <a:off x="4769967" y="4114800"/>
              <a:ext cx="274320" cy="274320"/>
            </a:xfrm>
            <a:prstGeom prst="ellipse">
              <a:avLst/>
            </a:prstGeom>
            <a:solidFill>
              <a:srgbClr val="1B3A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16" name="Picture 15" descr="process.png">
              <a:extLst>
                <a:ext uri="{FF2B5EF4-FFF2-40B4-BE49-F238E27FC236}">
                  <a16:creationId xmlns:a16="http://schemas.microsoft.com/office/drawing/2014/main" id="{C638A310-B0E0-1EDC-3A9B-38A338D16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31689" y="4176522"/>
              <a:ext cx="150876" cy="150876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83BCE06-D7CE-F052-3041-0007CCAB4FE1}"/>
                </a:ext>
              </a:extLst>
            </p:cNvPr>
            <p:cNvSpPr txBox="1"/>
            <p:nvPr/>
          </p:nvSpPr>
          <p:spPr>
            <a:xfrm>
              <a:off x="5163159" y="4249074"/>
              <a:ext cx="237744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FFFFFF"/>
                  </a:solidFill>
                  <a:latin typeface="Calibri"/>
                </a:rPr>
                <a:t>Processing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F65EFD-20C9-6C46-30DE-5E7DD7D6F481}"/>
                </a:ext>
              </a:extLst>
            </p:cNvPr>
            <p:cNvSpPr/>
            <p:nvPr/>
          </p:nvSpPr>
          <p:spPr>
            <a:xfrm>
              <a:off x="4769967" y="4480560"/>
              <a:ext cx="274320" cy="274320"/>
            </a:xfrm>
            <a:prstGeom prst="ellipse">
              <a:avLst/>
            </a:prstGeom>
            <a:solidFill>
              <a:srgbClr val="1B3A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19" name="Picture 18" descr="storage.png">
              <a:extLst>
                <a:ext uri="{FF2B5EF4-FFF2-40B4-BE49-F238E27FC236}">
                  <a16:creationId xmlns:a16="http://schemas.microsoft.com/office/drawing/2014/main" id="{051ED7A6-B582-9B97-CE94-7B447E76A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31689" y="4542282"/>
              <a:ext cx="150876" cy="150876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9AF7A46-928E-5168-7AFA-2FAC7668EE28}"/>
                </a:ext>
              </a:extLst>
            </p:cNvPr>
            <p:cNvSpPr txBox="1"/>
            <p:nvPr/>
          </p:nvSpPr>
          <p:spPr>
            <a:xfrm>
              <a:off x="5163159" y="4614834"/>
              <a:ext cx="237744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FFFFFF"/>
                  </a:solidFill>
                  <a:latin typeface="Calibri"/>
                </a:rPr>
                <a:t>Storage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12BBC27-139D-2F54-B1EB-735C5AE1E96C}"/>
                </a:ext>
              </a:extLst>
            </p:cNvPr>
            <p:cNvSpPr/>
            <p:nvPr/>
          </p:nvSpPr>
          <p:spPr>
            <a:xfrm>
              <a:off x="4769967" y="4846320"/>
              <a:ext cx="274320" cy="274320"/>
            </a:xfrm>
            <a:prstGeom prst="ellipse">
              <a:avLst/>
            </a:prstGeom>
            <a:solidFill>
              <a:srgbClr val="1B3A5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22" name="Picture 21" descr="aianalytics.png">
              <a:extLst>
                <a:ext uri="{FF2B5EF4-FFF2-40B4-BE49-F238E27FC236}">
                  <a16:creationId xmlns:a16="http://schemas.microsoft.com/office/drawing/2014/main" id="{460866A9-E590-6555-7EEF-3398F23C07A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831689" y="4908042"/>
              <a:ext cx="150876" cy="15087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8676954-6AF5-7BE0-E2ED-32B711B080E1}"/>
                </a:ext>
              </a:extLst>
            </p:cNvPr>
            <p:cNvSpPr txBox="1"/>
            <p:nvPr/>
          </p:nvSpPr>
          <p:spPr>
            <a:xfrm>
              <a:off x="5163159" y="4980595"/>
              <a:ext cx="237744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FFFFFF"/>
                  </a:solidFill>
                  <a:latin typeface="Calibri"/>
                </a:rPr>
                <a:t>AI / Analytics</a:t>
              </a:r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D5393B6D-C68A-FC6C-1ADE-AD3831372E2D}"/>
                </a:ext>
              </a:extLst>
            </p:cNvPr>
            <p:cNvSpPr/>
            <p:nvPr/>
          </p:nvSpPr>
          <p:spPr>
            <a:xfrm>
              <a:off x="640080" y="1367028"/>
              <a:ext cx="2514600" cy="868680"/>
            </a:xfrm>
            <a:prstGeom prst="roundRect">
              <a:avLst>
                <a:gd name="adj" fmla="val 16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A9F9BE0-7F5B-4D10-DE79-A7818217D2FC}"/>
                </a:ext>
              </a:extLst>
            </p:cNvPr>
            <p:cNvSpPr/>
            <p:nvPr/>
          </p:nvSpPr>
          <p:spPr>
            <a:xfrm>
              <a:off x="868680" y="1572768"/>
              <a:ext cx="457200" cy="457200"/>
            </a:xfrm>
            <a:prstGeom prst="ellipse">
              <a:avLst/>
            </a:prstGeom>
            <a:solidFill>
              <a:srgbClr val="1E6F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26" name="Picture 25" descr="sense.png">
              <a:extLst>
                <a:ext uri="{FF2B5EF4-FFF2-40B4-BE49-F238E27FC236}">
                  <a16:creationId xmlns:a16="http://schemas.microsoft.com/office/drawing/2014/main" id="{0515E004-C740-EC2A-1D9A-27AC383EC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71550" y="1675638"/>
              <a:ext cx="251460" cy="25146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C76F0C1-BAF3-A603-A0F2-1D937808486C}"/>
                </a:ext>
              </a:extLst>
            </p:cNvPr>
            <p:cNvSpPr txBox="1"/>
            <p:nvPr/>
          </p:nvSpPr>
          <p:spPr>
            <a:xfrm>
              <a:off x="1463040" y="1495044"/>
              <a:ext cx="1554480" cy="2036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Sensors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0AB0016-396A-2245-CE55-D2D12C425085}"/>
                </a:ext>
              </a:extLst>
            </p:cNvPr>
            <p:cNvSpPr txBox="1"/>
            <p:nvPr/>
          </p:nvSpPr>
          <p:spPr>
            <a:xfrm>
              <a:off x="1463040" y="1787652"/>
              <a:ext cx="1554480" cy="4072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i="0">
                  <a:solidFill>
                    <a:srgbClr val="697B89"/>
                  </a:solidFill>
                  <a:latin typeface="Calibri"/>
                </a:rPr>
                <a:t>Field air-quality sensors</a:t>
              </a:r>
            </a:p>
          </p:txBody>
        </p:sp>
        <p:cxnSp>
          <p:nvCxnSpPr>
            <p:cNvPr id="29" name="Connector 29">
              <a:extLst>
                <a:ext uri="{FF2B5EF4-FFF2-40B4-BE49-F238E27FC236}">
                  <a16:creationId xmlns:a16="http://schemas.microsoft.com/office/drawing/2014/main" id="{4C40D52C-CE6F-0C8B-BE0F-1C7C96A9B134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80" y="1801368"/>
              <a:ext cx="1249527" cy="0"/>
            </a:xfrm>
            <a:prstGeom prst="line">
              <a:avLst/>
            </a:prstGeom>
            <a:ln w="19050">
              <a:solidFill>
                <a:srgbClr val="1E6FA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6AD3A405-04C6-5D0F-15C0-2904673F7F89}"/>
                </a:ext>
              </a:extLst>
            </p:cNvPr>
            <p:cNvSpPr/>
            <p:nvPr/>
          </p:nvSpPr>
          <p:spPr>
            <a:xfrm>
              <a:off x="640080" y="2436876"/>
              <a:ext cx="2514600" cy="868680"/>
            </a:xfrm>
            <a:prstGeom prst="roundRect">
              <a:avLst>
                <a:gd name="adj" fmla="val 16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200EA53-D775-B1E1-07F0-EE5D8AB1DC79}"/>
                </a:ext>
              </a:extLst>
            </p:cNvPr>
            <p:cNvSpPr/>
            <p:nvPr/>
          </p:nvSpPr>
          <p:spPr>
            <a:xfrm>
              <a:off x="868680" y="2642616"/>
              <a:ext cx="457200" cy="457200"/>
            </a:xfrm>
            <a:prstGeom prst="ellipse">
              <a:avLst/>
            </a:prstGeom>
            <a:solidFill>
              <a:srgbClr val="25AA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32" name="Picture 31" descr="stations.png">
              <a:extLst>
                <a:ext uri="{FF2B5EF4-FFF2-40B4-BE49-F238E27FC236}">
                  <a16:creationId xmlns:a16="http://schemas.microsoft.com/office/drawing/2014/main" id="{30BE4EDD-894E-B242-118B-A9B4F9C16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71550" y="2745486"/>
              <a:ext cx="251460" cy="251460"/>
            </a:xfrm>
            <a:prstGeom prst="rect">
              <a:avLst/>
            </a:prstGeom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0F3D3B5-27AA-18F8-78CD-C25D47D28156}"/>
                </a:ext>
              </a:extLst>
            </p:cNvPr>
            <p:cNvSpPr txBox="1"/>
            <p:nvPr/>
          </p:nvSpPr>
          <p:spPr>
            <a:xfrm>
              <a:off x="1463040" y="2564892"/>
              <a:ext cx="1554480" cy="2036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Stations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7002455-8463-AE93-9872-F080876B7193}"/>
                </a:ext>
              </a:extLst>
            </p:cNvPr>
            <p:cNvSpPr txBox="1"/>
            <p:nvPr/>
          </p:nvSpPr>
          <p:spPr>
            <a:xfrm>
              <a:off x="1463040" y="2857500"/>
              <a:ext cx="1554480" cy="61083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i="0">
                  <a:solidFill>
                    <a:srgbClr val="697B89"/>
                  </a:solidFill>
                  <a:latin typeface="Calibri"/>
                </a:rPr>
                <a:t>Reference monitoring stations</a:t>
              </a:r>
            </a:p>
          </p:txBody>
        </p:sp>
        <p:cxnSp>
          <p:nvCxnSpPr>
            <p:cNvPr id="35" name="Connector 35">
              <a:extLst>
                <a:ext uri="{FF2B5EF4-FFF2-40B4-BE49-F238E27FC236}">
                  <a16:creationId xmlns:a16="http://schemas.microsoft.com/office/drawing/2014/main" id="{B5ED21A5-F1E4-17C5-2695-0C5FA4B9C7A0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80" y="2871216"/>
              <a:ext cx="1249527" cy="0"/>
            </a:xfrm>
            <a:prstGeom prst="line">
              <a:avLst/>
            </a:prstGeom>
            <a:ln w="19050">
              <a:solidFill>
                <a:srgbClr val="25AAB4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FB00E2D9-20E7-6D9A-3B9C-BCC6D46D39A0}"/>
                </a:ext>
              </a:extLst>
            </p:cNvPr>
            <p:cNvSpPr/>
            <p:nvPr/>
          </p:nvSpPr>
          <p:spPr>
            <a:xfrm>
              <a:off x="640080" y="3506724"/>
              <a:ext cx="2514600" cy="868680"/>
            </a:xfrm>
            <a:prstGeom prst="roundRect">
              <a:avLst>
                <a:gd name="adj" fmla="val 16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CB10359-2A00-72D4-39AE-5AF362E22059}"/>
                </a:ext>
              </a:extLst>
            </p:cNvPr>
            <p:cNvSpPr/>
            <p:nvPr/>
          </p:nvSpPr>
          <p:spPr>
            <a:xfrm>
              <a:off x="868680" y="3712464"/>
              <a:ext cx="457200" cy="457200"/>
            </a:xfrm>
            <a:prstGeom prst="ellipse">
              <a:avLst/>
            </a:prstGeom>
            <a:solidFill>
              <a:srgbClr val="4C96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38" name="Picture 37" descr="weather.png">
              <a:extLst>
                <a:ext uri="{FF2B5EF4-FFF2-40B4-BE49-F238E27FC236}">
                  <a16:creationId xmlns:a16="http://schemas.microsoft.com/office/drawing/2014/main" id="{BC4F35E0-47E7-B624-6161-C9FCC885B9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71550" y="3815334"/>
              <a:ext cx="251460" cy="25146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EC455C2-CE22-5970-6B70-104597832D59}"/>
                </a:ext>
              </a:extLst>
            </p:cNvPr>
            <p:cNvSpPr txBox="1"/>
            <p:nvPr/>
          </p:nvSpPr>
          <p:spPr>
            <a:xfrm>
              <a:off x="1463040" y="3634740"/>
              <a:ext cx="1554480" cy="2036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Weather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BC7A441-4535-44BF-5E52-FAFE3597C7EC}"/>
                </a:ext>
              </a:extLst>
            </p:cNvPr>
            <p:cNvSpPr txBox="1"/>
            <p:nvPr/>
          </p:nvSpPr>
          <p:spPr>
            <a:xfrm>
              <a:off x="1463040" y="3927348"/>
              <a:ext cx="1554480" cy="4072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i="0">
                  <a:solidFill>
                    <a:srgbClr val="697B89"/>
                  </a:solidFill>
                  <a:latin typeface="Calibri"/>
                </a:rPr>
                <a:t>Meteorology &amp; external feeds</a:t>
              </a:r>
            </a:p>
          </p:txBody>
        </p:sp>
        <p:cxnSp>
          <p:nvCxnSpPr>
            <p:cNvPr id="41" name="Connector 41">
              <a:extLst>
                <a:ext uri="{FF2B5EF4-FFF2-40B4-BE49-F238E27FC236}">
                  <a16:creationId xmlns:a16="http://schemas.microsoft.com/office/drawing/2014/main" id="{5D1D2919-8653-98DF-F6C7-FFCC77AF201F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80" y="3941064"/>
              <a:ext cx="1249527" cy="0"/>
            </a:xfrm>
            <a:prstGeom prst="line">
              <a:avLst/>
            </a:prstGeom>
            <a:ln w="19050">
              <a:solidFill>
                <a:srgbClr val="4C9674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ounded Rectangle 41">
              <a:extLst>
                <a:ext uri="{FF2B5EF4-FFF2-40B4-BE49-F238E27FC236}">
                  <a16:creationId xmlns:a16="http://schemas.microsoft.com/office/drawing/2014/main" id="{B3CF5D1E-3916-DB9B-3754-7F70BB49A886}"/>
                </a:ext>
              </a:extLst>
            </p:cNvPr>
            <p:cNvSpPr/>
            <p:nvPr/>
          </p:nvSpPr>
          <p:spPr>
            <a:xfrm>
              <a:off x="640080" y="4576572"/>
              <a:ext cx="2514600" cy="868680"/>
            </a:xfrm>
            <a:prstGeom prst="roundRect">
              <a:avLst>
                <a:gd name="adj" fmla="val 16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628DAB8-3B38-3BAE-30D2-10E50BD25791}"/>
                </a:ext>
              </a:extLst>
            </p:cNvPr>
            <p:cNvSpPr/>
            <p:nvPr/>
          </p:nvSpPr>
          <p:spPr>
            <a:xfrm>
              <a:off x="868680" y="4782312"/>
              <a:ext cx="457200" cy="457200"/>
            </a:xfrm>
            <a:prstGeom prst="ellipse">
              <a:avLst/>
            </a:prstGeom>
            <a:solidFill>
              <a:srgbClr val="E28E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44" name="Picture 43" descr="extapi.png">
              <a:extLst>
                <a:ext uri="{FF2B5EF4-FFF2-40B4-BE49-F238E27FC236}">
                  <a16:creationId xmlns:a16="http://schemas.microsoft.com/office/drawing/2014/main" id="{62297141-CAFC-FF2B-536E-92AC98E02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1550" y="4885182"/>
              <a:ext cx="251460" cy="25146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3DD0115B-BADC-DF0D-3C3F-31E2D5D84446}"/>
                </a:ext>
              </a:extLst>
            </p:cNvPr>
            <p:cNvSpPr txBox="1"/>
            <p:nvPr/>
          </p:nvSpPr>
          <p:spPr>
            <a:xfrm>
              <a:off x="1463040" y="4704588"/>
              <a:ext cx="1554480" cy="203612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External APIs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475F4130-05D4-7C3B-061B-0FB082E5B074}"/>
                </a:ext>
              </a:extLst>
            </p:cNvPr>
            <p:cNvSpPr txBox="1"/>
            <p:nvPr/>
          </p:nvSpPr>
          <p:spPr>
            <a:xfrm>
              <a:off x="1463040" y="4997196"/>
              <a:ext cx="1554480" cy="407224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2000" i="0">
                  <a:solidFill>
                    <a:srgbClr val="697B89"/>
                  </a:solidFill>
                  <a:latin typeface="Calibri"/>
                </a:rPr>
                <a:t>Third-party &amp; public datasets</a:t>
              </a:r>
            </a:p>
          </p:txBody>
        </p:sp>
        <p:cxnSp>
          <p:nvCxnSpPr>
            <p:cNvPr id="47" name="Connector 47">
              <a:extLst>
                <a:ext uri="{FF2B5EF4-FFF2-40B4-BE49-F238E27FC236}">
                  <a16:creationId xmlns:a16="http://schemas.microsoft.com/office/drawing/2014/main" id="{4ED6E9D3-0FC0-766B-043D-67456F5E82E4}"/>
                </a:ext>
              </a:extLst>
            </p:cNvPr>
            <p:cNvCxnSpPr>
              <a:cxnSpLocks/>
            </p:cNvCxnSpPr>
            <p:nvPr/>
          </p:nvCxnSpPr>
          <p:spPr>
            <a:xfrm>
              <a:off x="3154680" y="5010912"/>
              <a:ext cx="1249527" cy="0"/>
            </a:xfrm>
            <a:prstGeom prst="line">
              <a:avLst/>
            </a:prstGeom>
            <a:ln w="19050">
              <a:solidFill>
                <a:srgbClr val="E28E3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ounded Rectangle 47">
              <a:extLst>
                <a:ext uri="{FF2B5EF4-FFF2-40B4-BE49-F238E27FC236}">
                  <a16:creationId xmlns:a16="http://schemas.microsoft.com/office/drawing/2014/main" id="{C5421D1F-6450-E46E-7768-53EAE0702310}"/>
                </a:ext>
              </a:extLst>
            </p:cNvPr>
            <p:cNvSpPr/>
            <p:nvPr/>
          </p:nvSpPr>
          <p:spPr>
            <a:xfrm>
              <a:off x="9219895" y="1467612"/>
              <a:ext cx="2331720" cy="658368"/>
            </a:xfrm>
            <a:prstGeom prst="roundRect">
              <a:avLst>
                <a:gd name="adj" fmla="val 22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4E63621-44A7-A994-4729-B5D25246E03A}"/>
                </a:ext>
              </a:extLst>
            </p:cNvPr>
            <p:cNvSpPr/>
            <p:nvPr/>
          </p:nvSpPr>
          <p:spPr>
            <a:xfrm>
              <a:off x="9430207" y="1604772"/>
              <a:ext cx="384048" cy="384048"/>
            </a:xfrm>
            <a:prstGeom prst="ellipse">
              <a:avLst/>
            </a:prstGeom>
            <a:solidFill>
              <a:srgbClr val="1E6F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50" name="Picture 49" descr="dashboards.png">
              <a:extLst>
                <a:ext uri="{FF2B5EF4-FFF2-40B4-BE49-F238E27FC236}">
                  <a16:creationId xmlns:a16="http://schemas.microsoft.com/office/drawing/2014/main" id="{489FA70A-A9C5-01D5-A966-06B28B0BD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9516618" y="1691183"/>
              <a:ext cx="211226" cy="211226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2396A1C-C43B-5DF2-70B8-EA8A241DC41D}"/>
                </a:ext>
              </a:extLst>
            </p:cNvPr>
            <p:cNvSpPr txBox="1"/>
            <p:nvPr/>
          </p:nvSpPr>
          <p:spPr>
            <a:xfrm>
              <a:off x="9933127" y="1798210"/>
              <a:ext cx="150876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Dashboards</a:t>
              </a:r>
            </a:p>
          </p:txBody>
        </p:sp>
        <p:cxnSp>
          <p:nvCxnSpPr>
            <p:cNvPr id="52" name="Connector 52">
              <a:extLst>
                <a:ext uri="{FF2B5EF4-FFF2-40B4-BE49-F238E27FC236}">
                  <a16:creationId xmlns:a16="http://schemas.microsoft.com/office/drawing/2014/main" id="{AFC2CEDD-CE81-D2A4-3AFC-33EF22101093}"/>
                </a:ext>
              </a:extLst>
            </p:cNvPr>
            <p:cNvCxnSpPr>
              <a:cxnSpLocks/>
            </p:cNvCxnSpPr>
            <p:nvPr/>
          </p:nvCxnSpPr>
          <p:spPr>
            <a:xfrm>
              <a:off x="7787487" y="1796796"/>
              <a:ext cx="1432408" cy="0"/>
            </a:xfrm>
            <a:prstGeom prst="line">
              <a:avLst/>
            </a:prstGeom>
            <a:ln w="19050">
              <a:solidFill>
                <a:srgbClr val="1E6FA8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ounded Rectangle 52">
              <a:extLst>
                <a:ext uri="{FF2B5EF4-FFF2-40B4-BE49-F238E27FC236}">
                  <a16:creationId xmlns:a16="http://schemas.microsoft.com/office/drawing/2014/main" id="{4318C564-F298-BE1F-E186-AAE5D31EAA15}"/>
                </a:ext>
              </a:extLst>
            </p:cNvPr>
            <p:cNvSpPr/>
            <p:nvPr/>
          </p:nvSpPr>
          <p:spPr>
            <a:xfrm>
              <a:off x="9219895" y="2272284"/>
              <a:ext cx="2331720" cy="658368"/>
            </a:xfrm>
            <a:prstGeom prst="roundRect">
              <a:avLst>
                <a:gd name="adj" fmla="val 22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08C3D70-11AD-5A9F-675A-9AC72C7BE3E3}"/>
                </a:ext>
              </a:extLst>
            </p:cNvPr>
            <p:cNvSpPr/>
            <p:nvPr/>
          </p:nvSpPr>
          <p:spPr>
            <a:xfrm>
              <a:off x="9430207" y="2409444"/>
              <a:ext cx="384048" cy="384048"/>
            </a:xfrm>
            <a:prstGeom prst="ellipse">
              <a:avLst/>
            </a:prstGeom>
            <a:solidFill>
              <a:srgbClr val="25AA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55" name="Picture 54" descr="customerapps.png">
              <a:extLst>
                <a:ext uri="{FF2B5EF4-FFF2-40B4-BE49-F238E27FC236}">
                  <a16:creationId xmlns:a16="http://schemas.microsoft.com/office/drawing/2014/main" id="{FF75D1A6-C632-FE58-275E-5AB1241D6C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9516618" y="2495855"/>
              <a:ext cx="211226" cy="211226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F9BC572-75F6-321A-D4EB-719625CF9AB7}"/>
                </a:ext>
              </a:extLst>
            </p:cNvPr>
            <p:cNvSpPr txBox="1"/>
            <p:nvPr/>
          </p:nvSpPr>
          <p:spPr>
            <a:xfrm>
              <a:off x="9933127" y="2602884"/>
              <a:ext cx="150876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Customer Apps</a:t>
              </a:r>
            </a:p>
          </p:txBody>
        </p:sp>
        <p:cxnSp>
          <p:nvCxnSpPr>
            <p:cNvPr id="57" name="Connector 57">
              <a:extLst>
                <a:ext uri="{FF2B5EF4-FFF2-40B4-BE49-F238E27FC236}">
                  <a16:creationId xmlns:a16="http://schemas.microsoft.com/office/drawing/2014/main" id="{0AE9ADBD-1F32-4D9C-AAA8-10421E53F4A0}"/>
                </a:ext>
              </a:extLst>
            </p:cNvPr>
            <p:cNvCxnSpPr>
              <a:cxnSpLocks/>
            </p:cNvCxnSpPr>
            <p:nvPr/>
          </p:nvCxnSpPr>
          <p:spPr>
            <a:xfrm>
              <a:off x="7787487" y="2601468"/>
              <a:ext cx="1432408" cy="0"/>
            </a:xfrm>
            <a:prstGeom prst="line">
              <a:avLst/>
            </a:prstGeom>
            <a:ln w="19050">
              <a:solidFill>
                <a:srgbClr val="25AAB4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E8E4C7D4-21D4-0AD6-B712-EEB6D19944A0}"/>
                </a:ext>
              </a:extLst>
            </p:cNvPr>
            <p:cNvSpPr/>
            <p:nvPr/>
          </p:nvSpPr>
          <p:spPr>
            <a:xfrm>
              <a:off x="9219895" y="3076956"/>
              <a:ext cx="2331720" cy="658368"/>
            </a:xfrm>
            <a:prstGeom prst="roundRect">
              <a:avLst>
                <a:gd name="adj" fmla="val 22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688B70B-AD9B-E560-7AC3-C325D7D47590}"/>
                </a:ext>
              </a:extLst>
            </p:cNvPr>
            <p:cNvSpPr/>
            <p:nvPr/>
          </p:nvSpPr>
          <p:spPr>
            <a:xfrm>
              <a:off x="9430207" y="3214116"/>
              <a:ext cx="384048" cy="384048"/>
            </a:xfrm>
            <a:prstGeom prst="ellipse">
              <a:avLst/>
            </a:prstGeom>
            <a:solidFill>
              <a:srgbClr val="4C96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60" name="Picture 59" descr="gisbi.png">
              <a:extLst>
                <a:ext uri="{FF2B5EF4-FFF2-40B4-BE49-F238E27FC236}">
                  <a16:creationId xmlns:a16="http://schemas.microsoft.com/office/drawing/2014/main" id="{FCAF7F55-D397-2D83-D8F6-25DE86534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516618" y="3300527"/>
              <a:ext cx="211226" cy="211226"/>
            </a:xfrm>
            <a:prstGeom prst="rect">
              <a:avLst/>
            </a:prstGeom>
          </p:spPr>
        </p:pic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82AFAB8-D5AE-E435-5286-FD5313D8A77E}"/>
                </a:ext>
              </a:extLst>
            </p:cNvPr>
            <p:cNvSpPr txBox="1"/>
            <p:nvPr/>
          </p:nvSpPr>
          <p:spPr>
            <a:xfrm>
              <a:off x="9933127" y="3407555"/>
              <a:ext cx="150876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GIS / BI</a:t>
              </a:r>
            </a:p>
          </p:txBody>
        </p:sp>
        <p:cxnSp>
          <p:nvCxnSpPr>
            <p:cNvPr id="62" name="Connector 62">
              <a:extLst>
                <a:ext uri="{FF2B5EF4-FFF2-40B4-BE49-F238E27FC236}">
                  <a16:creationId xmlns:a16="http://schemas.microsoft.com/office/drawing/2014/main" id="{7845910F-1F16-00D8-2943-E2D0D22A611D}"/>
                </a:ext>
              </a:extLst>
            </p:cNvPr>
            <p:cNvCxnSpPr>
              <a:cxnSpLocks/>
            </p:cNvCxnSpPr>
            <p:nvPr/>
          </p:nvCxnSpPr>
          <p:spPr>
            <a:xfrm>
              <a:off x="7787487" y="3406140"/>
              <a:ext cx="1432408" cy="0"/>
            </a:xfrm>
            <a:prstGeom prst="line">
              <a:avLst/>
            </a:prstGeom>
            <a:ln w="19050">
              <a:solidFill>
                <a:srgbClr val="4C9674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ounded Rectangle 62">
              <a:extLst>
                <a:ext uri="{FF2B5EF4-FFF2-40B4-BE49-F238E27FC236}">
                  <a16:creationId xmlns:a16="http://schemas.microsoft.com/office/drawing/2014/main" id="{3D65A718-5BB1-F9A5-66CA-C532E34AD17B}"/>
                </a:ext>
              </a:extLst>
            </p:cNvPr>
            <p:cNvSpPr/>
            <p:nvPr/>
          </p:nvSpPr>
          <p:spPr>
            <a:xfrm>
              <a:off x="9219895" y="3881628"/>
              <a:ext cx="2331720" cy="658368"/>
            </a:xfrm>
            <a:prstGeom prst="roundRect">
              <a:avLst>
                <a:gd name="adj" fmla="val 22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D4462540-6FC6-F27E-6D68-15578B6C04BF}"/>
                </a:ext>
              </a:extLst>
            </p:cNvPr>
            <p:cNvSpPr/>
            <p:nvPr/>
          </p:nvSpPr>
          <p:spPr>
            <a:xfrm>
              <a:off x="9430207" y="4018788"/>
              <a:ext cx="384048" cy="384048"/>
            </a:xfrm>
            <a:prstGeom prst="ellipse">
              <a:avLst/>
            </a:prstGeom>
            <a:solidFill>
              <a:srgbClr val="E28E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65" name="Picture 64" descr="research.png">
              <a:extLst>
                <a:ext uri="{FF2B5EF4-FFF2-40B4-BE49-F238E27FC236}">
                  <a16:creationId xmlns:a16="http://schemas.microsoft.com/office/drawing/2014/main" id="{42D4A72C-92E4-ECE4-6723-804D0FE68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516618" y="4105199"/>
              <a:ext cx="211226" cy="211226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11B0A82-D5A9-D858-4424-480781C2ADF2}"/>
                </a:ext>
              </a:extLst>
            </p:cNvPr>
            <p:cNvSpPr txBox="1"/>
            <p:nvPr/>
          </p:nvSpPr>
          <p:spPr>
            <a:xfrm>
              <a:off x="9933127" y="4212227"/>
              <a:ext cx="150876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Research</a:t>
              </a:r>
            </a:p>
          </p:txBody>
        </p:sp>
        <p:cxnSp>
          <p:nvCxnSpPr>
            <p:cNvPr id="67" name="Connector 67">
              <a:extLst>
                <a:ext uri="{FF2B5EF4-FFF2-40B4-BE49-F238E27FC236}">
                  <a16:creationId xmlns:a16="http://schemas.microsoft.com/office/drawing/2014/main" id="{04228987-981B-D30E-A105-4D4579E230B0}"/>
                </a:ext>
              </a:extLst>
            </p:cNvPr>
            <p:cNvCxnSpPr>
              <a:cxnSpLocks/>
            </p:cNvCxnSpPr>
            <p:nvPr/>
          </p:nvCxnSpPr>
          <p:spPr>
            <a:xfrm>
              <a:off x="7787487" y="4210812"/>
              <a:ext cx="1432408" cy="0"/>
            </a:xfrm>
            <a:prstGeom prst="line">
              <a:avLst/>
            </a:prstGeom>
            <a:ln w="19050">
              <a:solidFill>
                <a:srgbClr val="E28E3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FD55F832-548E-CA6F-6F25-2B02A2593737}"/>
                </a:ext>
              </a:extLst>
            </p:cNvPr>
            <p:cNvSpPr/>
            <p:nvPr/>
          </p:nvSpPr>
          <p:spPr>
            <a:xfrm>
              <a:off x="9219895" y="4686300"/>
              <a:ext cx="2331720" cy="658368"/>
            </a:xfrm>
            <a:prstGeom prst="roundRect">
              <a:avLst>
                <a:gd name="adj" fmla="val 22000"/>
              </a:avLst>
            </a:prstGeom>
            <a:solidFill>
              <a:srgbClr val="F5F8F9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29675A4-2BFB-4077-5F10-796B0AABBE37}"/>
                </a:ext>
              </a:extLst>
            </p:cNvPr>
            <p:cNvSpPr/>
            <p:nvPr/>
          </p:nvSpPr>
          <p:spPr>
            <a:xfrm>
              <a:off x="9430207" y="4823460"/>
              <a:ext cx="384048" cy="384048"/>
            </a:xfrm>
            <a:prstGeom prst="ellipse">
              <a:avLst/>
            </a:prstGeom>
            <a:solidFill>
              <a:srgbClr val="0C24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pic>
          <p:nvPicPr>
            <p:cNvPr id="70" name="Picture 69" descr="authorities.png">
              <a:extLst>
                <a:ext uri="{FF2B5EF4-FFF2-40B4-BE49-F238E27FC236}">
                  <a16:creationId xmlns:a16="http://schemas.microsoft.com/office/drawing/2014/main" id="{729FC6C5-8B39-D2C1-3230-B0EFAA7F7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9516618" y="4909871"/>
              <a:ext cx="211226" cy="211226"/>
            </a:xfrm>
            <a:prstGeom prst="rect">
              <a:avLst/>
            </a:prstGeom>
          </p:spPr>
        </p:pic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E5D25D4-3BB0-7C7D-AC49-6282B1C7A28D}"/>
                </a:ext>
              </a:extLst>
            </p:cNvPr>
            <p:cNvSpPr txBox="1"/>
            <p:nvPr/>
          </p:nvSpPr>
          <p:spPr>
            <a:xfrm>
              <a:off x="9933127" y="5016901"/>
              <a:ext cx="1508760" cy="20361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i="0">
                  <a:solidFill>
                    <a:srgbClr val="0C243A"/>
                  </a:solidFill>
                  <a:latin typeface="Calibri"/>
                </a:rPr>
                <a:t>Authorities</a:t>
              </a:r>
            </a:p>
          </p:txBody>
        </p:sp>
        <p:cxnSp>
          <p:nvCxnSpPr>
            <p:cNvPr id="72" name="Connector 72">
              <a:extLst>
                <a:ext uri="{FF2B5EF4-FFF2-40B4-BE49-F238E27FC236}">
                  <a16:creationId xmlns:a16="http://schemas.microsoft.com/office/drawing/2014/main" id="{8E0EAC34-9AC0-9D54-9D01-0030D1C3D168}"/>
                </a:ext>
              </a:extLst>
            </p:cNvPr>
            <p:cNvCxnSpPr>
              <a:cxnSpLocks/>
            </p:cNvCxnSpPr>
            <p:nvPr/>
          </p:nvCxnSpPr>
          <p:spPr>
            <a:xfrm>
              <a:off x="7787487" y="5015484"/>
              <a:ext cx="1432408" cy="0"/>
            </a:xfrm>
            <a:prstGeom prst="line">
              <a:avLst/>
            </a:prstGeom>
            <a:ln w="19050">
              <a:solidFill>
                <a:srgbClr val="0C243A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29B2A41E-D379-83BC-4AFA-31809A76006C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1929" y="364650"/>
            <a:ext cx="12375013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One Core Platform, Multiple Environmental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1079490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Reuse the same data and intelligence services across domains</a:t>
            </a:r>
          </a:p>
        </p:txBody>
      </p:sp>
      <p:grpSp>
        <p:nvGrpSpPr>
          <p:cNvPr id="36" name="Ομάδα 35">
            <a:extLst>
              <a:ext uri="{FF2B5EF4-FFF2-40B4-BE49-F238E27FC236}">
                <a16:creationId xmlns:a16="http://schemas.microsoft.com/office/drawing/2014/main" id="{8FC8F2A0-FA94-3FE5-3595-7AF2FC1FB433}"/>
              </a:ext>
            </a:extLst>
          </p:cNvPr>
          <p:cNvGrpSpPr/>
          <p:nvPr/>
        </p:nvGrpSpPr>
        <p:grpSpPr>
          <a:xfrm>
            <a:off x="1752600" y="2220751"/>
            <a:ext cx="14554200" cy="4677356"/>
            <a:chOff x="502920" y="1798231"/>
            <a:chExt cx="11201400" cy="3474720"/>
          </a:xfrm>
        </p:grpSpPr>
        <p:sp>
          <p:nvSpPr>
            <p:cNvPr id="5" name="Rounded Rectangle 4"/>
            <p:cNvSpPr/>
            <p:nvPr/>
          </p:nvSpPr>
          <p:spPr>
            <a:xfrm>
              <a:off x="2994660" y="1798231"/>
              <a:ext cx="6263640" cy="3474720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337560" y="2103120"/>
              <a:ext cx="5532120" cy="70878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800" b="1" dirty="0">
                  <a:solidFill>
                    <a:srgbClr val="FFFFFF"/>
                  </a:solidFill>
                  <a:latin typeface="Calibri"/>
                </a:rPr>
                <a:t>ENVIRONMENTAL INTELLIGENCE PLATFORM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89020" y="2882754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Dashboards &amp; Applications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579768" y="3183327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Alerts &amp; Decision Support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79768" y="3532039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AI &amp; Analytics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66160" y="3817620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Data Processing / QA/QC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66160" y="4174235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Data Management &amp; Storage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566160" y="4530851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IoT / API Integration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566160" y="4887467"/>
              <a:ext cx="5074920" cy="29723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Device &amp; Sensor Management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02921" y="2148840"/>
              <a:ext cx="1943100" cy="1820647"/>
            </a:xfrm>
            <a:prstGeom prst="roundRect">
              <a:avLst/>
            </a:prstGeom>
            <a:solidFill>
              <a:srgbClr val="E2EFF7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502920" y="2148840"/>
              <a:ext cx="73152" cy="1668780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04088" y="2313432"/>
              <a:ext cx="1645919" cy="3429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 err="1">
                  <a:solidFill>
                    <a:srgbClr val="0C243A"/>
                  </a:solidFill>
                  <a:latin typeface="Calibri"/>
                </a:rPr>
                <a:t>AirSensis</a:t>
              </a:r>
              <a:endParaRPr sz="2400"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04088" y="2743200"/>
              <a:ext cx="1645919" cy="107461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200" b="0" dirty="0">
                  <a:solidFill>
                    <a:srgbClr val="1B2B36"/>
                  </a:solidFill>
                  <a:latin typeface="Calibri"/>
                </a:rPr>
                <a:t>Air-quality monitoring
analytics &amp; </a:t>
              </a:r>
              <a:r>
                <a:rPr sz="2200" b="0" dirty="0" err="1">
                  <a:solidFill>
                    <a:srgbClr val="1B2B36"/>
                  </a:solidFill>
                  <a:latin typeface="Calibri"/>
                </a:rPr>
                <a:t>visualisation</a:t>
              </a:r>
              <a:endParaRPr sz="2200" b="0" dirty="0">
                <a:solidFill>
                  <a:srgbClr val="1B2B36"/>
                </a:solidFill>
                <a:latin typeface="Calibri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9738360" y="2148840"/>
              <a:ext cx="1965960" cy="1820647"/>
            </a:xfrm>
            <a:prstGeom prst="roundRect">
              <a:avLst/>
            </a:prstGeom>
            <a:solidFill>
              <a:srgbClr val="E5F2EB"/>
            </a:solidFill>
            <a:ln w="10160">
              <a:solidFill>
                <a:srgbClr val="DCE6E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738360" y="2148840"/>
              <a:ext cx="68579" cy="1668779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939528" y="2313432"/>
              <a:ext cx="1764792" cy="3429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0C243A"/>
                  </a:solidFill>
                  <a:latin typeface="Calibri"/>
                </a:rPr>
                <a:t>FROSTDEFEND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913859" y="2825319"/>
              <a:ext cx="1645919" cy="823109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200" b="0" dirty="0">
                  <a:solidFill>
                    <a:srgbClr val="1B2B36"/>
                  </a:solidFill>
                  <a:latin typeface="Calibri"/>
                </a:rPr>
                <a:t>Microclimate
forecasting &amp; warning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>
              <a:off x="2514600" y="2788920"/>
              <a:ext cx="411480" cy="0"/>
            </a:xfrm>
            <a:prstGeom prst="line">
              <a:avLst/>
            </a:prstGeom>
            <a:ln w="25400">
              <a:solidFill>
                <a:srgbClr val="1E6FA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 flipH="1">
              <a:off x="9281160" y="2788920"/>
              <a:ext cx="411480" cy="0"/>
            </a:xfrm>
            <a:prstGeom prst="line">
              <a:avLst/>
            </a:prstGeom>
            <a:ln w="25400">
              <a:solidFill>
                <a:srgbClr val="4C967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4876933" y="7471152"/>
            <a:ext cx="81381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The strategic asset is the reusable platform underneath the applications.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9453B2-0DF3-FDD0-50AD-A80DB643BBEE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55164F-0A13-5434-C0BB-86591CCD5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988" y="5219700"/>
            <a:ext cx="2940412" cy="323099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5A5410-B8F1-E986-CCEF-216C57A322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4089" y="5176553"/>
            <a:ext cx="2616807" cy="3108226"/>
          </a:xfrm>
          <a:prstGeom prst="rect">
            <a:avLst/>
          </a:prstGeom>
        </p:spPr>
      </p:pic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5460" y="382107"/>
            <a:ext cx="109728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dirty="0">
                <a:solidFill>
                  <a:srgbClr val="0C243A"/>
                </a:solidFill>
                <a:latin typeface="Calibri"/>
              </a:rPr>
              <a:t>The Environmental Data Value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5460" y="1108133"/>
            <a:ext cx="109728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Increasing value at every stage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076188" y="5641848"/>
            <a:ext cx="100584" cy="0"/>
          </a:xfrm>
          <a:prstGeom prst="line">
            <a:avLst/>
          </a:prstGeom>
          <a:ln w="19050">
            <a:solidFill>
              <a:srgbClr val="697B8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926324" y="5641848"/>
            <a:ext cx="100584" cy="0"/>
          </a:xfrm>
          <a:prstGeom prst="line">
            <a:avLst/>
          </a:prstGeom>
          <a:ln w="19050">
            <a:solidFill>
              <a:srgbClr val="697B8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776460" y="5641848"/>
            <a:ext cx="100584" cy="0"/>
          </a:xfrm>
          <a:prstGeom prst="line">
            <a:avLst/>
          </a:prstGeom>
          <a:ln w="19050">
            <a:solidFill>
              <a:srgbClr val="697B8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631539" y="7942302"/>
            <a:ext cx="11428819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The platform transforms measurements into decisions while preserving traceability across the complete lifecycle.</a:t>
            </a:r>
          </a:p>
        </p:txBody>
      </p:sp>
      <p:grpSp>
        <p:nvGrpSpPr>
          <p:cNvPr id="69" name="Ομάδα 68">
            <a:extLst>
              <a:ext uri="{FF2B5EF4-FFF2-40B4-BE49-F238E27FC236}">
                <a16:creationId xmlns:a16="http://schemas.microsoft.com/office/drawing/2014/main" id="{83FFADA0-2E28-A6D8-8799-662AA086E5E1}"/>
              </a:ext>
            </a:extLst>
          </p:cNvPr>
          <p:cNvGrpSpPr/>
          <p:nvPr/>
        </p:nvGrpSpPr>
        <p:grpSpPr>
          <a:xfrm>
            <a:off x="2133600" y="2019300"/>
            <a:ext cx="15224760" cy="5580492"/>
            <a:chOff x="640080" y="1975104"/>
            <a:chExt cx="10972800" cy="3831336"/>
          </a:xfrm>
        </p:grpSpPr>
        <p:sp>
          <p:nvSpPr>
            <p:cNvPr id="70" name="Rounded Rectangle 4">
              <a:extLst>
                <a:ext uri="{FF2B5EF4-FFF2-40B4-BE49-F238E27FC236}">
                  <a16:creationId xmlns:a16="http://schemas.microsoft.com/office/drawing/2014/main" id="{289E3EE7-DD03-708D-4EE7-CCF506C500EC}"/>
                </a:ext>
              </a:extLst>
            </p:cNvPr>
            <p:cNvSpPr/>
            <p:nvPr/>
          </p:nvSpPr>
          <p:spPr>
            <a:xfrm>
              <a:off x="640080" y="3703320"/>
              <a:ext cx="1722120" cy="21031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Oval 7">
              <a:extLst>
                <a:ext uri="{FF2B5EF4-FFF2-40B4-BE49-F238E27FC236}">
                  <a16:creationId xmlns:a16="http://schemas.microsoft.com/office/drawing/2014/main" id="{99518C8A-4047-B0F1-BF36-057375F70AF6}"/>
                </a:ext>
              </a:extLst>
            </p:cNvPr>
            <p:cNvSpPr/>
            <p:nvPr/>
          </p:nvSpPr>
          <p:spPr>
            <a:xfrm>
              <a:off x="731520" y="3575304"/>
              <a:ext cx="219456" cy="2194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697B8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 b="1">
                  <a:solidFill>
                    <a:srgbClr val="697B89"/>
                  </a:solidFill>
                  <a:latin typeface="Calibri"/>
                </a:rPr>
                <a:t>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8D4DFE3-E7FE-B837-A4F4-ED1C7D04D915}"/>
                </a:ext>
              </a:extLst>
            </p:cNvPr>
            <p:cNvSpPr txBox="1"/>
            <p:nvPr/>
          </p:nvSpPr>
          <p:spPr>
            <a:xfrm>
              <a:off x="713232" y="3703320"/>
              <a:ext cx="1575816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RAW DATA</a:t>
              </a:r>
            </a:p>
          </p:txBody>
        </p:sp>
        <p:pic>
          <p:nvPicPr>
            <p:cNvPr id="73" name="Picture 10" descr="vc_raw.png">
              <a:extLst>
                <a:ext uri="{FF2B5EF4-FFF2-40B4-BE49-F238E27FC236}">
                  <a16:creationId xmlns:a16="http://schemas.microsoft.com/office/drawing/2014/main" id="{FAE60910-1694-642A-6807-D2BE1F023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85469" y="4428897"/>
              <a:ext cx="231343" cy="231343"/>
            </a:xfrm>
            <a:prstGeom prst="rect">
              <a:avLst/>
            </a:prstGeom>
          </p:spPr>
        </p:pic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B1977127-CB42-46C2-CDCC-2F5BE990AC62}"/>
                </a:ext>
              </a:extLst>
            </p:cNvPr>
            <p:cNvSpPr txBox="1"/>
            <p:nvPr/>
          </p:nvSpPr>
          <p:spPr>
            <a:xfrm>
              <a:off x="731520" y="4818888"/>
              <a:ext cx="1539240" cy="20714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b="1" i="0" dirty="0">
                  <a:solidFill>
                    <a:srgbClr val="0C243A"/>
                  </a:solidFill>
                  <a:latin typeface="Calibri"/>
                </a:rPr>
                <a:t>What happened?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C9798A9F-19C8-8DB4-5D1A-B945C774A96D}"/>
                </a:ext>
              </a:extLst>
            </p:cNvPr>
            <p:cNvSpPr txBox="1"/>
            <p:nvPr/>
          </p:nvSpPr>
          <p:spPr>
            <a:xfrm>
              <a:off x="731520" y="5385816"/>
              <a:ext cx="1539240" cy="33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0" i="0" dirty="0">
                  <a:solidFill>
                    <a:srgbClr val="697B89"/>
                  </a:solidFill>
                  <a:latin typeface="Calibri"/>
                </a:rPr>
                <a:t>Sensor measurements</a:t>
              </a:r>
              <a:endParaRPr lang="en-US" sz="1600" b="0" i="0" dirty="0">
                <a:solidFill>
                  <a:srgbClr val="697B89"/>
                </a:solidFill>
                <a:latin typeface="Calibri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697B89"/>
                  </a:solidFill>
                  <a:latin typeface="Calibri"/>
                </a:rPr>
                <a:t>Raw Data</a:t>
              </a:r>
              <a:endParaRPr sz="1600" b="0" i="0" dirty="0">
                <a:solidFill>
                  <a:srgbClr val="697B89"/>
                </a:solidFill>
                <a:latin typeface="Calibri"/>
              </a:endParaRPr>
            </a:p>
          </p:txBody>
        </p:sp>
        <p:cxnSp>
          <p:nvCxnSpPr>
            <p:cNvPr id="76" name="Connector 13">
              <a:extLst>
                <a:ext uri="{FF2B5EF4-FFF2-40B4-BE49-F238E27FC236}">
                  <a16:creationId xmlns:a16="http://schemas.microsoft.com/office/drawing/2014/main" id="{C6E37C5B-2E80-04F7-3A2A-FEAFCFFD23AF}"/>
                </a:ext>
              </a:extLst>
            </p:cNvPr>
            <p:cNvCxnSpPr/>
            <p:nvPr/>
          </p:nvCxnSpPr>
          <p:spPr>
            <a:xfrm>
              <a:off x="2375916" y="5641848"/>
              <a:ext cx="100584" cy="0"/>
            </a:xfrm>
            <a:prstGeom prst="line">
              <a:avLst/>
            </a:prstGeom>
            <a:ln w="19050">
              <a:solidFill>
                <a:srgbClr val="697B8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Rounded Rectangle 14">
              <a:extLst>
                <a:ext uri="{FF2B5EF4-FFF2-40B4-BE49-F238E27FC236}">
                  <a16:creationId xmlns:a16="http://schemas.microsoft.com/office/drawing/2014/main" id="{1F0882C7-E5EF-6756-7065-C80ED3C142F5}"/>
                </a:ext>
              </a:extLst>
            </p:cNvPr>
            <p:cNvSpPr/>
            <p:nvPr/>
          </p:nvSpPr>
          <p:spPr>
            <a:xfrm>
              <a:off x="2490216" y="3383280"/>
              <a:ext cx="1722120" cy="242316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Oval 17">
              <a:extLst>
                <a:ext uri="{FF2B5EF4-FFF2-40B4-BE49-F238E27FC236}">
                  <a16:creationId xmlns:a16="http://schemas.microsoft.com/office/drawing/2014/main" id="{648BC3DA-D5C0-C568-35AC-B6D4A0E5CDF4}"/>
                </a:ext>
              </a:extLst>
            </p:cNvPr>
            <p:cNvSpPr/>
            <p:nvPr/>
          </p:nvSpPr>
          <p:spPr>
            <a:xfrm>
              <a:off x="2581656" y="3255264"/>
              <a:ext cx="219456" cy="2194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1E6F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 b="1">
                  <a:solidFill>
                    <a:srgbClr val="1E6FA8"/>
                  </a:solidFill>
                  <a:latin typeface="Calibri"/>
                </a:rPr>
                <a:t>2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8246F34-AE76-DFC5-C03D-76E50571D118}"/>
                </a:ext>
              </a:extLst>
            </p:cNvPr>
            <p:cNvSpPr txBox="1"/>
            <p:nvPr/>
          </p:nvSpPr>
          <p:spPr>
            <a:xfrm>
              <a:off x="2563368" y="3383280"/>
              <a:ext cx="1575816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TRUSTED DATA</a:t>
              </a:r>
            </a:p>
          </p:txBody>
        </p:sp>
        <p:pic>
          <p:nvPicPr>
            <p:cNvPr id="80" name="Picture 20" descr="vc_trusted.png">
              <a:extLst>
                <a:ext uri="{FF2B5EF4-FFF2-40B4-BE49-F238E27FC236}">
                  <a16:creationId xmlns:a16="http://schemas.microsoft.com/office/drawing/2014/main" id="{F6727CFF-E337-380B-F53E-A8A1C041E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5605" y="4108857"/>
              <a:ext cx="231343" cy="231343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67301AF-D1B8-00B1-E362-37B0ADB2B9E7}"/>
                </a:ext>
              </a:extLst>
            </p:cNvPr>
            <p:cNvSpPr txBox="1"/>
            <p:nvPr/>
          </p:nvSpPr>
          <p:spPr>
            <a:xfrm>
              <a:off x="2581656" y="4498848"/>
              <a:ext cx="1539240" cy="20714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b="1" i="0" dirty="0">
                  <a:solidFill>
                    <a:srgbClr val="0C243A"/>
                  </a:solidFill>
                  <a:latin typeface="Calibri"/>
                </a:rPr>
                <a:t>Can we trust it?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D076FDB-A6BA-99C2-AAF2-FCA0EB50362F}"/>
                </a:ext>
              </a:extLst>
            </p:cNvPr>
            <p:cNvSpPr txBox="1"/>
            <p:nvPr/>
          </p:nvSpPr>
          <p:spPr>
            <a:xfrm>
              <a:off x="2581656" y="5065776"/>
              <a:ext cx="1539240" cy="33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0" i="0" dirty="0">
                  <a:solidFill>
                    <a:srgbClr val="697B89"/>
                  </a:solidFill>
                  <a:latin typeface="Calibri"/>
                </a:rPr>
                <a:t>QA/QC • calibration</a:t>
              </a:r>
              <a:endParaRPr lang="en-US" sz="1600" b="0" i="0" dirty="0">
                <a:solidFill>
                  <a:srgbClr val="697B89"/>
                </a:solidFill>
                <a:latin typeface="Calibri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697B89"/>
                  </a:solidFill>
                  <a:latin typeface="Calibri"/>
                </a:rPr>
                <a:t>Trusted Data</a:t>
              </a:r>
              <a:endParaRPr sz="1600" b="0" i="0" dirty="0">
                <a:solidFill>
                  <a:srgbClr val="697B89"/>
                </a:solidFill>
                <a:latin typeface="Calibri"/>
              </a:endParaRPr>
            </a:p>
          </p:txBody>
        </p:sp>
        <p:cxnSp>
          <p:nvCxnSpPr>
            <p:cNvPr id="83" name="Connector 23">
              <a:extLst>
                <a:ext uri="{FF2B5EF4-FFF2-40B4-BE49-F238E27FC236}">
                  <a16:creationId xmlns:a16="http://schemas.microsoft.com/office/drawing/2014/main" id="{5492AD5E-638E-F0AD-3801-71A86264A85D}"/>
                </a:ext>
              </a:extLst>
            </p:cNvPr>
            <p:cNvCxnSpPr/>
            <p:nvPr/>
          </p:nvCxnSpPr>
          <p:spPr>
            <a:xfrm>
              <a:off x="4226052" y="5641848"/>
              <a:ext cx="100584" cy="0"/>
            </a:xfrm>
            <a:prstGeom prst="line">
              <a:avLst/>
            </a:prstGeom>
            <a:ln w="19050">
              <a:solidFill>
                <a:srgbClr val="697B8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ounded Rectangle 24">
              <a:extLst>
                <a:ext uri="{FF2B5EF4-FFF2-40B4-BE49-F238E27FC236}">
                  <a16:creationId xmlns:a16="http://schemas.microsoft.com/office/drawing/2014/main" id="{272392D6-A648-B23A-CED6-793726C4EAAB}"/>
                </a:ext>
              </a:extLst>
            </p:cNvPr>
            <p:cNvSpPr/>
            <p:nvPr/>
          </p:nvSpPr>
          <p:spPr>
            <a:xfrm>
              <a:off x="4340352" y="3063240"/>
              <a:ext cx="1722120" cy="274320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Oval 27">
              <a:extLst>
                <a:ext uri="{FF2B5EF4-FFF2-40B4-BE49-F238E27FC236}">
                  <a16:creationId xmlns:a16="http://schemas.microsoft.com/office/drawing/2014/main" id="{9750C90D-5912-1627-A0DC-CB4ABCF1F209}"/>
                </a:ext>
              </a:extLst>
            </p:cNvPr>
            <p:cNvSpPr/>
            <p:nvPr/>
          </p:nvSpPr>
          <p:spPr>
            <a:xfrm>
              <a:off x="4431792" y="2935224"/>
              <a:ext cx="219456" cy="2194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25AAB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 b="1">
                  <a:solidFill>
                    <a:srgbClr val="25AAB4"/>
                  </a:solidFill>
                  <a:latin typeface="Calibri"/>
                </a:rPr>
                <a:t>3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88CDFA3-7428-DD5A-1D43-5FE702271F66}"/>
                </a:ext>
              </a:extLst>
            </p:cNvPr>
            <p:cNvSpPr txBox="1"/>
            <p:nvPr/>
          </p:nvSpPr>
          <p:spPr>
            <a:xfrm>
              <a:off x="4413504" y="3063240"/>
              <a:ext cx="1575816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INFORMATION</a:t>
              </a:r>
            </a:p>
          </p:txBody>
        </p:sp>
        <p:sp>
          <p:nvSpPr>
            <p:cNvPr id="87" name="Oval 29">
              <a:extLst>
                <a:ext uri="{FF2B5EF4-FFF2-40B4-BE49-F238E27FC236}">
                  <a16:creationId xmlns:a16="http://schemas.microsoft.com/office/drawing/2014/main" id="{E4DEBF79-A5BB-CA93-D5D6-80D9BE6804D8}"/>
                </a:ext>
              </a:extLst>
            </p:cNvPr>
            <p:cNvSpPr/>
            <p:nvPr/>
          </p:nvSpPr>
          <p:spPr>
            <a:xfrm>
              <a:off x="4991100" y="3694176"/>
              <a:ext cx="420624" cy="420624"/>
            </a:xfrm>
            <a:prstGeom prst="ellipse">
              <a:avLst/>
            </a:prstGeom>
            <a:solidFill>
              <a:srgbClr val="25AAB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2A88364E-153D-EE75-8C29-845AEA6B8E40}"/>
                </a:ext>
              </a:extLst>
            </p:cNvPr>
            <p:cNvSpPr txBox="1"/>
            <p:nvPr/>
          </p:nvSpPr>
          <p:spPr>
            <a:xfrm>
              <a:off x="4431792" y="4178808"/>
              <a:ext cx="1539240" cy="20714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b="1" i="0" dirty="0">
                  <a:solidFill>
                    <a:srgbClr val="0C243A"/>
                  </a:solidFill>
                  <a:latin typeface="Calibri"/>
                </a:rPr>
                <a:t>What does it mean?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79AA4ABF-D1AE-E50E-4A93-48FC52F6CA43}"/>
                </a:ext>
              </a:extLst>
            </p:cNvPr>
            <p:cNvSpPr txBox="1"/>
            <p:nvPr/>
          </p:nvSpPr>
          <p:spPr>
            <a:xfrm>
              <a:off x="4431792" y="4745736"/>
              <a:ext cx="1539240" cy="33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0" i="0" dirty="0">
                  <a:solidFill>
                    <a:srgbClr val="697B89"/>
                  </a:solidFill>
                  <a:latin typeface="Calibri"/>
                </a:rPr>
                <a:t>Indicators • context</a:t>
              </a:r>
              <a:endParaRPr lang="en-US" sz="1600" b="0" i="0" dirty="0">
                <a:solidFill>
                  <a:srgbClr val="697B89"/>
                </a:solidFill>
                <a:latin typeface="Calibri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697B89"/>
                  </a:solidFill>
                  <a:latin typeface="Calibri"/>
                </a:rPr>
                <a:t>Information</a:t>
              </a:r>
              <a:endParaRPr sz="1600" b="0" i="0" dirty="0">
                <a:solidFill>
                  <a:srgbClr val="697B89"/>
                </a:solidFill>
                <a:latin typeface="Calibri"/>
              </a:endParaRPr>
            </a:p>
          </p:txBody>
        </p:sp>
        <p:cxnSp>
          <p:nvCxnSpPr>
            <p:cNvPr id="90" name="Connector 33">
              <a:extLst>
                <a:ext uri="{FF2B5EF4-FFF2-40B4-BE49-F238E27FC236}">
                  <a16:creationId xmlns:a16="http://schemas.microsoft.com/office/drawing/2014/main" id="{4D60F305-F152-1AD0-A021-0C80625FE7D2}"/>
                </a:ext>
              </a:extLst>
            </p:cNvPr>
            <p:cNvCxnSpPr/>
            <p:nvPr/>
          </p:nvCxnSpPr>
          <p:spPr>
            <a:xfrm>
              <a:off x="6076188" y="5641848"/>
              <a:ext cx="100584" cy="0"/>
            </a:xfrm>
            <a:prstGeom prst="line">
              <a:avLst/>
            </a:prstGeom>
            <a:ln w="19050">
              <a:solidFill>
                <a:srgbClr val="697B8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ounded Rectangle 34">
              <a:extLst>
                <a:ext uri="{FF2B5EF4-FFF2-40B4-BE49-F238E27FC236}">
                  <a16:creationId xmlns:a16="http://schemas.microsoft.com/office/drawing/2014/main" id="{54AF9529-A774-3C41-C5AA-E4E7DD476E28}"/>
                </a:ext>
              </a:extLst>
            </p:cNvPr>
            <p:cNvSpPr/>
            <p:nvPr/>
          </p:nvSpPr>
          <p:spPr>
            <a:xfrm>
              <a:off x="6190488" y="2743200"/>
              <a:ext cx="1722120" cy="306324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Oval 37">
              <a:extLst>
                <a:ext uri="{FF2B5EF4-FFF2-40B4-BE49-F238E27FC236}">
                  <a16:creationId xmlns:a16="http://schemas.microsoft.com/office/drawing/2014/main" id="{5CCB87E6-0FF5-6DAF-C8E6-A66F69C1F221}"/>
                </a:ext>
              </a:extLst>
            </p:cNvPr>
            <p:cNvSpPr/>
            <p:nvPr/>
          </p:nvSpPr>
          <p:spPr>
            <a:xfrm>
              <a:off x="6281928" y="2615184"/>
              <a:ext cx="219456" cy="2194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4C967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 b="1">
                  <a:solidFill>
                    <a:srgbClr val="4C9674"/>
                  </a:solidFill>
                  <a:latin typeface="Calibri"/>
                </a:rPr>
                <a:t>4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A257D50-7135-83B8-9F51-73B5EF0620E0}"/>
                </a:ext>
              </a:extLst>
            </p:cNvPr>
            <p:cNvSpPr txBox="1"/>
            <p:nvPr/>
          </p:nvSpPr>
          <p:spPr>
            <a:xfrm>
              <a:off x="6263640" y="2743200"/>
              <a:ext cx="1575816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KNOWLEDGE</a:t>
              </a:r>
            </a:p>
          </p:txBody>
        </p:sp>
        <p:sp>
          <p:nvSpPr>
            <p:cNvPr id="94" name="Oval 39">
              <a:extLst>
                <a:ext uri="{FF2B5EF4-FFF2-40B4-BE49-F238E27FC236}">
                  <a16:creationId xmlns:a16="http://schemas.microsoft.com/office/drawing/2014/main" id="{6C8AA7CD-04DA-245C-56FF-394200780D31}"/>
                </a:ext>
              </a:extLst>
            </p:cNvPr>
            <p:cNvSpPr/>
            <p:nvPr/>
          </p:nvSpPr>
          <p:spPr>
            <a:xfrm>
              <a:off x="6841236" y="3374136"/>
              <a:ext cx="420624" cy="420624"/>
            </a:xfrm>
            <a:prstGeom prst="ellipse">
              <a:avLst/>
            </a:prstGeom>
            <a:solidFill>
              <a:srgbClr val="4C96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9020" name="Picture Information" descr="dashboards.png"/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5085741" y="3788817"/>
              <a:ext cx="231343" cy="231343"/>
            </a:xfrm>
            <a:prstGeom prst="rect">
              <a:avLst/>
            </a:prstGeom>
          </p:spPr>
        </p:pic>
        <p:pic>
          <p:nvPicPr>
            <p:cNvPr id="9021" name="Picture Knowledge" descr="aianalytics.png"/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6935877" y="3468777"/>
              <a:ext cx="231343" cy="231343"/>
            </a:xfrm>
            <a:prstGeom prst="rect">
              <a:avLst/>
            </a:prstGeom>
          </p:spPr>
        </p:pic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E1E947EA-665B-7AF2-7663-ADE540E8ED2A}"/>
                </a:ext>
              </a:extLst>
            </p:cNvPr>
            <p:cNvSpPr txBox="1"/>
            <p:nvPr/>
          </p:nvSpPr>
          <p:spPr>
            <a:xfrm>
              <a:off x="6281928" y="3858768"/>
              <a:ext cx="1539240" cy="4142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b="1" i="0" dirty="0">
                  <a:solidFill>
                    <a:srgbClr val="0C243A"/>
                  </a:solidFill>
                  <a:latin typeface="Calibri"/>
                </a:rPr>
                <a:t>Why is it happening?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A1FA83C-74DD-A7F7-2D5F-6BA2BB8A46DF}"/>
                </a:ext>
              </a:extLst>
            </p:cNvPr>
            <p:cNvSpPr txBox="1"/>
            <p:nvPr/>
          </p:nvSpPr>
          <p:spPr>
            <a:xfrm>
              <a:off x="6281928" y="4425696"/>
              <a:ext cx="1539240" cy="33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0" i="0" dirty="0">
                  <a:solidFill>
                    <a:srgbClr val="697B89"/>
                  </a:solidFill>
                  <a:latin typeface="Calibri"/>
                </a:rPr>
                <a:t>Patterns • analytics</a:t>
              </a:r>
              <a:endParaRPr lang="en-US" sz="1600" b="0" i="0" dirty="0">
                <a:solidFill>
                  <a:srgbClr val="697B89"/>
                </a:solidFill>
                <a:latin typeface="Calibri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697B89"/>
                  </a:solidFill>
                  <a:latin typeface="Calibri"/>
                </a:rPr>
                <a:t>Knowledge</a:t>
              </a:r>
              <a:endParaRPr sz="1600" b="0" i="0" dirty="0">
                <a:solidFill>
                  <a:srgbClr val="697B89"/>
                </a:solidFill>
                <a:latin typeface="Calibri"/>
              </a:endParaRPr>
            </a:p>
          </p:txBody>
        </p:sp>
        <p:cxnSp>
          <p:nvCxnSpPr>
            <p:cNvPr id="97" name="Connector 43">
              <a:extLst>
                <a:ext uri="{FF2B5EF4-FFF2-40B4-BE49-F238E27FC236}">
                  <a16:creationId xmlns:a16="http://schemas.microsoft.com/office/drawing/2014/main" id="{C9D495FC-81AB-4880-25FF-B63E47525222}"/>
                </a:ext>
              </a:extLst>
            </p:cNvPr>
            <p:cNvCxnSpPr/>
            <p:nvPr/>
          </p:nvCxnSpPr>
          <p:spPr>
            <a:xfrm>
              <a:off x="7926324" y="5641848"/>
              <a:ext cx="100584" cy="0"/>
            </a:xfrm>
            <a:prstGeom prst="line">
              <a:avLst/>
            </a:prstGeom>
            <a:ln w="19050">
              <a:solidFill>
                <a:srgbClr val="697B8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ounded Rectangle 44">
              <a:extLst>
                <a:ext uri="{FF2B5EF4-FFF2-40B4-BE49-F238E27FC236}">
                  <a16:creationId xmlns:a16="http://schemas.microsoft.com/office/drawing/2014/main" id="{15616845-4512-C6B6-CB3B-B6A4E5D405F0}"/>
                </a:ext>
              </a:extLst>
            </p:cNvPr>
            <p:cNvSpPr/>
            <p:nvPr/>
          </p:nvSpPr>
          <p:spPr>
            <a:xfrm>
              <a:off x="8040624" y="2423160"/>
              <a:ext cx="1722120" cy="338328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Oval 47">
              <a:extLst>
                <a:ext uri="{FF2B5EF4-FFF2-40B4-BE49-F238E27FC236}">
                  <a16:creationId xmlns:a16="http://schemas.microsoft.com/office/drawing/2014/main" id="{0F89CE05-121C-D1D7-4031-F1367E49D4ED}"/>
                </a:ext>
              </a:extLst>
            </p:cNvPr>
            <p:cNvSpPr/>
            <p:nvPr/>
          </p:nvSpPr>
          <p:spPr>
            <a:xfrm>
              <a:off x="8132064" y="2295144"/>
              <a:ext cx="219456" cy="2194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E28E3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 b="1">
                  <a:solidFill>
                    <a:srgbClr val="E28E39"/>
                  </a:solidFill>
                  <a:latin typeface="Calibri"/>
                </a:rPr>
                <a:t>5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004E5019-44CE-6F71-2C44-C0189B3138AB}"/>
                </a:ext>
              </a:extLst>
            </p:cNvPr>
            <p:cNvSpPr txBox="1"/>
            <p:nvPr/>
          </p:nvSpPr>
          <p:spPr>
            <a:xfrm>
              <a:off x="8113776" y="2423160"/>
              <a:ext cx="1575816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PREDICTION</a:t>
              </a:r>
            </a:p>
          </p:txBody>
        </p:sp>
        <p:pic>
          <p:nvPicPr>
            <p:cNvPr id="101" name="Picture 50" descr="analyse.png">
              <a:extLst>
                <a:ext uri="{FF2B5EF4-FFF2-40B4-BE49-F238E27FC236}">
                  <a16:creationId xmlns:a16="http://schemas.microsoft.com/office/drawing/2014/main" id="{A64E25FF-77E1-76EA-A54C-0C8AE7705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86013" y="3148737"/>
              <a:ext cx="231343" cy="231343"/>
            </a:xfrm>
            <a:prstGeom prst="rect">
              <a:avLst/>
            </a:prstGeom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A2CE112-DD54-EDC7-8AA1-EF0FE2F8A8F7}"/>
                </a:ext>
              </a:extLst>
            </p:cNvPr>
            <p:cNvSpPr txBox="1"/>
            <p:nvPr/>
          </p:nvSpPr>
          <p:spPr>
            <a:xfrm>
              <a:off x="8132064" y="3538728"/>
              <a:ext cx="1539240" cy="4142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b="1" i="0" dirty="0">
                  <a:solidFill>
                    <a:srgbClr val="0C243A"/>
                  </a:solidFill>
                  <a:latin typeface="Calibri"/>
                </a:rPr>
                <a:t>What happens next?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42598DAB-F71B-2259-A607-68BBC5F4B18B}"/>
                </a:ext>
              </a:extLst>
            </p:cNvPr>
            <p:cNvSpPr txBox="1"/>
            <p:nvPr/>
          </p:nvSpPr>
          <p:spPr>
            <a:xfrm>
              <a:off x="8132064" y="4105656"/>
              <a:ext cx="1539240" cy="33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0" i="0" dirty="0">
                  <a:solidFill>
                    <a:srgbClr val="697B89"/>
                  </a:solidFill>
                  <a:latin typeface="Calibri"/>
                </a:rPr>
                <a:t>Forecasts • risk</a:t>
              </a:r>
              <a:endParaRPr lang="en-US" sz="1600" b="0" i="0" dirty="0">
                <a:solidFill>
                  <a:srgbClr val="697B89"/>
                </a:solidFill>
                <a:latin typeface="Calibri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697B89"/>
                  </a:solidFill>
                  <a:latin typeface="Calibri"/>
                </a:rPr>
                <a:t>Prediction</a:t>
              </a:r>
              <a:endParaRPr sz="1600" b="0" i="0" dirty="0">
                <a:solidFill>
                  <a:srgbClr val="697B89"/>
                </a:solidFill>
                <a:latin typeface="Calibri"/>
              </a:endParaRPr>
            </a:p>
          </p:txBody>
        </p:sp>
        <p:cxnSp>
          <p:nvCxnSpPr>
            <p:cNvPr id="104" name="Connector 53">
              <a:extLst>
                <a:ext uri="{FF2B5EF4-FFF2-40B4-BE49-F238E27FC236}">
                  <a16:creationId xmlns:a16="http://schemas.microsoft.com/office/drawing/2014/main" id="{0297DEED-72F5-A301-7595-3F6B81E18112}"/>
                </a:ext>
              </a:extLst>
            </p:cNvPr>
            <p:cNvCxnSpPr/>
            <p:nvPr/>
          </p:nvCxnSpPr>
          <p:spPr>
            <a:xfrm>
              <a:off x="9776460" y="5641848"/>
              <a:ext cx="100584" cy="0"/>
            </a:xfrm>
            <a:prstGeom prst="line">
              <a:avLst/>
            </a:prstGeom>
            <a:ln w="19050">
              <a:solidFill>
                <a:srgbClr val="697B89"/>
              </a:solidFill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Rounded Rectangle 54">
              <a:extLst>
                <a:ext uri="{FF2B5EF4-FFF2-40B4-BE49-F238E27FC236}">
                  <a16:creationId xmlns:a16="http://schemas.microsoft.com/office/drawing/2014/main" id="{2A7A484D-FB5D-51FF-D705-0F4010F18751}"/>
                </a:ext>
              </a:extLst>
            </p:cNvPr>
            <p:cNvSpPr/>
            <p:nvPr/>
          </p:nvSpPr>
          <p:spPr>
            <a:xfrm>
              <a:off x="9890760" y="2103120"/>
              <a:ext cx="1722120" cy="3703320"/>
            </a:xfrm>
            <a:prstGeom prst="roundRect">
              <a:avLst>
                <a:gd name="adj" fmla="val 4500"/>
              </a:avLst>
            </a:prstGeom>
            <a:solidFill>
              <a:srgbClr val="FFFFFF"/>
            </a:solidFill>
            <a:ln w="12700">
              <a:solidFill>
                <a:srgbClr val="DAE4E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Oval 57">
              <a:extLst>
                <a:ext uri="{FF2B5EF4-FFF2-40B4-BE49-F238E27FC236}">
                  <a16:creationId xmlns:a16="http://schemas.microsoft.com/office/drawing/2014/main" id="{F6D88DBE-20F8-8176-9646-3135779B5BD3}"/>
                </a:ext>
              </a:extLst>
            </p:cNvPr>
            <p:cNvSpPr/>
            <p:nvPr/>
          </p:nvSpPr>
          <p:spPr>
            <a:xfrm>
              <a:off x="9982200" y="1975104"/>
              <a:ext cx="219456" cy="2194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C243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 b="1">
                  <a:solidFill>
                    <a:srgbClr val="0C243A"/>
                  </a:solidFill>
                  <a:latin typeface="Calibri"/>
                </a:rPr>
                <a:t>6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65BCB049-E6D5-7529-5E4A-B34231CF3FB9}"/>
                </a:ext>
              </a:extLst>
            </p:cNvPr>
            <p:cNvSpPr txBox="1"/>
            <p:nvPr/>
          </p:nvSpPr>
          <p:spPr>
            <a:xfrm>
              <a:off x="9963912" y="2103120"/>
              <a:ext cx="1575816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050" b="1" i="0">
                  <a:solidFill>
                    <a:srgbClr val="FFFFFF"/>
                  </a:solidFill>
                  <a:latin typeface="Calibri"/>
                </a:rPr>
                <a:t>ACTION</a:t>
              </a:r>
            </a:p>
          </p:txBody>
        </p:sp>
        <p:pic>
          <p:nvPicPr>
            <p:cNvPr id="108" name="Picture 60" descr="act.png">
              <a:extLst>
                <a:ext uri="{FF2B5EF4-FFF2-40B4-BE49-F238E27FC236}">
                  <a16:creationId xmlns:a16="http://schemas.microsoft.com/office/drawing/2014/main" id="{5ED44919-4B50-5EE5-4EFD-0D3FABE22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36149" y="2828697"/>
              <a:ext cx="231343" cy="231343"/>
            </a:xfrm>
            <a:prstGeom prst="rect">
              <a:avLst/>
            </a:prstGeom>
          </p:spPr>
        </p:pic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8AE6061-9614-F7C8-0929-406534262EFA}"/>
                </a:ext>
              </a:extLst>
            </p:cNvPr>
            <p:cNvSpPr txBox="1"/>
            <p:nvPr/>
          </p:nvSpPr>
          <p:spPr>
            <a:xfrm>
              <a:off x="9982200" y="3218688"/>
              <a:ext cx="1539240" cy="41429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b="1" i="0" dirty="0">
                  <a:solidFill>
                    <a:srgbClr val="0C243A"/>
                  </a:solidFill>
                  <a:latin typeface="Calibri"/>
                </a:rPr>
                <a:t>What should we do?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AC69B58E-B9C2-8F64-F88D-88179A08CA36}"/>
                </a:ext>
              </a:extLst>
            </p:cNvPr>
            <p:cNvSpPr txBox="1"/>
            <p:nvPr/>
          </p:nvSpPr>
          <p:spPr>
            <a:xfrm>
              <a:off x="9982200" y="3785616"/>
              <a:ext cx="1539240" cy="33809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1600" b="0" i="0" dirty="0">
                  <a:solidFill>
                    <a:srgbClr val="697B89"/>
                  </a:solidFill>
                  <a:latin typeface="Calibri"/>
                </a:rPr>
                <a:t>Alerts • decisions</a:t>
              </a:r>
              <a:endParaRPr lang="en-US" sz="1600" b="0" i="0" dirty="0">
                <a:solidFill>
                  <a:srgbClr val="697B89"/>
                </a:solidFill>
                <a:latin typeface="Calibri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600" dirty="0">
                  <a:solidFill>
                    <a:srgbClr val="697B89"/>
                  </a:solidFill>
                  <a:latin typeface="Calibri"/>
                </a:rPr>
                <a:t>Action</a:t>
              </a:r>
              <a:endParaRPr sz="1600" b="0" i="0" dirty="0">
                <a:solidFill>
                  <a:srgbClr val="697B89"/>
                </a:solidFill>
                <a:latin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6EF3F0-6D9C-5A64-0D00-77F966590D0F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0849" y="350365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From Monitoring to Environmental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2369" y="927645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The evolution of an environmental platform</a:t>
            </a:r>
          </a:p>
        </p:txBody>
      </p:sp>
      <p:grpSp>
        <p:nvGrpSpPr>
          <p:cNvPr id="39" name="Ομάδα 38">
            <a:extLst>
              <a:ext uri="{FF2B5EF4-FFF2-40B4-BE49-F238E27FC236}">
                <a16:creationId xmlns:a16="http://schemas.microsoft.com/office/drawing/2014/main" id="{D250A282-147A-AA3D-2417-C1AA164F2EE2}"/>
              </a:ext>
            </a:extLst>
          </p:cNvPr>
          <p:cNvGrpSpPr/>
          <p:nvPr/>
        </p:nvGrpSpPr>
        <p:grpSpPr>
          <a:xfrm>
            <a:off x="2057400" y="2142868"/>
            <a:ext cx="13898880" cy="4030980"/>
            <a:chOff x="731520" y="1417320"/>
            <a:chExt cx="10561320" cy="2624328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F4A602-8E0F-4D03-EEBC-851A5BDB343C}"/>
                </a:ext>
              </a:extLst>
            </p:cNvPr>
            <p:cNvSpPr txBox="1"/>
            <p:nvPr/>
          </p:nvSpPr>
          <p:spPr>
            <a:xfrm>
              <a:off x="731520" y="1417320"/>
              <a:ext cx="3410712" cy="3005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400" b="1" dirty="0">
                  <a:solidFill>
                    <a:srgbClr val="697B89"/>
                  </a:solidFill>
                  <a:latin typeface="Calibri"/>
                </a:rPr>
                <a:t>TRADITIONAL MONITORING</a:t>
              </a:r>
            </a:p>
          </p:txBody>
        </p:sp>
        <p:grpSp>
          <p:nvGrpSpPr>
            <p:cNvPr id="41" name="Ομάδα 40">
              <a:extLst>
                <a:ext uri="{FF2B5EF4-FFF2-40B4-BE49-F238E27FC236}">
                  <a16:creationId xmlns:a16="http://schemas.microsoft.com/office/drawing/2014/main" id="{EFE05149-52B8-F0BB-CE43-87F1F3A4854D}"/>
                </a:ext>
              </a:extLst>
            </p:cNvPr>
            <p:cNvGrpSpPr/>
            <p:nvPr/>
          </p:nvGrpSpPr>
          <p:grpSpPr>
            <a:xfrm>
              <a:off x="731520" y="1965960"/>
              <a:ext cx="10561320" cy="2075688"/>
              <a:chOff x="731520" y="1965960"/>
              <a:chExt cx="10561320" cy="2075688"/>
            </a:xfrm>
          </p:grpSpPr>
          <p:sp>
            <p:nvSpPr>
              <p:cNvPr id="42" name="Rounded Rectangle 5">
                <a:extLst>
                  <a:ext uri="{FF2B5EF4-FFF2-40B4-BE49-F238E27FC236}">
                    <a16:creationId xmlns:a16="http://schemas.microsoft.com/office/drawing/2014/main" id="{9FC644D2-2BAA-2662-7A7D-8B9526D416A2}"/>
                  </a:ext>
                </a:extLst>
              </p:cNvPr>
              <p:cNvSpPr/>
              <p:nvPr/>
            </p:nvSpPr>
            <p:spPr>
              <a:xfrm>
                <a:off x="777240" y="1965960"/>
                <a:ext cx="114300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726991A-E399-D13C-FBCB-37068A2A2FE1}"/>
                  </a:ext>
                </a:extLst>
              </p:cNvPr>
              <p:cNvSpPr txBox="1"/>
              <p:nvPr/>
            </p:nvSpPr>
            <p:spPr>
              <a:xfrm>
                <a:off x="850392" y="2029967"/>
                <a:ext cx="99669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697B89"/>
                    </a:solidFill>
                    <a:latin typeface="Calibri"/>
                  </a:rPr>
                  <a:t>Sensors</a:t>
                </a:r>
              </a:p>
            </p:txBody>
          </p:sp>
          <p:cxnSp>
            <p:nvCxnSpPr>
              <p:cNvPr id="44" name="Connector 7">
                <a:extLst>
                  <a:ext uri="{FF2B5EF4-FFF2-40B4-BE49-F238E27FC236}">
                    <a16:creationId xmlns:a16="http://schemas.microsoft.com/office/drawing/2014/main" id="{A0A6C26D-224F-03C3-9D2A-90333CA49376}"/>
                  </a:ext>
                </a:extLst>
              </p:cNvPr>
              <p:cNvCxnSpPr/>
              <p:nvPr/>
            </p:nvCxnSpPr>
            <p:spPr>
              <a:xfrm>
                <a:off x="1938528" y="2157984"/>
                <a:ext cx="146303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ounded Rectangle 8">
                <a:extLst>
                  <a:ext uri="{FF2B5EF4-FFF2-40B4-BE49-F238E27FC236}">
                    <a16:creationId xmlns:a16="http://schemas.microsoft.com/office/drawing/2014/main" id="{5017542E-2A22-3229-59F4-9D9C8CCAD788}"/>
                  </a:ext>
                </a:extLst>
              </p:cNvPr>
              <p:cNvSpPr/>
              <p:nvPr/>
            </p:nvSpPr>
            <p:spPr>
              <a:xfrm>
                <a:off x="2103120" y="1965960"/>
                <a:ext cx="114300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12A701F-7162-D728-C0F4-62145022C4C4}"/>
                  </a:ext>
                </a:extLst>
              </p:cNvPr>
              <p:cNvSpPr txBox="1"/>
              <p:nvPr/>
            </p:nvSpPr>
            <p:spPr>
              <a:xfrm>
                <a:off x="2176272" y="2029967"/>
                <a:ext cx="99669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697B89"/>
                    </a:solidFill>
                    <a:latin typeface="Calibri"/>
                  </a:rPr>
                  <a:t>Database</a:t>
                </a:r>
              </a:p>
            </p:txBody>
          </p:sp>
          <p:cxnSp>
            <p:nvCxnSpPr>
              <p:cNvPr id="47" name="Connector 10">
                <a:extLst>
                  <a:ext uri="{FF2B5EF4-FFF2-40B4-BE49-F238E27FC236}">
                    <a16:creationId xmlns:a16="http://schemas.microsoft.com/office/drawing/2014/main" id="{9F9CC2F4-BDCB-F159-2FE3-6DD248FF0F4B}"/>
                  </a:ext>
                </a:extLst>
              </p:cNvPr>
              <p:cNvCxnSpPr/>
              <p:nvPr/>
            </p:nvCxnSpPr>
            <p:spPr>
              <a:xfrm>
                <a:off x="3264408" y="2157984"/>
                <a:ext cx="146303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Rounded Rectangle 11">
                <a:extLst>
                  <a:ext uri="{FF2B5EF4-FFF2-40B4-BE49-F238E27FC236}">
                    <a16:creationId xmlns:a16="http://schemas.microsoft.com/office/drawing/2014/main" id="{244D0E21-5785-0CFC-453C-B981CA808E88}"/>
                  </a:ext>
                </a:extLst>
              </p:cNvPr>
              <p:cNvSpPr/>
              <p:nvPr/>
            </p:nvSpPr>
            <p:spPr>
              <a:xfrm>
                <a:off x="3429000" y="1965960"/>
                <a:ext cx="114300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7C4B118-7294-414C-93DF-99CDF59FA44A}"/>
                  </a:ext>
                </a:extLst>
              </p:cNvPr>
              <p:cNvSpPr txBox="1"/>
              <p:nvPr/>
            </p:nvSpPr>
            <p:spPr>
              <a:xfrm>
                <a:off x="3502152" y="2029967"/>
                <a:ext cx="1069848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697B89"/>
                    </a:solidFill>
                    <a:latin typeface="Calibri"/>
                  </a:rPr>
                  <a:t>Dashboard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F4E74A6-F0F8-11D9-21D4-AAB6510021AB}"/>
                  </a:ext>
                </a:extLst>
              </p:cNvPr>
              <p:cNvSpPr txBox="1"/>
              <p:nvPr/>
            </p:nvSpPr>
            <p:spPr>
              <a:xfrm>
                <a:off x="731520" y="2971800"/>
                <a:ext cx="3763628" cy="30056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/>
                <a:r>
                  <a:rPr sz="2400" b="1" dirty="0">
                    <a:solidFill>
                      <a:srgbClr val="0C243A"/>
                    </a:solidFill>
                    <a:latin typeface="Calibri"/>
                  </a:rPr>
                  <a:t>ENVIRONMENTAL INTELLIGENCE</a:t>
                </a:r>
              </a:p>
            </p:txBody>
          </p:sp>
          <p:sp>
            <p:nvSpPr>
              <p:cNvPr id="51" name="Rounded Rectangle 14">
                <a:extLst>
                  <a:ext uri="{FF2B5EF4-FFF2-40B4-BE49-F238E27FC236}">
                    <a16:creationId xmlns:a16="http://schemas.microsoft.com/office/drawing/2014/main" id="{333B4023-82D4-616D-2F32-0CAE67A74D6E}"/>
                  </a:ext>
                </a:extLst>
              </p:cNvPr>
              <p:cNvSpPr/>
              <p:nvPr/>
            </p:nvSpPr>
            <p:spPr>
              <a:xfrm>
                <a:off x="731520" y="3657600"/>
                <a:ext cx="141732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6BCEA81-4808-C0C5-5C1A-D83B2D717A1E}"/>
                  </a:ext>
                </a:extLst>
              </p:cNvPr>
              <p:cNvSpPr txBox="1"/>
              <p:nvPr/>
            </p:nvSpPr>
            <p:spPr>
              <a:xfrm>
                <a:off x="804672" y="3721608"/>
                <a:ext cx="127101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1E6FA8"/>
                    </a:solidFill>
                    <a:latin typeface="Calibri"/>
                  </a:rPr>
                  <a:t>Sensors</a:t>
                </a:r>
              </a:p>
            </p:txBody>
          </p:sp>
          <p:cxnSp>
            <p:nvCxnSpPr>
              <p:cNvPr id="53" name="Connector 16">
                <a:extLst>
                  <a:ext uri="{FF2B5EF4-FFF2-40B4-BE49-F238E27FC236}">
                    <a16:creationId xmlns:a16="http://schemas.microsoft.com/office/drawing/2014/main" id="{30C46025-7B70-E680-16DC-DD490EE934E5}"/>
                  </a:ext>
                </a:extLst>
              </p:cNvPr>
              <p:cNvCxnSpPr/>
              <p:nvPr/>
            </p:nvCxnSpPr>
            <p:spPr>
              <a:xfrm>
                <a:off x="2194560" y="3849624"/>
                <a:ext cx="210312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Rounded Rectangle 17">
                <a:extLst>
                  <a:ext uri="{FF2B5EF4-FFF2-40B4-BE49-F238E27FC236}">
                    <a16:creationId xmlns:a16="http://schemas.microsoft.com/office/drawing/2014/main" id="{02FF341D-8820-5794-A82C-801D06B12CC6}"/>
                  </a:ext>
                </a:extLst>
              </p:cNvPr>
              <p:cNvSpPr/>
              <p:nvPr/>
            </p:nvSpPr>
            <p:spPr>
              <a:xfrm>
                <a:off x="2468880" y="3657600"/>
                <a:ext cx="141732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5D95D3D-DE25-58F6-A080-8056AFDD4C85}"/>
                  </a:ext>
                </a:extLst>
              </p:cNvPr>
              <p:cNvSpPr txBox="1"/>
              <p:nvPr/>
            </p:nvSpPr>
            <p:spPr>
              <a:xfrm>
                <a:off x="2542032" y="3721608"/>
                <a:ext cx="127101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25AAB4"/>
                    </a:solidFill>
                    <a:latin typeface="Calibri"/>
                  </a:rPr>
                  <a:t>Trusted Data</a:t>
                </a:r>
              </a:p>
            </p:txBody>
          </p:sp>
          <p:cxnSp>
            <p:nvCxnSpPr>
              <p:cNvPr id="56" name="Connector 19">
                <a:extLst>
                  <a:ext uri="{FF2B5EF4-FFF2-40B4-BE49-F238E27FC236}">
                    <a16:creationId xmlns:a16="http://schemas.microsoft.com/office/drawing/2014/main" id="{EA9615AF-E48D-4700-7D09-93FEA52703D6}"/>
                  </a:ext>
                </a:extLst>
              </p:cNvPr>
              <p:cNvCxnSpPr/>
              <p:nvPr/>
            </p:nvCxnSpPr>
            <p:spPr>
              <a:xfrm>
                <a:off x="3931920" y="3849624"/>
                <a:ext cx="210312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Rounded Rectangle 20">
                <a:extLst>
                  <a:ext uri="{FF2B5EF4-FFF2-40B4-BE49-F238E27FC236}">
                    <a16:creationId xmlns:a16="http://schemas.microsoft.com/office/drawing/2014/main" id="{5CEB2506-5F26-40EF-918F-A828289656C3}"/>
                  </a:ext>
                </a:extLst>
              </p:cNvPr>
              <p:cNvSpPr/>
              <p:nvPr/>
            </p:nvSpPr>
            <p:spPr>
              <a:xfrm>
                <a:off x="4206240" y="3657600"/>
                <a:ext cx="164592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6F625F6-2510-C713-864F-19178933C59B}"/>
                  </a:ext>
                </a:extLst>
              </p:cNvPr>
              <p:cNvSpPr txBox="1"/>
              <p:nvPr/>
            </p:nvSpPr>
            <p:spPr>
              <a:xfrm>
                <a:off x="4178712" y="3750340"/>
                <a:ext cx="181965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4C9674"/>
                    </a:solidFill>
                    <a:latin typeface="Calibri"/>
                  </a:rPr>
                  <a:t>Integrated Platform</a:t>
                </a:r>
              </a:p>
            </p:txBody>
          </p:sp>
          <p:cxnSp>
            <p:nvCxnSpPr>
              <p:cNvPr id="59" name="Connector 22">
                <a:extLst>
                  <a:ext uri="{FF2B5EF4-FFF2-40B4-BE49-F238E27FC236}">
                    <a16:creationId xmlns:a16="http://schemas.microsoft.com/office/drawing/2014/main" id="{2EFAC775-0FA1-8C17-EFAE-AB6BD868EF25}"/>
                  </a:ext>
                </a:extLst>
              </p:cNvPr>
              <p:cNvCxnSpPr/>
              <p:nvPr/>
            </p:nvCxnSpPr>
            <p:spPr>
              <a:xfrm>
                <a:off x="5897879" y="3849624"/>
                <a:ext cx="210313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Rounded Rectangle 23">
                <a:extLst>
                  <a:ext uri="{FF2B5EF4-FFF2-40B4-BE49-F238E27FC236}">
                    <a16:creationId xmlns:a16="http://schemas.microsoft.com/office/drawing/2014/main" id="{B5724755-40EA-291D-6812-70A6A20459E5}"/>
                  </a:ext>
                </a:extLst>
              </p:cNvPr>
              <p:cNvSpPr/>
              <p:nvPr/>
            </p:nvSpPr>
            <p:spPr>
              <a:xfrm>
                <a:off x="6172200" y="3657600"/>
                <a:ext cx="141732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985579-2B71-3B54-BA0C-4755570DE775}"/>
                  </a:ext>
                </a:extLst>
              </p:cNvPr>
              <p:cNvSpPr txBox="1"/>
              <p:nvPr/>
            </p:nvSpPr>
            <p:spPr>
              <a:xfrm>
                <a:off x="6245352" y="3721608"/>
                <a:ext cx="127101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 dirty="0">
                    <a:solidFill>
                      <a:srgbClr val="E28E39"/>
                    </a:solidFill>
                    <a:latin typeface="Calibri"/>
                  </a:rPr>
                  <a:t>AI / Prediction</a:t>
                </a:r>
              </a:p>
            </p:txBody>
          </p:sp>
          <p:cxnSp>
            <p:nvCxnSpPr>
              <p:cNvPr id="62" name="Connector 25">
                <a:extLst>
                  <a:ext uri="{FF2B5EF4-FFF2-40B4-BE49-F238E27FC236}">
                    <a16:creationId xmlns:a16="http://schemas.microsoft.com/office/drawing/2014/main" id="{25FBB53A-5C49-8AE8-783A-73EBFE35C7CC}"/>
                  </a:ext>
                </a:extLst>
              </p:cNvPr>
              <p:cNvCxnSpPr/>
              <p:nvPr/>
            </p:nvCxnSpPr>
            <p:spPr>
              <a:xfrm>
                <a:off x="7635240" y="3849624"/>
                <a:ext cx="210312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Rounded Rectangle 26">
                <a:extLst>
                  <a:ext uri="{FF2B5EF4-FFF2-40B4-BE49-F238E27FC236}">
                    <a16:creationId xmlns:a16="http://schemas.microsoft.com/office/drawing/2014/main" id="{7D226790-5B17-3D98-9F73-031D83AE528C}"/>
                  </a:ext>
                </a:extLst>
              </p:cNvPr>
              <p:cNvSpPr/>
              <p:nvPr/>
            </p:nvSpPr>
            <p:spPr>
              <a:xfrm>
                <a:off x="7909560" y="3657600"/>
                <a:ext cx="164592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D5FAABD4-39D6-01D7-DD23-A3807CAE79E0}"/>
                  </a:ext>
                </a:extLst>
              </p:cNvPr>
              <p:cNvSpPr txBox="1"/>
              <p:nvPr/>
            </p:nvSpPr>
            <p:spPr>
              <a:xfrm>
                <a:off x="7863841" y="3721608"/>
                <a:ext cx="1618488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>
                    <a:solidFill>
                      <a:srgbClr val="0C243A"/>
                    </a:solidFill>
                    <a:latin typeface="Calibri"/>
                  </a:rPr>
                  <a:t>Decision Support</a:t>
                </a:r>
              </a:p>
            </p:txBody>
          </p:sp>
          <p:cxnSp>
            <p:nvCxnSpPr>
              <p:cNvPr id="65" name="Connector 28">
                <a:extLst>
                  <a:ext uri="{FF2B5EF4-FFF2-40B4-BE49-F238E27FC236}">
                    <a16:creationId xmlns:a16="http://schemas.microsoft.com/office/drawing/2014/main" id="{CDFC377E-4E0D-CA66-F518-38D69B6D2545}"/>
                  </a:ext>
                </a:extLst>
              </p:cNvPr>
              <p:cNvCxnSpPr/>
              <p:nvPr/>
            </p:nvCxnSpPr>
            <p:spPr>
              <a:xfrm>
                <a:off x="9601200" y="3849624"/>
                <a:ext cx="210312" cy="0"/>
              </a:xfrm>
              <a:prstGeom prst="line">
                <a:avLst/>
              </a:prstGeom>
              <a:ln w="17780">
                <a:solidFill>
                  <a:srgbClr val="697B89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Rounded Rectangle 29">
                <a:extLst>
                  <a:ext uri="{FF2B5EF4-FFF2-40B4-BE49-F238E27FC236}">
                    <a16:creationId xmlns:a16="http://schemas.microsoft.com/office/drawing/2014/main" id="{875A061D-9F7C-0B71-F068-1986F2A5DACB}"/>
                  </a:ext>
                </a:extLst>
              </p:cNvPr>
              <p:cNvSpPr/>
              <p:nvPr/>
            </p:nvSpPr>
            <p:spPr>
              <a:xfrm>
                <a:off x="9875520" y="3657600"/>
                <a:ext cx="1417320" cy="384048"/>
              </a:xfrm>
              <a:prstGeom prst="roundRect">
                <a:avLst/>
              </a:prstGeom>
              <a:solidFill>
                <a:srgbClr val="F5F8F9"/>
              </a:solidFill>
              <a:ln>
                <a:solidFill>
                  <a:srgbClr val="F5F8F9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76AAE38C-F422-7435-F4F9-D26A99552F31}"/>
                  </a:ext>
                </a:extLst>
              </p:cNvPr>
              <p:cNvSpPr txBox="1"/>
              <p:nvPr/>
            </p:nvSpPr>
            <p:spPr>
              <a:xfrm>
                <a:off x="9948672" y="3721608"/>
                <a:ext cx="1271016" cy="24045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b="1">
                    <a:solidFill>
                      <a:srgbClr val="455B68"/>
                    </a:solidFill>
                    <a:latin typeface="Calibri"/>
                  </a:rPr>
                  <a:t>Action</a:t>
                </a:r>
              </a:p>
            </p:txBody>
          </p:sp>
        </p:grpSp>
      </p:grpSp>
      <p:grpSp>
        <p:nvGrpSpPr>
          <p:cNvPr id="76" name="Ομάδα 75">
            <a:extLst>
              <a:ext uri="{FF2B5EF4-FFF2-40B4-BE49-F238E27FC236}">
                <a16:creationId xmlns:a16="http://schemas.microsoft.com/office/drawing/2014/main" id="{DF051FCA-8B43-2FE7-6918-4C01A6457996}"/>
              </a:ext>
            </a:extLst>
          </p:cNvPr>
          <p:cNvGrpSpPr/>
          <p:nvPr/>
        </p:nvGrpSpPr>
        <p:grpSpPr>
          <a:xfrm>
            <a:off x="4406336" y="6510529"/>
            <a:ext cx="10972799" cy="1809890"/>
            <a:chOff x="731520" y="4800600"/>
            <a:chExt cx="10744200" cy="1126332"/>
          </a:xfrm>
        </p:grpSpPr>
        <p:sp>
          <p:nvSpPr>
            <p:cNvPr id="77" name="Rounded Rectangle 31">
              <a:extLst>
                <a:ext uri="{FF2B5EF4-FFF2-40B4-BE49-F238E27FC236}">
                  <a16:creationId xmlns:a16="http://schemas.microsoft.com/office/drawing/2014/main" id="{B8C32FCB-334E-15BA-5BE3-6F61C46617F7}"/>
                </a:ext>
              </a:extLst>
            </p:cNvPr>
            <p:cNvSpPr/>
            <p:nvPr/>
          </p:nvSpPr>
          <p:spPr>
            <a:xfrm>
              <a:off x="731520" y="4800600"/>
              <a:ext cx="10744200" cy="1097280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D3F168D-DB95-7C72-DD98-DE3DAA2767D3}"/>
                </a:ext>
              </a:extLst>
            </p:cNvPr>
            <p:cNvSpPr txBox="1"/>
            <p:nvPr/>
          </p:nvSpPr>
          <p:spPr>
            <a:xfrm>
              <a:off x="1005840" y="5074920"/>
              <a:ext cx="10149840" cy="36391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3200" b="1" dirty="0">
                  <a:solidFill>
                    <a:srgbClr val="FFFFFF"/>
                  </a:solidFill>
                  <a:latin typeface="Calibri"/>
                </a:rPr>
                <a:t>We do not simply collect environmental data.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AC89F69-3798-083F-4EEF-3B19F1F5EEB0}"/>
                </a:ext>
              </a:extLst>
            </p:cNvPr>
            <p:cNvSpPr txBox="1"/>
            <p:nvPr/>
          </p:nvSpPr>
          <p:spPr>
            <a:xfrm>
              <a:off x="1143000" y="5486400"/>
              <a:ext cx="9875520" cy="44053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0" dirty="0">
                  <a:solidFill>
                    <a:srgbClr val="CDE1EA"/>
                  </a:solidFill>
                  <a:latin typeface="Calibri"/>
                </a:rPr>
                <a:t>We build the infrastructure that turns sensor observations into trusted, interoperable and actionable environmental intelligence.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CA154B9-2CA0-C832-1F17-51FF85A23346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77DAB5-1FCF-D8F3-135B-3ADF26FE407A}"/>
              </a:ext>
            </a:extLst>
          </p:cNvPr>
          <p:cNvSpPr txBox="1"/>
          <p:nvPr/>
        </p:nvSpPr>
        <p:spPr>
          <a:xfrm>
            <a:off x="4800600" y="6896100"/>
            <a:ext cx="92601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</a:rPr>
              <a:t>THANK YOU — </a:t>
            </a:r>
            <a:r>
              <a:rPr kumimoji="0" lang="el-GR" sz="2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B0004020202020204" pitchFamily="34" charset="0"/>
              </a:rPr>
              <a:t> </a:t>
            </a:r>
            <a:r>
              <a:rPr lang="en-US" sz="2800" b="1" dirty="0">
                <a:solidFill>
                  <a:schemeClr val="bg1"/>
                </a:solidFill>
                <a:latin typeface="Calibri" panose="020B0004020202020204" pitchFamily="34" charset="0"/>
              </a:rPr>
              <a:t>QUESTIONS &amp; DISCUSSION
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02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91955" y="426712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0C243A"/>
                </a:solidFill>
                <a:latin typeface="Calibri"/>
              </a:rPr>
              <a:t>Talk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93454" y="1022186"/>
            <a:ext cx="10972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Six stops from raw sensor data to environmental intelligence</a:t>
            </a:r>
          </a:p>
        </p:txBody>
      </p:sp>
      <p:grpSp>
        <p:nvGrpSpPr>
          <p:cNvPr id="44" name="Ομάδα 43">
            <a:extLst>
              <a:ext uri="{FF2B5EF4-FFF2-40B4-BE49-F238E27FC236}">
                <a16:creationId xmlns:a16="http://schemas.microsoft.com/office/drawing/2014/main" id="{A3D6390E-7ACF-1935-9D1F-2A69BC0ED48A}"/>
              </a:ext>
            </a:extLst>
          </p:cNvPr>
          <p:cNvGrpSpPr/>
          <p:nvPr/>
        </p:nvGrpSpPr>
        <p:grpSpPr>
          <a:xfrm>
            <a:off x="3500628" y="1668517"/>
            <a:ext cx="12653772" cy="5405924"/>
            <a:chOff x="1097280" y="1508760"/>
            <a:chExt cx="9418320" cy="4453128"/>
          </a:xfrm>
        </p:grpSpPr>
        <p:sp>
          <p:nvSpPr>
            <p:cNvPr id="5" name="Rounded Rectangle 4"/>
            <p:cNvSpPr/>
            <p:nvPr/>
          </p:nvSpPr>
          <p:spPr>
            <a:xfrm>
              <a:off x="1097280" y="1508760"/>
              <a:ext cx="914400" cy="658368"/>
            </a:xfrm>
            <a:prstGeom prst="roundRect">
              <a:avLst/>
            </a:prstGeom>
            <a:solidFill>
              <a:srgbClr val="697B89"/>
            </a:solidFill>
            <a:ln>
              <a:solidFill>
                <a:srgbClr val="697B8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97280" y="1691639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01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148840" y="1508760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331720" y="1682495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MOTIVATION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074920" y="1508760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303520" y="1682495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The environmental data challenge: why collection alone is not enough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1097280" y="2267712"/>
              <a:ext cx="914400" cy="658368"/>
            </a:xfrm>
            <a:prstGeom prst="roundRect">
              <a:avLst/>
            </a:prstGeom>
            <a:solidFill>
              <a:srgbClr val="1E6FA8"/>
            </a:solidFill>
            <a:ln>
              <a:solidFill>
                <a:srgbClr val="1E6FA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97280" y="2450592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02</a:t>
              </a: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2148840" y="2267712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31720" y="2441448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ARCHITECTURE</a:t>
              </a:r>
              <a:endParaRPr b="1" dirty="0">
                <a:solidFill>
                  <a:srgbClr val="0C243A"/>
                </a:solidFill>
                <a:latin typeface="Calibri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074920" y="2267712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303520" y="2441448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The end-to-end data lifecycle, from sensing to intelligence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97280" y="3026664"/>
              <a:ext cx="914400" cy="658368"/>
            </a:xfrm>
            <a:prstGeom prst="roundRect">
              <a:avLst/>
            </a:prstGeom>
            <a:solidFill>
              <a:srgbClr val="25AAB4"/>
            </a:solidFill>
            <a:ln>
              <a:solidFill>
                <a:srgbClr val="25AA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97280" y="3209544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03</a:t>
              </a:r>
              <a:endParaRPr sz="1400" b="1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148840" y="3026664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331720" y="3200400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DATA QUALITY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074920" y="3026664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303520" y="3200400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Automated QA/QC, calibration and environmental compensation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097280" y="3785615"/>
              <a:ext cx="914400" cy="658368"/>
            </a:xfrm>
            <a:prstGeom prst="roundRect">
              <a:avLst/>
            </a:prstGeom>
            <a:solidFill>
              <a:srgbClr val="4C9674"/>
            </a:solidFill>
            <a:ln>
              <a:solidFill>
                <a:srgbClr val="4C967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097280" y="3968496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 dirty="0">
                  <a:solidFill>
                    <a:srgbClr val="FFFFFF"/>
                  </a:solidFill>
                  <a:latin typeface="Calibri"/>
                </a:rPr>
                <a:t>04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148840" y="3785615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31720" y="3959352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DATA FUSION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5074920" y="3785615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03520" y="3959352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Harmonisation and the raw-to-intelligence data architecture</a:t>
              </a: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97280" y="4544568"/>
              <a:ext cx="914400" cy="658368"/>
            </a:xfrm>
            <a:prstGeom prst="roundRect">
              <a:avLst/>
            </a:prstGeom>
            <a:solidFill>
              <a:srgbClr val="E28E39"/>
            </a:solidFill>
            <a:ln>
              <a:solidFill>
                <a:srgbClr val="E28E3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7280" y="4727448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05</a:t>
              </a:r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2148840" y="4544568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331720" y="4718304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AI &amp; ANALYTICS</a:t>
              </a:r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5074920" y="4544568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5303520" y="4718304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From trusted data to prediction, forecasting and decision support</a:t>
              </a: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097280" y="5303520"/>
              <a:ext cx="914400" cy="658368"/>
            </a:xfrm>
            <a:prstGeom prst="roundRect">
              <a:avLst/>
            </a:prstGeom>
            <a:solidFill>
              <a:srgbClr val="0C243A"/>
            </a:solidFill>
            <a:ln>
              <a:solidFill>
                <a:srgbClr val="0C243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097280" y="5486400"/>
              <a:ext cx="91440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Calibri"/>
                </a:rPr>
                <a:t>06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2148840" y="5303520"/>
              <a:ext cx="2743200" cy="658368"/>
            </a:xfrm>
            <a:prstGeom prst="roundRect">
              <a:avLst/>
            </a:prstGeom>
            <a:solidFill>
              <a:srgbClr val="FFFFFF"/>
            </a:solidFill>
            <a:ln w="7620">
              <a:solidFill>
                <a:srgbClr val="DAE4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331720" y="5477256"/>
              <a:ext cx="237744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1" dirty="0">
                  <a:solidFill>
                    <a:srgbClr val="0C243A"/>
                  </a:solidFill>
                  <a:latin typeface="Calibri"/>
                </a:rPr>
                <a:t>IN PRACTICE</a:t>
              </a:r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074920" y="5303520"/>
              <a:ext cx="5440680" cy="658368"/>
            </a:xfrm>
            <a:prstGeom prst="roundRect">
              <a:avLst/>
            </a:prstGeom>
            <a:solidFill>
              <a:srgbClr val="F2F7F9"/>
            </a:solidFill>
            <a:ln>
              <a:solidFill>
                <a:srgbClr val="F2F7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303520" y="5477256"/>
              <a:ext cx="4937760" cy="32959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algn="l"/>
              <a:r>
                <a:rPr sz="2000" b="0" dirty="0">
                  <a:solidFill>
                    <a:srgbClr val="1B2B36"/>
                  </a:solidFill>
                  <a:latin typeface="Calibri"/>
                </a:rPr>
                <a:t>Platform integration and applications: AirSensis &amp; FROSTDEFEND</a:t>
              </a: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605528" y="7255784"/>
            <a:ext cx="98755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i="1" dirty="0">
                <a:solidFill>
                  <a:srgbClr val="0C243A"/>
                </a:solidFill>
                <a:latin typeface="Calibri"/>
              </a:rPr>
              <a:t>A single reusable platform underlies every application above.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30655-52A1-5327-2ABC-F157DBCC3035}"/>
              </a:ext>
            </a:extLst>
          </p:cNvPr>
          <p:cNvSpPr txBox="1"/>
          <p:nvPr/>
        </p:nvSpPr>
        <p:spPr>
          <a:xfrm>
            <a:off x="-231962" y="8661313"/>
            <a:ext cx="50292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From Sensors to Environmental Intelligence</a:t>
            </a:r>
          </a:p>
        </p:txBody>
      </p:sp>
      <p:sp>
        <p:nvSpPr>
          <p:cNvPr id="99001" name="SlideNumberLabel"/>
          <p:cNvSpPr txBox="1"/>
          <p:nvPr/>
        </p:nvSpPr>
        <p:spPr>
          <a:xfrm>
            <a:off x="17130800" y="8661313"/>
            <a:ext cx="7000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dirty="0">
                <a:solidFill>
                  <a:schemeClr val="tx1">
                    <a:lumMod val="75000"/>
                  </a:schemeClr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5d89ddb-cde3-4e1b-8794-b8ab92e2a9c7" xsi:nil="true"/>
    <lcf76f155ced4ddcb4097134ff3c332f xmlns="f7a9442d-0192-43c0-9a25-d7f8d1bf9b64">
      <Terms xmlns="http://schemas.microsoft.com/office/infopath/2007/PartnerControls"/>
    </lcf76f155ced4ddcb4097134ff3c332f>
    <WS_x0020_for_x0020_Mentors xmlns="f7a9442d-0192-43c0-9a25-d7f8d1bf9b64">
      <Url xsi:nil="true"/>
      <Description xsi:nil="true"/>
    </WS_x0020_for_x0020_Mento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CA0FBAC00849448898FB24E8E9E68F8" ma:contentTypeVersion="12" ma:contentTypeDescription="Stvaranje novog dokumenta." ma:contentTypeScope="" ma:versionID="48419266f52f9f1e3d541570e94fc2dd">
  <xsd:schema xmlns:xsd="http://www.w3.org/2001/XMLSchema" xmlns:xs="http://www.w3.org/2001/XMLSchema" xmlns:p="http://schemas.microsoft.com/office/2006/metadata/properties" xmlns:ns2="f7a9442d-0192-43c0-9a25-d7f8d1bf9b64" xmlns:ns3="d5d89ddb-cde3-4e1b-8794-b8ab92e2a9c7" targetNamespace="http://schemas.microsoft.com/office/2006/metadata/properties" ma:root="true" ma:fieldsID="62d824990162de11b560a9a3c39f1de7" ns2:_="" ns3:_="">
    <xsd:import namespace="f7a9442d-0192-43c0-9a25-d7f8d1bf9b64"/>
    <xsd:import namespace="d5d89ddb-cde3-4e1b-8794-b8ab92e2a9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WS_x0020_for_x0020_Mento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a9442d-0192-43c0-9a25-d7f8d1bf9b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Oznake slika" ma:readOnly="false" ma:fieldId="{5cf76f15-5ced-4ddc-b409-7134ff3c332f}" ma:taxonomyMulti="true" ma:sspId="ec1bbfda-d7ce-4e83-8a89-34e19531f7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WS_x0020_for_x0020_Mentors" ma:index="19" nillable="true" ma:displayName="WS for Mentors" ma:internalName="WS_x0020_for_x0020_Mentors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89ddb-cde3-4e1b-8794-b8ab92e2a9c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ff932f3-410a-48dd-8892-b4514d60a1c5}" ma:internalName="TaxCatchAll" ma:showField="CatchAllData" ma:web="d5d89ddb-cde3-4e1b-8794-b8ab92e2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0A6AD1-4420-4221-80A9-CAE0158B3AC2}">
  <ds:schemaRefs>
    <ds:schemaRef ds:uri="http://schemas.microsoft.com/office/2006/metadata/properties"/>
    <ds:schemaRef ds:uri="http://schemas.microsoft.com/office/infopath/2007/PartnerControls"/>
    <ds:schemaRef ds:uri="35e10ac4-31c1-4b75-a0a7-83de09211430"/>
    <ds:schemaRef ds:uri="38fd7e7d-5967-4b4d-be53-466628489046"/>
    <ds:schemaRef ds:uri="d5d89ddb-cde3-4e1b-8794-b8ab92e2a9c7"/>
    <ds:schemaRef ds:uri="f7a9442d-0192-43c0-9a25-d7f8d1bf9b64"/>
  </ds:schemaRefs>
</ds:datastoreItem>
</file>

<file path=customXml/itemProps2.xml><?xml version="1.0" encoding="utf-8"?>
<ds:datastoreItem xmlns:ds="http://schemas.openxmlformats.org/officeDocument/2006/customXml" ds:itemID="{D8E919C7-8070-43C1-896E-9418D81C85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7a9442d-0192-43c0-9a25-d7f8d1bf9b64"/>
    <ds:schemaRef ds:uri="d5d89ddb-cde3-4e1b-8794-b8ab92e2a9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1A3DB2-419A-4FB5-A3EB-962C6EAA47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1213</Words>
  <Application>Microsoft Macintosh PowerPoint</Application>
  <PresentationFormat>Custom</PresentationFormat>
  <Paragraphs>342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Aptos</vt:lpstr>
      <vt:lpstr>Arial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NEXTAIRE</dc:title>
  <dc:creator>msensis</dc:creator>
  <cp:lastModifiedBy>George Sarigiannidis</cp:lastModifiedBy>
  <cp:revision>23</cp:revision>
  <dcterms:created xsi:type="dcterms:W3CDTF">2006-08-16T00:00:00Z</dcterms:created>
  <dcterms:modified xsi:type="dcterms:W3CDTF">2026-09-05T11:31:22Z</dcterms:modified>
  <dc:identifier>DAG-e5vBqQY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0x0101003CA0FBAC00849448898FB24E8E9E68F8</vt:lpwstr>
  </property>
  <property fmtid="{D5CDD505-2E9C-101B-9397-08002B2CF9AE}" pid="3" name="MediaServiceImageTags">
    <vt:lpwstr/>
  </property>
</Properties>
</file>