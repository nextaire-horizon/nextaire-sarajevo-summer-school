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783" autoAdjust="0"/>
  </p:normalViewPr>
  <p:slideViewPr>
    <p:cSldViewPr snapToGrid="0" showGuides="1">
      <p:cViewPr varScale="1">
        <p:scale>
          <a:sx n="91" d="100"/>
          <a:sy n="91" d="100"/>
        </p:scale>
        <p:origin x="131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5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2E4CF3-90FA-44D4-8550-616283E6FE7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24750" y="1474329"/>
            <a:ext cx="3333750" cy="25758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DC9D3C-F2F9-4529-A494-EED23329807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647700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Sampling, analysis and interpretation of atmospheric aerosol particles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F8AD8-93B9-44B8-B8F0-EB9520CA403E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Summer school lecture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EF642D-1CAC-47F1-A75E-7EA84234E691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581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Online instruments, offline samples, and source interpretation</a:t>
            </a:r>
            <a:endParaRPr lang="en-GB" sz="1875" b="0" i="0" dirty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06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04540A-EEA2-40E2-86C5-68D41A27C71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D72DB1-BB4D-47DD-834A-AD44267AE4AD}"/>
              </a:ext>
            </a:extLst>
          </p:cNvPr>
          <p:cNvSpPr>
            <a:spLocks noGrp="1"/>
          </p:cNvSpPr>
          <p:nvPr/>
        </p:nvSpPr>
        <p:spPr>
          <a:xfrm>
            <a:off x="209550" y="309563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Air as the first exposure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547873B-CDF7-4F66-8BC8-5E021A99652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96A78-FF94-48CE-811D-7D4E47A3E25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Aerosol measurements matter because people breathe continuously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1143000" y="2571750"/>
          <a:ext cx="4286250" cy="1952624"/>
        </p:xfrm>
        <a:graphic>
          <a:graphicData uri="http://schemas.openxmlformats.org/drawingml/2006/table">
            <a:tbl>
              <a:tblPr firstRow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Without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Typical survival time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Food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Weeks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Water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Days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Air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Minutes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rcRect t="12485" b="12485"/>
          <a:stretch>
            <a:fillRect/>
          </a:stretch>
        </p:blipFill>
        <p:spPr>
          <a:xfrm>
            <a:off x="6715125" y="2428875"/>
            <a:ext cx="4000500" cy="20002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33B794-491F-40FD-AF04-708AA5DFBDBD}"/>
              </a:ext>
            </a:extLst>
          </p:cNvPr>
          <p:cNvSpPr>
            <a:spLocks noGrp="1"/>
          </p:cNvSpPr>
          <p:nvPr/>
        </p:nvSpPr>
        <p:spPr>
          <a:xfrm>
            <a:off x="6905625" y="4762500"/>
            <a:ext cx="3619500" cy="781050"/>
          </a:xfrm>
          <a:prstGeom prst="rect">
            <a:avLst/>
          </a:prstGeom>
          <a:solidFill>
            <a:srgbClr val="E8F4EE"/>
          </a:solidFill>
          <a:ln w="10478">
            <a:solidFill>
              <a:srgbClr val="2A7B5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57C54F-3F9F-4212-806C-1A949EFCE4E1}"/>
              </a:ext>
            </a:extLst>
          </p:cNvPr>
          <p:cNvSpPr>
            <a:spLocks noGrp="1"/>
          </p:cNvSpPr>
          <p:nvPr/>
        </p:nvSpPr>
        <p:spPr>
          <a:xfrm>
            <a:off x="7077075" y="4895850"/>
            <a:ext cx="327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Air quality begins with the particles people inhale.</a:t>
            </a:r>
          </a:p>
        </p:txBody>
      </p:sp>
    </p:spTree>
    <p:extLst>
      <p:ext uri="{BB962C8B-B14F-4D97-AF65-F5344CB8AC3E}">
        <p14:creationId xmlns:p14="http://schemas.microsoft.com/office/powerpoint/2010/main" val="191976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3ED448A-F71F-4179-AEC1-CC0FBD3A467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78A53-EFE4-4167-9624-9AB440493871}"/>
              </a:ext>
            </a:extLst>
          </p:cNvPr>
          <p:cNvSpPr>
            <a:spLocks noGrp="1"/>
          </p:cNvSpPr>
          <p:nvPr/>
        </p:nvSpPr>
        <p:spPr>
          <a:xfrm>
            <a:off x="209550" y="190500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Aerosol particles in the atmosphere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954279-1039-408E-AAAF-9BA049CCAD03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4BAE4-45EF-429F-AB5E-6C532835313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Small abundance can still have large atmospheric effects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F6841-3FD1-47BF-9263-0AC6A1C333FB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6191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Particles scatter and absorb radiation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Particles act as cloud condensation nuclei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Particle surfaces carry chemistry and biological exposure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Size and composition control the effect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734EE3-D1A3-4472-835A-C01B4183BCC4}"/>
              </a:ext>
            </a:extLst>
          </p:cNvPr>
          <p:cNvSpPr>
            <a:spLocks noGrp="1"/>
          </p:cNvSpPr>
          <p:nvPr/>
        </p:nvSpPr>
        <p:spPr>
          <a:xfrm>
            <a:off x="7905750" y="2952750"/>
            <a:ext cx="2857500" cy="1143000"/>
          </a:xfrm>
          <a:prstGeom prst="rect">
            <a:avLst/>
          </a:prstGeom>
          <a:solidFill>
            <a:srgbClr val="F8F0E4"/>
          </a:solidFill>
          <a:ln w="10478">
            <a:solidFill>
              <a:srgbClr val="AD741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085F87-FFD2-4187-9186-D2D47C1621DD}"/>
              </a:ext>
            </a:extLst>
          </p:cNvPr>
          <p:cNvSpPr>
            <a:spLocks noGrp="1"/>
          </p:cNvSpPr>
          <p:nvPr/>
        </p:nvSpPr>
        <p:spPr>
          <a:xfrm>
            <a:off x="8077200" y="3086100"/>
            <a:ext cx="2514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same mass can mean very different particle numbers.</a:t>
            </a:r>
          </a:p>
        </p:txBody>
      </p:sp>
    </p:spTree>
    <p:extLst>
      <p:ext uri="{BB962C8B-B14F-4D97-AF65-F5344CB8AC3E}">
        <p14:creationId xmlns:p14="http://schemas.microsoft.com/office/powerpoint/2010/main" val="142620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93CA48-EF7B-4AE0-8888-E12374E6B894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195DE6-185F-4DE0-8EF7-ED2C9CFB34EF}"/>
              </a:ext>
            </a:extLst>
          </p:cNvPr>
          <p:cNvSpPr>
            <a:spLocks noGrp="1"/>
          </p:cNvSpPr>
          <p:nvPr/>
        </p:nvSpPr>
        <p:spPr>
          <a:xfrm>
            <a:off x="284195" y="204788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measurement chain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1875983-89BB-4D7A-8AD5-C495979A8FBE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11039-7620-4715-B65D-C95CF5444A4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Sampling decisions shape every result that follows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190625" y="2457450"/>
          <a:ext cx="6858000" cy="2667000"/>
        </p:xfrm>
        <a:graphic>
          <a:graphicData uri="http://schemas.openxmlformats.org/drawingml/2006/table">
            <a:tbl>
              <a:tblPr firstRow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Sampling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What reaches the instrument or filter?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Analysis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Which property do we measure?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Quality checks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Can we trust the number?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What source or process explains it?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47917EB-8680-47DC-A9FD-E94DC278B022}"/>
              </a:ext>
            </a:extLst>
          </p:cNvPr>
          <p:cNvSpPr>
            <a:spLocks noGrp="1"/>
          </p:cNvSpPr>
          <p:nvPr/>
        </p:nvSpPr>
        <p:spPr>
          <a:xfrm>
            <a:off x="8572500" y="3190875"/>
            <a:ext cx="2238375" cy="1028700"/>
          </a:xfrm>
          <a:prstGeom prst="rect">
            <a:avLst/>
          </a:prstGeom>
          <a:solidFill>
            <a:srgbClr val="F7EAE7"/>
          </a:solidFill>
          <a:ln w="10478">
            <a:solidFill>
              <a:srgbClr val="B4453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80900-06AA-4EC6-8A5B-EC585B6459B7}"/>
              </a:ext>
            </a:extLst>
          </p:cNvPr>
          <p:cNvSpPr>
            <a:spLocks noGrp="1"/>
          </p:cNvSpPr>
          <p:nvPr/>
        </p:nvSpPr>
        <p:spPr>
          <a:xfrm>
            <a:off x="8743950" y="3324225"/>
            <a:ext cx="18954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Bad sampling cannot be repaired by good statistics.</a:t>
            </a:r>
          </a:p>
        </p:txBody>
      </p:sp>
    </p:spTree>
    <p:extLst>
      <p:ext uri="{BB962C8B-B14F-4D97-AF65-F5344CB8AC3E}">
        <p14:creationId xmlns:p14="http://schemas.microsoft.com/office/powerpoint/2010/main" val="59656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8BC237-968F-469E-BAFA-D07F79D44F0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FD6EB-14F6-4853-B35E-5BA23D61EEF9}"/>
              </a:ext>
            </a:extLst>
          </p:cNvPr>
          <p:cNvSpPr>
            <a:spLocks noGrp="1"/>
          </p:cNvSpPr>
          <p:nvPr/>
        </p:nvSpPr>
        <p:spPr>
          <a:xfrm>
            <a:off x="312187" y="102741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Online and offline measurements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64E567B-D9C3-4550-B29C-2CE6BB428FC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BC17E-EA16-43B5-B17B-3FA531C76E5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Real-time dynamics and laboratory detail answer different questions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1095375" y="2714625"/>
          <a:ext cx="7334250" cy="1714500"/>
        </p:xfrm>
        <a:graphic>
          <a:graphicData uri="http://schemas.openxmlformats.org/drawingml/2006/table">
            <a:tbl>
              <a:tblPr firstRow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Strength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Typical limitation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Online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Minutes to seconds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Usually fewer chemical targets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Offline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Detailed chemistry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Time-integrated sample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01125" y="2794894"/>
            <a:ext cx="1809750" cy="136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9B535F-F781-472F-AE12-9D355C36899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628BB0-F38A-4B1E-B927-895887838A88}"/>
              </a:ext>
            </a:extLst>
          </p:cNvPr>
          <p:cNvSpPr>
            <a:spLocks noGrp="1"/>
          </p:cNvSpPr>
          <p:nvPr/>
        </p:nvSpPr>
        <p:spPr>
          <a:xfrm>
            <a:off x="209550" y="158937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SMPS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855B49-5871-49DA-95A7-64F1C7DDF4BF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6A261-B34B-4CD1-8FB2-64104459A710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A real-time view of particle number size distributions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7750" y="2423696"/>
            <a:ext cx="3048000" cy="229635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95875" y="2682502"/>
            <a:ext cx="5334000" cy="17787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E5D3A7-BBE4-48D9-8A2A-84A0F1745F0A}"/>
              </a:ext>
            </a:extLst>
          </p:cNvPr>
          <p:cNvSpPr>
            <a:spLocks noGrp="1"/>
          </p:cNvSpPr>
          <p:nvPr/>
        </p:nvSpPr>
        <p:spPr>
          <a:xfrm>
            <a:off x="1809750" y="50482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output is concentration by mobility diameter and time.</a:t>
            </a:r>
          </a:p>
        </p:txBody>
      </p:sp>
    </p:spTree>
    <p:extLst>
      <p:ext uri="{BB962C8B-B14F-4D97-AF65-F5344CB8AC3E}">
        <p14:creationId xmlns:p14="http://schemas.microsoft.com/office/powerpoint/2010/main" val="100495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8EB2BB-7AC0-422B-AD93-4D9E0CF40D44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21C68-256C-4B64-9D30-A3A8BF382E93}"/>
              </a:ext>
            </a:extLst>
          </p:cNvPr>
          <p:cNvSpPr>
            <a:spLocks noGrp="1"/>
          </p:cNvSpPr>
          <p:nvPr/>
        </p:nvSpPr>
        <p:spPr>
          <a:xfrm>
            <a:off x="358839" y="272295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Inside an SMPS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3AA6114-8335-40F2-B734-CEC927614A36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57153-BD72-4615-84BF-24DCE4625CD0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Charge, classify, count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5012" y="2476500"/>
            <a:ext cx="2551476" cy="21907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143375" y="2674860"/>
            <a:ext cx="2381250" cy="179402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315903" y="2286000"/>
            <a:ext cx="3132318" cy="26193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EC8168-B827-45A6-9D1C-3341813EB4BE}"/>
              </a:ext>
            </a:extLst>
          </p:cNvPr>
          <p:cNvSpPr>
            <a:spLocks noGrp="1"/>
          </p:cNvSpPr>
          <p:nvPr/>
        </p:nvSpPr>
        <p:spPr>
          <a:xfrm>
            <a:off x="1381125" y="4857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Neutralizer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DCE9F6-F7EC-458D-B9A0-BA5A6140BC70}"/>
              </a:ext>
            </a:extLst>
          </p:cNvPr>
          <p:cNvSpPr>
            <a:spLocks noGrp="1"/>
          </p:cNvSpPr>
          <p:nvPr/>
        </p:nvSpPr>
        <p:spPr>
          <a:xfrm>
            <a:off x="4572000" y="4857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DMA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352C9F-C3DB-47E7-8B68-29C766FE1682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CPC</a:t>
            </a:r>
          </a:p>
        </p:txBody>
      </p:sp>
    </p:spTree>
    <p:extLst>
      <p:ext uri="{BB962C8B-B14F-4D97-AF65-F5344CB8AC3E}">
        <p14:creationId xmlns:p14="http://schemas.microsoft.com/office/powerpoint/2010/main" val="2103255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56C03F-799D-4B84-856C-CC4748A86B2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1DC75-FC99-4894-A835-6080B73583E9}"/>
              </a:ext>
            </a:extLst>
          </p:cNvPr>
          <p:cNvSpPr>
            <a:spLocks noGrp="1"/>
          </p:cNvSpPr>
          <p:nvPr/>
        </p:nvSpPr>
        <p:spPr>
          <a:xfrm>
            <a:off x="293525" y="214312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DMA choice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76E76F3-538E-45D2-8C5C-E0F1BFCCD4E6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87A889-70F7-44C9-9254-2CFDEF769C5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The selected classifier sets the useful size window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71625" y="2530691"/>
            <a:ext cx="3143250" cy="236811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0" y="2817735"/>
            <a:ext cx="2381250" cy="1794029"/>
          </a:xfrm>
          <a:prstGeom prst="rect">
            <a:avLst/>
          </a:prstGeom>
        </p:spPr>
      </p:pic>
      <p:graphicFrame>
        <p:nvGraphicFramePr>
          <p:cNvPr id="16" name="Table 15"/>
          <p:cNvGraphicFramePr/>
          <p:nvPr>
            <p:extLst>
              <p:ext uri="{D42A27DB-BD31-4B8C-83A1-F6EECF244321}">
                <p14:modId xmlns:p14="http://schemas.microsoft.com/office/powerpoint/2010/main" val="3604428119"/>
              </p:ext>
            </p:extLst>
          </p:nvPr>
        </p:nvGraphicFramePr>
        <p:xfrm>
          <a:off x="3429000" y="4782844"/>
          <a:ext cx="5715000" cy="1047750"/>
        </p:xfrm>
        <a:graphic>
          <a:graphicData uri="http://schemas.openxmlformats.org/drawingml/2006/table">
            <a:tbl>
              <a:tblPr firstRow="1" bandRow="1"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Classifier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Nano DMA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Small particles and nucleation mode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Long DMA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75" dirty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Wider or larger submicron range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321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514EAEE-A52E-4512-863A-F942FFB9FA5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C229A-CC26-448C-A147-B949CC6558AC}"/>
              </a:ext>
            </a:extLst>
          </p:cNvPr>
          <p:cNvSpPr>
            <a:spLocks noGrp="1"/>
          </p:cNvSpPr>
          <p:nvPr/>
        </p:nvSpPr>
        <p:spPr>
          <a:xfrm>
            <a:off x="333375" y="157163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Reading SMPS contours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2C374E2-5E5B-4F3A-870F-4AD43BF0A2A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33BD12-7685-436F-9592-8A87EBFF771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Growth appears as a rising size band over time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" y="2777811"/>
            <a:ext cx="4476750" cy="149287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72250" y="2777812"/>
            <a:ext cx="4476750" cy="14928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777615-984F-4DFA-A1D1-4C118712E61B}"/>
              </a:ext>
            </a:extLst>
          </p:cNvPr>
          <p:cNvSpPr>
            <a:spLocks noGrp="1"/>
          </p:cNvSpPr>
          <p:nvPr/>
        </p:nvSpPr>
        <p:spPr>
          <a:xfrm>
            <a:off x="2190750" y="509587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Time on the x-axis</a:t>
            </a:r>
          </a:p>
          <a:p>
            <a:pPr algn="l">
              <a:def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Particle diameter on the y-axis</a:t>
            </a:r>
          </a:p>
          <a:p>
            <a:pPr algn="l">
              <a:def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Color shows number concentration</a:t>
            </a:r>
          </a:p>
        </p:txBody>
      </p:sp>
    </p:spTree>
    <p:extLst>
      <p:ext uri="{BB962C8B-B14F-4D97-AF65-F5344CB8AC3E}">
        <p14:creationId xmlns:p14="http://schemas.microsoft.com/office/powerpoint/2010/main" val="821293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06957D-B9CE-47E8-AF41-8BA90522782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725A2A-86C4-4163-B140-544A0BB2A7D4}"/>
              </a:ext>
            </a:extLst>
          </p:cNvPr>
          <p:cNvSpPr>
            <a:spLocks noGrp="1"/>
          </p:cNvSpPr>
          <p:nvPr/>
        </p:nvSpPr>
        <p:spPr>
          <a:xfrm>
            <a:off x="461476" y="123825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Aethalometer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7218B2C-4F00-4B24-9BD8-1F28FF6897E7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7FA01-3315-49D7-B13D-F2E96924501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Optical absorption gives near-real-time carbonaceous aerosol information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00125" y="2619375"/>
          <a:ext cx="6191250" cy="2000252"/>
        </p:xfrm>
        <a:graphic>
          <a:graphicData uri="http://schemas.openxmlformats.org/drawingml/2006/table">
            <a:tbl>
              <a:tblPr firstRow="1" band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880 nm absorption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Common equivalent black carbon channel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370 to 950 nm range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Wavelength dependence of absorption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AAE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Clue for source and brown-carbon influence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4821679-A06F-4953-B6F1-6695A8503174}"/>
              </a:ext>
            </a:extLst>
          </p:cNvPr>
          <p:cNvSpPr>
            <a:spLocks noGrp="1"/>
          </p:cNvSpPr>
          <p:nvPr/>
        </p:nvSpPr>
        <p:spPr>
          <a:xfrm>
            <a:off x="7953375" y="3143250"/>
            <a:ext cx="2714625" cy="904875"/>
          </a:xfrm>
          <a:prstGeom prst="rect">
            <a:avLst/>
          </a:prstGeom>
          <a:solidFill>
            <a:srgbClr val="E8F1F8"/>
          </a:solidFill>
          <a:ln w="10478">
            <a:solidFill>
              <a:srgbClr val="1F5D9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5FB03-29C6-493C-9FB3-703244065753}"/>
              </a:ext>
            </a:extLst>
          </p:cNvPr>
          <p:cNvSpPr>
            <a:spLocks noGrp="1"/>
          </p:cNvSpPr>
          <p:nvPr/>
        </p:nvSpPr>
        <p:spPr>
          <a:xfrm>
            <a:off x="8124825" y="3276600"/>
            <a:ext cx="23717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AE31 and AE33 instruments use seven wavelengths.</a:t>
            </a:r>
          </a:p>
        </p:txBody>
      </p:sp>
    </p:spTree>
    <p:extLst>
      <p:ext uri="{BB962C8B-B14F-4D97-AF65-F5344CB8AC3E}">
        <p14:creationId xmlns:p14="http://schemas.microsoft.com/office/powerpoint/2010/main" val="793408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BEB67D-A530-4E98-B612-1BF60169167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2D915B-9208-4985-B9BE-DF897268CF6D}"/>
              </a:ext>
            </a:extLst>
          </p:cNvPr>
          <p:cNvSpPr>
            <a:spLocks noGrp="1"/>
          </p:cNvSpPr>
          <p:nvPr/>
        </p:nvSpPr>
        <p:spPr>
          <a:xfrm>
            <a:off x="257175" y="204788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Black and brown carbon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920AC4F-F5A9-4F24-BB35-DCECDFEB3741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0D8BE-274D-41C5-BDF1-B14923320F0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Seven wavelengths help separate soot-like and organic light absorption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00125" y="2619375"/>
          <a:ext cx="7429500" cy="1952624"/>
        </p:xfrm>
        <a:graphic>
          <a:graphicData uri="http://schemas.openxmlformats.org/drawingml/2006/table">
            <a:tbl>
              <a:tblPr firstRow="1" bandRow="1"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Material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Typical optical behavior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Black carbon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Strong absorption across visible wavelengths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Brown carbon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Stronger absorption toward UV and blue light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Separation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Model-based estimate using wavelength dependence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9F74886-483A-41CD-B6E2-F97B69F0D507}"/>
              </a:ext>
            </a:extLst>
          </p:cNvPr>
          <p:cNvSpPr>
            <a:spLocks noGrp="1"/>
          </p:cNvSpPr>
          <p:nvPr/>
        </p:nvSpPr>
        <p:spPr>
          <a:xfrm>
            <a:off x="8858250" y="3190875"/>
            <a:ext cx="2238375" cy="1104900"/>
          </a:xfrm>
          <a:prstGeom prst="rect">
            <a:avLst/>
          </a:prstGeom>
          <a:solidFill>
            <a:srgbClr val="F8F0E4"/>
          </a:solidFill>
          <a:ln w="10478">
            <a:solidFill>
              <a:srgbClr val="AD741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F1378D-5DC1-48D7-AED2-50DC3A32240F}"/>
              </a:ext>
            </a:extLst>
          </p:cNvPr>
          <p:cNvSpPr>
            <a:spLocks noGrp="1"/>
          </p:cNvSpPr>
          <p:nvPr/>
        </p:nvSpPr>
        <p:spPr>
          <a:xfrm>
            <a:off x="9029700" y="3324225"/>
            <a:ext cx="18954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 not call the split purely mechanical. It depends on assumptions.</a:t>
            </a:r>
          </a:p>
        </p:txBody>
      </p:sp>
    </p:spTree>
    <p:extLst>
      <p:ext uri="{BB962C8B-B14F-4D97-AF65-F5344CB8AC3E}">
        <p14:creationId xmlns:p14="http://schemas.microsoft.com/office/powerpoint/2010/main" val="1886865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890854B-1841-47EF-BB65-1148CAF4AF0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5FC4FD-7652-4172-9B99-0E443AE8CF97}"/>
              </a:ext>
            </a:extLst>
          </p:cNvPr>
          <p:cNvSpPr>
            <a:spLocks noGrp="1"/>
          </p:cNvSpPr>
          <p:nvPr/>
        </p:nvSpPr>
        <p:spPr>
          <a:xfrm>
            <a:off x="209550" y="190500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Aerosol mass spectrometry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6E7A006-5C5B-4525-ADCB-F53EAFD42E5E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395C5-9554-4FD8-85B8-FC790D34CD50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Online chemistry joins size information with composition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0" y="2902860"/>
            <a:ext cx="5048250" cy="1242780"/>
          </a:xfrm>
          <a:prstGeom prst="rect">
            <a:avLst/>
          </a:prstGeom>
        </p:spPr>
      </p:pic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1392811546"/>
              </p:ext>
            </p:extLst>
          </p:nvPr>
        </p:nvGraphicFramePr>
        <p:xfrm>
          <a:off x="7367295" y="3609974"/>
          <a:ext cx="4000500" cy="2047876"/>
        </p:xfrm>
        <a:graphic>
          <a:graphicData uri="http://schemas.openxmlformats.org/drawingml/2006/table">
            <a:tbl>
              <a:tblPr firstRow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AMS adds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Non-refractory chemistry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Sulfate, nitrate, ammonium, organics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Fast time resolution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Events and changing sources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Mass spectra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Chemical fingerprints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86FB432-6806-45A6-83BE-95E5A562D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502" y="304725"/>
            <a:ext cx="6750892" cy="291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29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5A702B-ECF0-45D5-BAD3-CBB57D3E86D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B41902-F536-4F8C-864C-1748EC4843B5}"/>
              </a:ext>
            </a:extLst>
          </p:cNvPr>
          <p:cNvSpPr>
            <a:spLocks noGrp="1"/>
          </p:cNvSpPr>
          <p:nvPr/>
        </p:nvSpPr>
        <p:spPr>
          <a:xfrm>
            <a:off x="330848" y="253897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Offline sampling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B5DBDE-1410-43B9-A16A-F0FCFFADC4E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5EDD8B-8861-48B5-BE40-58EDB4A4448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Filters turn air into a preserved analytical sample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7750" y="2295878"/>
            <a:ext cx="3857625" cy="29806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E997E1-4C59-4EEC-897C-78E01D5892C0}"/>
              </a:ext>
            </a:extLst>
          </p:cNvPr>
          <p:cNvSpPr>
            <a:spLocks noGrp="1"/>
          </p:cNvSpPr>
          <p:nvPr/>
        </p:nvSpPr>
        <p:spPr>
          <a:xfrm>
            <a:off x="4557421" y="5165474"/>
            <a:ext cx="4000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Known flow rate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Known sampling time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Known inlet cut point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Filter selected for later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8FD778-0969-4A50-AF3C-FC5CAA8DB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184668"/>
            <a:ext cx="4371975" cy="538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7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28F838-0AE0-4180-A0A5-0E51EF8453A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830E8C-760B-4D66-99B7-AFE792027FBC}"/>
              </a:ext>
            </a:extLst>
          </p:cNvPr>
          <p:cNvSpPr>
            <a:spLocks noGrp="1"/>
          </p:cNvSpPr>
          <p:nvPr/>
        </p:nvSpPr>
        <p:spPr>
          <a:xfrm>
            <a:off x="381000" y="228600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Gravimetric analysis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7224ED1-FEF7-4E2C-821A-2AAF51EA527E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D469DB-4883-45EC-939A-7F473D29D938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Mass concentration comes from a controlled weighing difference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190625" y="2524125"/>
          <a:ext cx="7239000" cy="2476500"/>
        </p:xfrm>
        <a:graphic>
          <a:graphicData uri="http://schemas.openxmlformats.org/drawingml/2006/table">
            <a:tbl>
              <a:tblPr firstRow="1" bandRow="1"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Pre-weight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Clean conditioned filter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Post-weight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Loaded conditioned filter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Air volume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Flow multiplied by time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PM mass concentration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Mass difference divided by air volume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C2F7D2E-94FD-400E-BEC4-7B824C24393B}"/>
              </a:ext>
            </a:extLst>
          </p:cNvPr>
          <p:cNvSpPr>
            <a:spLocks noGrp="1"/>
          </p:cNvSpPr>
          <p:nvPr/>
        </p:nvSpPr>
        <p:spPr>
          <a:xfrm>
            <a:off x="8858250" y="3143250"/>
            <a:ext cx="2190750" cy="1143000"/>
          </a:xfrm>
          <a:prstGeom prst="rect">
            <a:avLst/>
          </a:prstGeom>
          <a:solidFill>
            <a:srgbClr val="E8F4EE"/>
          </a:solidFill>
          <a:ln w="10478">
            <a:solidFill>
              <a:srgbClr val="2A7B5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AC9956-8756-471B-AE30-4E1862B61272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18478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Temperature and humidity control are part of the measurement.</a:t>
            </a:r>
          </a:p>
        </p:txBody>
      </p:sp>
    </p:spTree>
    <p:extLst>
      <p:ext uri="{BB962C8B-B14F-4D97-AF65-F5344CB8AC3E}">
        <p14:creationId xmlns:p14="http://schemas.microsoft.com/office/powerpoint/2010/main" val="601928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E25A58-E414-43E8-8A53-72AFBA41D5C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08DB9-2EE4-45BE-A80F-715A093AEBA4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Size-resolved offline sampling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BDCD75-6B8E-4FA3-A36D-34DE80DD2A2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90984-38F5-44E4-A0FE-DFFBA82B3AD9}"/>
              </a:ext>
            </a:extLst>
          </p:cNvPr>
          <p:cNvSpPr>
            <a:spLocks noGrp="1"/>
          </p:cNvSpPr>
          <p:nvPr/>
        </p:nvSpPr>
        <p:spPr>
          <a:xfrm>
            <a:off x="261868" y="14573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 dirty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Cascade impactors separate particles by aerodynamic diameter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1868" y="2257425"/>
            <a:ext cx="4761981" cy="3143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4B9752-F963-4C69-9542-DDC5875700D9}"/>
              </a:ext>
            </a:extLst>
          </p:cNvPr>
          <p:cNvSpPr>
            <a:spLocks noGrp="1"/>
          </p:cNvSpPr>
          <p:nvPr/>
        </p:nvSpPr>
        <p:spPr>
          <a:xfrm>
            <a:off x="6348607" y="4019550"/>
            <a:ext cx="3714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Large particles impact first</a:t>
            </a:r>
          </a:p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Smaller particles reach later stages</a:t>
            </a:r>
          </a:p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Each stage can be analyzed chemically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E5E3B-1745-479F-8B3F-F300DA33E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132" y="249983"/>
            <a:ext cx="6468868" cy="259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2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DD0FD3-4C59-4A57-A37F-62D5734EC1C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7B4F9E-1AF1-4BD8-88C3-9AE2CD886FC3}"/>
              </a:ext>
            </a:extLst>
          </p:cNvPr>
          <p:cNvSpPr>
            <a:spLocks noGrp="1"/>
          </p:cNvSpPr>
          <p:nvPr/>
        </p:nvSpPr>
        <p:spPr>
          <a:xfrm>
            <a:off x="285750" y="119063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Denuders and sampling artefacts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8A96BFB-D84A-4F95-9970-DA6C6763992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70606-40E3-48C8-B918-B225B4BC7E27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The sampler can change the sample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29107" y="2190750"/>
            <a:ext cx="2771037" cy="3429000"/>
          </a:xfrm>
          <a:prstGeom prst="rect">
            <a:avLst/>
          </a:prstGeom>
        </p:spPr>
      </p:pic>
      <p:graphicFrame>
        <p:nvGraphicFramePr>
          <p:cNvPr id="14" name="Table 13"/>
          <p:cNvGraphicFramePr/>
          <p:nvPr/>
        </p:nvGraphicFramePr>
        <p:xfrm>
          <a:off x="5619750" y="2762250"/>
          <a:ext cx="4953000" cy="1952624"/>
        </p:xfrm>
        <a:graphic>
          <a:graphicData uri="http://schemas.openxmlformats.org/drawingml/2006/table">
            <a:tbl>
              <a:tblPr firstRow="1" band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Artefact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Gas adsorbs on the filter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Negative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Collected material evaporates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Denuder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Removes selected gases before collection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938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8B0D99-6471-44D4-9A89-554E97A59BA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4EEF7D-D347-4F40-AE8A-118344E0BC30}"/>
              </a:ext>
            </a:extLst>
          </p:cNvPr>
          <p:cNvSpPr>
            <a:spLocks noGrp="1"/>
          </p:cNvSpPr>
          <p:nvPr/>
        </p:nvSpPr>
        <p:spPr>
          <a:xfrm>
            <a:off x="312186" y="71437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Storage and blanks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B855CB7-44AE-4943-B351-19F97803B1AF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0FBD4-FB95-42D9-8C33-D50360743AA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A filter remains chemically active after sampling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0864C9-71C7-4A74-937F-1D838B2646F8}"/>
              </a:ext>
            </a:extLst>
          </p:cNvPr>
          <p:cNvSpPr>
            <a:spLocks noGrp="1"/>
          </p:cNvSpPr>
          <p:nvPr/>
        </p:nvSpPr>
        <p:spPr>
          <a:xfrm>
            <a:off x="1143000" y="2552700"/>
            <a:ext cx="6191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Use field blanks and laboratory blanks</a:t>
            </a:r>
          </a:p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Avoid contamination during transport</a:t>
            </a:r>
          </a:p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Control light, temperature, and humidity</a:t>
            </a:r>
          </a:p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Freeze or cool samples when the target compounds require it</a:t>
            </a:r>
          </a:p>
          <a:p>
            <a:pPr algn="l">
              <a:def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Document the chain of custody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5390F-42D9-48A9-90CE-32C8A0967C57}"/>
              </a:ext>
            </a:extLst>
          </p:cNvPr>
          <p:cNvSpPr>
            <a:spLocks noGrp="1"/>
          </p:cNvSpPr>
          <p:nvPr/>
        </p:nvSpPr>
        <p:spPr>
          <a:xfrm>
            <a:off x="7905750" y="3190875"/>
            <a:ext cx="2857500" cy="1000125"/>
          </a:xfrm>
          <a:prstGeom prst="rect">
            <a:avLst/>
          </a:prstGeom>
          <a:solidFill>
            <a:srgbClr val="E8F1F8"/>
          </a:solidFill>
          <a:ln w="10478">
            <a:solidFill>
              <a:srgbClr val="1F5D9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57FEE6-D0FB-425E-A3CE-BE37938BC3CD}"/>
              </a:ext>
            </a:extLst>
          </p:cNvPr>
          <p:cNvSpPr>
            <a:spLocks noGrp="1"/>
          </p:cNvSpPr>
          <p:nvPr/>
        </p:nvSpPr>
        <p:spPr>
          <a:xfrm>
            <a:off x="8077200" y="3324225"/>
            <a:ext cx="25146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archive is useful only when the history is known.</a:t>
            </a:r>
          </a:p>
        </p:txBody>
      </p:sp>
    </p:spTree>
    <p:extLst>
      <p:ext uri="{BB962C8B-B14F-4D97-AF65-F5344CB8AC3E}">
        <p14:creationId xmlns:p14="http://schemas.microsoft.com/office/powerpoint/2010/main" val="353589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43E776-331F-4D0E-8365-5CB3C3C4FD6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01F9EA-55A2-401B-BC3F-058ED4F95BD6}"/>
              </a:ext>
            </a:extLst>
          </p:cNvPr>
          <p:cNvSpPr>
            <a:spLocks noGrp="1"/>
          </p:cNvSpPr>
          <p:nvPr/>
        </p:nvSpPr>
        <p:spPr>
          <a:xfrm>
            <a:off x="330848" y="238125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Extraction strategy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C73950B-62E6-4C4C-9A82-03902360698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DBAB8-F7F1-44BE-9F0B-5427065D738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The solvent follows the compound class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0" y="2551916"/>
            <a:ext cx="3905250" cy="2039919"/>
          </a:xfrm>
          <a:prstGeom prst="rect">
            <a:avLst/>
          </a:prstGeom>
        </p:spPr>
      </p:pic>
      <p:graphicFrame>
        <p:nvGraphicFramePr>
          <p:cNvPr id="14" name="Table 13"/>
          <p:cNvGraphicFramePr/>
          <p:nvPr/>
        </p:nvGraphicFramePr>
        <p:xfrm>
          <a:off x="5572125" y="2524125"/>
          <a:ext cx="5334000" cy="2428875"/>
        </p:xfrm>
        <a:graphic>
          <a:graphicData uri="http://schemas.openxmlformats.org/drawingml/2006/table">
            <a:tbl>
              <a:tblPr firstRow="1" bandRow="1"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Common strategy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Ions and WSOC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Water extraction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WIOC and organics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Organic solvent extraction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Metals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Acid digestion or direct elemental analysis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Volatile organics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SPME or thermal desorption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508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D1E3DD-7670-449C-A2A5-3412EEC370D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02396E-17D4-416C-9212-8B663CFE0918}"/>
              </a:ext>
            </a:extLst>
          </p:cNvPr>
          <p:cNvSpPr>
            <a:spLocks noGrp="1"/>
          </p:cNvSpPr>
          <p:nvPr/>
        </p:nvSpPr>
        <p:spPr>
          <a:xfrm>
            <a:off x="352425" y="238125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Carbon fractions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3705C03-224A-4797-8491-166C6897C616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65E116-4448-4130-B33A-C42FD8C1F89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OC, EC, WSOC, and WIOC depend on operational definitions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00125" y="2524125"/>
          <a:ext cx="7810500" cy="2381250"/>
        </p:xfrm>
        <a:graphic>
          <a:graphicData uri="http://schemas.openxmlformats.org/drawingml/2006/table">
            <a:tbl>
              <a:tblPr firstRow="1" bandRow="1"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Fraction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How to explain it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OC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Carbon that evolves in the organic-carbon part of the method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EC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Refractory light-absorbing carbon by thermal-optical split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WSOC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Organic carbon extracted into water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WIOC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Organic carbon remaining outside the water-soluble fraction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AB5BFEA-7F3F-4299-AD1F-44B13E4B4372}"/>
              </a:ext>
            </a:extLst>
          </p:cNvPr>
          <p:cNvSpPr>
            <a:spLocks noGrp="1"/>
          </p:cNvSpPr>
          <p:nvPr/>
        </p:nvSpPr>
        <p:spPr>
          <a:xfrm>
            <a:off x="9286875" y="3190875"/>
            <a:ext cx="1905000" cy="1000125"/>
          </a:xfrm>
          <a:prstGeom prst="rect">
            <a:avLst/>
          </a:prstGeom>
          <a:solidFill>
            <a:srgbClr val="F8F0E4"/>
          </a:solidFill>
          <a:ln w="10478">
            <a:solidFill>
              <a:srgbClr val="AD741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0209C6-5995-4F78-9E48-350619E04702}"/>
              </a:ext>
            </a:extLst>
          </p:cNvPr>
          <p:cNvSpPr>
            <a:spLocks noGrp="1"/>
          </p:cNvSpPr>
          <p:nvPr/>
        </p:nvSpPr>
        <p:spPr>
          <a:xfrm>
            <a:off x="9458325" y="3324225"/>
            <a:ext cx="15621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Protocol choice can affect the OC and EC split.</a:t>
            </a:r>
          </a:p>
        </p:txBody>
      </p:sp>
    </p:spTree>
    <p:extLst>
      <p:ext uri="{BB962C8B-B14F-4D97-AF65-F5344CB8AC3E}">
        <p14:creationId xmlns:p14="http://schemas.microsoft.com/office/powerpoint/2010/main" val="290074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EB9EA4-7E03-4AED-A619-9F8DF1A3EBF5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2C7AFF-2749-4A36-A1D2-2418B06D3CDC}"/>
              </a:ext>
            </a:extLst>
          </p:cNvPr>
          <p:cNvSpPr>
            <a:spLocks noGrp="1"/>
          </p:cNvSpPr>
          <p:nvPr/>
        </p:nvSpPr>
        <p:spPr>
          <a:xfrm>
            <a:off x="405493" y="261938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GC-MS and thermal desorption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6C7CE7-01F8-4A0F-A846-794140C718FE}"/>
              </a:ext>
            </a:extLst>
          </p:cNvPr>
          <p:cNvSpPr>
            <a:spLocks noGrp="1"/>
          </p:cNvSpPr>
          <p:nvPr/>
        </p:nvSpPr>
        <p:spPr>
          <a:xfrm>
            <a:off x="405493" y="1066800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 dirty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Volatile and semi-volatile compounds need gentle transfer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0243" y="1738475"/>
            <a:ext cx="4953000" cy="206860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239282" y="1036186"/>
            <a:ext cx="2762250" cy="27622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280391" y="1114834"/>
            <a:ext cx="1647242" cy="24405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4D2FEAA-3370-4D7C-B021-030FE26809E9}"/>
              </a:ext>
            </a:extLst>
          </p:cNvPr>
          <p:cNvSpPr>
            <a:spLocks noGrp="1"/>
          </p:cNvSpPr>
          <p:nvPr/>
        </p:nvSpPr>
        <p:spPr>
          <a:xfrm>
            <a:off x="5656295" y="4661301"/>
            <a:ext cx="723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1" i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Trap, desorb, separate, detect.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5556C6-7571-44AA-9B10-DE38747D2F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2050" y="1166598"/>
            <a:ext cx="1869463" cy="38280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3A2AB6-52BA-4FDE-B9EC-D1352F854E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9927" y="4183837"/>
            <a:ext cx="3742493" cy="257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57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B21660-E76F-499D-95C7-961729A1B5D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ED089-C4CB-439F-8FB9-14A4D41E90B3}"/>
              </a:ext>
            </a:extLst>
          </p:cNvPr>
          <p:cNvSpPr>
            <a:spLocks noGrp="1"/>
          </p:cNvSpPr>
          <p:nvPr/>
        </p:nvSpPr>
        <p:spPr>
          <a:xfrm>
            <a:off x="333375" y="166687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LC-MS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45DCA85-C966-4DAF-A974-983E90D22F47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DFCD6-F248-4932-A275-D2B3E214500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Polar and soluble organics often require liquid chromatography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7750" y="2381250"/>
            <a:ext cx="2857500" cy="2857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37643" y="2667000"/>
            <a:ext cx="2678714" cy="2095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F4F094-A4A1-4A77-B8EB-EB2385200D46}"/>
              </a:ext>
            </a:extLst>
          </p:cNvPr>
          <p:cNvSpPr>
            <a:spLocks noGrp="1"/>
          </p:cNvSpPr>
          <p:nvPr/>
        </p:nvSpPr>
        <p:spPr>
          <a:xfrm>
            <a:off x="8667750" y="2619375"/>
            <a:ext cx="2333625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Extract into a compatible solvent</a:t>
            </a:r>
          </a:p>
          <a:p>
            <a:pPr algn="l"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Clean or concentrate with SPE when needed</a:t>
            </a:r>
          </a:p>
          <a:p>
            <a:pPr algn="l"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Separate by LC before mass spectrometry</a:t>
            </a:r>
          </a:p>
          <a:p>
            <a:pPr algn="l"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Quantify target compounds by calibration</a:t>
            </a:r>
          </a:p>
        </p:txBody>
      </p:sp>
    </p:spTree>
    <p:extLst>
      <p:ext uri="{BB962C8B-B14F-4D97-AF65-F5344CB8AC3E}">
        <p14:creationId xmlns:p14="http://schemas.microsoft.com/office/powerpoint/2010/main" val="464185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EC9E8C-2E4A-4EDB-A37F-FE31B7710DF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9C788D-029A-4276-9374-E846FE71EB75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HRMS and triple quadrupole MS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03F8BE9-AE07-4979-8C1D-A37CAF0F1E63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82DE16-907E-4BC7-9BE1-468AA2E2086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Discovery and quantification use different strengths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13365" y="2333625"/>
            <a:ext cx="2145270" cy="2857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67250" y="2333625"/>
            <a:ext cx="2524125" cy="2524125"/>
          </a:xfrm>
          <a:prstGeom prst="rect">
            <a:avLst/>
          </a:prstGeom>
        </p:spPr>
      </p:pic>
      <p:graphicFrame>
        <p:nvGraphicFramePr>
          <p:cNvPr id="16" name="Table 15"/>
          <p:cNvGraphicFramePr/>
          <p:nvPr/>
        </p:nvGraphicFramePr>
        <p:xfrm>
          <a:off x="7810500" y="3000375"/>
          <a:ext cx="3143250" cy="1381125"/>
        </p:xfrm>
        <a:graphic>
          <a:graphicData uri="http://schemas.openxmlformats.org/drawingml/2006/table">
            <a:tbl>
              <a:tblPr firstRow="1" bandRow="1"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Instrument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Best teaching role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HRMS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Molecular formula clues and non-target screening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Triple quadrupole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Sensitive targeted quantification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659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4013E1-D295-4A4C-9CE4-A934FA2909F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B44C2-290E-4444-8F56-99F98F22DCEC}"/>
              </a:ext>
            </a:extLst>
          </p:cNvPr>
          <p:cNvSpPr>
            <a:spLocks noGrp="1"/>
          </p:cNvSpPr>
          <p:nvPr/>
        </p:nvSpPr>
        <p:spPr>
          <a:xfrm>
            <a:off x="302856" y="180975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Elements and metals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969BAB9-E2BF-4BFB-8119-DA7F2DC3DDE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CEA5BB-090D-4BB6-A681-229E9E04D44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Inorganic tracers connect particles to sources and processes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47750" y="2428875"/>
          <a:ext cx="7334250" cy="3000378"/>
        </p:xfrm>
        <a:graphic>
          <a:graphicData uri="http://schemas.openxmlformats.org/drawingml/2006/table">
            <a:tbl>
              <a:tblPr firstRow="1" bandRow="1"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Tracer group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Possible interpretation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Crustal elements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Dust and resuspension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Sea salt ions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Marine influence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V, Ni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Oil combustion or shipping influence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Biomass burning influence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Pb, Zn, Cu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Industry, traffic, or brake and tire wear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D61DFC5-C7AA-4E6B-9BDC-F260858CD02F}"/>
              </a:ext>
            </a:extLst>
          </p:cNvPr>
          <p:cNvSpPr>
            <a:spLocks noGrp="1"/>
          </p:cNvSpPr>
          <p:nvPr/>
        </p:nvSpPr>
        <p:spPr>
          <a:xfrm>
            <a:off x="8810625" y="3238500"/>
            <a:ext cx="2238375" cy="1066800"/>
          </a:xfrm>
          <a:prstGeom prst="rect">
            <a:avLst/>
          </a:prstGeom>
          <a:solidFill>
            <a:srgbClr val="F7EAE7"/>
          </a:solidFill>
          <a:ln w="10478">
            <a:solidFill>
              <a:srgbClr val="B4453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640CB-6CB2-453C-9DBA-3D083EB38042}"/>
              </a:ext>
            </a:extLst>
          </p:cNvPr>
          <p:cNvSpPr>
            <a:spLocks noGrp="1"/>
          </p:cNvSpPr>
          <p:nvPr/>
        </p:nvSpPr>
        <p:spPr>
          <a:xfrm>
            <a:off x="8982075" y="3371850"/>
            <a:ext cx="18954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Tracers suggest sources. They rarely prove a source alone.</a:t>
            </a:r>
          </a:p>
        </p:txBody>
      </p:sp>
    </p:spTree>
    <p:extLst>
      <p:ext uri="{BB962C8B-B14F-4D97-AF65-F5344CB8AC3E}">
        <p14:creationId xmlns:p14="http://schemas.microsoft.com/office/powerpoint/2010/main" val="93681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A7804F-085D-4BC2-90C3-AB95312A712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046469-A816-46E4-9031-5FF2AE03A7C5}"/>
              </a:ext>
            </a:extLst>
          </p:cNvPr>
          <p:cNvSpPr>
            <a:spLocks noGrp="1"/>
          </p:cNvSpPr>
          <p:nvPr/>
        </p:nvSpPr>
        <p:spPr>
          <a:xfrm>
            <a:off x="209550" y="204788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Interpretation goals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1A0E40C-FA7B-4A72-8ED5-E392CE1BBA7B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9AC7DE-6E4E-471E-BD37-91DEDC80F7E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The same data can serve monitoring, mechanism, or source analysis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190625" y="2476500"/>
          <a:ext cx="7239000" cy="2476500"/>
        </p:xfrm>
        <a:graphic>
          <a:graphicData uri="http://schemas.openxmlformats.org/drawingml/2006/table">
            <a:tbl>
              <a:tblPr firstRow="1" bandRow="1"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data must support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Monitoring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Comparable measurements over time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Science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New compounds and mechanisms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Episodes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Timing and meteorology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Source apportionment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Patterns that separate source influence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0C619AF-D274-440C-9442-DA9EFBCD0D5C}"/>
              </a:ext>
            </a:extLst>
          </p:cNvPr>
          <p:cNvSpPr>
            <a:spLocks noGrp="1"/>
          </p:cNvSpPr>
          <p:nvPr/>
        </p:nvSpPr>
        <p:spPr>
          <a:xfrm>
            <a:off x="8858250" y="3190874"/>
            <a:ext cx="2143125" cy="1257301"/>
          </a:xfrm>
          <a:prstGeom prst="rect">
            <a:avLst/>
          </a:prstGeom>
          <a:solidFill>
            <a:srgbClr val="E8F4EE"/>
          </a:solidFill>
          <a:ln w="10478">
            <a:solidFill>
              <a:srgbClr val="2A7B5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601E6C-FFF8-4714-91DF-C0F20392A428}"/>
              </a:ext>
            </a:extLst>
          </p:cNvPr>
          <p:cNvSpPr>
            <a:spLocks noGrp="1"/>
          </p:cNvSpPr>
          <p:nvPr/>
        </p:nvSpPr>
        <p:spPr>
          <a:xfrm>
            <a:off x="9029700" y="3324225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Choose the method after choosing the question.</a:t>
            </a:r>
          </a:p>
        </p:txBody>
      </p:sp>
    </p:spTree>
    <p:extLst>
      <p:ext uri="{BB962C8B-B14F-4D97-AF65-F5344CB8AC3E}">
        <p14:creationId xmlns:p14="http://schemas.microsoft.com/office/powerpoint/2010/main" val="845774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153B03-D627-4A6F-B36B-98C7830ABB0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36E216-BCB1-4B84-B8DC-2FE1297BC958}"/>
              </a:ext>
            </a:extLst>
          </p:cNvPr>
          <p:cNvSpPr>
            <a:spLocks noGrp="1"/>
          </p:cNvSpPr>
          <p:nvPr/>
        </p:nvSpPr>
        <p:spPr>
          <a:xfrm>
            <a:off x="142875" y="152399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PCA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A9DC39A-2FCB-4F3B-85A6-CD9B386BD8E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378A7A-6B97-4F24-8F58-D7111F587C4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Principal components summarize covariance patterns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00125" y="2619375"/>
          <a:ext cx="7239000" cy="2000252"/>
        </p:xfrm>
        <a:graphic>
          <a:graphicData uri="http://schemas.openxmlformats.org/drawingml/2006/table">
            <a:tbl>
              <a:tblPr firstRow="1" bandRow="1"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PCA output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How to read it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Loadings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Which variables move together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Scores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When each pattern is strong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Components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425" dirty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Mathematical patterns, not sources by themselves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764750" y="1081085"/>
            <a:ext cx="3189514" cy="27908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850AB6-A6BE-4C54-8526-A8E7F487904D}"/>
              </a:ext>
            </a:extLst>
          </p:cNvPr>
          <p:cNvSpPr>
            <a:spLocks noGrp="1"/>
          </p:cNvSpPr>
          <p:nvPr/>
        </p:nvSpPr>
        <p:spPr>
          <a:xfrm>
            <a:off x="1619250" y="5095875"/>
            <a:ext cx="7715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PCA is a starting point for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335881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5931B3A-355F-49DF-B6A7-B9867AEE926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69AEB0-BA26-403A-884B-CECBD6BE4B87}"/>
              </a:ext>
            </a:extLst>
          </p:cNvPr>
          <p:cNvSpPr>
            <a:spLocks noGrp="1"/>
          </p:cNvSpPr>
          <p:nvPr/>
        </p:nvSpPr>
        <p:spPr>
          <a:xfrm>
            <a:off x="209550" y="180975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Source apportionment workflow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EA3AC78-46BA-4D4B-A9D0-415006E200F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7E79AD-A23C-478B-BC16-96FEDD35A25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Interpretation combines chemistry, time, and air-mass context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95375" y="2428875"/>
          <a:ext cx="7524750" cy="3000378"/>
        </p:xfrm>
        <a:graphic>
          <a:graphicData uri="http://schemas.openxmlformats.org/drawingml/2006/table">
            <a:tbl>
              <a:tblPr firstRow="1" band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Chemical species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Source fingerprints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Size fractions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Formation and removal processes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Time patterns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Emissions and photochemistry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Meteorology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Transport and dilution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Model output</a:t>
                      </a:r>
                    </a:p>
                  </a:txBody>
                  <a:tcPr marL="57150" marR="57150" marT="19050" marB="190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Hypotheses to test</a:t>
                      </a:r>
                    </a:p>
                  </a:txBody>
                  <a:tcPr marL="57150" marR="57150" marT="19050" marB="190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AF465C7-90FA-4B3C-A6A3-CA760B441A51}"/>
              </a:ext>
            </a:extLst>
          </p:cNvPr>
          <p:cNvSpPr>
            <a:spLocks noGrp="1"/>
          </p:cNvSpPr>
          <p:nvPr/>
        </p:nvSpPr>
        <p:spPr>
          <a:xfrm>
            <a:off x="9048750" y="3238500"/>
            <a:ext cx="2095500" cy="1190625"/>
          </a:xfrm>
          <a:prstGeom prst="rect">
            <a:avLst/>
          </a:prstGeom>
          <a:solidFill>
            <a:srgbClr val="E8F1F8"/>
          </a:solidFill>
          <a:ln w="10478">
            <a:solidFill>
              <a:srgbClr val="1F5D9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00685-B6A7-4E92-9F32-C675117A88F3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75260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best interpretation explains more than one line of evidence.</a:t>
            </a:r>
          </a:p>
        </p:txBody>
      </p:sp>
    </p:spTree>
    <p:extLst>
      <p:ext uri="{BB962C8B-B14F-4D97-AF65-F5344CB8AC3E}">
        <p14:creationId xmlns:p14="http://schemas.microsoft.com/office/powerpoint/2010/main" val="1138845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254CE7-5704-42BE-BF7E-3DCCCCBCD9F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4541A-88D7-4404-8F34-50F9F4092634}"/>
              </a:ext>
            </a:extLst>
          </p:cNvPr>
          <p:cNvSpPr>
            <a:spLocks noGrp="1"/>
          </p:cNvSpPr>
          <p:nvPr/>
        </p:nvSpPr>
        <p:spPr>
          <a:xfrm>
            <a:off x="368171" y="137238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Take-home messages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29541FD-2EF7-43E1-94AF-4099B0D06E7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473D92-6008-4C9E-B6B4-05EBDBB407B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Good aerosol interpretation starts before the sample exists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090944-B448-4C1B-A7B8-8A5EA0669BA6}"/>
              </a:ext>
            </a:extLst>
          </p:cNvPr>
          <p:cNvSpPr>
            <a:spLocks noGrp="1"/>
          </p:cNvSpPr>
          <p:nvPr/>
        </p:nvSpPr>
        <p:spPr>
          <a:xfrm>
            <a:off x="1095375" y="2524125"/>
            <a:ext cx="86677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Online instruments reveal fast atmospheric dynamics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Offline samples provide richer laboratory chemistry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Sampling artefacts can change carbon and semi-volatile results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Extraction and instrument choice must follow the target compounds</a:t>
            </a:r>
          </a:p>
          <a:p>
            <a:pPr algn="l">
              <a:def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- Source interpretation needs chemistry plus atmospheric context</a:t>
            </a:r>
          </a:p>
        </p:txBody>
      </p:sp>
    </p:spTree>
    <p:extLst>
      <p:ext uri="{BB962C8B-B14F-4D97-AF65-F5344CB8AC3E}">
        <p14:creationId xmlns:p14="http://schemas.microsoft.com/office/powerpoint/2010/main" val="377251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1" b="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6CE56-8599-41C2-8329-C99EE32A97E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DB536-F955-4CA6-8CBB-0FEAF43CA602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1066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5815A9C-E043-4986-9FC0-095FB575AA4A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428875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441E1F-F4C0-4BA3-85E7-8916E6333E1E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35A63"/>
                </a:solidFill>
                <a:latin typeface="Calibri"/>
                <a:ea typeface="Calibri"/>
                <a:cs typeface="Calibri"/>
              </a:rPr>
              <a:t>Sampling, analysis, interpretation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90625" y="2470675"/>
            <a:ext cx="3048000" cy="201189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67250" y="2881072"/>
            <a:ext cx="3429000" cy="114348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58250" y="2271332"/>
            <a:ext cx="1809750" cy="24105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E62B4C-B6BD-4739-A90C-E12BC6DE492E}"/>
              </a:ext>
            </a:extLst>
          </p:cNvPr>
          <p:cNvSpPr>
            <a:spLocks noGrp="1"/>
          </p:cNvSpPr>
          <p:nvPr/>
        </p:nvSpPr>
        <p:spPr>
          <a:xfrm>
            <a:off x="2667000" y="5095875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From air to data to explanation</a:t>
            </a:r>
          </a:p>
        </p:txBody>
      </p:sp>
    </p:spTree>
    <p:extLst>
      <p:ext uri="{BB962C8B-B14F-4D97-AF65-F5344CB8AC3E}">
        <p14:creationId xmlns:p14="http://schemas.microsoft.com/office/powerpoint/2010/main" val="10937643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1055</Words>
  <Application>Microsoft Office PowerPoint</Application>
  <DocSecurity>0</DocSecurity>
  <PresentationFormat>Widescreen</PresentationFormat>
  <Paragraphs>274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Korisnik</cp:lastModifiedBy>
  <cp:revision>14</cp:revision>
  <dcterms:created xsi:type="dcterms:W3CDTF">2026-09-04T11:11:24Z</dcterms:created>
  <dcterms:modified xsi:type="dcterms:W3CDTF">2026-09-17T16:14:08Z</dcterms:modified>
</cp:coreProperties>
</file>